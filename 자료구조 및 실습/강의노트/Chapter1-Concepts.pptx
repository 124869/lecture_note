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7" r:id="rId2"/>
    <p:sldId id="304" r:id="rId3"/>
    <p:sldId id="311" r:id="rId4"/>
    <p:sldId id="312" r:id="rId5"/>
    <p:sldId id="313" r:id="rId6"/>
    <p:sldId id="342" r:id="rId7"/>
    <p:sldId id="305" r:id="rId8"/>
    <p:sldId id="310" r:id="rId9"/>
    <p:sldId id="314" r:id="rId10"/>
    <p:sldId id="309" r:id="rId11"/>
    <p:sldId id="308" r:id="rId12"/>
    <p:sldId id="307" r:id="rId13"/>
    <p:sldId id="306" r:id="rId14"/>
    <p:sldId id="315" r:id="rId15"/>
    <p:sldId id="316" r:id="rId16"/>
    <p:sldId id="317" r:id="rId17"/>
    <p:sldId id="318" r:id="rId18"/>
    <p:sldId id="319" r:id="rId19"/>
    <p:sldId id="320" r:id="rId20"/>
    <p:sldId id="321" r:id="rId21"/>
    <p:sldId id="325" r:id="rId22"/>
    <p:sldId id="322" r:id="rId23"/>
    <p:sldId id="323" r:id="rId24"/>
    <p:sldId id="326" r:id="rId25"/>
    <p:sldId id="324" r:id="rId26"/>
    <p:sldId id="331" r:id="rId27"/>
    <p:sldId id="330" r:id="rId28"/>
    <p:sldId id="329" r:id="rId29"/>
    <p:sldId id="327" r:id="rId30"/>
    <p:sldId id="328" r:id="rId31"/>
    <p:sldId id="340" r:id="rId32"/>
    <p:sldId id="341" r:id="rId33"/>
    <p:sldId id="333" r:id="rId34"/>
    <p:sldId id="332" r:id="rId35"/>
    <p:sldId id="334" r:id="rId36"/>
    <p:sldId id="335" r:id="rId37"/>
    <p:sldId id="336" r:id="rId38"/>
    <p:sldId id="339" r:id="rId39"/>
    <p:sldId id="338" r:id="rId40"/>
    <p:sldId id="337" r:id="rId41"/>
    <p:sldId id="292" r:id="rId4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맑은 고딕" panose="020B0503020000020004" pitchFamily="34" charset="-127"/>
        <a:ea typeface="+mn-ea"/>
        <a:cs typeface="+mn-cs"/>
      </a:defRPr>
    </a:lvl1pPr>
    <a:lvl2pPr marL="457200" algn="l" rtl="0" eaLnBrk="0" fontAlgn="base" hangingPunct="0">
      <a:spcBef>
        <a:spcPct val="0"/>
      </a:spcBef>
      <a:spcAft>
        <a:spcPct val="0"/>
      </a:spcAft>
      <a:defRPr kern="1200">
        <a:solidFill>
          <a:schemeClr val="tx1"/>
        </a:solidFill>
        <a:latin typeface="맑은 고딕" panose="020B0503020000020004" pitchFamily="34" charset="-127"/>
        <a:ea typeface="+mn-ea"/>
        <a:cs typeface="+mn-cs"/>
      </a:defRPr>
    </a:lvl2pPr>
    <a:lvl3pPr marL="914400" algn="l" rtl="0" eaLnBrk="0" fontAlgn="base" hangingPunct="0">
      <a:spcBef>
        <a:spcPct val="0"/>
      </a:spcBef>
      <a:spcAft>
        <a:spcPct val="0"/>
      </a:spcAft>
      <a:defRPr kern="1200">
        <a:solidFill>
          <a:schemeClr val="tx1"/>
        </a:solidFill>
        <a:latin typeface="맑은 고딕" panose="020B0503020000020004" pitchFamily="34" charset="-127"/>
        <a:ea typeface="+mn-ea"/>
        <a:cs typeface="+mn-cs"/>
      </a:defRPr>
    </a:lvl3pPr>
    <a:lvl4pPr marL="1371600" algn="l" rtl="0" eaLnBrk="0" fontAlgn="base" hangingPunct="0">
      <a:spcBef>
        <a:spcPct val="0"/>
      </a:spcBef>
      <a:spcAft>
        <a:spcPct val="0"/>
      </a:spcAft>
      <a:defRPr kern="1200">
        <a:solidFill>
          <a:schemeClr val="tx1"/>
        </a:solidFill>
        <a:latin typeface="맑은 고딕" panose="020B0503020000020004" pitchFamily="34" charset="-127"/>
        <a:ea typeface="+mn-ea"/>
        <a:cs typeface="+mn-cs"/>
      </a:defRPr>
    </a:lvl4pPr>
    <a:lvl5pPr marL="1828800" algn="l" rtl="0" eaLnBrk="0" fontAlgn="base" hangingPunct="0">
      <a:spcBef>
        <a:spcPct val="0"/>
      </a:spcBef>
      <a:spcAft>
        <a:spcPct val="0"/>
      </a:spcAft>
      <a:defRPr kern="1200">
        <a:solidFill>
          <a:schemeClr val="tx1"/>
        </a:solidFill>
        <a:latin typeface="맑은 고딕" panose="020B0503020000020004" pitchFamily="34" charset="-127"/>
        <a:ea typeface="+mn-ea"/>
        <a:cs typeface="+mn-cs"/>
      </a:defRPr>
    </a:lvl5pPr>
    <a:lvl6pPr marL="2286000" algn="l" defTabSz="914400" rtl="0" eaLnBrk="1" latinLnBrk="0" hangingPunct="1">
      <a:defRPr kern="1200">
        <a:solidFill>
          <a:schemeClr val="tx1"/>
        </a:solidFill>
        <a:latin typeface="맑은 고딕" panose="020B0503020000020004" pitchFamily="34" charset="-127"/>
        <a:ea typeface="+mn-ea"/>
        <a:cs typeface="+mn-cs"/>
      </a:defRPr>
    </a:lvl6pPr>
    <a:lvl7pPr marL="2743200" algn="l" defTabSz="914400" rtl="0" eaLnBrk="1" latinLnBrk="0" hangingPunct="1">
      <a:defRPr kern="1200">
        <a:solidFill>
          <a:schemeClr val="tx1"/>
        </a:solidFill>
        <a:latin typeface="맑은 고딕" panose="020B0503020000020004" pitchFamily="34" charset="-127"/>
        <a:ea typeface="+mn-ea"/>
        <a:cs typeface="+mn-cs"/>
      </a:defRPr>
    </a:lvl7pPr>
    <a:lvl8pPr marL="3200400" algn="l" defTabSz="914400" rtl="0" eaLnBrk="1" latinLnBrk="0" hangingPunct="1">
      <a:defRPr kern="1200">
        <a:solidFill>
          <a:schemeClr val="tx1"/>
        </a:solidFill>
        <a:latin typeface="맑은 고딕" panose="020B0503020000020004" pitchFamily="34" charset="-127"/>
        <a:ea typeface="+mn-ea"/>
        <a:cs typeface="+mn-cs"/>
      </a:defRPr>
    </a:lvl8pPr>
    <a:lvl9pPr marL="3657600" algn="l" defTabSz="914400" rtl="0" eaLnBrk="1" latinLnBrk="0" hangingPunct="1">
      <a:defRPr kern="1200">
        <a:solidFill>
          <a:schemeClr val="tx1"/>
        </a:solidFill>
        <a:latin typeface="맑은 고딕" panose="020B0503020000020004" pitchFamily="34" charset="-127"/>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59" autoAdjust="0"/>
    <p:restoredTop sz="94606"/>
  </p:normalViewPr>
  <p:slideViewPr>
    <p:cSldViewPr>
      <p:cViewPr varScale="1">
        <p:scale>
          <a:sx n="114" d="100"/>
          <a:sy n="114" d="100"/>
        </p:scale>
        <p:origin x="147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65225D-B91F-46DF-A44A-2E576F5531CD}"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590C961-16B0-4815-ABEE-BACB0E500F95}">
      <dgm:prSet phldrT="[Text]"/>
      <dgm:spPr/>
      <dgm:t>
        <a:bodyPr/>
        <a:lstStyle/>
        <a:p>
          <a:r>
            <a:rPr lang="en-US" dirty="0"/>
            <a:t>Data Structure</a:t>
          </a:r>
        </a:p>
      </dgm:t>
    </dgm:pt>
    <dgm:pt modelId="{0F700937-DFDD-49CE-8C82-02E86499E66F}" type="parTrans" cxnId="{B0A4A5AC-9753-48E8-8D77-DE3760A74504}">
      <dgm:prSet/>
      <dgm:spPr/>
      <dgm:t>
        <a:bodyPr/>
        <a:lstStyle/>
        <a:p>
          <a:endParaRPr lang="en-US"/>
        </a:p>
      </dgm:t>
    </dgm:pt>
    <dgm:pt modelId="{3C9C9D3D-CA6B-4788-9983-1D574180ACF6}" type="sibTrans" cxnId="{B0A4A5AC-9753-48E8-8D77-DE3760A74504}">
      <dgm:prSet/>
      <dgm:spPr/>
      <dgm:t>
        <a:bodyPr/>
        <a:lstStyle/>
        <a:p>
          <a:endParaRPr lang="en-US"/>
        </a:p>
      </dgm:t>
    </dgm:pt>
    <dgm:pt modelId="{02E6A71D-DD58-4062-A7CD-982D2C826BFE}">
      <dgm:prSet phldrT="[Text]"/>
      <dgm:spPr/>
      <dgm:t>
        <a:bodyPr/>
        <a:lstStyle/>
        <a:p>
          <a:r>
            <a:rPr lang="en-US" dirty="0"/>
            <a:t>Build in Data</a:t>
          </a:r>
        </a:p>
      </dgm:t>
    </dgm:pt>
    <dgm:pt modelId="{25A3A23E-9858-4E24-9F65-455B31D95907}" type="parTrans" cxnId="{4F0A1D9F-842A-4FC4-8712-1D8E9AD41AAE}">
      <dgm:prSet/>
      <dgm:spPr/>
      <dgm:t>
        <a:bodyPr/>
        <a:lstStyle/>
        <a:p>
          <a:endParaRPr lang="en-US"/>
        </a:p>
      </dgm:t>
    </dgm:pt>
    <dgm:pt modelId="{943A792D-DDAD-4887-A593-29FD1360E588}" type="sibTrans" cxnId="{4F0A1D9F-842A-4FC4-8712-1D8E9AD41AAE}">
      <dgm:prSet/>
      <dgm:spPr/>
      <dgm:t>
        <a:bodyPr/>
        <a:lstStyle/>
        <a:p>
          <a:endParaRPr lang="en-US"/>
        </a:p>
      </dgm:t>
    </dgm:pt>
    <dgm:pt modelId="{0B31B924-2125-4496-AF69-02071A69BDA5}">
      <dgm:prSet phldrT="[Text]"/>
      <dgm:spPr/>
      <dgm:t>
        <a:bodyPr/>
        <a:lstStyle/>
        <a:p>
          <a:r>
            <a:rPr lang="en-US" dirty="0"/>
            <a:t>Integer </a:t>
          </a:r>
        </a:p>
      </dgm:t>
    </dgm:pt>
    <dgm:pt modelId="{8C912F18-1A9A-4452-92E2-31A217757CA7}" type="parTrans" cxnId="{3A55A70E-4600-42DE-AE85-563AB3CCA6C9}">
      <dgm:prSet/>
      <dgm:spPr/>
      <dgm:t>
        <a:bodyPr/>
        <a:lstStyle/>
        <a:p>
          <a:endParaRPr lang="en-US"/>
        </a:p>
      </dgm:t>
    </dgm:pt>
    <dgm:pt modelId="{5AFB33EE-B50B-4D22-BAE0-6F5DBB3363C0}" type="sibTrans" cxnId="{3A55A70E-4600-42DE-AE85-563AB3CCA6C9}">
      <dgm:prSet/>
      <dgm:spPr/>
      <dgm:t>
        <a:bodyPr/>
        <a:lstStyle/>
        <a:p>
          <a:endParaRPr lang="en-US"/>
        </a:p>
      </dgm:t>
    </dgm:pt>
    <dgm:pt modelId="{5512E8AE-A64F-4787-8A0A-273C2C9679CB}">
      <dgm:prSet phldrT="[Text]"/>
      <dgm:spPr/>
      <dgm:t>
        <a:bodyPr/>
        <a:lstStyle/>
        <a:p>
          <a:r>
            <a:rPr lang="en-US" dirty="0"/>
            <a:t>Float</a:t>
          </a:r>
        </a:p>
      </dgm:t>
    </dgm:pt>
    <dgm:pt modelId="{30EDB230-FF24-4757-BFDB-17526254E01F}" type="parTrans" cxnId="{99B8697E-7138-4A55-A270-B103BBDCC5B4}">
      <dgm:prSet/>
      <dgm:spPr/>
      <dgm:t>
        <a:bodyPr/>
        <a:lstStyle/>
        <a:p>
          <a:endParaRPr lang="en-US"/>
        </a:p>
      </dgm:t>
    </dgm:pt>
    <dgm:pt modelId="{0C6DBD09-B789-4E38-ACFF-56EDAA0FD367}" type="sibTrans" cxnId="{99B8697E-7138-4A55-A270-B103BBDCC5B4}">
      <dgm:prSet/>
      <dgm:spPr/>
      <dgm:t>
        <a:bodyPr/>
        <a:lstStyle/>
        <a:p>
          <a:endParaRPr lang="en-US"/>
        </a:p>
      </dgm:t>
    </dgm:pt>
    <dgm:pt modelId="{5A3A5A35-C6C3-43CB-A744-FF5A2B5E2B23}">
      <dgm:prSet phldrT="[Text]"/>
      <dgm:spPr/>
      <dgm:t>
        <a:bodyPr/>
        <a:lstStyle/>
        <a:p>
          <a:r>
            <a:rPr lang="en-US" dirty="0"/>
            <a:t>User defined data</a:t>
          </a:r>
        </a:p>
      </dgm:t>
    </dgm:pt>
    <dgm:pt modelId="{B8EF1A70-5E03-4030-9D4F-F1489C902753}" type="parTrans" cxnId="{D06FE765-B899-497E-B983-DC70DD5A68D1}">
      <dgm:prSet/>
      <dgm:spPr/>
      <dgm:t>
        <a:bodyPr/>
        <a:lstStyle/>
        <a:p>
          <a:endParaRPr lang="en-US"/>
        </a:p>
      </dgm:t>
    </dgm:pt>
    <dgm:pt modelId="{E959B7E3-12EA-4865-97AB-5974EDB27C09}" type="sibTrans" cxnId="{D06FE765-B899-497E-B983-DC70DD5A68D1}">
      <dgm:prSet/>
      <dgm:spPr/>
      <dgm:t>
        <a:bodyPr/>
        <a:lstStyle/>
        <a:p>
          <a:endParaRPr lang="en-US"/>
        </a:p>
      </dgm:t>
    </dgm:pt>
    <dgm:pt modelId="{18A2A521-FB5D-4AB2-AEB4-1DFBFA72CE5F}">
      <dgm:prSet phldrT="[Text]"/>
      <dgm:spPr/>
      <dgm:t>
        <a:bodyPr/>
        <a:lstStyle/>
        <a:p>
          <a:r>
            <a:rPr lang="en-US" dirty="0"/>
            <a:t>Arrays</a:t>
          </a:r>
        </a:p>
      </dgm:t>
    </dgm:pt>
    <dgm:pt modelId="{946A4A32-77BD-4128-8C31-8AA4BD87FBDD}" type="parTrans" cxnId="{FF01AE10-99B1-4046-B325-57ECE0C611CC}">
      <dgm:prSet/>
      <dgm:spPr/>
      <dgm:t>
        <a:bodyPr/>
        <a:lstStyle/>
        <a:p>
          <a:endParaRPr lang="en-US"/>
        </a:p>
      </dgm:t>
    </dgm:pt>
    <dgm:pt modelId="{D4517651-D67C-4183-8834-48596B0C04CD}" type="sibTrans" cxnId="{FF01AE10-99B1-4046-B325-57ECE0C611CC}">
      <dgm:prSet/>
      <dgm:spPr/>
      <dgm:t>
        <a:bodyPr/>
        <a:lstStyle/>
        <a:p>
          <a:endParaRPr lang="en-US"/>
        </a:p>
      </dgm:t>
    </dgm:pt>
    <dgm:pt modelId="{3FF110D5-9FE6-4C3A-9584-2B8E2D50BF5B}">
      <dgm:prSet phldrT="[Text]"/>
      <dgm:spPr/>
      <dgm:t>
        <a:bodyPr/>
        <a:lstStyle/>
        <a:p>
          <a:r>
            <a:rPr lang="en-US" dirty="0"/>
            <a:t>Character</a:t>
          </a:r>
        </a:p>
      </dgm:t>
    </dgm:pt>
    <dgm:pt modelId="{698FD119-696E-4DA9-AF8B-7478360BF296}" type="parTrans" cxnId="{1B35DD0A-A2B2-4A11-9734-21499747C4F5}">
      <dgm:prSet/>
      <dgm:spPr/>
      <dgm:t>
        <a:bodyPr/>
        <a:lstStyle/>
        <a:p>
          <a:endParaRPr lang="en-US"/>
        </a:p>
      </dgm:t>
    </dgm:pt>
    <dgm:pt modelId="{F845925A-2123-43BC-865E-049B8F88FD0B}" type="sibTrans" cxnId="{1B35DD0A-A2B2-4A11-9734-21499747C4F5}">
      <dgm:prSet/>
      <dgm:spPr/>
      <dgm:t>
        <a:bodyPr/>
        <a:lstStyle/>
        <a:p>
          <a:endParaRPr lang="en-US"/>
        </a:p>
      </dgm:t>
    </dgm:pt>
    <dgm:pt modelId="{4B0EAE95-9964-4E5D-8A08-CEE5FEDC5311}">
      <dgm:prSet phldrT="[Text]"/>
      <dgm:spPr/>
      <dgm:t>
        <a:bodyPr/>
        <a:lstStyle/>
        <a:p>
          <a:r>
            <a:rPr lang="en-US" dirty="0"/>
            <a:t>Pointer</a:t>
          </a:r>
        </a:p>
      </dgm:t>
    </dgm:pt>
    <dgm:pt modelId="{2B8ED89E-7DE2-4E04-8B33-67EB3D696347}" type="parTrans" cxnId="{A3C04DBE-2EF3-4A62-A805-B954E49F27FF}">
      <dgm:prSet/>
      <dgm:spPr/>
      <dgm:t>
        <a:bodyPr/>
        <a:lstStyle/>
        <a:p>
          <a:endParaRPr lang="en-US"/>
        </a:p>
      </dgm:t>
    </dgm:pt>
    <dgm:pt modelId="{FED71B72-1E61-4B9A-962D-5C1F73FD86D4}" type="sibTrans" cxnId="{A3C04DBE-2EF3-4A62-A805-B954E49F27FF}">
      <dgm:prSet/>
      <dgm:spPr/>
      <dgm:t>
        <a:bodyPr/>
        <a:lstStyle/>
        <a:p>
          <a:endParaRPr lang="en-US"/>
        </a:p>
      </dgm:t>
    </dgm:pt>
    <dgm:pt modelId="{286DB351-4C05-4C4F-BEC4-698E60AC4DB9}">
      <dgm:prSet phldrT="[Text]"/>
      <dgm:spPr/>
      <dgm:t>
        <a:bodyPr/>
        <a:lstStyle/>
        <a:p>
          <a:r>
            <a:rPr lang="en-US" dirty="0"/>
            <a:t>Lists</a:t>
          </a:r>
        </a:p>
      </dgm:t>
    </dgm:pt>
    <dgm:pt modelId="{9CFE30E6-D5EB-4393-8372-42766A1F0301}" type="parTrans" cxnId="{E2C7BC17-7512-4DD1-A985-56FBDA560BAC}">
      <dgm:prSet/>
      <dgm:spPr/>
      <dgm:t>
        <a:bodyPr/>
        <a:lstStyle/>
        <a:p>
          <a:endParaRPr lang="en-US"/>
        </a:p>
      </dgm:t>
    </dgm:pt>
    <dgm:pt modelId="{548AAD6F-EBC8-442E-892F-47C39B452340}" type="sibTrans" cxnId="{E2C7BC17-7512-4DD1-A985-56FBDA560BAC}">
      <dgm:prSet/>
      <dgm:spPr/>
      <dgm:t>
        <a:bodyPr/>
        <a:lstStyle/>
        <a:p>
          <a:endParaRPr lang="en-US"/>
        </a:p>
      </dgm:t>
    </dgm:pt>
    <dgm:pt modelId="{294E310F-989F-43B9-A9D2-B347095986CC}">
      <dgm:prSet phldrT="[Text]"/>
      <dgm:spPr/>
      <dgm:t>
        <a:bodyPr/>
        <a:lstStyle/>
        <a:p>
          <a:r>
            <a:rPr lang="en-US" dirty="0"/>
            <a:t>Files</a:t>
          </a:r>
        </a:p>
      </dgm:t>
    </dgm:pt>
    <dgm:pt modelId="{2FB32595-A248-4115-A920-38E59AD6F387}" type="parTrans" cxnId="{DB1821A2-48F9-4642-9F4F-D3173CEFC29D}">
      <dgm:prSet/>
      <dgm:spPr/>
      <dgm:t>
        <a:bodyPr/>
        <a:lstStyle/>
        <a:p>
          <a:endParaRPr lang="en-US"/>
        </a:p>
      </dgm:t>
    </dgm:pt>
    <dgm:pt modelId="{C11AD7D0-2885-4A31-80C2-95B734853238}" type="sibTrans" cxnId="{DB1821A2-48F9-4642-9F4F-D3173CEFC29D}">
      <dgm:prSet/>
      <dgm:spPr/>
      <dgm:t>
        <a:bodyPr/>
        <a:lstStyle/>
        <a:p>
          <a:endParaRPr lang="en-US"/>
        </a:p>
      </dgm:t>
    </dgm:pt>
    <dgm:pt modelId="{2A3F5854-760B-4EBB-B191-B67AB6FBC4CA}">
      <dgm:prSet phldrT="[Text]"/>
      <dgm:spPr/>
      <dgm:t>
        <a:bodyPr/>
        <a:lstStyle/>
        <a:p>
          <a:r>
            <a:rPr lang="en-US" dirty="0"/>
            <a:t>Linear List</a:t>
          </a:r>
        </a:p>
      </dgm:t>
    </dgm:pt>
    <dgm:pt modelId="{3229BA74-5D55-4C5B-9BC4-F726516899F1}" type="parTrans" cxnId="{FC9F0CC9-A3C3-4118-99E1-5C8507DD3689}">
      <dgm:prSet/>
      <dgm:spPr/>
      <dgm:t>
        <a:bodyPr/>
        <a:lstStyle/>
        <a:p>
          <a:endParaRPr lang="en-US"/>
        </a:p>
      </dgm:t>
    </dgm:pt>
    <dgm:pt modelId="{67BDD5FC-756E-4027-9444-21046E39FFE8}" type="sibTrans" cxnId="{FC9F0CC9-A3C3-4118-99E1-5C8507DD3689}">
      <dgm:prSet/>
      <dgm:spPr/>
      <dgm:t>
        <a:bodyPr/>
        <a:lstStyle/>
        <a:p>
          <a:endParaRPr lang="en-US"/>
        </a:p>
      </dgm:t>
    </dgm:pt>
    <dgm:pt modelId="{B52B9CEA-BB1E-43EF-963F-F749D7A9F2BA}">
      <dgm:prSet phldrT="[Text]"/>
      <dgm:spPr/>
      <dgm:t>
        <a:bodyPr/>
        <a:lstStyle/>
        <a:p>
          <a:r>
            <a:rPr lang="en-US" dirty="0"/>
            <a:t>Non-Linear List</a:t>
          </a:r>
        </a:p>
      </dgm:t>
    </dgm:pt>
    <dgm:pt modelId="{49C6EC84-7928-4C7E-86DF-764BB4AD4314}" type="parTrans" cxnId="{ED8B0CEA-9F6C-4A42-AB00-E2A498EE5930}">
      <dgm:prSet/>
      <dgm:spPr/>
      <dgm:t>
        <a:bodyPr/>
        <a:lstStyle/>
        <a:p>
          <a:endParaRPr lang="en-US"/>
        </a:p>
      </dgm:t>
    </dgm:pt>
    <dgm:pt modelId="{5E14F4BD-FABE-451A-85C5-D568B8CC9D69}" type="sibTrans" cxnId="{ED8B0CEA-9F6C-4A42-AB00-E2A498EE5930}">
      <dgm:prSet/>
      <dgm:spPr/>
      <dgm:t>
        <a:bodyPr/>
        <a:lstStyle/>
        <a:p>
          <a:endParaRPr lang="en-US"/>
        </a:p>
      </dgm:t>
    </dgm:pt>
    <dgm:pt modelId="{7BAF4C26-0782-462D-9E0B-39AE087DD721}">
      <dgm:prSet phldrT="[Text]"/>
      <dgm:spPr/>
      <dgm:t>
        <a:bodyPr/>
        <a:lstStyle/>
        <a:p>
          <a:r>
            <a:rPr lang="en-US" dirty="0"/>
            <a:t>Stacks</a:t>
          </a:r>
        </a:p>
      </dgm:t>
    </dgm:pt>
    <dgm:pt modelId="{1C67577F-1AED-4FA7-B130-DBE783F6D998}" type="parTrans" cxnId="{D18CC8CF-E142-46BF-A923-B89155D70512}">
      <dgm:prSet/>
      <dgm:spPr/>
      <dgm:t>
        <a:bodyPr/>
        <a:lstStyle/>
        <a:p>
          <a:endParaRPr lang="en-US"/>
        </a:p>
      </dgm:t>
    </dgm:pt>
    <dgm:pt modelId="{B3C2E73F-CFAB-448E-AAB9-280128FD969B}" type="sibTrans" cxnId="{D18CC8CF-E142-46BF-A923-B89155D70512}">
      <dgm:prSet/>
      <dgm:spPr/>
      <dgm:t>
        <a:bodyPr/>
        <a:lstStyle/>
        <a:p>
          <a:endParaRPr lang="en-US"/>
        </a:p>
      </dgm:t>
    </dgm:pt>
    <dgm:pt modelId="{5955B91A-915F-43AC-A982-F560C46A7BC3}">
      <dgm:prSet phldrT="[Text]"/>
      <dgm:spPr/>
      <dgm:t>
        <a:bodyPr/>
        <a:lstStyle/>
        <a:p>
          <a:r>
            <a:rPr lang="en-US" dirty="0"/>
            <a:t>Queues</a:t>
          </a:r>
        </a:p>
      </dgm:t>
    </dgm:pt>
    <dgm:pt modelId="{766D3A43-5247-4D0D-8F31-D518074D94CF}" type="parTrans" cxnId="{09D54030-D241-49F8-959E-59BB90B6C04A}">
      <dgm:prSet/>
      <dgm:spPr/>
      <dgm:t>
        <a:bodyPr/>
        <a:lstStyle/>
        <a:p>
          <a:endParaRPr lang="en-US"/>
        </a:p>
      </dgm:t>
    </dgm:pt>
    <dgm:pt modelId="{51A28F10-8E7D-4FDA-9FD4-FD6557B02F88}" type="sibTrans" cxnId="{09D54030-D241-49F8-959E-59BB90B6C04A}">
      <dgm:prSet/>
      <dgm:spPr/>
      <dgm:t>
        <a:bodyPr/>
        <a:lstStyle/>
        <a:p>
          <a:endParaRPr lang="en-US"/>
        </a:p>
      </dgm:t>
    </dgm:pt>
    <dgm:pt modelId="{07023D24-1A8F-4B3B-9DE8-78B742C2E58B}">
      <dgm:prSet phldrT="[Text]"/>
      <dgm:spPr/>
      <dgm:t>
        <a:bodyPr/>
        <a:lstStyle/>
        <a:p>
          <a:r>
            <a:rPr lang="en-US" dirty="0"/>
            <a:t>Trees</a:t>
          </a:r>
        </a:p>
      </dgm:t>
    </dgm:pt>
    <dgm:pt modelId="{5743D7E7-B3F5-4444-BC64-092BB6F92866}" type="parTrans" cxnId="{79C117AE-49B3-49A4-9D85-B644BFC32421}">
      <dgm:prSet/>
      <dgm:spPr/>
      <dgm:t>
        <a:bodyPr/>
        <a:lstStyle/>
        <a:p>
          <a:endParaRPr lang="en-US"/>
        </a:p>
      </dgm:t>
    </dgm:pt>
    <dgm:pt modelId="{0228EE26-354F-4FCC-8C50-B1A9577ADA09}" type="sibTrans" cxnId="{79C117AE-49B3-49A4-9D85-B644BFC32421}">
      <dgm:prSet/>
      <dgm:spPr/>
      <dgm:t>
        <a:bodyPr/>
        <a:lstStyle/>
        <a:p>
          <a:endParaRPr lang="en-US"/>
        </a:p>
      </dgm:t>
    </dgm:pt>
    <dgm:pt modelId="{5B478067-CC7A-4F12-8F1F-54EE8B14B5A3}">
      <dgm:prSet phldrT="[Text]"/>
      <dgm:spPr/>
      <dgm:t>
        <a:bodyPr/>
        <a:lstStyle/>
        <a:p>
          <a:r>
            <a:rPr lang="en-US" dirty="0"/>
            <a:t>Graphs</a:t>
          </a:r>
        </a:p>
      </dgm:t>
    </dgm:pt>
    <dgm:pt modelId="{69C79D44-B703-4134-AC50-42CDC8D41D30}" type="parTrans" cxnId="{96490C33-329A-4C22-BA1A-AFB1B2381140}">
      <dgm:prSet/>
      <dgm:spPr/>
      <dgm:t>
        <a:bodyPr/>
        <a:lstStyle/>
        <a:p>
          <a:endParaRPr lang="en-US"/>
        </a:p>
      </dgm:t>
    </dgm:pt>
    <dgm:pt modelId="{54830F8A-A4F6-45DF-A444-ED623E03523D}" type="sibTrans" cxnId="{96490C33-329A-4C22-BA1A-AFB1B2381140}">
      <dgm:prSet/>
      <dgm:spPr/>
      <dgm:t>
        <a:bodyPr/>
        <a:lstStyle/>
        <a:p>
          <a:endParaRPr lang="en-US"/>
        </a:p>
      </dgm:t>
    </dgm:pt>
    <dgm:pt modelId="{CD8828E8-BFC3-4648-B14E-7FB8B91445A3}" type="pres">
      <dgm:prSet presAssocID="{3E65225D-B91F-46DF-A44A-2E576F5531CD}" presName="hierChild1" presStyleCnt="0">
        <dgm:presLayoutVars>
          <dgm:chPref val="1"/>
          <dgm:dir/>
          <dgm:animOne val="branch"/>
          <dgm:animLvl val="lvl"/>
          <dgm:resizeHandles/>
        </dgm:presLayoutVars>
      </dgm:prSet>
      <dgm:spPr/>
    </dgm:pt>
    <dgm:pt modelId="{E39264DE-F31C-4F9F-99F3-92F05C6C745A}" type="pres">
      <dgm:prSet presAssocID="{7590C961-16B0-4815-ABEE-BACB0E500F95}" presName="hierRoot1" presStyleCnt="0"/>
      <dgm:spPr/>
    </dgm:pt>
    <dgm:pt modelId="{5869A662-81CB-4A77-9F0A-184FC4A6694C}" type="pres">
      <dgm:prSet presAssocID="{7590C961-16B0-4815-ABEE-BACB0E500F95}" presName="composite" presStyleCnt="0"/>
      <dgm:spPr/>
    </dgm:pt>
    <dgm:pt modelId="{3E09909C-C101-4E8D-9EF7-19D6FDB81A1E}" type="pres">
      <dgm:prSet presAssocID="{7590C961-16B0-4815-ABEE-BACB0E500F95}" presName="background" presStyleLbl="node0" presStyleIdx="0" presStyleCnt="1"/>
      <dgm:spPr/>
    </dgm:pt>
    <dgm:pt modelId="{7E0D0B44-1F18-4980-A532-CF3E28DA33C5}" type="pres">
      <dgm:prSet presAssocID="{7590C961-16B0-4815-ABEE-BACB0E500F95}" presName="text" presStyleLbl="fgAcc0" presStyleIdx="0" presStyleCnt="1">
        <dgm:presLayoutVars>
          <dgm:chPref val="3"/>
        </dgm:presLayoutVars>
      </dgm:prSet>
      <dgm:spPr/>
    </dgm:pt>
    <dgm:pt modelId="{6885CEBE-ED45-411A-AD11-F9F9315E3F66}" type="pres">
      <dgm:prSet presAssocID="{7590C961-16B0-4815-ABEE-BACB0E500F95}" presName="hierChild2" presStyleCnt="0"/>
      <dgm:spPr/>
    </dgm:pt>
    <dgm:pt modelId="{521F740D-7540-40DF-8201-82D989C948EB}" type="pres">
      <dgm:prSet presAssocID="{25A3A23E-9858-4E24-9F65-455B31D95907}" presName="Name10" presStyleLbl="parChTrans1D2" presStyleIdx="0" presStyleCnt="2"/>
      <dgm:spPr/>
    </dgm:pt>
    <dgm:pt modelId="{D96B0F01-B78C-453B-8D93-82D2192A68E7}" type="pres">
      <dgm:prSet presAssocID="{02E6A71D-DD58-4062-A7CD-982D2C826BFE}" presName="hierRoot2" presStyleCnt="0"/>
      <dgm:spPr/>
    </dgm:pt>
    <dgm:pt modelId="{31FDD142-4AE3-4AC0-B526-324FEF6EFB2A}" type="pres">
      <dgm:prSet presAssocID="{02E6A71D-DD58-4062-A7CD-982D2C826BFE}" presName="composite2" presStyleCnt="0"/>
      <dgm:spPr/>
    </dgm:pt>
    <dgm:pt modelId="{22E1C4F4-BDA3-4807-9C1B-33CCC7DDEEF9}" type="pres">
      <dgm:prSet presAssocID="{02E6A71D-DD58-4062-A7CD-982D2C826BFE}" presName="background2" presStyleLbl="node2" presStyleIdx="0" presStyleCnt="2"/>
      <dgm:spPr/>
    </dgm:pt>
    <dgm:pt modelId="{227BC728-B681-4679-8108-5B89527F681C}" type="pres">
      <dgm:prSet presAssocID="{02E6A71D-DD58-4062-A7CD-982D2C826BFE}" presName="text2" presStyleLbl="fgAcc2" presStyleIdx="0" presStyleCnt="2">
        <dgm:presLayoutVars>
          <dgm:chPref val="3"/>
        </dgm:presLayoutVars>
      </dgm:prSet>
      <dgm:spPr/>
    </dgm:pt>
    <dgm:pt modelId="{2627CBAB-42BA-4FBF-8B6C-954FEF8B87A2}" type="pres">
      <dgm:prSet presAssocID="{02E6A71D-DD58-4062-A7CD-982D2C826BFE}" presName="hierChild3" presStyleCnt="0"/>
      <dgm:spPr/>
    </dgm:pt>
    <dgm:pt modelId="{FD0B5F68-2684-4321-A604-2C128FA6DC98}" type="pres">
      <dgm:prSet presAssocID="{8C912F18-1A9A-4452-92E2-31A217757CA7}" presName="Name17" presStyleLbl="parChTrans1D3" presStyleIdx="0" presStyleCnt="7"/>
      <dgm:spPr/>
    </dgm:pt>
    <dgm:pt modelId="{DC56949B-FD6F-4859-BC01-386045763655}" type="pres">
      <dgm:prSet presAssocID="{0B31B924-2125-4496-AF69-02071A69BDA5}" presName="hierRoot3" presStyleCnt="0"/>
      <dgm:spPr/>
    </dgm:pt>
    <dgm:pt modelId="{D810A20D-6BFA-4893-9245-8FF531F7B95C}" type="pres">
      <dgm:prSet presAssocID="{0B31B924-2125-4496-AF69-02071A69BDA5}" presName="composite3" presStyleCnt="0"/>
      <dgm:spPr/>
    </dgm:pt>
    <dgm:pt modelId="{CEC059EE-A9F6-47E1-A2F0-19F42C6BF622}" type="pres">
      <dgm:prSet presAssocID="{0B31B924-2125-4496-AF69-02071A69BDA5}" presName="background3" presStyleLbl="node3" presStyleIdx="0" presStyleCnt="7"/>
      <dgm:spPr/>
    </dgm:pt>
    <dgm:pt modelId="{4454EAE4-2057-4C56-AFCC-9870F0FD1C8F}" type="pres">
      <dgm:prSet presAssocID="{0B31B924-2125-4496-AF69-02071A69BDA5}" presName="text3" presStyleLbl="fgAcc3" presStyleIdx="0" presStyleCnt="7">
        <dgm:presLayoutVars>
          <dgm:chPref val="3"/>
        </dgm:presLayoutVars>
      </dgm:prSet>
      <dgm:spPr/>
    </dgm:pt>
    <dgm:pt modelId="{FDACB51B-935B-4DBB-9D65-66661FA01AD7}" type="pres">
      <dgm:prSet presAssocID="{0B31B924-2125-4496-AF69-02071A69BDA5}" presName="hierChild4" presStyleCnt="0"/>
      <dgm:spPr/>
    </dgm:pt>
    <dgm:pt modelId="{EA8BD36B-DE46-4630-928E-C3153A8EAEF2}" type="pres">
      <dgm:prSet presAssocID="{30EDB230-FF24-4757-BFDB-17526254E01F}" presName="Name17" presStyleLbl="parChTrans1D3" presStyleIdx="1" presStyleCnt="7"/>
      <dgm:spPr/>
    </dgm:pt>
    <dgm:pt modelId="{A223E979-BCFD-4CFA-8D1E-7B130B40B0F3}" type="pres">
      <dgm:prSet presAssocID="{5512E8AE-A64F-4787-8A0A-273C2C9679CB}" presName="hierRoot3" presStyleCnt="0"/>
      <dgm:spPr/>
    </dgm:pt>
    <dgm:pt modelId="{79BE7DC1-C627-4DE0-857D-0D29C9601C3C}" type="pres">
      <dgm:prSet presAssocID="{5512E8AE-A64F-4787-8A0A-273C2C9679CB}" presName="composite3" presStyleCnt="0"/>
      <dgm:spPr/>
    </dgm:pt>
    <dgm:pt modelId="{88911FBF-A9EF-4CE3-8803-1905D55F9B05}" type="pres">
      <dgm:prSet presAssocID="{5512E8AE-A64F-4787-8A0A-273C2C9679CB}" presName="background3" presStyleLbl="node3" presStyleIdx="1" presStyleCnt="7"/>
      <dgm:spPr/>
    </dgm:pt>
    <dgm:pt modelId="{BB17F1E7-AE9E-43A9-ACEE-AC3F0DC3AEA0}" type="pres">
      <dgm:prSet presAssocID="{5512E8AE-A64F-4787-8A0A-273C2C9679CB}" presName="text3" presStyleLbl="fgAcc3" presStyleIdx="1" presStyleCnt="7">
        <dgm:presLayoutVars>
          <dgm:chPref val="3"/>
        </dgm:presLayoutVars>
      </dgm:prSet>
      <dgm:spPr/>
    </dgm:pt>
    <dgm:pt modelId="{C92A1B79-6A50-45D1-B150-047EB5C7E848}" type="pres">
      <dgm:prSet presAssocID="{5512E8AE-A64F-4787-8A0A-273C2C9679CB}" presName="hierChild4" presStyleCnt="0"/>
      <dgm:spPr/>
    </dgm:pt>
    <dgm:pt modelId="{97B48B0C-C5A9-4710-A20A-C34444E64F40}" type="pres">
      <dgm:prSet presAssocID="{698FD119-696E-4DA9-AF8B-7478360BF296}" presName="Name17" presStyleLbl="parChTrans1D3" presStyleIdx="2" presStyleCnt="7"/>
      <dgm:spPr/>
    </dgm:pt>
    <dgm:pt modelId="{9CAB0169-DFB1-443B-B93C-63B2631A90E9}" type="pres">
      <dgm:prSet presAssocID="{3FF110D5-9FE6-4C3A-9584-2B8E2D50BF5B}" presName="hierRoot3" presStyleCnt="0"/>
      <dgm:spPr/>
    </dgm:pt>
    <dgm:pt modelId="{FAB649AB-C93C-455E-8542-32F749C320EA}" type="pres">
      <dgm:prSet presAssocID="{3FF110D5-9FE6-4C3A-9584-2B8E2D50BF5B}" presName="composite3" presStyleCnt="0"/>
      <dgm:spPr/>
    </dgm:pt>
    <dgm:pt modelId="{95825575-71FA-4E96-9DEE-9F4AF73CEAEF}" type="pres">
      <dgm:prSet presAssocID="{3FF110D5-9FE6-4C3A-9584-2B8E2D50BF5B}" presName="background3" presStyleLbl="node3" presStyleIdx="2" presStyleCnt="7"/>
      <dgm:spPr/>
    </dgm:pt>
    <dgm:pt modelId="{88CA3270-F497-49F9-AEEC-F5C6D73B759A}" type="pres">
      <dgm:prSet presAssocID="{3FF110D5-9FE6-4C3A-9584-2B8E2D50BF5B}" presName="text3" presStyleLbl="fgAcc3" presStyleIdx="2" presStyleCnt="7">
        <dgm:presLayoutVars>
          <dgm:chPref val="3"/>
        </dgm:presLayoutVars>
      </dgm:prSet>
      <dgm:spPr/>
    </dgm:pt>
    <dgm:pt modelId="{59394BC3-F51A-4015-90AA-CD8C91AFEB2B}" type="pres">
      <dgm:prSet presAssocID="{3FF110D5-9FE6-4C3A-9584-2B8E2D50BF5B}" presName="hierChild4" presStyleCnt="0"/>
      <dgm:spPr/>
    </dgm:pt>
    <dgm:pt modelId="{4204A883-5B20-4F4C-904D-FA2D7B56ED25}" type="pres">
      <dgm:prSet presAssocID="{2B8ED89E-7DE2-4E04-8B33-67EB3D696347}" presName="Name17" presStyleLbl="parChTrans1D3" presStyleIdx="3" presStyleCnt="7"/>
      <dgm:spPr/>
    </dgm:pt>
    <dgm:pt modelId="{B0A38908-4FD3-49B4-AB63-822ABDF23E14}" type="pres">
      <dgm:prSet presAssocID="{4B0EAE95-9964-4E5D-8A08-CEE5FEDC5311}" presName="hierRoot3" presStyleCnt="0"/>
      <dgm:spPr/>
    </dgm:pt>
    <dgm:pt modelId="{EE28B6BA-93A1-4FF4-A941-2C490AA75C68}" type="pres">
      <dgm:prSet presAssocID="{4B0EAE95-9964-4E5D-8A08-CEE5FEDC5311}" presName="composite3" presStyleCnt="0"/>
      <dgm:spPr/>
    </dgm:pt>
    <dgm:pt modelId="{494B61CA-0EA5-4BF8-956D-54D5CBDC328D}" type="pres">
      <dgm:prSet presAssocID="{4B0EAE95-9964-4E5D-8A08-CEE5FEDC5311}" presName="background3" presStyleLbl="node3" presStyleIdx="3" presStyleCnt="7"/>
      <dgm:spPr/>
    </dgm:pt>
    <dgm:pt modelId="{036A5DBE-7FCE-4013-8E71-2AB9022BEF71}" type="pres">
      <dgm:prSet presAssocID="{4B0EAE95-9964-4E5D-8A08-CEE5FEDC5311}" presName="text3" presStyleLbl="fgAcc3" presStyleIdx="3" presStyleCnt="7">
        <dgm:presLayoutVars>
          <dgm:chPref val="3"/>
        </dgm:presLayoutVars>
      </dgm:prSet>
      <dgm:spPr/>
    </dgm:pt>
    <dgm:pt modelId="{2D31B465-03F6-4C76-BF5A-DE89DF1A016A}" type="pres">
      <dgm:prSet presAssocID="{4B0EAE95-9964-4E5D-8A08-CEE5FEDC5311}" presName="hierChild4" presStyleCnt="0"/>
      <dgm:spPr/>
    </dgm:pt>
    <dgm:pt modelId="{25E55151-77F5-4688-B7B9-26CCB390735B}" type="pres">
      <dgm:prSet presAssocID="{B8EF1A70-5E03-4030-9D4F-F1489C902753}" presName="Name10" presStyleLbl="parChTrans1D2" presStyleIdx="1" presStyleCnt="2"/>
      <dgm:spPr/>
    </dgm:pt>
    <dgm:pt modelId="{097EA422-9896-488C-8A74-FCCE43D3F245}" type="pres">
      <dgm:prSet presAssocID="{5A3A5A35-C6C3-43CB-A744-FF5A2B5E2B23}" presName="hierRoot2" presStyleCnt="0"/>
      <dgm:spPr/>
    </dgm:pt>
    <dgm:pt modelId="{81CA3B00-5D32-4787-A565-6DADDA992803}" type="pres">
      <dgm:prSet presAssocID="{5A3A5A35-C6C3-43CB-A744-FF5A2B5E2B23}" presName="composite2" presStyleCnt="0"/>
      <dgm:spPr/>
    </dgm:pt>
    <dgm:pt modelId="{726C3659-8F56-4559-A366-7E34C726B5F6}" type="pres">
      <dgm:prSet presAssocID="{5A3A5A35-C6C3-43CB-A744-FF5A2B5E2B23}" presName="background2" presStyleLbl="node2" presStyleIdx="1" presStyleCnt="2"/>
      <dgm:spPr/>
    </dgm:pt>
    <dgm:pt modelId="{A95ACAC1-E1F5-4E90-A494-604014AFB919}" type="pres">
      <dgm:prSet presAssocID="{5A3A5A35-C6C3-43CB-A744-FF5A2B5E2B23}" presName="text2" presStyleLbl="fgAcc2" presStyleIdx="1" presStyleCnt="2">
        <dgm:presLayoutVars>
          <dgm:chPref val="3"/>
        </dgm:presLayoutVars>
      </dgm:prSet>
      <dgm:spPr/>
    </dgm:pt>
    <dgm:pt modelId="{3BB1EFC0-C6FA-4E42-B2BE-A78762D02102}" type="pres">
      <dgm:prSet presAssocID="{5A3A5A35-C6C3-43CB-A744-FF5A2B5E2B23}" presName="hierChild3" presStyleCnt="0"/>
      <dgm:spPr/>
    </dgm:pt>
    <dgm:pt modelId="{E2122BC9-F997-4933-8A9A-82A83D2F341F}" type="pres">
      <dgm:prSet presAssocID="{946A4A32-77BD-4128-8C31-8AA4BD87FBDD}" presName="Name17" presStyleLbl="parChTrans1D3" presStyleIdx="4" presStyleCnt="7"/>
      <dgm:spPr/>
    </dgm:pt>
    <dgm:pt modelId="{F1A23010-F45D-4944-8167-D5AACFD9A4C7}" type="pres">
      <dgm:prSet presAssocID="{18A2A521-FB5D-4AB2-AEB4-1DFBFA72CE5F}" presName="hierRoot3" presStyleCnt="0"/>
      <dgm:spPr/>
    </dgm:pt>
    <dgm:pt modelId="{04731ADD-95F9-42C9-9E93-400816234454}" type="pres">
      <dgm:prSet presAssocID="{18A2A521-FB5D-4AB2-AEB4-1DFBFA72CE5F}" presName="composite3" presStyleCnt="0"/>
      <dgm:spPr/>
    </dgm:pt>
    <dgm:pt modelId="{253A2143-6628-435E-98A6-06C8B765534C}" type="pres">
      <dgm:prSet presAssocID="{18A2A521-FB5D-4AB2-AEB4-1DFBFA72CE5F}" presName="background3" presStyleLbl="node3" presStyleIdx="4" presStyleCnt="7"/>
      <dgm:spPr/>
    </dgm:pt>
    <dgm:pt modelId="{A3EE768A-2DA8-4C22-A9E4-85D58BDDFE4C}" type="pres">
      <dgm:prSet presAssocID="{18A2A521-FB5D-4AB2-AEB4-1DFBFA72CE5F}" presName="text3" presStyleLbl="fgAcc3" presStyleIdx="4" presStyleCnt="7">
        <dgm:presLayoutVars>
          <dgm:chPref val="3"/>
        </dgm:presLayoutVars>
      </dgm:prSet>
      <dgm:spPr/>
    </dgm:pt>
    <dgm:pt modelId="{F7705FCD-9A6F-4A05-9FE7-432237112C1D}" type="pres">
      <dgm:prSet presAssocID="{18A2A521-FB5D-4AB2-AEB4-1DFBFA72CE5F}" presName="hierChild4" presStyleCnt="0"/>
      <dgm:spPr/>
    </dgm:pt>
    <dgm:pt modelId="{F686DC77-D212-44A7-AD28-69D8108BDF2F}" type="pres">
      <dgm:prSet presAssocID="{9CFE30E6-D5EB-4393-8372-42766A1F0301}" presName="Name17" presStyleLbl="parChTrans1D3" presStyleIdx="5" presStyleCnt="7"/>
      <dgm:spPr/>
    </dgm:pt>
    <dgm:pt modelId="{3B5D5065-F5B8-43AA-8050-5B351FFE7A6A}" type="pres">
      <dgm:prSet presAssocID="{286DB351-4C05-4C4F-BEC4-698E60AC4DB9}" presName="hierRoot3" presStyleCnt="0"/>
      <dgm:spPr/>
    </dgm:pt>
    <dgm:pt modelId="{F669069F-687A-499B-BACF-F473F7D1C8D3}" type="pres">
      <dgm:prSet presAssocID="{286DB351-4C05-4C4F-BEC4-698E60AC4DB9}" presName="composite3" presStyleCnt="0"/>
      <dgm:spPr/>
    </dgm:pt>
    <dgm:pt modelId="{E81E159A-9044-40E5-B88D-1D9CD9852103}" type="pres">
      <dgm:prSet presAssocID="{286DB351-4C05-4C4F-BEC4-698E60AC4DB9}" presName="background3" presStyleLbl="node3" presStyleIdx="5" presStyleCnt="7"/>
      <dgm:spPr/>
    </dgm:pt>
    <dgm:pt modelId="{491B3202-4492-4D63-A7AA-E6D4C1B4B31D}" type="pres">
      <dgm:prSet presAssocID="{286DB351-4C05-4C4F-BEC4-698E60AC4DB9}" presName="text3" presStyleLbl="fgAcc3" presStyleIdx="5" presStyleCnt="7">
        <dgm:presLayoutVars>
          <dgm:chPref val="3"/>
        </dgm:presLayoutVars>
      </dgm:prSet>
      <dgm:spPr/>
    </dgm:pt>
    <dgm:pt modelId="{F8D74230-04F0-48BE-A036-23A8BD4A3C8F}" type="pres">
      <dgm:prSet presAssocID="{286DB351-4C05-4C4F-BEC4-698E60AC4DB9}" presName="hierChild4" presStyleCnt="0"/>
      <dgm:spPr/>
    </dgm:pt>
    <dgm:pt modelId="{6274575E-E517-4241-80D4-B45296D1C38E}" type="pres">
      <dgm:prSet presAssocID="{3229BA74-5D55-4C5B-9BC4-F726516899F1}" presName="Name23" presStyleLbl="parChTrans1D4" presStyleIdx="0" presStyleCnt="6"/>
      <dgm:spPr/>
    </dgm:pt>
    <dgm:pt modelId="{4804E234-5ED5-47AC-87E9-D45ACA48BDF5}" type="pres">
      <dgm:prSet presAssocID="{2A3F5854-760B-4EBB-B191-B67AB6FBC4CA}" presName="hierRoot4" presStyleCnt="0"/>
      <dgm:spPr/>
    </dgm:pt>
    <dgm:pt modelId="{2C2B78AD-8477-4633-B406-D2B1E5C8D744}" type="pres">
      <dgm:prSet presAssocID="{2A3F5854-760B-4EBB-B191-B67AB6FBC4CA}" presName="composite4" presStyleCnt="0"/>
      <dgm:spPr/>
    </dgm:pt>
    <dgm:pt modelId="{FCA0D530-7449-47D5-9839-5947980128B3}" type="pres">
      <dgm:prSet presAssocID="{2A3F5854-760B-4EBB-B191-B67AB6FBC4CA}" presName="background4" presStyleLbl="node4" presStyleIdx="0" presStyleCnt="6"/>
      <dgm:spPr/>
    </dgm:pt>
    <dgm:pt modelId="{84A4D425-FFFF-4D08-BCD5-88F8A1FAC4C1}" type="pres">
      <dgm:prSet presAssocID="{2A3F5854-760B-4EBB-B191-B67AB6FBC4CA}" presName="text4" presStyleLbl="fgAcc4" presStyleIdx="0" presStyleCnt="6">
        <dgm:presLayoutVars>
          <dgm:chPref val="3"/>
        </dgm:presLayoutVars>
      </dgm:prSet>
      <dgm:spPr/>
    </dgm:pt>
    <dgm:pt modelId="{C9885FDD-9AFC-4A82-AD34-076051601275}" type="pres">
      <dgm:prSet presAssocID="{2A3F5854-760B-4EBB-B191-B67AB6FBC4CA}" presName="hierChild5" presStyleCnt="0"/>
      <dgm:spPr/>
    </dgm:pt>
    <dgm:pt modelId="{2719F97D-DF99-4801-B6B6-FE655F8C69F5}" type="pres">
      <dgm:prSet presAssocID="{1C67577F-1AED-4FA7-B130-DBE783F6D998}" presName="Name23" presStyleLbl="parChTrans1D4" presStyleIdx="1" presStyleCnt="6"/>
      <dgm:spPr/>
    </dgm:pt>
    <dgm:pt modelId="{375245C2-AADA-4D37-93C2-73F611089728}" type="pres">
      <dgm:prSet presAssocID="{7BAF4C26-0782-462D-9E0B-39AE087DD721}" presName="hierRoot4" presStyleCnt="0"/>
      <dgm:spPr/>
    </dgm:pt>
    <dgm:pt modelId="{A51599E5-9C48-4EC3-8E8F-AA04FC950273}" type="pres">
      <dgm:prSet presAssocID="{7BAF4C26-0782-462D-9E0B-39AE087DD721}" presName="composite4" presStyleCnt="0"/>
      <dgm:spPr/>
    </dgm:pt>
    <dgm:pt modelId="{7F6984D9-5A74-4270-905D-166C0FB962AC}" type="pres">
      <dgm:prSet presAssocID="{7BAF4C26-0782-462D-9E0B-39AE087DD721}" presName="background4" presStyleLbl="node4" presStyleIdx="1" presStyleCnt="6"/>
      <dgm:spPr/>
    </dgm:pt>
    <dgm:pt modelId="{88A89F52-5D5E-400D-A3B7-A2FDC4D10A13}" type="pres">
      <dgm:prSet presAssocID="{7BAF4C26-0782-462D-9E0B-39AE087DD721}" presName="text4" presStyleLbl="fgAcc4" presStyleIdx="1" presStyleCnt="6">
        <dgm:presLayoutVars>
          <dgm:chPref val="3"/>
        </dgm:presLayoutVars>
      </dgm:prSet>
      <dgm:spPr/>
    </dgm:pt>
    <dgm:pt modelId="{740C4918-A074-4358-91F7-4068FE4B49AF}" type="pres">
      <dgm:prSet presAssocID="{7BAF4C26-0782-462D-9E0B-39AE087DD721}" presName="hierChild5" presStyleCnt="0"/>
      <dgm:spPr/>
    </dgm:pt>
    <dgm:pt modelId="{AE8FD565-8952-4679-963D-310B3EFBAC8E}" type="pres">
      <dgm:prSet presAssocID="{766D3A43-5247-4D0D-8F31-D518074D94CF}" presName="Name23" presStyleLbl="parChTrans1D4" presStyleIdx="2" presStyleCnt="6"/>
      <dgm:spPr/>
    </dgm:pt>
    <dgm:pt modelId="{69DDA5B6-0D45-4717-B21E-017E2A8D54CB}" type="pres">
      <dgm:prSet presAssocID="{5955B91A-915F-43AC-A982-F560C46A7BC3}" presName="hierRoot4" presStyleCnt="0"/>
      <dgm:spPr/>
    </dgm:pt>
    <dgm:pt modelId="{3B11EA36-F86A-46DE-859F-93799F2637C7}" type="pres">
      <dgm:prSet presAssocID="{5955B91A-915F-43AC-A982-F560C46A7BC3}" presName="composite4" presStyleCnt="0"/>
      <dgm:spPr/>
    </dgm:pt>
    <dgm:pt modelId="{DC953CD2-D9F9-4C5C-8B54-F5B5EA18C6B3}" type="pres">
      <dgm:prSet presAssocID="{5955B91A-915F-43AC-A982-F560C46A7BC3}" presName="background4" presStyleLbl="node4" presStyleIdx="2" presStyleCnt="6"/>
      <dgm:spPr/>
    </dgm:pt>
    <dgm:pt modelId="{98BA2784-481B-445B-B015-2ED86879D7FF}" type="pres">
      <dgm:prSet presAssocID="{5955B91A-915F-43AC-A982-F560C46A7BC3}" presName="text4" presStyleLbl="fgAcc4" presStyleIdx="2" presStyleCnt="6">
        <dgm:presLayoutVars>
          <dgm:chPref val="3"/>
        </dgm:presLayoutVars>
      </dgm:prSet>
      <dgm:spPr/>
    </dgm:pt>
    <dgm:pt modelId="{5BBE7625-4B35-4D5B-8A4B-9A4E7F70294F}" type="pres">
      <dgm:prSet presAssocID="{5955B91A-915F-43AC-A982-F560C46A7BC3}" presName="hierChild5" presStyleCnt="0"/>
      <dgm:spPr/>
    </dgm:pt>
    <dgm:pt modelId="{37805FB3-1880-42CA-821C-3689D424042E}" type="pres">
      <dgm:prSet presAssocID="{49C6EC84-7928-4C7E-86DF-764BB4AD4314}" presName="Name23" presStyleLbl="parChTrans1D4" presStyleIdx="3" presStyleCnt="6"/>
      <dgm:spPr/>
    </dgm:pt>
    <dgm:pt modelId="{7D6855BC-97A0-4964-8B63-3B858FB99589}" type="pres">
      <dgm:prSet presAssocID="{B52B9CEA-BB1E-43EF-963F-F749D7A9F2BA}" presName="hierRoot4" presStyleCnt="0"/>
      <dgm:spPr/>
    </dgm:pt>
    <dgm:pt modelId="{AA87A95A-AD66-4A6B-A1A8-2BE1BE7324BB}" type="pres">
      <dgm:prSet presAssocID="{B52B9CEA-BB1E-43EF-963F-F749D7A9F2BA}" presName="composite4" presStyleCnt="0"/>
      <dgm:spPr/>
    </dgm:pt>
    <dgm:pt modelId="{EADF9F5B-E724-4EAD-AECC-D2B9EB18E3C8}" type="pres">
      <dgm:prSet presAssocID="{B52B9CEA-BB1E-43EF-963F-F749D7A9F2BA}" presName="background4" presStyleLbl="node4" presStyleIdx="3" presStyleCnt="6"/>
      <dgm:spPr/>
    </dgm:pt>
    <dgm:pt modelId="{8C006D77-5078-42B0-9AC1-0D526EE9A397}" type="pres">
      <dgm:prSet presAssocID="{B52B9CEA-BB1E-43EF-963F-F749D7A9F2BA}" presName="text4" presStyleLbl="fgAcc4" presStyleIdx="3" presStyleCnt="6">
        <dgm:presLayoutVars>
          <dgm:chPref val="3"/>
        </dgm:presLayoutVars>
      </dgm:prSet>
      <dgm:spPr/>
    </dgm:pt>
    <dgm:pt modelId="{83D097FE-807C-45E9-A075-7FCD834D194C}" type="pres">
      <dgm:prSet presAssocID="{B52B9CEA-BB1E-43EF-963F-F749D7A9F2BA}" presName="hierChild5" presStyleCnt="0"/>
      <dgm:spPr/>
    </dgm:pt>
    <dgm:pt modelId="{F34C052F-BB6C-487E-8698-18B2F33B5D92}" type="pres">
      <dgm:prSet presAssocID="{5743D7E7-B3F5-4444-BC64-092BB6F92866}" presName="Name23" presStyleLbl="parChTrans1D4" presStyleIdx="4" presStyleCnt="6"/>
      <dgm:spPr/>
    </dgm:pt>
    <dgm:pt modelId="{1E6A4C21-3142-4E4D-BB50-701027AA322F}" type="pres">
      <dgm:prSet presAssocID="{07023D24-1A8F-4B3B-9DE8-78B742C2E58B}" presName="hierRoot4" presStyleCnt="0"/>
      <dgm:spPr/>
    </dgm:pt>
    <dgm:pt modelId="{E493C26C-3CF3-43F5-9D59-A43924744CBB}" type="pres">
      <dgm:prSet presAssocID="{07023D24-1A8F-4B3B-9DE8-78B742C2E58B}" presName="composite4" presStyleCnt="0"/>
      <dgm:spPr/>
    </dgm:pt>
    <dgm:pt modelId="{C0A99B6D-D561-4BB3-8A01-C85E352D6BC8}" type="pres">
      <dgm:prSet presAssocID="{07023D24-1A8F-4B3B-9DE8-78B742C2E58B}" presName="background4" presStyleLbl="node4" presStyleIdx="4" presStyleCnt="6"/>
      <dgm:spPr/>
    </dgm:pt>
    <dgm:pt modelId="{1A462FB5-28B8-4927-885C-FFAEF97DB052}" type="pres">
      <dgm:prSet presAssocID="{07023D24-1A8F-4B3B-9DE8-78B742C2E58B}" presName="text4" presStyleLbl="fgAcc4" presStyleIdx="4" presStyleCnt="6">
        <dgm:presLayoutVars>
          <dgm:chPref val="3"/>
        </dgm:presLayoutVars>
      </dgm:prSet>
      <dgm:spPr/>
    </dgm:pt>
    <dgm:pt modelId="{5DD3F0C9-4EFA-4154-AC31-7FD67557B964}" type="pres">
      <dgm:prSet presAssocID="{07023D24-1A8F-4B3B-9DE8-78B742C2E58B}" presName="hierChild5" presStyleCnt="0"/>
      <dgm:spPr/>
    </dgm:pt>
    <dgm:pt modelId="{4198BD14-0A92-4680-AA5D-9A6D41ECE4BB}" type="pres">
      <dgm:prSet presAssocID="{69C79D44-B703-4134-AC50-42CDC8D41D30}" presName="Name23" presStyleLbl="parChTrans1D4" presStyleIdx="5" presStyleCnt="6"/>
      <dgm:spPr/>
    </dgm:pt>
    <dgm:pt modelId="{66FC01B7-D202-4E00-A94F-426C7EFCAD5C}" type="pres">
      <dgm:prSet presAssocID="{5B478067-CC7A-4F12-8F1F-54EE8B14B5A3}" presName="hierRoot4" presStyleCnt="0"/>
      <dgm:spPr/>
    </dgm:pt>
    <dgm:pt modelId="{ED55B923-D9AA-4543-BE37-AC312C537761}" type="pres">
      <dgm:prSet presAssocID="{5B478067-CC7A-4F12-8F1F-54EE8B14B5A3}" presName="composite4" presStyleCnt="0"/>
      <dgm:spPr/>
    </dgm:pt>
    <dgm:pt modelId="{29FBDFA9-481F-4C44-A555-6012B606C26E}" type="pres">
      <dgm:prSet presAssocID="{5B478067-CC7A-4F12-8F1F-54EE8B14B5A3}" presName="background4" presStyleLbl="node4" presStyleIdx="5" presStyleCnt="6"/>
      <dgm:spPr/>
    </dgm:pt>
    <dgm:pt modelId="{79AF806C-74FB-4982-8412-A02924410624}" type="pres">
      <dgm:prSet presAssocID="{5B478067-CC7A-4F12-8F1F-54EE8B14B5A3}" presName="text4" presStyleLbl="fgAcc4" presStyleIdx="5" presStyleCnt="6">
        <dgm:presLayoutVars>
          <dgm:chPref val="3"/>
        </dgm:presLayoutVars>
      </dgm:prSet>
      <dgm:spPr/>
    </dgm:pt>
    <dgm:pt modelId="{3744D866-A9D3-41C0-AD19-8A0E4240BF2C}" type="pres">
      <dgm:prSet presAssocID="{5B478067-CC7A-4F12-8F1F-54EE8B14B5A3}" presName="hierChild5" presStyleCnt="0"/>
      <dgm:spPr/>
    </dgm:pt>
    <dgm:pt modelId="{876B02FF-EAB5-4E4E-8821-D6E87B13355D}" type="pres">
      <dgm:prSet presAssocID="{2FB32595-A248-4115-A920-38E59AD6F387}" presName="Name17" presStyleLbl="parChTrans1D3" presStyleIdx="6" presStyleCnt="7"/>
      <dgm:spPr/>
    </dgm:pt>
    <dgm:pt modelId="{FE276A2C-0167-4F90-94DC-EDF23B7EF08F}" type="pres">
      <dgm:prSet presAssocID="{294E310F-989F-43B9-A9D2-B347095986CC}" presName="hierRoot3" presStyleCnt="0"/>
      <dgm:spPr/>
    </dgm:pt>
    <dgm:pt modelId="{210FAF21-6B2D-49BC-8127-C457BD6505CB}" type="pres">
      <dgm:prSet presAssocID="{294E310F-989F-43B9-A9D2-B347095986CC}" presName="composite3" presStyleCnt="0"/>
      <dgm:spPr/>
    </dgm:pt>
    <dgm:pt modelId="{090B1519-10F0-48C5-BB05-73F2AA59183E}" type="pres">
      <dgm:prSet presAssocID="{294E310F-989F-43B9-A9D2-B347095986CC}" presName="background3" presStyleLbl="node3" presStyleIdx="6" presStyleCnt="7"/>
      <dgm:spPr/>
    </dgm:pt>
    <dgm:pt modelId="{677A60BC-EC4A-437F-B8E2-835801B41984}" type="pres">
      <dgm:prSet presAssocID="{294E310F-989F-43B9-A9D2-B347095986CC}" presName="text3" presStyleLbl="fgAcc3" presStyleIdx="6" presStyleCnt="7">
        <dgm:presLayoutVars>
          <dgm:chPref val="3"/>
        </dgm:presLayoutVars>
      </dgm:prSet>
      <dgm:spPr/>
    </dgm:pt>
    <dgm:pt modelId="{7953F153-AD5D-43C1-9852-A7DB8E46AD04}" type="pres">
      <dgm:prSet presAssocID="{294E310F-989F-43B9-A9D2-B347095986CC}" presName="hierChild4" presStyleCnt="0"/>
      <dgm:spPr/>
    </dgm:pt>
  </dgm:ptLst>
  <dgm:cxnLst>
    <dgm:cxn modelId="{8883BB02-AF37-484E-A030-5A6D6E3D40D9}" type="presOf" srcId="{25A3A23E-9858-4E24-9F65-455B31D95907}" destId="{521F740D-7540-40DF-8201-82D989C948EB}" srcOrd="0" destOrd="0" presId="urn:microsoft.com/office/officeart/2005/8/layout/hierarchy1"/>
    <dgm:cxn modelId="{4F99EF03-A66D-4CCA-AD95-A06BF0D68570}" type="presOf" srcId="{2B8ED89E-7DE2-4E04-8B33-67EB3D696347}" destId="{4204A883-5B20-4F4C-904D-FA2D7B56ED25}" srcOrd="0" destOrd="0" presId="urn:microsoft.com/office/officeart/2005/8/layout/hierarchy1"/>
    <dgm:cxn modelId="{1B35DD0A-A2B2-4A11-9734-21499747C4F5}" srcId="{02E6A71D-DD58-4062-A7CD-982D2C826BFE}" destId="{3FF110D5-9FE6-4C3A-9584-2B8E2D50BF5B}" srcOrd="2" destOrd="0" parTransId="{698FD119-696E-4DA9-AF8B-7478360BF296}" sibTransId="{F845925A-2123-43BC-865E-049B8F88FD0B}"/>
    <dgm:cxn modelId="{3A55A70E-4600-42DE-AE85-563AB3CCA6C9}" srcId="{02E6A71D-DD58-4062-A7CD-982D2C826BFE}" destId="{0B31B924-2125-4496-AF69-02071A69BDA5}" srcOrd="0" destOrd="0" parTransId="{8C912F18-1A9A-4452-92E2-31A217757CA7}" sibTransId="{5AFB33EE-B50B-4D22-BAE0-6F5DBB3363C0}"/>
    <dgm:cxn modelId="{FF01AE10-99B1-4046-B325-57ECE0C611CC}" srcId="{5A3A5A35-C6C3-43CB-A744-FF5A2B5E2B23}" destId="{18A2A521-FB5D-4AB2-AEB4-1DFBFA72CE5F}" srcOrd="0" destOrd="0" parTransId="{946A4A32-77BD-4128-8C31-8AA4BD87FBDD}" sibTransId="{D4517651-D67C-4183-8834-48596B0C04CD}"/>
    <dgm:cxn modelId="{E2C7BC17-7512-4DD1-A985-56FBDA560BAC}" srcId="{5A3A5A35-C6C3-43CB-A744-FF5A2B5E2B23}" destId="{286DB351-4C05-4C4F-BEC4-698E60AC4DB9}" srcOrd="1" destOrd="0" parTransId="{9CFE30E6-D5EB-4393-8372-42766A1F0301}" sibTransId="{548AAD6F-EBC8-442E-892F-47C39B452340}"/>
    <dgm:cxn modelId="{AA33F717-8A8A-460E-917E-A3886593D867}" type="presOf" srcId="{18A2A521-FB5D-4AB2-AEB4-1DFBFA72CE5F}" destId="{A3EE768A-2DA8-4C22-A9E4-85D58BDDFE4C}" srcOrd="0" destOrd="0" presId="urn:microsoft.com/office/officeart/2005/8/layout/hierarchy1"/>
    <dgm:cxn modelId="{ED0C3A1B-129B-40F7-9256-90A132246DC4}" type="presOf" srcId="{946A4A32-77BD-4128-8C31-8AA4BD87FBDD}" destId="{E2122BC9-F997-4933-8A9A-82A83D2F341F}" srcOrd="0" destOrd="0" presId="urn:microsoft.com/office/officeart/2005/8/layout/hierarchy1"/>
    <dgm:cxn modelId="{DA33A721-5FC3-466C-ACC2-4FD0BB1E7BEA}" type="presOf" srcId="{0B31B924-2125-4496-AF69-02071A69BDA5}" destId="{4454EAE4-2057-4C56-AFCC-9870F0FD1C8F}" srcOrd="0" destOrd="0" presId="urn:microsoft.com/office/officeart/2005/8/layout/hierarchy1"/>
    <dgm:cxn modelId="{09D54030-D241-49F8-959E-59BB90B6C04A}" srcId="{2A3F5854-760B-4EBB-B191-B67AB6FBC4CA}" destId="{5955B91A-915F-43AC-A982-F560C46A7BC3}" srcOrd="1" destOrd="0" parTransId="{766D3A43-5247-4D0D-8F31-D518074D94CF}" sibTransId="{51A28F10-8E7D-4FDA-9FD4-FD6557B02F88}"/>
    <dgm:cxn modelId="{96490C33-329A-4C22-BA1A-AFB1B2381140}" srcId="{B52B9CEA-BB1E-43EF-963F-F749D7A9F2BA}" destId="{5B478067-CC7A-4F12-8F1F-54EE8B14B5A3}" srcOrd="1" destOrd="0" parTransId="{69C79D44-B703-4134-AC50-42CDC8D41D30}" sibTransId="{54830F8A-A4F6-45DF-A444-ED623E03523D}"/>
    <dgm:cxn modelId="{5F3CA834-5B52-48C0-89B2-66496CED8345}" type="presOf" srcId="{286DB351-4C05-4C4F-BEC4-698E60AC4DB9}" destId="{491B3202-4492-4D63-A7AA-E6D4C1B4B31D}" srcOrd="0" destOrd="0" presId="urn:microsoft.com/office/officeart/2005/8/layout/hierarchy1"/>
    <dgm:cxn modelId="{6674C937-1CCE-4601-AB5E-31B186704270}" type="presOf" srcId="{49C6EC84-7928-4C7E-86DF-764BB4AD4314}" destId="{37805FB3-1880-42CA-821C-3689D424042E}" srcOrd="0" destOrd="0" presId="urn:microsoft.com/office/officeart/2005/8/layout/hierarchy1"/>
    <dgm:cxn modelId="{3C92F744-1B65-4C8C-859B-0B13C04F49FF}" type="presOf" srcId="{4B0EAE95-9964-4E5D-8A08-CEE5FEDC5311}" destId="{036A5DBE-7FCE-4013-8E71-2AB9022BEF71}" srcOrd="0" destOrd="0" presId="urn:microsoft.com/office/officeart/2005/8/layout/hierarchy1"/>
    <dgm:cxn modelId="{D06FE765-B899-497E-B983-DC70DD5A68D1}" srcId="{7590C961-16B0-4815-ABEE-BACB0E500F95}" destId="{5A3A5A35-C6C3-43CB-A744-FF5A2B5E2B23}" srcOrd="1" destOrd="0" parTransId="{B8EF1A70-5E03-4030-9D4F-F1489C902753}" sibTransId="{E959B7E3-12EA-4865-97AB-5974EDB27C09}"/>
    <dgm:cxn modelId="{D2CC2B69-CD56-45F8-AEF0-EACA7114C3DB}" type="presOf" srcId="{2FB32595-A248-4115-A920-38E59AD6F387}" destId="{876B02FF-EAB5-4E4E-8821-D6E87B13355D}" srcOrd="0" destOrd="0" presId="urn:microsoft.com/office/officeart/2005/8/layout/hierarchy1"/>
    <dgm:cxn modelId="{D76DFF4A-5528-46ED-9D6A-8E2A6DB82926}" type="presOf" srcId="{5A3A5A35-C6C3-43CB-A744-FF5A2B5E2B23}" destId="{A95ACAC1-E1F5-4E90-A494-604014AFB919}" srcOrd="0" destOrd="0" presId="urn:microsoft.com/office/officeart/2005/8/layout/hierarchy1"/>
    <dgm:cxn modelId="{AE952E4B-EC7F-430B-8004-CF42EA5CFBE7}" type="presOf" srcId="{3229BA74-5D55-4C5B-9BC4-F726516899F1}" destId="{6274575E-E517-4241-80D4-B45296D1C38E}" srcOrd="0" destOrd="0" presId="urn:microsoft.com/office/officeart/2005/8/layout/hierarchy1"/>
    <dgm:cxn modelId="{4CF7386D-870B-4ACD-8153-B817414FDACB}" type="presOf" srcId="{3E65225D-B91F-46DF-A44A-2E576F5531CD}" destId="{CD8828E8-BFC3-4648-B14E-7FB8B91445A3}" srcOrd="0" destOrd="0" presId="urn:microsoft.com/office/officeart/2005/8/layout/hierarchy1"/>
    <dgm:cxn modelId="{2444A96F-36A1-4384-BA0D-537A068953D5}" type="presOf" srcId="{1C67577F-1AED-4FA7-B130-DBE783F6D998}" destId="{2719F97D-DF99-4801-B6B6-FE655F8C69F5}" srcOrd="0" destOrd="0" presId="urn:microsoft.com/office/officeart/2005/8/layout/hierarchy1"/>
    <dgm:cxn modelId="{83B3DF51-9EE5-4EFC-B1C5-35556CE2D432}" type="presOf" srcId="{5955B91A-915F-43AC-A982-F560C46A7BC3}" destId="{98BA2784-481B-445B-B015-2ED86879D7FF}" srcOrd="0" destOrd="0" presId="urn:microsoft.com/office/officeart/2005/8/layout/hierarchy1"/>
    <dgm:cxn modelId="{E8146272-61BC-40EE-9639-9FF46ECFF641}" type="presOf" srcId="{02E6A71D-DD58-4062-A7CD-982D2C826BFE}" destId="{227BC728-B681-4679-8108-5B89527F681C}" srcOrd="0" destOrd="0" presId="urn:microsoft.com/office/officeart/2005/8/layout/hierarchy1"/>
    <dgm:cxn modelId="{749B5D7A-E26E-4C64-A78C-C5BDA2935C61}" type="presOf" srcId="{7BAF4C26-0782-462D-9E0B-39AE087DD721}" destId="{88A89F52-5D5E-400D-A3B7-A2FDC4D10A13}" srcOrd="0" destOrd="0" presId="urn:microsoft.com/office/officeart/2005/8/layout/hierarchy1"/>
    <dgm:cxn modelId="{68F2457A-F15B-442D-8357-73D8966A552F}" type="presOf" srcId="{B52B9CEA-BB1E-43EF-963F-F749D7A9F2BA}" destId="{8C006D77-5078-42B0-9AC1-0D526EE9A397}" srcOrd="0" destOrd="0" presId="urn:microsoft.com/office/officeart/2005/8/layout/hierarchy1"/>
    <dgm:cxn modelId="{99B8697E-7138-4A55-A270-B103BBDCC5B4}" srcId="{02E6A71D-DD58-4062-A7CD-982D2C826BFE}" destId="{5512E8AE-A64F-4787-8A0A-273C2C9679CB}" srcOrd="1" destOrd="0" parTransId="{30EDB230-FF24-4757-BFDB-17526254E01F}" sibTransId="{0C6DBD09-B789-4E38-ACFF-56EDAA0FD367}"/>
    <dgm:cxn modelId="{1F15D195-3D43-44BE-89B9-B3C2E37B4911}" type="presOf" srcId="{69C79D44-B703-4134-AC50-42CDC8D41D30}" destId="{4198BD14-0A92-4680-AA5D-9A6D41ECE4BB}" srcOrd="0" destOrd="0" presId="urn:microsoft.com/office/officeart/2005/8/layout/hierarchy1"/>
    <dgm:cxn modelId="{7052E696-3E4E-4D72-8B73-35A34D884D32}" type="presOf" srcId="{294E310F-989F-43B9-A9D2-B347095986CC}" destId="{677A60BC-EC4A-437F-B8E2-835801B41984}" srcOrd="0" destOrd="0" presId="urn:microsoft.com/office/officeart/2005/8/layout/hierarchy1"/>
    <dgm:cxn modelId="{4F0A1D9F-842A-4FC4-8712-1D8E9AD41AAE}" srcId="{7590C961-16B0-4815-ABEE-BACB0E500F95}" destId="{02E6A71D-DD58-4062-A7CD-982D2C826BFE}" srcOrd="0" destOrd="0" parTransId="{25A3A23E-9858-4E24-9F65-455B31D95907}" sibTransId="{943A792D-DDAD-4887-A593-29FD1360E588}"/>
    <dgm:cxn modelId="{DB1821A2-48F9-4642-9F4F-D3173CEFC29D}" srcId="{5A3A5A35-C6C3-43CB-A744-FF5A2B5E2B23}" destId="{294E310F-989F-43B9-A9D2-B347095986CC}" srcOrd="2" destOrd="0" parTransId="{2FB32595-A248-4115-A920-38E59AD6F387}" sibTransId="{C11AD7D0-2885-4A31-80C2-95B734853238}"/>
    <dgm:cxn modelId="{164A32A2-439D-4BD0-9F38-65C08CA9D5FA}" type="presOf" srcId="{3FF110D5-9FE6-4C3A-9584-2B8E2D50BF5B}" destId="{88CA3270-F497-49F9-AEEC-F5C6D73B759A}" srcOrd="0" destOrd="0" presId="urn:microsoft.com/office/officeart/2005/8/layout/hierarchy1"/>
    <dgm:cxn modelId="{175C48A3-A713-4178-A70D-A7F99E65906D}" type="presOf" srcId="{5512E8AE-A64F-4787-8A0A-273C2C9679CB}" destId="{BB17F1E7-AE9E-43A9-ACEE-AC3F0DC3AEA0}" srcOrd="0" destOrd="0" presId="urn:microsoft.com/office/officeart/2005/8/layout/hierarchy1"/>
    <dgm:cxn modelId="{B63AF4A3-7F78-406A-8E83-ADD79CCD0B83}" type="presOf" srcId="{5B478067-CC7A-4F12-8F1F-54EE8B14B5A3}" destId="{79AF806C-74FB-4982-8412-A02924410624}" srcOrd="0" destOrd="0" presId="urn:microsoft.com/office/officeart/2005/8/layout/hierarchy1"/>
    <dgm:cxn modelId="{B0A4A5AC-9753-48E8-8D77-DE3760A74504}" srcId="{3E65225D-B91F-46DF-A44A-2E576F5531CD}" destId="{7590C961-16B0-4815-ABEE-BACB0E500F95}" srcOrd="0" destOrd="0" parTransId="{0F700937-DFDD-49CE-8C82-02E86499E66F}" sibTransId="{3C9C9D3D-CA6B-4788-9983-1D574180ACF6}"/>
    <dgm:cxn modelId="{79C117AE-49B3-49A4-9D85-B644BFC32421}" srcId="{B52B9CEA-BB1E-43EF-963F-F749D7A9F2BA}" destId="{07023D24-1A8F-4B3B-9DE8-78B742C2E58B}" srcOrd="0" destOrd="0" parTransId="{5743D7E7-B3F5-4444-BC64-092BB6F92866}" sibTransId="{0228EE26-354F-4FCC-8C50-B1A9577ADA09}"/>
    <dgm:cxn modelId="{5FE90CB6-EEE6-44B3-91C0-21461E56F45A}" type="presOf" srcId="{766D3A43-5247-4D0D-8F31-D518074D94CF}" destId="{AE8FD565-8952-4679-963D-310B3EFBAC8E}" srcOrd="0" destOrd="0" presId="urn:microsoft.com/office/officeart/2005/8/layout/hierarchy1"/>
    <dgm:cxn modelId="{A3C04DBE-2EF3-4A62-A805-B954E49F27FF}" srcId="{02E6A71D-DD58-4062-A7CD-982D2C826BFE}" destId="{4B0EAE95-9964-4E5D-8A08-CEE5FEDC5311}" srcOrd="3" destOrd="0" parTransId="{2B8ED89E-7DE2-4E04-8B33-67EB3D696347}" sibTransId="{FED71B72-1E61-4B9A-962D-5C1F73FD86D4}"/>
    <dgm:cxn modelId="{AF3E74BF-C038-446A-B638-FDE31DCD836D}" type="presOf" srcId="{B8EF1A70-5E03-4030-9D4F-F1489C902753}" destId="{25E55151-77F5-4688-B7B9-26CCB390735B}" srcOrd="0" destOrd="0" presId="urn:microsoft.com/office/officeart/2005/8/layout/hierarchy1"/>
    <dgm:cxn modelId="{A234BEBF-B42F-40F6-8109-CCAB3F75215C}" type="presOf" srcId="{2A3F5854-760B-4EBB-B191-B67AB6FBC4CA}" destId="{84A4D425-FFFF-4D08-BCD5-88F8A1FAC4C1}" srcOrd="0" destOrd="0" presId="urn:microsoft.com/office/officeart/2005/8/layout/hierarchy1"/>
    <dgm:cxn modelId="{637B1BC2-510D-42A1-8B0C-CCE816A086F3}" type="presOf" srcId="{30EDB230-FF24-4757-BFDB-17526254E01F}" destId="{EA8BD36B-DE46-4630-928E-C3153A8EAEF2}" srcOrd="0" destOrd="0" presId="urn:microsoft.com/office/officeart/2005/8/layout/hierarchy1"/>
    <dgm:cxn modelId="{ABD6A0C5-0118-4385-9F3E-941AFEECD999}" type="presOf" srcId="{5743D7E7-B3F5-4444-BC64-092BB6F92866}" destId="{F34C052F-BB6C-487E-8698-18B2F33B5D92}" srcOrd="0" destOrd="0" presId="urn:microsoft.com/office/officeart/2005/8/layout/hierarchy1"/>
    <dgm:cxn modelId="{FC9F0CC9-A3C3-4118-99E1-5C8507DD3689}" srcId="{286DB351-4C05-4C4F-BEC4-698E60AC4DB9}" destId="{2A3F5854-760B-4EBB-B191-B67AB6FBC4CA}" srcOrd="0" destOrd="0" parTransId="{3229BA74-5D55-4C5B-9BC4-F726516899F1}" sibTransId="{67BDD5FC-756E-4027-9444-21046E39FFE8}"/>
    <dgm:cxn modelId="{404C66CB-428E-4A50-BE18-7E8C6B4A05D5}" type="presOf" srcId="{9CFE30E6-D5EB-4393-8372-42766A1F0301}" destId="{F686DC77-D212-44A7-AD28-69D8108BDF2F}" srcOrd="0" destOrd="0" presId="urn:microsoft.com/office/officeart/2005/8/layout/hierarchy1"/>
    <dgm:cxn modelId="{15D68ECE-8A91-4272-84D4-7CECDD9EB5CB}" type="presOf" srcId="{7590C961-16B0-4815-ABEE-BACB0E500F95}" destId="{7E0D0B44-1F18-4980-A532-CF3E28DA33C5}" srcOrd="0" destOrd="0" presId="urn:microsoft.com/office/officeart/2005/8/layout/hierarchy1"/>
    <dgm:cxn modelId="{D18CC8CF-E142-46BF-A923-B89155D70512}" srcId="{2A3F5854-760B-4EBB-B191-B67AB6FBC4CA}" destId="{7BAF4C26-0782-462D-9E0B-39AE087DD721}" srcOrd="0" destOrd="0" parTransId="{1C67577F-1AED-4FA7-B130-DBE783F6D998}" sibTransId="{B3C2E73F-CFAB-448E-AAB9-280128FD969B}"/>
    <dgm:cxn modelId="{0F925EDC-696B-4A23-BD53-EC45F6E23A35}" type="presOf" srcId="{698FD119-696E-4DA9-AF8B-7478360BF296}" destId="{97B48B0C-C5A9-4710-A20A-C34444E64F40}" srcOrd="0" destOrd="0" presId="urn:microsoft.com/office/officeart/2005/8/layout/hierarchy1"/>
    <dgm:cxn modelId="{736CE5DF-3B5F-4409-AE38-150EF0B3BA10}" type="presOf" srcId="{8C912F18-1A9A-4452-92E2-31A217757CA7}" destId="{FD0B5F68-2684-4321-A604-2C128FA6DC98}" srcOrd="0" destOrd="0" presId="urn:microsoft.com/office/officeart/2005/8/layout/hierarchy1"/>
    <dgm:cxn modelId="{740B92E4-CC73-4C16-855D-209CD986BBA1}" type="presOf" srcId="{07023D24-1A8F-4B3B-9DE8-78B742C2E58B}" destId="{1A462FB5-28B8-4927-885C-FFAEF97DB052}" srcOrd="0" destOrd="0" presId="urn:microsoft.com/office/officeart/2005/8/layout/hierarchy1"/>
    <dgm:cxn modelId="{ED8B0CEA-9F6C-4A42-AB00-E2A498EE5930}" srcId="{286DB351-4C05-4C4F-BEC4-698E60AC4DB9}" destId="{B52B9CEA-BB1E-43EF-963F-F749D7A9F2BA}" srcOrd="1" destOrd="0" parTransId="{49C6EC84-7928-4C7E-86DF-764BB4AD4314}" sibTransId="{5E14F4BD-FABE-451A-85C5-D568B8CC9D69}"/>
    <dgm:cxn modelId="{A19FD51E-A994-4124-AED3-EA8C458644A5}" type="presParOf" srcId="{CD8828E8-BFC3-4648-B14E-7FB8B91445A3}" destId="{E39264DE-F31C-4F9F-99F3-92F05C6C745A}" srcOrd="0" destOrd="0" presId="urn:microsoft.com/office/officeart/2005/8/layout/hierarchy1"/>
    <dgm:cxn modelId="{ABB09FAA-EA65-4D42-A841-E76098FC3877}" type="presParOf" srcId="{E39264DE-F31C-4F9F-99F3-92F05C6C745A}" destId="{5869A662-81CB-4A77-9F0A-184FC4A6694C}" srcOrd="0" destOrd="0" presId="urn:microsoft.com/office/officeart/2005/8/layout/hierarchy1"/>
    <dgm:cxn modelId="{B6C12F44-A5AB-41E7-A2F7-49CE14B0F820}" type="presParOf" srcId="{5869A662-81CB-4A77-9F0A-184FC4A6694C}" destId="{3E09909C-C101-4E8D-9EF7-19D6FDB81A1E}" srcOrd="0" destOrd="0" presId="urn:microsoft.com/office/officeart/2005/8/layout/hierarchy1"/>
    <dgm:cxn modelId="{852390F5-903E-4072-9F10-681194D15DE3}" type="presParOf" srcId="{5869A662-81CB-4A77-9F0A-184FC4A6694C}" destId="{7E0D0B44-1F18-4980-A532-CF3E28DA33C5}" srcOrd="1" destOrd="0" presId="urn:microsoft.com/office/officeart/2005/8/layout/hierarchy1"/>
    <dgm:cxn modelId="{B4FAF21F-9C3B-4F3F-A8D7-462011BD4417}" type="presParOf" srcId="{E39264DE-F31C-4F9F-99F3-92F05C6C745A}" destId="{6885CEBE-ED45-411A-AD11-F9F9315E3F66}" srcOrd="1" destOrd="0" presId="urn:microsoft.com/office/officeart/2005/8/layout/hierarchy1"/>
    <dgm:cxn modelId="{9F0EE1A1-5D6F-4A8F-95AF-4BB35D967368}" type="presParOf" srcId="{6885CEBE-ED45-411A-AD11-F9F9315E3F66}" destId="{521F740D-7540-40DF-8201-82D989C948EB}" srcOrd="0" destOrd="0" presId="urn:microsoft.com/office/officeart/2005/8/layout/hierarchy1"/>
    <dgm:cxn modelId="{4AFE080A-2302-4002-A8C7-48B13B71C425}" type="presParOf" srcId="{6885CEBE-ED45-411A-AD11-F9F9315E3F66}" destId="{D96B0F01-B78C-453B-8D93-82D2192A68E7}" srcOrd="1" destOrd="0" presId="urn:microsoft.com/office/officeart/2005/8/layout/hierarchy1"/>
    <dgm:cxn modelId="{7CBD180A-AEC6-4BAB-99F2-9A4D85BD5A74}" type="presParOf" srcId="{D96B0F01-B78C-453B-8D93-82D2192A68E7}" destId="{31FDD142-4AE3-4AC0-B526-324FEF6EFB2A}" srcOrd="0" destOrd="0" presId="urn:microsoft.com/office/officeart/2005/8/layout/hierarchy1"/>
    <dgm:cxn modelId="{6F3CE26F-0044-4271-83E6-697A5FFA9839}" type="presParOf" srcId="{31FDD142-4AE3-4AC0-B526-324FEF6EFB2A}" destId="{22E1C4F4-BDA3-4807-9C1B-33CCC7DDEEF9}" srcOrd="0" destOrd="0" presId="urn:microsoft.com/office/officeart/2005/8/layout/hierarchy1"/>
    <dgm:cxn modelId="{655ED0F0-4350-4E28-82AC-A61E2F63683D}" type="presParOf" srcId="{31FDD142-4AE3-4AC0-B526-324FEF6EFB2A}" destId="{227BC728-B681-4679-8108-5B89527F681C}" srcOrd="1" destOrd="0" presId="urn:microsoft.com/office/officeart/2005/8/layout/hierarchy1"/>
    <dgm:cxn modelId="{B1685440-FC57-4742-8A96-AEF2963C419D}" type="presParOf" srcId="{D96B0F01-B78C-453B-8D93-82D2192A68E7}" destId="{2627CBAB-42BA-4FBF-8B6C-954FEF8B87A2}" srcOrd="1" destOrd="0" presId="urn:microsoft.com/office/officeart/2005/8/layout/hierarchy1"/>
    <dgm:cxn modelId="{A8FF7520-E12B-459F-B0C0-CD46CC3EF7CE}" type="presParOf" srcId="{2627CBAB-42BA-4FBF-8B6C-954FEF8B87A2}" destId="{FD0B5F68-2684-4321-A604-2C128FA6DC98}" srcOrd="0" destOrd="0" presId="urn:microsoft.com/office/officeart/2005/8/layout/hierarchy1"/>
    <dgm:cxn modelId="{3D28A55B-39F2-47B0-949B-E9D2A1512FD2}" type="presParOf" srcId="{2627CBAB-42BA-4FBF-8B6C-954FEF8B87A2}" destId="{DC56949B-FD6F-4859-BC01-386045763655}" srcOrd="1" destOrd="0" presId="urn:microsoft.com/office/officeart/2005/8/layout/hierarchy1"/>
    <dgm:cxn modelId="{B7795EF6-00B4-4667-B7F4-1AA3D67B61E5}" type="presParOf" srcId="{DC56949B-FD6F-4859-BC01-386045763655}" destId="{D810A20D-6BFA-4893-9245-8FF531F7B95C}" srcOrd="0" destOrd="0" presId="urn:microsoft.com/office/officeart/2005/8/layout/hierarchy1"/>
    <dgm:cxn modelId="{DB15745C-8F0B-4DA2-8259-FA4BEA493866}" type="presParOf" srcId="{D810A20D-6BFA-4893-9245-8FF531F7B95C}" destId="{CEC059EE-A9F6-47E1-A2F0-19F42C6BF622}" srcOrd="0" destOrd="0" presId="urn:microsoft.com/office/officeart/2005/8/layout/hierarchy1"/>
    <dgm:cxn modelId="{537B5100-C746-4F0A-B680-29EC5AFE5BA8}" type="presParOf" srcId="{D810A20D-6BFA-4893-9245-8FF531F7B95C}" destId="{4454EAE4-2057-4C56-AFCC-9870F0FD1C8F}" srcOrd="1" destOrd="0" presId="urn:microsoft.com/office/officeart/2005/8/layout/hierarchy1"/>
    <dgm:cxn modelId="{706615F5-5437-4597-A26B-E6A5B2C41D71}" type="presParOf" srcId="{DC56949B-FD6F-4859-BC01-386045763655}" destId="{FDACB51B-935B-4DBB-9D65-66661FA01AD7}" srcOrd="1" destOrd="0" presId="urn:microsoft.com/office/officeart/2005/8/layout/hierarchy1"/>
    <dgm:cxn modelId="{28FCB0C7-C58D-47D6-BF57-7EF558753C28}" type="presParOf" srcId="{2627CBAB-42BA-4FBF-8B6C-954FEF8B87A2}" destId="{EA8BD36B-DE46-4630-928E-C3153A8EAEF2}" srcOrd="2" destOrd="0" presId="urn:microsoft.com/office/officeart/2005/8/layout/hierarchy1"/>
    <dgm:cxn modelId="{CA5AB524-7082-43FE-A02C-0C7B277AE899}" type="presParOf" srcId="{2627CBAB-42BA-4FBF-8B6C-954FEF8B87A2}" destId="{A223E979-BCFD-4CFA-8D1E-7B130B40B0F3}" srcOrd="3" destOrd="0" presId="urn:microsoft.com/office/officeart/2005/8/layout/hierarchy1"/>
    <dgm:cxn modelId="{DE60FEB2-2279-46C8-AE17-2B237316CA61}" type="presParOf" srcId="{A223E979-BCFD-4CFA-8D1E-7B130B40B0F3}" destId="{79BE7DC1-C627-4DE0-857D-0D29C9601C3C}" srcOrd="0" destOrd="0" presId="urn:microsoft.com/office/officeart/2005/8/layout/hierarchy1"/>
    <dgm:cxn modelId="{EE852144-90D8-4FAA-A24B-1DAC5415EBC7}" type="presParOf" srcId="{79BE7DC1-C627-4DE0-857D-0D29C9601C3C}" destId="{88911FBF-A9EF-4CE3-8803-1905D55F9B05}" srcOrd="0" destOrd="0" presId="urn:microsoft.com/office/officeart/2005/8/layout/hierarchy1"/>
    <dgm:cxn modelId="{26733EC1-29EE-4E22-A600-086B02FAB5E1}" type="presParOf" srcId="{79BE7DC1-C627-4DE0-857D-0D29C9601C3C}" destId="{BB17F1E7-AE9E-43A9-ACEE-AC3F0DC3AEA0}" srcOrd="1" destOrd="0" presId="urn:microsoft.com/office/officeart/2005/8/layout/hierarchy1"/>
    <dgm:cxn modelId="{CB0A0104-844B-433B-BAEF-1C4976C3AA29}" type="presParOf" srcId="{A223E979-BCFD-4CFA-8D1E-7B130B40B0F3}" destId="{C92A1B79-6A50-45D1-B150-047EB5C7E848}" srcOrd="1" destOrd="0" presId="urn:microsoft.com/office/officeart/2005/8/layout/hierarchy1"/>
    <dgm:cxn modelId="{B5F46ED6-71E9-4A97-BA82-8E5AB10851DE}" type="presParOf" srcId="{2627CBAB-42BA-4FBF-8B6C-954FEF8B87A2}" destId="{97B48B0C-C5A9-4710-A20A-C34444E64F40}" srcOrd="4" destOrd="0" presId="urn:microsoft.com/office/officeart/2005/8/layout/hierarchy1"/>
    <dgm:cxn modelId="{4EC47C8A-0F00-4F40-9C22-CB6BD04BC786}" type="presParOf" srcId="{2627CBAB-42BA-4FBF-8B6C-954FEF8B87A2}" destId="{9CAB0169-DFB1-443B-B93C-63B2631A90E9}" srcOrd="5" destOrd="0" presId="urn:microsoft.com/office/officeart/2005/8/layout/hierarchy1"/>
    <dgm:cxn modelId="{ED41BE31-32ED-433E-890C-EC0F378FDFC5}" type="presParOf" srcId="{9CAB0169-DFB1-443B-B93C-63B2631A90E9}" destId="{FAB649AB-C93C-455E-8542-32F749C320EA}" srcOrd="0" destOrd="0" presId="urn:microsoft.com/office/officeart/2005/8/layout/hierarchy1"/>
    <dgm:cxn modelId="{B2D8AE6F-34F5-4C58-951E-3269270DFA2C}" type="presParOf" srcId="{FAB649AB-C93C-455E-8542-32F749C320EA}" destId="{95825575-71FA-4E96-9DEE-9F4AF73CEAEF}" srcOrd="0" destOrd="0" presId="urn:microsoft.com/office/officeart/2005/8/layout/hierarchy1"/>
    <dgm:cxn modelId="{3D28F911-7320-4A9A-8582-2269AFC0D4BD}" type="presParOf" srcId="{FAB649AB-C93C-455E-8542-32F749C320EA}" destId="{88CA3270-F497-49F9-AEEC-F5C6D73B759A}" srcOrd="1" destOrd="0" presId="urn:microsoft.com/office/officeart/2005/8/layout/hierarchy1"/>
    <dgm:cxn modelId="{480653CD-031B-4A92-9CCE-1D13CA6AA13C}" type="presParOf" srcId="{9CAB0169-DFB1-443B-B93C-63B2631A90E9}" destId="{59394BC3-F51A-4015-90AA-CD8C91AFEB2B}" srcOrd="1" destOrd="0" presId="urn:microsoft.com/office/officeart/2005/8/layout/hierarchy1"/>
    <dgm:cxn modelId="{7439438F-DF31-4F03-BF24-06F95FC4DF7D}" type="presParOf" srcId="{2627CBAB-42BA-4FBF-8B6C-954FEF8B87A2}" destId="{4204A883-5B20-4F4C-904D-FA2D7B56ED25}" srcOrd="6" destOrd="0" presId="urn:microsoft.com/office/officeart/2005/8/layout/hierarchy1"/>
    <dgm:cxn modelId="{85DC51B7-A378-4684-B3B7-0784E0F6C5FD}" type="presParOf" srcId="{2627CBAB-42BA-4FBF-8B6C-954FEF8B87A2}" destId="{B0A38908-4FD3-49B4-AB63-822ABDF23E14}" srcOrd="7" destOrd="0" presId="urn:microsoft.com/office/officeart/2005/8/layout/hierarchy1"/>
    <dgm:cxn modelId="{E5C5D785-99E1-4BFA-87DA-02EC3C3DDCA7}" type="presParOf" srcId="{B0A38908-4FD3-49B4-AB63-822ABDF23E14}" destId="{EE28B6BA-93A1-4FF4-A941-2C490AA75C68}" srcOrd="0" destOrd="0" presId="urn:microsoft.com/office/officeart/2005/8/layout/hierarchy1"/>
    <dgm:cxn modelId="{C998C16D-5730-4560-BC16-428B48B909D4}" type="presParOf" srcId="{EE28B6BA-93A1-4FF4-A941-2C490AA75C68}" destId="{494B61CA-0EA5-4BF8-956D-54D5CBDC328D}" srcOrd="0" destOrd="0" presId="urn:microsoft.com/office/officeart/2005/8/layout/hierarchy1"/>
    <dgm:cxn modelId="{4E0E4837-0E2E-4CEA-A74F-DF644100F31A}" type="presParOf" srcId="{EE28B6BA-93A1-4FF4-A941-2C490AA75C68}" destId="{036A5DBE-7FCE-4013-8E71-2AB9022BEF71}" srcOrd="1" destOrd="0" presId="urn:microsoft.com/office/officeart/2005/8/layout/hierarchy1"/>
    <dgm:cxn modelId="{BE2A5C46-B6D8-4AD5-BAFE-2FD2B1A384D8}" type="presParOf" srcId="{B0A38908-4FD3-49B4-AB63-822ABDF23E14}" destId="{2D31B465-03F6-4C76-BF5A-DE89DF1A016A}" srcOrd="1" destOrd="0" presId="urn:microsoft.com/office/officeart/2005/8/layout/hierarchy1"/>
    <dgm:cxn modelId="{70EDF88C-1B58-425F-9D3C-A52226D74B0A}" type="presParOf" srcId="{6885CEBE-ED45-411A-AD11-F9F9315E3F66}" destId="{25E55151-77F5-4688-B7B9-26CCB390735B}" srcOrd="2" destOrd="0" presId="urn:microsoft.com/office/officeart/2005/8/layout/hierarchy1"/>
    <dgm:cxn modelId="{4415F629-5545-44F1-B834-FA19D6FB7004}" type="presParOf" srcId="{6885CEBE-ED45-411A-AD11-F9F9315E3F66}" destId="{097EA422-9896-488C-8A74-FCCE43D3F245}" srcOrd="3" destOrd="0" presId="urn:microsoft.com/office/officeart/2005/8/layout/hierarchy1"/>
    <dgm:cxn modelId="{61C65268-1CF4-4BBD-99DF-B0A6C333D816}" type="presParOf" srcId="{097EA422-9896-488C-8A74-FCCE43D3F245}" destId="{81CA3B00-5D32-4787-A565-6DADDA992803}" srcOrd="0" destOrd="0" presId="urn:microsoft.com/office/officeart/2005/8/layout/hierarchy1"/>
    <dgm:cxn modelId="{0E3E9037-D78A-4A5C-8E09-F17078D0A4F8}" type="presParOf" srcId="{81CA3B00-5D32-4787-A565-6DADDA992803}" destId="{726C3659-8F56-4559-A366-7E34C726B5F6}" srcOrd="0" destOrd="0" presId="urn:microsoft.com/office/officeart/2005/8/layout/hierarchy1"/>
    <dgm:cxn modelId="{E07EDB80-B3AA-4EA6-AD73-74843966BB6B}" type="presParOf" srcId="{81CA3B00-5D32-4787-A565-6DADDA992803}" destId="{A95ACAC1-E1F5-4E90-A494-604014AFB919}" srcOrd="1" destOrd="0" presId="urn:microsoft.com/office/officeart/2005/8/layout/hierarchy1"/>
    <dgm:cxn modelId="{4D6A652F-889A-443A-BA20-0F08A1D9C420}" type="presParOf" srcId="{097EA422-9896-488C-8A74-FCCE43D3F245}" destId="{3BB1EFC0-C6FA-4E42-B2BE-A78762D02102}" srcOrd="1" destOrd="0" presId="urn:microsoft.com/office/officeart/2005/8/layout/hierarchy1"/>
    <dgm:cxn modelId="{F4CB6316-4D47-4B9B-A7E5-2CE3AFC6BD94}" type="presParOf" srcId="{3BB1EFC0-C6FA-4E42-B2BE-A78762D02102}" destId="{E2122BC9-F997-4933-8A9A-82A83D2F341F}" srcOrd="0" destOrd="0" presId="urn:microsoft.com/office/officeart/2005/8/layout/hierarchy1"/>
    <dgm:cxn modelId="{B73AD325-ADCF-488C-B70E-BA9A845AA0F6}" type="presParOf" srcId="{3BB1EFC0-C6FA-4E42-B2BE-A78762D02102}" destId="{F1A23010-F45D-4944-8167-D5AACFD9A4C7}" srcOrd="1" destOrd="0" presId="urn:microsoft.com/office/officeart/2005/8/layout/hierarchy1"/>
    <dgm:cxn modelId="{D1565057-0B38-49FE-8C1C-ECDE9ABC9C5D}" type="presParOf" srcId="{F1A23010-F45D-4944-8167-D5AACFD9A4C7}" destId="{04731ADD-95F9-42C9-9E93-400816234454}" srcOrd="0" destOrd="0" presId="urn:microsoft.com/office/officeart/2005/8/layout/hierarchy1"/>
    <dgm:cxn modelId="{3244D3E6-0232-4FB3-BAA3-A82E88FDAE2C}" type="presParOf" srcId="{04731ADD-95F9-42C9-9E93-400816234454}" destId="{253A2143-6628-435E-98A6-06C8B765534C}" srcOrd="0" destOrd="0" presId="urn:microsoft.com/office/officeart/2005/8/layout/hierarchy1"/>
    <dgm:cxn modelId="{6D5FE054-5A12-424D-99BC-F0C6B70466AF}" type="presParOf" srcId="{04731ADD-95F9-42C9-9E93-400816234454}" destId="{A3EE768A-2DA8-4C22-A9E4-85D58BDDFE4C}" srcOrd="1" destOrd="0" presId="urn:microsoft.com/office/officeart/2005/8/layout/hierarchy1"/>
    <dgm:cxn modelId="{DA23864C-5EA0-43CB-A02F-7F4C2CF08060}" type="presParOf" srcId="{F1A23010-F45D-4944-8167-D5AACFD9A4C7}" destId="{F7705FCD-9A6F-4A05-9FE7-432237112C1D}" srcOrd="1" destOrd="0" presId="urn:microsoft.com/office/officeart/2005/8/layout/hierarchy1"/>
    <dgm:cxn modelId="{D715E0CF-4589-4CEA-92A1-181334341EB8}" type="presParOf" srcId="{3BB1EFC0-C6FA-4E42-B2BE-A78762D02102}" destId="{F686DC77-D212-44A7-AD28-69D8108BDF2F}" srcOrd="2" destOrd="0" presId="urn:microsoft.com/office/officeart/2005/8/layout/hierarchy1"/>
    <dgm:cxn modelId="{A95886B3-C7F2-4C65-A08C-F91C7DC84D1F}" type="presParOf" srcId="{3BB1EFC0-C6FA-4E42-B2BE-A78762D02102}" destId="{3B5D5065-F5B8-43AA-8050-5B351FFE7A6A}" srcOrd="3" destOrd="0" presId="urn:microsoft.com/office/officeart/2005/8/layout/hierarchy1"/>
    <dgm:cxn modelId="{07A1F8D5-30D5-4601-B8F4-23E5F176F474}" type="presParOf" srcId="{3B5D5065-F5B8-43AA-8050-5B351FFE7A6A}" destId="{F669069F-687A-499B-BACF-F473F7D1C8D3}" srcOrd="0" destOrd="0" presId="urn:microsoft.com/office/officeart/2005/8/layout/hierarchy1"/>
    <dgm:cxn modelId="{DF3D4647-3203-431E-B047-A707E58C52B8}" type="presParOf" srcId="{F669069F-687A-499B-BACF-F473F7D1C8D3}" destId="{E81E159A-9044-40E5-B88D-1D9CD9852103}" srcOrd="0" destOrd="0" presId="urn:microsoft.com/office/officeart/2005/8/layout/hierarchy1"/>
    <dgm:cxn modelId="{B0A8AE7D-92A4-4FE5-83CF-2309DC4F0C6B}" type="presParOf" srcId="{F669069F-687A-499B-BACF-F473F7D1C8D3}" destId="{491B3202-4492-4D63-A7AA-E6D4C1B4B31D}" srcOrd="1" destOrd="0" presId="urn:microsoft.com/office/officeart/2005/8/layout/hierarchy1"/>
    <dgm:cxn modelId="{BE6EBCCE-20C5-4AF1-98BD-24D4ACACC506}" type="presParOf" srcId="{3B5D5065-F5B8-43AA-8050-5B351FFE7A6A}" destId="{F8D74230-04F0-48BE-A036-23A8BD4A3C8F}" srcOrd="1" destOrd="0" presId="urn:microsoft.com/office/officeart/2005/8/layout/hierarchy1"/>
    <dgm:cxn modelId="{CC8333CD-BB78-4FF0-8CD2-8C33DFE0093B}" type="presParOf" srcId="{F8D74230-04F0-48BE-A036-23A8BD4A3C8F}" destId="{6274575E-E517-4241-80D4-B45296D1C38E}" srcOrd="0" destOrd="0" presId="urn:microsoft.com/office/officeart/2005/8/layout/hierarchy1"/>
    <dgm:cxn modelId="{B7B2B5BA-A478-418F-8528-E5B9A93611AB}" type="presParOf" srcId="{F8D74230-04F0-48BE-A036-23A8BD4A3C8F}" destId="{4804E234-5ED5-47AC-87E9-D45ACA48BDF5}" srcOrd="1" destOrd="0" presId="urn:microsoft.com/office/officeart/2005/8/layout/hierarchy1"/>
    <dgm:cxn modelId="{3AEA61B5-6621-4F08-A901-DACB76F137E6}" type="presParOf" srcId="{4804E234-5ED5-47AC-87E9-D45ACA48BDF5}" destId="{2C2B78AD-8477-4633-B406-D2B1E5C8D744}" srcOrd="0" destOrd="0" presId="urn:microsoft.com/office/officeart/2005/8/layout/hierarchy1"/>
    <dgm:cxn modelId="{BD2754D3-4530-4A6F-A8E1-7588A4BACED7}" type="presParOf" srcId="{2C2B78AD-8477-4633-B406-D2B1E5C8D744}" destId="{FCA0D530-7449-47D5-9839-5947980128B3}" srcOrd="0" destOrd="0" presId="urn:microsoft.com/office/officeart/2005/8/layout/hierarchy1"/>
    <dgm:cxn modelId="{2E3FFEEE-237B-42B2-A9A7-8E7D52F2EB36}" type="presParOf" srcId="{2C2B78AD-8477-4633-B406-D2B1E5C8D744}" destId="{84A4D425-FFFF-4D08-BCD5-88F8A1FAC4C1}" srcOrd="1" destOrd="0" presId="urn:microsoft.com/office/officeart/2005/8/layout/hierarchy1"/>
    <dgm:cxn modelId="{98C527A8-1A90-4225-9189-69E9FF919148}" type="presParOf" srcId="{4804E234-5ED5-47AC-87E9-D45ACA48BDF5}" destId="{C9885FDD-9AFC-4A82-AD34-076051601275}" srcOrd="1" destOrd="0" presId="urn:microsoft.com/office/officeart/2005/8/layout/hierarchy1"/>
    <dgm:cxn modelId="{535C914E-E333-42C5-AA10-A5D26401E39D}" type="presParOf" srcId="{C9885FDD-9AFC-4A82-AD34-076051601275}" destId="{2719F97D-DF99-4801-B6B6-FE655F8C69F5}" srcOrd="0" destOrd="0" presId="urn:microsoft.com/office/officeart/2005/8/layout/hierarchy1"/>
    <dgm:cxn modelId="{F26A0560-603D-4D85-A5A0-FEB4C1E20AA8}" type="presParOf" srcId="{C9885FDD-9AFC-4A82-AD34-076051601275}" destId="{375245C2-AADA-4D37-93C2-73F611089728}" srcOrd="1" destOrd="0" presId="urn:microsoft.com/office/officeart/2005/8/layout/hierarchy1"/>
    <dgm:cxn modelId="{7663CB81-F9F6-4966-9366-039FE5C5D945}" type="presParOf" srcId="{375245C2-AADA-4D37-93C2-73F611089728}" destId="{A51599E5-9C48-4EC3-8E8F-AA04FC950273}" srcOrd="0" destOrd="0" presId="urn:microsoft.com/office/officeart/2005/8/layout/hierarchy1"/>
    <dgm:cxn modelId="{44ABF605-7DC1-4EF9-A129-67B4612B0713}" type="presParOf" srcId="{A51599E5-9C48-4EC3-8E8F-AA04FC950273}" destId="{7F6984D9-5A74-4270-905D-166C0FB962AC}" srcOrd="0" destOrd="0" presId="urn:microsoft.com/office/officeart/2005/8/layout/hierarchy1"/>
    <dgm:cxn modelId="{8E48E607-AC40-4817-8B70-D20967A23984}" type="presParOf" srcId="{A51599E5-9C48-4EC3-8E8F-AA04FC950273}" destId="{88A89F52-5D5E-400D-A3B7-A2FDC4D10A13}" srcOrd="1" destOrd="0" presId="urn:microsoft.com/office/officeart/2005/8/layout/hierarchy1"/>
    <dgm:cxn modelId="{482A7B14-7784-4535-88F5-A7FF7BC9B269}" type="presParOf" srcId="{375245C2-AADA-4D37-93C2-73F611089728}" destId="{740C4918-A074-4358-91F7-4068FE4B49AF}" srcOrd="1" destOrd="0" presId="urn:microsoft.com/office/officeart/2005/8/layout/hierarchy1"/>
    <dgm:cxn modelId="{5C19D6C4-766A-4939-A1E8-DB501550346B}" type="presParOf" srcId="{C9885FDD-9AFC-4A82-AD34-076051601275}" destId="{AE8FD565-8952-4679-963D-310B3EFBAC8E}" srcOrd="2" destOrd="0" presId="urn:microsoft.com/office/officeart/2005/8/layout/hierarchy1"/>
    <dgm:cxn modelId="{F1BDEB69-14D8-4987-AB33-837AA546C803}" type="presParOf" srcId="{C9885FDD-9AFC-4A82-AD34-076051601275}" destId="{69DDA5B6-0D45-4717-B21E-017E2A8D54CB}" srcOrd="3" destOrd="0" presId="urn:microsoft.com/office/officeart/2005/8/layout/hierarchy1"/>
    <dgm:cxn modelId="{73923CD5-72C0-4B50-95DC-CEEC608F6BFA}" type="presParOf" srcId="{69DDA5B6-0D45-4717-B21E-017E2A8D54CB}" destId="{3B11EA36-F86A-46DE-859F-93799F2637C7}" srcOrd="0" destOrd="0" presId="urn:microsoft.com/office/officeart/2005/8/layout/hierarchy1"/>
    <dgm:cxn modelId="{0CD16F12-A8CA-4907-BA39-43A1C37258A1}" type="presParOf" srcId="{3B11EA36-F86A-46DE-859F-93799F2637C7}" destId="{DC953CD2-D9F9-4C5C-8B54-F5B5EA18C6B3}" srcOrd="0" destOrd="0" presId="urn:microsoft.com/office/officeart/2005/8/layout/hierarchy1"/>
    <dgm:cxn modelId="{963C255A-D761-4EA4-8CC6-581FA5B0B3E5}" type="presParOf" srcId="{3B11EA36-F86A-46DE-859F-93799F2637C7}" destId="{98BA2784-481B-445B-B015-2ED86879D7FF}" srcOrd="1" destOrd="0" presId="urn:microsoft.com/office/officeart/2005/8/layout/hierarchy1"/>
    <dgm:cxn modelId="{938A2D2E-A9CD-434A-9E6F-10262EAE1DF1}" type="presParOf" srcId="{69DDA5B6-0D45-4717-B21E-017E2A8D54CB}" destId="{5BBE7625-4B35-4D5B-8A4B-9A4E7F70294F}" srcOrd="1" destOrd="0" presId="urn:microsoft.com/office/officeart/2005/8/layout/hierarchy1"/>
    <dgm:cxn modelId="{A06AFCCC-7EF3-4AB9-A598-7D0F15B21EC4}" type="presParOf" srcId="{F8D74230-04F0-48BE-A036-23A8BD4A3C8F}" destId="{37805FB3-1880-42CA-821C-3689D424042E}" srcOrd="2" destOrd="0" presId="urn:microsoft.com/office/officeart/2005/8/layout/hierarchy1"/>
    <dgm:cxn modelId="{D3C465C1-1B46-4BED-8A4D-C99A678C825F}" type="presParOf" srcId="{F8D74230-04F0-48BE-A036-23A8BD4A3C8F}" destId="{7D6855BC-97A0-4964-8B63-3B858FB99589}" srcOrd="3" destOrd="0" presId="urn:microsoft.com/office/officeart/2005/8/layout/hierarchy1"/>
    <dgm:cxn modelId="{C8981473-CF59-4972-AD98-F79DA9115A74}" type="presParOf" srcId="{7D6855BC-97A0-4964-8B63-3B858FB99589}" destId="{AA87A95A-AD66-4A6B-A1A8-2BE1BE7324BB}" srcOrd="0" destOrd="0" presId="urn:microsoft.com/office/officeart/2005/8/layout/hierarchy1"/>
    <dgm:cxn modelId="{6EBF9B56-0A25-4D07-AE2E-7EAB7604B63C}" type="presParOf" srcId="{AA87A95A-AD66-4A6B-A1A8-2BE1BE7324BB}" destId="{EADF9F5B-E724-4EAD-AECC-D2B9EB18E3C8}" srcOrd="0" destOrd="0" presId="urn:microsoft.com/office/officeart/2005/8/layout/hierarchy1"/>
    <dgm:cxn modelId="{16E0B797-63D1-409D-9D80-0BA20A52BB74}" type="presParOf" srcId="{AA87A95A-AD66-4A6B-A1A8-2BE1BE7324BB}" destId="{8C006D77-5078-42B0-9AC1-0D526EE9A397}" srcOrd="1" destOrd="0" presId="urn:microsoft.com/office/officeart/2005/8/layout/hierarchy1"/>
    <dgm:cxn modelId="{558FDBDC-BA0E-4E88-8C9D-6BBE060C6B0C}" type="presParOf" srcId="{7D6855BC-97A0-4964-8B63-3B858FB99589}" destId="{83D097FE-807C-45E9-A075-7FCD834D194C}" srcOrd="1" destOrd="0" presId="urn:microsoft.com/office/officeart/2005/8/layout/hierarchy1"/>
    <dgm:cxn modelId="{A9200E81-8DD7-4A0D-89C5-62A48F5386C4}" type="presParOf" srcId="{83D097FE-807C-45E9-A075-7FCD834D194C}" destId="{F34C052F-BB6C-487E-8698-18B2F33B5D92}" srcOrd="0" destOrd="0" presId="urn:microsoft.com/office/officeart/2005/8/layout/hierarchy1"/>
    <dgm:cxn modelId="{597D56D3-558F-4828-AF11-D3EEC4EE0946}" type="presParOf" srcId="{83D097FE-807C-45E9-A075-7FCD834D194C}" destId="{1E6A4C21-3142-4E4D-BB50-701027AA322F}" srcOrd="1" destOrd="0" presId="urn:microsoft.com/office/officeart/2005/8/layout/hierarchy1"/>
    <dgm:cxn modelId="{3C627A27-9E63-4253-AFC6-FE6594016655}" type="presParOf" srcId="{1E6A4C21-3142-4E4D-BB50-701027AA322F}" destId="{E493C26C-3CF3-43F5-9D59-A43924744CBB}" srcOrd="0" destOrd="0" presId="urn:microsoft.com/office/officeart/2005/8/layout/hierarchy1"/>
    <dgm:cxn modelId="{D210EF9D-12BA-466E-921B-1EBC1C134B30}" type="presParOf" srcId="{E493C26C-3CF3-43F5-9D59-A43924744CBB}" destId="{C0A99B6D-D561-4BB3-8A01-C85E352D6BC8}" srcOrd="0" destOrd="0" presId="urn:microsoft.com/office/officeart/2005/8/layout/hierarchy1"/>
    <dgm:cxn modelId="{4F689EDE-6580-457C-9C1E-57B5A742924A}" type="presParOf" srcId="{E493C26C-3CF3-43F5-9D59-A43924744CBB}" destId="{1A462FB5-28B8-4927-885C-FFAEF97DB052}" srcOrd="1" destOrd="0" presId="urn:microsoft.com/office/officeart/2005/8/layout/hierarchy1"/>
    <dgm:cxn modelId="{4624AE81-C66A-4FC5-A7EC-5E87198BD8BA}" type="presParOf" srcId="{1E6A4C21-3142-4E4D-BB50-701027AA322F}" destId="{5DD3F0C9-4EFA-4154-AC31-7FD67557B964}" srcOrd="1" destOrd="0" presId="urn:microsoft.com/office/officeart/2005/8/layout/hierarchy1"/>
    <dgm:cxn modelId="{7FA3EE0E-3BF1-44E5-8FEF-3CB80DE475B9}" type="presParOf" srcId="{83D097FE-807C-45E9-A075-7FCD834D194C}" destId="{4198BD14-0A92-4680-AA5D-9A6D41ECE4BB}" srcOrd="2" destOrd="0" presId="urn:microsoft.com/office/officeart/2005/8/layout/hierarchy1"/>
    <dgm:cxn modelId="{A40AD78C-FA83-4DCC-8AFD-251F06A442FE}" type="presParOf" srcId="{83D097FE-807C-45E9-A075-7FCD834D194C}" destId="{66FC01B7-D202-4E00-A94F-426C7EFCAD5C}" srcOrd="3" destOrd="0" presId="urn:microsoft.com/office/officeart/2005/8/layout/hierarchy1"/>
    <dgm:cxn modelId="{8DE53A8E-5FB6-4646-9E7B-92DFC2C4C6CE}" type="presParOf" srcId="{66FC01B7-D202-4E00-A94F-426C7EFCAD5C}" destId="{ED55B923-D9AA-4543-BE37-AC312C537761}" srcOrd="0" destOrd="0" presId="urn:microsoft.com/office/officeart/2005/8/layout/hierarchy1"/>
    <dgm:cxn modelId="{B52265DA-B975-4E9E-AEEB-F045E07EDCA5}" type="presParOf" srcId="{ED55B923-D9AA-4543-BE37-AC312C537761}" destId="{29FBDFA9-481F-4C44-A555-6012B606C26E}" srcOrd="0" destOrd="0" presId="urn:microsoft.com/office/officeart/2005/8/layout/hierarchy1"/>
    <dgm:cxn modelId="{FC75E5ED-F75F-4C45-B158-9A837576AC09}" type="presParOf" srcId="{ED55B923-D9AA-4543-BE37-AC312C537761}" destId="{79AF806C-74FB-4982-8412-A02924410624}" srcOrd="1" destOrd="0" presId="urn:microsoft.com/office/officeart/2005/8/layout/hierarchy1"/>
    <dgm:cxn modelId="{87B0B3AE-B7BA-473D-9046-FA34933EB894}" type="presParOf" srcId="{66FC01B7-D202-4E00-A94F-426C7EFCAD5C}" destId="{3744D866-A9D3-41C0-AD19-8A0E4240BF2C}" srcOrd="1" destOrd="0" presId="urn:microsoft.com/office/officeart/2005/8/layout/hierarchy1"/>
    <dgm:cxn modelId="{D24B477F-FB74-449D-BF03-EDF7062AFF76}" type="presParOf" srcId="{3BB1EFC0-C6FA-4E42-B2BE-A78762D02102}" destId="{876B02FF-EAB5-4E4E-8821-D6E87B13355D}" srcOrd="4" destOrd="0" presId="urn:microsoft.com/office/officeart/2005/8/layout/hierarchy1"/>
    <dgm:cxn modelId="{0E265D4D-2A53-449B-924E-45B3CD4EFEF5}" type="presParOf" srcId="{3BB1EFC0-C6FA-4E42-B2BE-A78762D02102}" destId="{FE276A2C-0167-4F90-94DC-EDF23B7EF08F}" srcOrd="5" destOrd="0" presId="urn:microsoft.com/office/officeart/2005/8/layout/hierarchy1"/>
    <dgm:cxn modelId="{918873FA-3E09-48F2-B68E-5DC11BFCD7F6}" type="presParOf" srcId="{FE276A2C-0167-4F90-94DC-EDF23B7EF08F}" destId="{210FAF21-6B2D-49BC-8127-C457BD6505CB}" srcOrd="0" destOrd="0" presId="urn:microsoft.com/office/officeart/2005/8/layout/hierarchy1"/>
    <dgm:cxn modelId="{9D39DD22-097C-4F09-98B8-6C5E8248B7B6}" type="presParOf" srcId="{210FAF21-6B2D-49BC-8127-C457BD6505CB}" destId="{090B1519-10F0-48C5-BB05-73F2AA59183E}" srcOrd="0" destOrd="0" presId="urn:microsoft.com/office/officeart/2005/8/layout/hierarchy1"/>
    <dgm:cxn modelId="{0549AB95-B349-4052-89E7-6831590FC306}" type="presParOf" srcId="{210FAF21-6B2D-49BC-8127-C457BD6505CB}" destId="{677A60BC-EC4A-437F-B8E2-835801B41984}" srcOrd="1" destOrd="0" presId="urn:microsoft.com/office/officeart/2005/8/layout/hierarchy1"/>
    <dgm:cxn modelId="{330BD704-E325-4D15-9D85-6FED7AE62D24}" type="presParOf" srcId="{FE276A2C-0167-4F90-94DC-EDF23B7EF08F}" destId="{7953F153-AD5D-43C1-9852-A7DB8E46AD0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6B02FF-EAB5-4E4E-8821-D6E87B13355D}">
      <dsp:nvSpPr>
        <dsp:cNvPr id="0" name=""/>
        <dsp:cNvSpPr/>
      </dsp:nvSpPr>
      <dsp:spPr>
        <a:xfrm>
          <a:off x="6380994" y="1673367"/>
          <a:ext cx="1179556" cy="280680"/>
        </a:xfrm>
        <a:custGeom>
          <a:avLst/>
          <a:gdLst/>
          <a:ahLst/>
          <a:cxnLst/>
          <a:rect l="0" t="0" r="0" b="0"/>
          <a:pathLst>
            <a:path>
              <a:moveTo>
                <a:pt x="0" y="0"/>
              </a:moveTo>
              <a:lnTo>
                <a:pt x="0" y="191275"/>
              </a:lnTo>
              <a:lnTo>
                <a:pt x="1179556" y="191275"/>
              </a:lnTo>
              <a:lnTo>
                <a:pt x="1179556"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98BD14-0A92-4680-AA5D-9A6D41ECE4BB}">
      <dsp:nvSpPr>
        <dsp:cNvPr id="0" name=""/>
        <dsp:cNvSpPr/>
      </dsp:nvSpPr>
      <dsp:spPr>
        <a:xfrm>
          <a:off x="7560550" y="3460395"/>
          <a:ext cx="589778" cy="280680"/>
        </a:xfrm>
        <a:custGeom>
          <a:avLst/>
          <a:gdLst/>
          <a:ahLst/>
          <a:cxnLst/>
          <a:rect l="0" t="0" r="0" b="0"/>
          <a:pathLst>
            <a:path>
              <a:moveTo>
                <a:pt x="0" y="0"/>
              </a:moveTo>
              <a:lnTo>
                <a:pt x="0" y="191275"/>
              </a:lnTo>
              <a:lnTo>
                <a:pt x="589778" y="191275"/>
              </a:lnTo>
              <a:lnTo>
                <a:pt x="589778"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4C052F-BB6C-487E-8698-18B2F33B5D92}">
      <dsp:nvSpPr>
        <dsp:cNvPr id="0" name=""/>
        <dsp:cNvSpPr/>
      </dsp:nvSpPr>
      <dsp:spPr>
        <a:xfrm>
          <a:off x="6970772" y="3460395"/>
          <a:ext cx="589778" cy="280680"/>
        </a:xfrm>
        <a:custGeom>
          <a:avLst/>
          <a:gdLst/>
          <a:ahLst/>
          <a:cxnLst/>
          <a:rect l="0" t="0" r="0" b="0"/>
          <a:pathLst>
            <a:path>
              <a:moveTo>
                <a:pt x="589778" y="0"/>
              </a:moveTo>
              <a:lnTo>
                <a:pt x="589778" y="191275"/>
              </a:lnTo>
              <a:lnTo>
                <a:pt x="0" y="191275"/>
              </a:lnTo>
              <a:lnTo>
                <a:pt x="0"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805FB3-1880-42CA-821C-3689D424042E}">
      <dsp:nvSpPr>
        <dsp:cNvPr id="0" name=""/>
        <dsp:cNvSpPr/>
      </dsp:nvSpPr>
      <dsp:spPr>
        <a:xfrm>
          <a:off x="6380994" y="2566881"/>
          <a:ext cx="1179556" cy="280680"/>
        </a:xfrm>
        <a:custGeom>
          <a:avLst/>
          <a:gdLst/>
          <a:ahLst/>
          <a:cxnLst/>
          <a:rect l="0" t="0" r="0" b="0"/>
          <a:pathLst>
            <a:path>
              <a:moveTo>
                <a:pt x="0" y="0"/>
              </a:moveTo>
              <a:lnTo>
                <a:pt x="0" y="191275"/>
              </a:lnTo>
              <a:lnTo>
                <a:pt x="1179556" y="191275"/>
              </a:lnTo>
              <a:lnTo>
                <a:pt x="1179556"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8FD565-8952-4679-963D-310B3EFBAC8E}">
      <dsp:nvSpPr>
        <dsp:cNvPr id="0" name=""/>
        <dsp:cNvSpPr/>
      </dsp:nvSpPr>
      <dsp:spPr>
        <a:xfrm>
          <a:off x="5201438" y="3460395"/>
          <a:ext cx="589778" cy="280680"/>
        </a:xfrm>
        <a:custGeom>
          <a:avLst/>
          <a:gdLst/>
          <a:ahLst/>
          <a:cxnLst/>
          <a:rect l="0" t="0" r="0" b="0"/>
          <a:pathLst>
            <a:path>
              <a:moveTo>
                <a:pt x="0" y="0"/>
              </a:moveTo>
              <a:lnTo>
                <a:pt x="0" y="191275"/>
              </a:lnTo>
              <a:lnTo>
                <a:pt x="589778" y="191275"/>
              </a:lnTo>
              <a:lnTo>
                <a:pt x="589778"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19F97D-DF99-4801-B6B6-FE655F8C69F5}">
      <dsp:nvSpPr>
        <dsp:cNvPr id="0" name=""/>
        <dsp:cNvSpPr/>
      </dsp:nvSpPr>
      <dsp:spPr>
        <a:xfrm>
          <a:off x="4611659" y="3460395"/>
          <a:ext cx="589778" cy="280680"/>
        </a:xfrm>
        <a:custGeom>
          <a:avLst/>
          <a:gdLst/>
          <a:ahLst/>
          <a:cxnLst/>
          <a:rect l="0" t="0" r="0" b="0"/>
          <a:pathLst>
            <a:path>
              <a:moveTo>
                <a:pt x="589778" y="0"/>
              </a:moveTo>
              <a:lnTo>
                <a:pt x="589778" y="191275"/>
              </a:lnTo>
              <a:lnTo>
                <a:pt x="0" y="191275"/>
              </a:lnTo>
              <a:lnTo>
                <a:pt x="0"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74575E-E517-4241-80D4-B45296D1C38E}">
      <dsp:nvSpPr>
        <dsp:cNvPr id="0" name=""/>
        <dsp:cNvSpPr/>
      </dsp:nvSpPr>
      <dsp:spPr>
        <a:xfrm>
          <a:off x="5201438" y="2566881"/>
          <a:ext cx="1179556" cy="280680"/>
        </a:xfrm>
        <a:custGeom>
          <a:avLst/>
          <a:gdLst/>
          <a:ahLst/>
          <a:cxnLst/>
          <a:rect l="0" t="0" r="0" b="0"/>
          <a:pathLst>
            <a:path>
              <a:moveTo>
                <a:pt x="1179556" y="0"/>
              </a:moveTo>
              <a:lnTo>
                <a:pt x="1179556" y="191275"/>
              </a:lnTo>
              <a:lnTo>
                <a:pt x="0" y="191275"/>
              </a:lnTo>
              <a:lnTo>
                <a:pt x="0"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686DC77-D212-44A7-AD28-69D8108BDF2F}">
      <dsp:nvSpPr>
        <dsp:cNvPr id="0" name=""/>
        <dsp:cNvSpPr/>
      </dsp:nvSpPr>
      <dsp:spPr>
        <a:xfrm>
          <a:off x="6335274" y="1673367"/>
          <a:ext cx="91440" cy="280680"/>
        </a:xfrm>
        <a:custGeom>
          <a:avLst/>
          <a:gdLst/>
          <a:ahLst/>
          <a:cxnLst/>
          <a:rect l="0" t="0" r="0" b="0"/>
          <a:pathLst>
            <a:path>
              <a:moveTo>
                <a:pt x="45720" y="0"/>
              </a:moveTo>
              <a:lnTo>
                <a:pt x="45720"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122BC9-F997-4933-8A9A-82A83D2F341F}">
      <dsp:nvSpPr>
        <dsp:cNvPr id="0" name=""/>
        <dsp:cNvSpPr/>
      </dsp:nvSpPr>
      <dsp:spPr>
        <a:xfrm>
          <a:off x="5201438" y="1673367"/>
          <a:ext cx="1179556" cy="280680"/>
        </a:xfrm>
        <a:custGeom>
          <a:avLst/>
          <a:gdLst/>
          <a:ahLst/>
          <a:cxnLst/>
          <a:rect l="0" t="0" r="0" b="0"/>
          <a:pathLst>
            <a:path>
              <a:moveTo>
                <a:pt x="1179556" y="0"/>
              </a:moveTo>
              <a:lnTo>
                <a:pt x="1179556" y="191275"/>
              </a:lnTo>
              <a:lnTo>
                <a:pt x="0" y="191275"/>
              </a:lnTo>
              <a:lnTo>
                <a:pt x="0"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5E55151-77F5-4688-B7B9-26CCB390735B}">
      <dsp:nvSpPr>
        <dsp:cNvPr id="0" name=""/>
        <dsp:cNvSpPr/>
      </dsp:nvSpPr>
      <dsp:spPr>
        <a:xfrm>
          <a:off x="4316770" y="779853"/>
          <a:ext cx="2064223" cy="280680"/>
        </a:xfrm>
        <a:custGeom>
          <a:avLst/>
          <a:gdLst/>
          <a:ahLst/>
          <a:cxnLst/>
          <a:rect l="0" t="0" r="0" b="0"/>
          <a:pathLst>
            <a:path>
              <a:moveTo>
                <a:pt x="0" y="0"/>
              </a:moveTo>
              <a:lnTo>
                <a:pt x="0" y="191275"/>
              </a:lnTo>
              <a:lnTo>
                <a:pt x="2064223" y="191275"/>
              </a:lnTo>
              <a:lnTo>
                <a:pt x="2064223" y="2806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04A883-5B20-4F4C-904D-FA2D7B56ED25}">
      <dsp:nvSpPr>
        <dsp:cNvPr id="0" name=""/>
        <dsp:cNvSpPr/>
      </dsp:nvSpPr>
      <dsp:spPr>
        <a:xfrm>
          <a:off x="2252547" y="1673367"/>
          <a:ext cx="1769334" cy="280680"/>
        </a:xfrm>
        <a:custGeom>
          <a:avLst/>
          <a:gdLst/>
          <a:ahLst/>
          <a:cxnLst/>
          <a:rect l="0" t="0" r="0" b="0"/>
          <a:pathLst>
            <a:path>
              <a:moveTo>
                <a:pt x="0" y="0"/>
              </a:moveTo>
              <a:lnTo>
                <a:pt x="0" y="191275"/>
              </a:lnTo>
              <a:lnTo>
                <a:pt x="1769334" y="191275"/>
              </a:lnTo>
              <a:lnTo>
                <a:pt x="1769334"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B48B0C-C5A9-4710-A20A-C34444E64F40}">
      <dsp:nvSpPr>
        <dsp:cNvPr id="0" name=""/>
        <dsp:cNvSpPr/>
      </dsp:nvSpPr>
      <dsp:spPr>
        <a:xfrm>
          <a:off x="2252547" y="1673367"/>
          <a:ext cx="589778" cy="280680"/>
        </a:xfrm>
        <a:custGeom>
          <a:avLst/>
          <a:gdLst/>
          <a:ahLst/>
          <a:cxnLst/>
          <a:rect l="0" t="0" r="0" b="0"/>
          <a:pathLst>
            <a:path>
              <a:moveTo>
                <a:pt x="0" y="0"/>
              </a:moveTo>
              <a:lnTo>
                <a:pt x="0" y="191275"/>
              </a:lnTo>
              <a:lnTo>
                <a:pt x="589778" y="191275"/>
              </a:lnTo>
              <a:lnTo>
                <a:pt x="589778"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8BD36B-DE46-4630-928E-C3153A8EAEF2}">
      <dsp:nvSpPr>
        <dsp:cNvPr id="0" name=""/>
        <dsp:cNvSpPr/>
      </dsp:nvSpPr>
      <dsp:spPr>
        <a:xfrm>
          <a:off x="1662769" y="1673367"/>
          <a:ext cx="589778" cy="280680"/>
        </a:xfrm>
        <a:custGeom>
          <a:avLst/>
          <a:gdLst/>
          <a:ahLst/>
          <a:cxnLst/>
          <a:rect l="0" t="0" r="0" b="0"/>
          <a:pathLst>
            <a:path>
              <a:moveTo>
                <a:pt x="589778" y="0"/>
              </a:moveTo>
              <a:lnTo>
                <a:pt x="589778" y="191275"/>
              </a:lnTo>
              <a:lnTo>
                <a:pt x="0" y="191275"/>
              </a:lnTo>
              <a:lnTo>
                <a:pt x="0"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0B5F68-2684-4321-A604-2C128FA6DC98}">
      <dsp:nvSpPr>
        <dsp:cNvPr id="0" name=""/>
        <dsp:cNvSpPr/>
      </dsp:nvSpPr>
      <dsp:spPr>
        <a:xfrm>
          <a:off x="483212" y="1673367"/>
          <a:ext cx="1769334" cy="280680"/>
        </a:xfrm>
        <a:custGeom>
          <a:avLst/>
          <a:gdLst/>
          <a:ahLst/>
          <a:cxnLst/>
          <a:rect l="0" t="0" r="0" b="0"/>
          <a:pathLst>
            <a:path>
              <a:moveTo>
                <a:pt x="1769334" y="0"/>
              </a:moveTo>
              <a:lnTo>
                <a:pt x="1769334" y="191275"/>
              </a:lnTo>
              <a:lnTo>
                <a:pt x="0" y="191275"/>
              </a:lnTo>
              <a:lnTo>
                <a:pt x="0" y="28068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1F740D-7540-40DF-8201-82D989C948EB}">
      <dsp:nvSpPr>
        <dsp:cNvPr id="0" name=""/>
        <dsp:cNvSpPr/>
      </dsp:nvSpPr>
      <dsp:spPr>
        <a:xfrm>
          <a:off x="2252547" y="779853"/>
          <a:ext cx="2064223" cy="280680"/>
        </a:xfrm>
        <a:custGeom>
          <a:avLst/>
          <a:gdLst/>
          <a:ahLst/>
          <a:cxnLst/>
          <a:rect l="0" t="0" r="0" b="0"/>
          <a:pathLst>
            <a:path>
              <a:moveTo>
                <a:pt x="2064223" y="0"/>
              </a:moveTo>
              <a:lnTo>
                <a:pt x="2064223" y="191275"/>
              </a:lnTo>
              <a:lnTo>
                <a:pt x="0" y="191275"/>
              </a:lnTo>
              <a:lnTo>
                <a:pt x="0" y="28068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09909C-C101-4E8D-9EF7-19D6FDB81A1E}">
      <dsp:nvSpPr>
        <dsp:cNvPr id="0" name=""/>
        <dsp:cNvSpPr/>
      </dsp:nvSpPr>
      <dsp:spPr>
        <a:xfrm>
          <a:off x="3834225" y="167020"/>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0D0B44-1F18-4980-A532-CF3E28DA33C5}">
      <dsp:nvSpPr>
        <dsp:cNvPr id="0" name=""/>
        <dsp:cNvSpPr/>
      </dsp:nvSpPr>
      <dsp:spPr>
        <a:xfrm>
          <a:off x="3941457" y="268890"/>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Data Structure</a:t>
          </a:r>
        </a:p>
      </dsp:txBody>
      <dsp:txXfrm>
        <a:off x="3959406" y="286839"/>
        <a:ext cx="929193" cy="576935"/>
      </dsp:txXfrm>
    </dsp:sp>
    <dsp:sp modelId="{22E1C4F4-BDA3-4807-9C1B-33CCC7DDEEF9}">
      <dsp:nvSpPr>
        <dsp:cNvPr id="0" name=""/>
        <dsp:cNvSpPr/>
      </dsp:nvSpPr>
      <dsp:spPr>
        <a:xfrm>
          <a:off x="1770001" y="1060534"/>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7BC728-B681-4679-8108-5B89527F681C}">
      <dsp:nvSpPr>
        <dsp:cNvPr id="0" name=""/>
        <dsp:cNvSpPr/>
      </dsp:nvSpPr>
      <dsp:spPr>
        <a:xfrm>
          <a:off x="1877233" y="1162404"/>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Build in Data</a:t>
          </a:r>
        </a:p>
      </dsp:txBody>
      <dsp:txXfrm>
        <a:off x="1895182" y="1180353"/>
        <a:ext cx="929193" cy="576935"/>
      </dsp:txXfrm>
    </dsp:sp>
    <dsp:sp modelId="{CEC059EE-A9F6-47E1-A2F0-19F42C6BF622}">
      <dsp:nvSpPr>
        <dsp:cNvPr id="0" name=""/>
        <dsp:cNvSpPr/>
      </dsp:nvSpPr>
      <dsp:spPr>
        <a:xfrm>
          <a:off x="666" y="1954048"/>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54EAE4-2057-4C56-AFCC-9870F0FD1C8F}">
      <dsp:nvSpPr>
        <dsp:cNvPr id="0" name=""/>
        <dsp:cNvSpPr/>
      </dsp:nvSpPr>
      <dsp:spPr>
        <a:xfrm>
          <a:off x="107899" y="2055918"/>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Integer </a:t>
          </a:r>
        </a:p>
      </dsp:txBody>
      <dsp:txXfrm>
        <a:off x="125848" y="2073867"/>
        <a:ext cx="929193" cy="576935"/>
      </dsp:txXfrm>
    </dsp:sp>
    <dsp:sp modelId="{88911FBF-A9EF-4CE3-8803-1905D55F9B05}">
      <dsp:nvSpPr>
        <dsp:cNvPr id="0" name=""/>
        <dsp:cNvSpPr/>
      </dsp:nvSpPr>
      <dsp:spPr>
        <a:xfrm>
          <a:off x="1180223" y="1954048"/>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17F1E7-AE9E-43A9-ACEE-AC3F0DC3AEA0}">
      <dsp:nvSpPr>
        <dsp:cNvPr id="0" name=""/>
        <dsp:cNvSpPr/>
      </dsp:nvSpPr>
      <dsp:spPr>
        <a:xfrm>
          <a:off x="1287455" y="2055918"/>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Float</a:t>
          </a:r>
        </a:p>
      </dsp:txBody>
      <dsp:txXfrm>
        <a:off x="1305404" y="2073867"/>
        <a:ext cx="929193" cy="576935"/>
      </dsp:txXfrm>
    </dsp:sp>
    <dsp:sp modelId="{95825575-71FA-4E96-9DEE-9F4AF73CEAEF}">
      <dsp:nvSpPr>
        <dsp:cNvPr id="0" name=""/>
        <dsp:cNvSpPr/>
      </dsp:nvSpPr>
      <dsp:spPr>
        <a:xfrm>
          <a:off x="2359779" y="1954048"/>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CA3270-F497-49F9-AEEC-F5C6D73B759A}">
      <dsp:nvSpPr>
        <dsp:cNvPr id="0" name=""/>
        <dsp:cNvSpPr/>
      </dsp:nvSpPr>
      <dsp:spPr>
        <a:xfrm>
          <a:off x="2467011" y="2055918"/>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Character</a:t>
          </a:r>
        </a:p>
      </dsp:txBody>
      <dsp:txXfrm>
        <a:off x="2484960" y="2073867"/>
        <a:ext cx="929193" cy="576935"/>
      </dsp:txXfrm>
    </dsp:sp>
    <dsp:sp modelId="{494B61CA-0EA5-4BF8-956D-54D5CBDC328D}">
      <dsp:nvSpPr>
        <dsp:cNvPr id="0" name=""/>
        <dsp:cNvSpPr/>
      </dsp:nvSpPr>
      <dsp:spPr>
        <a:xfrm>
          <a:off x="3539335" y="1954048"/>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6A5DBE-7FCE-4013-8E71-2AB9022BEF71}">
      <dsp:nvSpPr>
        <dsp:cNvPr id="0" name=""/>
        <dsp:cNvSpPr/>
      </dsp:nvSpPr>
      <dsp:spPr>
        <a:xfrm>
          <a:off x="3646568" y="2055918"/>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Pointer</a:t>
          </a:r>
        </a:p>
      </dsp:txBody>
      <dsp:txXfrm>
        <a:off x="3664517" y="2073867"/>
        <a:ext cx="929193" cy="576935"/>
      </dsp:txXfrm>
    </dsp:sp>
    <dsp:sp modelId="{726C3659-8F56-4559-A366-7E34C726B5F6}">
      <dsp:nvSpPr>
        <dsp:cNvPr id="0" name=""/>
        <dsp:cNvSpPr/>
      </dsp:nvSpPr>
      <dsp:spPr>
        <a:xfrm>
          <a:off x="5898448" y="1060534"/>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5ACAC1-E1F5-4E90-A494-604014AFB919}">
      <dsp:nvSpPr>
        <dsp:cNvPr id="0" name=""/>
        <dsp:cNvSpPr/>
      </dsp:nvSpPr>
      <dsp:spPr>
        <a:xfrm>
          <a:off x="6005681" y="1162404"/>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User defined data</a:t>
          </a:r>
        </a:p>
      </dsp:txBody>
      <dsp:txXfrm>
        <a:off x="6023630" y="1180353"/>
        <a:ext cx="929193" cy="576935"/>
      </dsp:txXfrm>
    </dsp:sp>
    <dsp:sp modelId="{253A2143-6628-435E-98A6-06C8B765534C}">
      <dsp:nvSpPr>
        <dsp:cNvPr id="0" name=""/>
        <dsp:cNvSpPr/>
      </dsp:nvSpPr>
      <dsp:spPr>
        <a:xfrm>
          <a:off x="4718892" y="1954048"/>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EE768A-2DA8-4C22-A9E4-85D58BDDFE4C}">
      <dsp:nvSpPr>
        <dsp:cNvPr id="0" name=""/>
        <dsp:cNvSpPr/>
      </dsp:nvSpPr>
      <dsp:spPr>
        <a:xfrm>
          <a:off x="4826124" y="2055918"/>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Arrays</a:t>
          </a:r>
        </a:p>
      </dsp:txBody>
      <dsp:txXfrm>
        <a:off x="4844073" y="2073867"/>
        <a:ext cx="929193" cy="576935"/>
      </dsp:txXfrm>
    </dsp:sp>
    <dsp:sp modelId="{E81E159A-9044-40E5-B88D-1D9CD9852103}">
      <dsp:nvSpPr>
        <dsp:cNvPr id="0" name=""/>
        <dsp:cNvSpPr/>
      </dsp:nvSpPr>
      <dsp:spPr>
        <a:xfrm>
          <a:off x="5898448" y="1954048"/>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1B3202-4492-4D63-A7AA-E6D4C1B4B31D}">
      <dsp:nvSpPr>
        <dsp:cNvPr id="0" name=""/>
        <dsp:cNvSpPr/>
      </dsp:nvSpPr>
      <dsp:spPr>
        <a:xfrm>
          <a:off x="6005681" y="2055918"/>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Lists</a:t>
          </a:r>
        </a:p>
      </dsp:txBody>
      <dsp:txXfrm>
        <a:off x="6023630" y="2073867"/>
        <a:ext cx="929193" cy="576935"/>
      </dsp:txXfrm>
    </dsp:sp>
    <dsp:sp modelId="{FCA0D530-7449-47D5-9839-5947980128B3}">
      <dsp:nvSpPr>
        <dsp:cNvPr id="0" name=""/>
        <dsp:cNvSpPr/>
      </dsp:nvSpPr>
      <dsp:spPr>
        <a:xfrm>
          <a:off x="4718892" y="2847561"/>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A4D425-FFFF-4D08-BCD5-88F8A1FAC4C1}">
      <dsp:nvSpPr>
        <dsp:cNvPr id="0" name=""/>
        <dsp:cNvSpPr/>
      </dsp:nvSpPr>
      <dsp:spPr>
        <a:xfrm>
          <a:off x="4826124" y="2949432"/>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Linear List</a:t>
          </a:r>
        </a:p>
      </dsp:txBody>
      <dsp:txXfrm>
        <a:off x="4844073" y="2967381"/>
        <a:ext cx="929193" cy="576935"/>
      </dsp:txXfrm>
    </dsp:sp>
    <dsp:sp modelId="{7F6984D9-5A74-4270-905D-166C0FB962AC}">
      <dsp:nvSpPr>
        <dsp:cNvPr id="0" name=""/>
        <dsp:cNvSpPr/>
      </dsp:nvSpPr>
      <dsp:spPr>
        <a:xfrm>
          <a:off x="4129114" y="3741075"/>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A89F52-5D5E-400D-A3B7-A2FDC4D10A13}">
      <dsp:nvSpPr>
        <dsp:cNvPr id="0" name=""/>
        <dsp:cNvSpPr/>
      </dsp:nvSpPr>
      <dsp:spPr>
        <a:xfrm>
          <a:off x="4236346" y="3842946"/>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Stacks</a:t>
          </a:r>
        </a:p>
      </dsp:txBody>
      <dsp:txXfrm>
        <a:off x="4254295" y="3860895"/>
        <a:ext cx="929193" cy="576935"/>
      </dsp:txXfrm>
    </dsp:sp>
    <dsp:sp modelId="{DC953CD2-D9F9-4C5C-8B54-F5B5EA18C6B3}">
      <dsp:nvSpPr>
        <dsp:cNvPr id="0" name=""/>
        <dsp:cNvSpPr/>
      </dsp:nvSpPr>
      <dsp:spPr>
        <a:xfrm>
          <a:off x="5308670" y="3741075"/>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BA2784-481B-445B-B015-2ED86879D7FF}">
      <dsp:nvSpPr>
        <dsp:cNvPr id="0" name=""/>
        <dsp:cNvSpPr/>
      </dsp:nvSpPr>
      <dsp:spPr>
        <a:xfrm>
          <a:off x="5415902" y="3842946"/>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Queues</a:t>
          </a:r>
        </a:p>
      </dsp:txBody>
      <dsp:txXfrm>
        <a:off x="5433851" y="3860895"/>
        <a:ext cx="929193" cy="576935"/>
      </dsp:txXfrm>
    </dsp:sp>
    <dsp:sp modelId="{EADF9F5B-E724-4EAD-AECC-D2B9EB18E3C8}">
      <dsp:nvSpPr>
        <dsp:cNvPr id="0" name=""/>
        <dsp:cNvSpPr/>
      </dsp:nvSpPr>
      <dsp:spPr>
        <a:xfrm>
          <a:off x="7078004" y="2847561"/>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006D77-5078-42B0-9AC1-0D526EE9A397}">
      <dsp:nvSpPr>
        <dsp:cNvPr id="0" name=""/>
        <dsp:cNvSpPr/>
      </dsp:nvSpPr>
      <dsp:spPr>
        <a:xfrm>
          <a:off x="7185237" y="2949432"/>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Non-Linear List</a:t>
          </a:r>
        </a:p>
      </dsp:txBody>
      <dsp:txXfrm>
        <a:off x="7203186" y="2967381"/>
        <a:ext cx="929193" cy="576935"/>
      </dsp:txXfrm>
    </dsp:sp>
    <dsp:sp modelId="{C0A99B6D-D561-4BB3-8A01-C85E352D6BC8}">
      <dsp:nvSpPr>
        <dsp:cNvPr id="0" name=""/>
        <dsp:cNvSpPr/>
      </dsp:nvSpPr>
      <dsp:spPr>
        <a:xfrm>
          <a:off x="6488226" y="3741075"/>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462FB5-28B8-4927-885C-FFAEF97DB052}">
      <dsp:nvSpPr>
        <dsp:cNvPr id="0" name=""/>
        <dsp:cNvSpPr/>
      </dsp:nvSpPr>
      <dsp:spPr>
        <a:xfrm>
          <a:off x="6595459" y="3842946"/>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Trees</a:t>
          </a:r>
        </a:p>
      </dsp:txBody>
      <dsp:txXfrm>
        <a:off x="6613408" y="3860895"/>
        <a:ext cx="929193" cy="576935"/>
      </dsp:txXfrm>
    </dsp:sp>
    <dsp:sp modelId="{29FBDFA9-481F-4C44-A555-6012B606C26E}">
      <dsp:nvSpPr>
        <dsp:cNvPr id="0" name=""/>
        <dsp:cNvSpPr/>
      </dsp:nvSpPr>
      <dsp:spPr>
        <a:xfrm>
          <a:off x="7667783" y="3741075"/>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AF806C-74FB-4982-8412-A02924410624}">
      <dsp:nvSpPr>
        <dsp:cNvPr id="0" name=""/>
        <dsp:cNvSpPr/>
      </dsp:nvSpPr>
      <dsp:spPr>
        <a:xfrm>
          <a:off x="7775015" y="3842946"/>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Graphs</a:t>
          </a:r>
        </a:p>
      </dsp:txBody>
      <dsp:txXfrm>
        <a:off x="7792964" y="3860895"/>
        <a:ext cx="929193" cy="576935"/>
      </dsp:txXfrm>
    </dsp:sp>
    <dsp:sp modelId="{090B1519-10F0-48C5-BB05-73F2AA59183E}">
      <dsp:nvSpPr>
        <dsp:cNvPr id="0" name=""/>
        <dsp:cNvSpPr/>
      </dsp:nvSpPr>
      <dsp:spPr>
        <a:xfrm>
          <a:off x="7078004" y="1954048"/>
          <a:ext cx="965091" cy="61283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7A60BC-EC4A-437F-B8E2-835801B41984}">
      <dsp:nvSpPr>
        <dsp:cNvPr id="0" name=""/>
        <dsp:cNvSpPr/>
      </dsp:nvSpPr>
      <dsp:spPr>
        <a:xfrm>
          <a:off x="7185237" y="2055918"/>
          <a:ext cx="965091" cy="61283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Files</a:t>
          </a:r>
        </a:p>
      </dsp:txBody>
      <dsp:txXfrm>
        <a:off x="7203186" y="2073867"/>
        <a:ext cx="929193" cy="57693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DAD4AFBD-C5FA-4731-872D-6E69581EA964}" type="datetimeFigureOut">
              <a:rPr lang="en-US"/>
              <a:pPr>
                <a:defRPr/>
              </a:pPr>
              <a:t>3/21/2020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708BEBB5-842D-4F69-B16D-8FB3754CB2AD}" type="slidenum">
              <a:rPr lang="en-US"/>
              <a:pPr>
                <a:defRPr/>
              </a:pPr>
              <a:t>‹#›</a:t>
            </a:fld>
            <a:endParaRPr lang="en-US"/>
          </a:p>
        </p:txBody>
      </p:sp>
    </p:spTree>
    <p:extLst>
      <p:ext uri="{BB962C8B-B14F-4D97-AF65-F5344CB8AC3E}">
        <p14:creationId xmlns:p14="http://schemas.microsoft.com/office/powerpoint/2010/main" val="74912813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9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맑은 고딕" panose="020B0503020000020004" pitchFamily="34" charset="-127"/>
              </a:defRPr>
            </a:lvl1pPr>
            <a:lvl2pPr marL="742950" indent="-285750">
              <a:defRPr>
                <a:solidFill>
                  <a:schemeClr val="tx1"/>
                </a:solidFill>
                <a:latin typeface="맑은 고딕" panose="020B0503020000020004" pitchFamily="34" charset="-127"/>
              </a:defRPr>
            </a:lvl2pPr>
            <a:lvl3pPr marL="1143000" indent="-228600">
              <a:defRPr>
                <a:solidFill>
                  <a:schemeClr val="tx1"/>
                </a:solidFill>
                <a:latin typeface="맑은 고딕" panose="020B0503020000020004" pitchFamily="34" charset="-127"/>
              </a:defRPr>
            </a:lvl3pPr>
            <a:lvl4pPr marL="1600200" indent="-228600">
              <a:defRPr>
                <a:solidFill>
                  <a:schemeClr val="tx1"/>
                </a:solidFill>
                <a:latin typeface="맑은 고딕" panose="020B0503020000020004" pitchFamily="34" charset="-127"/>
              </a:defRPr>
            </a:lvl4pPr>
            <a:lvl5pPr marL="2057400" indent="-228600">
              <a:defRPr>
                <a:solidFill>
                  <a:schemeClr val="tx1"/>
                </a:solidFill>
                <a:latin typeface="맑은 고딕" panose="020B0503020000020004" pitchFamily="34" charset="-127"/>
              </a:defRPr>
            </a:lvl5pPr>
            <a:lvl6pPr marL="2514600" indent="-228600" fontAlgn="base">
              <a:spcBef>
                <a:spcPct val="0"/>
              </a:spcBef>
              <a:spcAft>
                <a:spcPct val="0"/>
              </a:spcAft>
              <a:defRPr>
                <a:solidFill>
                  <a:schemeClr val="tx1"/>
                </a:solidFill>
                <a:latin typeface="맑은 고딕" panose="020B0503020000020004" pitchFamily="34" charset="-127"/>
              </a:defRPr>
            </a:lvl6pPr>
            <a:lvl7pPr marL="2971800" indent="-228600" fontAlgn="base">
              <a:spcBef>
                <a:spcPct val="0"/>
              </a:spcBef>
              <a:spcAft>
                <a:spcPct val="0"/>
              </a:spcAft>
              <a:defRPr>
                <a:solidFill>
                  <a:schemeClr val="tx1"/>
                </a:solidFill>
                <a:latin typeface="맑은 고딕" panose="020B0503020000020004" pitchFamily="34" charset="-127"/>
              </a:defRPr>
            </a:lvl7pPr>
            <a:lvl8pPr marL="3429000" indent="-228600" fontAlgn="base">
              <a:spcBef>
                <a:spcPct val="0"/>
              </a:spcBef>
              <a:spcAft>
                <a:spcPct val="0"/>
              </a:spcAft>
              <a:defRPr>
                <a:solidFill>
                  <a:schemeClr val="tx1"/>
                </a:solidFill>
                <a:latin typeface="맑은 고딕" panose="020B0503020000020004" pitchFamily="34" charset="-127"/>
              </a:defRPr>
            </a:lvl8pPr>
            <a:lvl9pPr marL="3886200" indent="-228600" fontAlgn="base">
              <a:spcBef>
                <a:spcPct val="0"/>
              </a:spcBef>
              <a:spcAft>
                <a:spcPct val="0"/>
              </a:spcAft>
              <a:defRPr>
                <a:solidFill>
                  <a:schemeClr val="tx1"/>
                </a:solidFill>
                <a:latin typeface="맑은 고딕" panose="020B0503020000020004" pitchFamily="34" charset="-127"/>
              </a:defRPr>
            </a:lvl9pPr>
          </a:lstStyle>
          <a:p>
            <a:pPr fontAlgn="base">
              <a:spcBef>
                <a:spcPct val="0"/>
              </a:spcBef>
              <a:spcAft>
                <a:spcPct val="0"/>
              </a:spcAft>
            </a:pPr>
            <a:fld id="{4B9A0761-D63F-4456-8927-77D947AF4CA5}" type="slidenum">
              <a:rPr lang="en-US" altLang="en-US">
                <a:latin typeface="Calibri" panose="020F0502020204030204" pitchFamily="34" charset="0"/>
              </a:rPr>
              <a:pPr fontAlgn="base">
                <a:spcBef>
                  <a:spcPct val="0"/>
                </a:spcBef>
                <a:spcAft>
                  <a:spcPct val="0"/>
                </a:spcAft>
              </a:pPr>
              <a:t>1</a:t>
            </a:fld>
            <a:endParaRPr lang="en-US" altLang="en-US">
              <a:latin typeface="Calibri" panose="020F0502020204030204" pitchFamily="34" charset="0"/>
            </a:endParaRPr>
          </a:p>
        </p:txBody>
      </p:sp>
    </p:spTree>
    <p:extLst>
      <p:ext uri="{BB962C8B-B14F-4D97-AF65-F5344CB8AC3E}">
        <p14:creationId xmlns:p14="http://schemas.microsoft.com/office/powerpoint/2010/main" val="20474766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제목 슬라이드">
    <p:spTree>
      <p:nvGrpSpPr>
        <p:cNvPr id="1" name=""/>
        <p:cNvGrpSpPr/>
        <p:nvPr/>
      </p:nvGrpSpPr>
      <p:grpSpPr>
        <a:xfrm>
          <a:off x="0" y="0"/>
          <a:ext cx="0" cy="0"/>
          <a:chOff x="0" y="0"/>
          <a:chExt cx="0" cy="0"/>
        </a:xfrm>
      </p:grpSpPr>
      <p:sp>
        <p:nvSpPr>
          <p:cNvPr id="3" name="Rectangle 2"/>
          <p:cNvSpPr/>
          <p:nvPr/>
        </p:nvSpPr>
        <p:spPr>
          <a:xfrm>
            <a:off x="0" y="4429125"/>
            <a:ext cx="9144000" cy="23241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p:cNvSpPr/>
          <p:nvPr/>
        </p:nvSpPr>
        <p:spPr>
          <a:xfrm>
            <a:off x="0" y="6753225"/>
            <a:ext cx="9144000" cy="104775"/>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8"/>
          <p:cNvSpPr txBox="1">
            <a:spLocks noChangeArrowheads="1"/>
          </p:cNvSpPr>
          <p:nvPr/>
        </p:nvSpPr>
        <p:spPr bwMode="auto">
          <a:xfrm>
            <a:off x="685800" y="5105400"/>
            <a:ext cx="647699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맑은 고딕" panose="020B0503020000020004" pitchFamily="34" charset="-127"/>
              </a:defRPr>
            </a:lvl1pPr>
            <a:lvl2pPr marL="742950" indent="-285750">
              <a:defRPr>
                <a:solidFill>
                  <a:schemeClr val="tx1"/>
                </a:solidFill>
                <a:latin typeface="맑은 고딕" panose="020B0503020000020004" pitchFamily="34" charset="-127"/>
              </a:defRPr>
            </a:lvl2pPr>
            <a:lvl3pPr marL="1143000" indent="-228600">
              <a:defRPr>
                <a:solidFill>
                  <a:schemeClr val="tx1"/>
                </a:solidFill>
                <a:latin typeface="맑은 고딕" panose="020B0503020000020004" pitchFamily="34" charset="-127"/>
              </a:defRPr>
            </a:lvl3pPr>
            <a:lvl4pPr marL="1600200" indent="-228600">
              <a:defRPr>
                <a:solidFill>
                  <a:schemeClr val="tx1"/>
                </a:solidFill>
                <a:latin typeface="맑은 고딕" panose="020B0503020000020004" pitchFamily="34" charset="-127"/>
              </a:defRPr>
            </a:lvl4pPr>
            <a:lvl5pPr marL="2057400" indent="-228600">
              <a:defRPr>
                <a:solidFill>
                  <a:schemeClr val="tx1"/>
                </a:solidFill>
                <a:latin typeface="맑은 고딕" panose="020B0503020000020004" pitchFamily="34" charset="-127"/>
              </a:defRPr>
            </a:lvl5pPr>
            <a:lvl6pPr marL="2514600" indent="-228600" fontAlgn="base">
              <a:spcBef>
                <a:spcPct val="0"/>
              </a:spcBef>
              <a:spcAft>
                <a:spcPct val="0"/>
              </a:spcAft>
              <a:defRPr>
                <a:solidFill>
                  <a:schemeClr val="tx1"/>
                </a:solidFill>
                <a:latin typeface="맑은 고딕" panose="020B0503020000020004" pitchFamily="34" charset="-127"/>
              </a:defRPr>
            </a:lvl6pPr>
            <a:lvl7pPr marL="2971800" indent="-228600" fontAlgn="base">
              <a:spcBef>
                <a:spcPct val="0"/>
              </a:spcBef>
              <a:spcAft>
                <a:spcPct val="0"/>
              </a:spcAft>
              <a:defRPr>
                <a:solidFill>
                  <a:schemeClr val="tx1"/>
                </a:solidFill>
                <a:latin typeface="맑은 고딕" panose="020B0503020000020004" pitchFamily="34" charset="-127"/>
              </a:defRPr>
            </a:lvl7pPr>
            <a:lvl8pPr marL="3429000" indent="-228600" fontAlgn="base">
              <a:spcBef>
                <a:spcPct val="0"/>
              </a:spcBef>
              <a:spcAft>
                <a:spcPct val="0"/>
              </a:spcAft>
              <a:defRPr>
                <a:solidFill>
                  <a:schemeClr val="tx1"/>
                </a:solidFill>
                <a:latin typeface="맑은 고딕" panose="020B0503020000020004" pitchFamily="34" charset="-127"/>
              </a:defRPr>
            </a:lvl8pPr>
            <a:lvl9pPr marL="3886200" indent="-228600" fontAlgn="base">
              <a:spcBef>
                <a:spcPct val="0"/>
              </a:spcBef>
              <a:spcAft>
                <a:spcPct val="0"/>
              </a:spcAft>
              <a:defRPr>
                <a:solidFill>
                  <a:schemeClr val="tx1"/>
                </a:solidFill>
                <a:latin typeface="맑은 고딕" panose="020B0503020000020004" pitchFamily="34" charset="-127"/>
              </a:defRPr>
            </a:lvl9pPr>
          </a:lstStyle>
          <a:p>
            <a:pPr algn="r" eaLnBrk="1" hangingPunct="1"/>
            <a:r>
              <a:rPr lang="en-US" altLang="ko-KR" sz="2000" dirty="0">
                <a:solidFill>
                  <a:srgbClr val="DCE6F2"/>
                </a:solidFill>
                <a:latin typeface="Bell MT" panose="02020503060305020303" pitchFamily="18" charset="0"/>
              </a:rPr>
              <a:t>Department of Information and Computer Engineering</a:t>
            </a:r>
            <a:endParaRPr lang="ko-KR" altLang="en-US" sz="2000" dirty="0">
              <a:solidFill>
                <a:srgbClr val="DCE6F2"/>
              </a:solidFill>
              <a:latin typeface="Bell MT" panose="02020503060305020303" pitchFamily="18" charset="0"/>
            </a:endParaRPr>
          </a:p>
          <a:p>
            <a:pPr algn="r" eaLnBrk="1" hangingPunct="1"/>
            <a:r>
              <a:rPr lang="en-US" altLang="en-US" sz="2000" dirty="0">
                <a:solidFill>
                  <a:srgbClr val="DCE6F2"/>
                </a:solidFill>
                <a:latin typeface="Bell MT" panose="02020503060305020303" pitchFamily="18" charset="0"/>
              </a:rPr>
              <a:t> </a:t>
            </a:r>
          </a:p>
        </p:txBody>
      </p:sp>
      <p:sp>
        <p:nvSpPr>
          <p:cNvPr id="6" name="TextBox 9"/>
          <p:cNvSpPr txBox="1">
            <a:spLocks noChangeArrowheads="1"/>
          </p:cNvSpPr>
          <p:nvPr/>
        </p:nvSpPr>
        <p:spPr bwMode="auto">
          <a:xfrm>
            <a:off x="1219200" y="5459343"/>
            <a:ext cx="1870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맑은 고딕" panose="020B0503020000020004" pitchFamily="34" charset="-127"/>
              </a:defRPr>
            </a:lvl1pPr>
            <a:lvl2pPr marL="742950" indent="-285750">
              <a:defRPr>
                <a:solidFill>
                  <a:schemeClr val="tx1"/>
                </a:solidFill>
                <a:latin typeface="맑은 고딕" panose="020B0503020000020004" pitchFamily="34" charset="-127"/>
              </a:defRPr>
            </a:lvl2pPr>
            <a:lvl3pPr marL="1143000" indent="-228600">
              <a:defRPr>
                <a:solidFill>
                  <a:schemeClr val="tx1"/>
                </a:solidFill>
                <a:latin typeface="맑은 고딕" panose="020B0503020000020004" pitchFamily="34" charset="-127"/>
              </a:defRPr>
            </a:lvl3pPr>
            <a:lvl4pPr marL="1600200" indent="-228600">
              <a:defRPr>
                <a:solidFill>
                  <a:schemeClr val="tx1"/>
                </a:solidFill>
                <a:latin typeface="맑은 고딕" panose="020B0503020000020004" pitchFamily="34" charset="-127"/>
              </a:defRPr>
            </a:lvl4pPr>
            <a:lvl5pPr marL="2057400" indent="-228600">
              <a:defRPr>
                <a:solidFill>
                  <a:schemeClr val="tx1"/>
                </a:solidFill>
                <a:latin typeface="맑은 고딕" panose="020B0503020000020004" pitchFamily="34" charset="-127"/>
              </a:defRPr>
            </a:lvl5pPr>
            <a:lvl6pPr marL="2514600" indent="-228600" fontAlgn="base">
              <a:spcBef>
                <a:spcPct val="0"/>
              </a:spcBef>
              <a:spcAft>
                <a:spcPct val="0"/>
              </a:spcAft>
              <a:defRPr>
                <a:solidFill>
                  <a:schemeClr val="tx1"/>
                </a:solidFill>
                <a:latin typeface="맑은 고딕" panose="020B0503020000020004" pitchFamily="34" charset="-127"/>
              </a:defRPr>
            </a:lvl6pPr>
            <a:lvl7pPr marL="2971800" indent="-228600" fontAlgn="base">
              <a:spcBef>
                <a:spcPct val="0"/>
              </a:spcBef>
              <a:spcAft>
                <a:spcPct val="0"/>
              </a:spcAft>
              <a:defRPr>
                <a:solidFill>
                  <a:schemeClr val="tx1"/>
                </a:solidFill>
                <a:latin typeface="맑은 고딕" panose="020B0503020000020004" pitchFamily="34" charset="-127"/>
              </a:defRPr>
            </a:lvl7pPr>
            <a:lvl8pPr marL="3429000" indent="-228600" fontAlgn="base">
              <a:spcBef>
                <a:spcPct val="0"/>
              </a:spcBef>
              <a:spcAft>
                <a:spcPct val="0"/>
              </a:spcAft>
              <a:defRPr>
                <a:solidFill>
                  <a:schemeClr val="tx1"/>
                </a:solidFill>
                <a:latin typeface="맑은 고딕" panose="020B0503020000020004" pitchFamily="34" charset="-127"/>
              </a:defRPr>
            </a:lvl8pPr>
            <a:lvl9pPr marL="3886200" indent="-228600" fontAlgn="base">
              <a:spcBef>
                <a:spcPct val="0"/>
              </a:spcBef>
              <a:spcAft>
                <a:spcPct val="0"/>
              </a:spcAft>
              <a:defRPr>
                <a:solidFill>
                  <a:schemeClr val="tx1"/>
                </a:solidFill>
                <a:latin typeface="맑은 고딕" panose="020B0503020000020004" pitchFamily="34" charset="-127"/>
              </a:defRPr>
            </a:lvl9pPr>
          </a:lstStyle>
          <a:p>
            <a:pPr eaLnBrk="1" hangingPunct="1"/>
            <a:r>
              <a:rPr lang="en-US" altLang="en-US" sz="2000" dirty="0" err="1">
                <a:solidFill>
                  <a:srgbClr val="DCE6F2"/>
                </a:solidFill>
                <a:latin typeface="Bell MT" panose="02020503060305020303" pitchFamily="18" charset="0"/>
              </a:rPr>
              <a:t>Ajou</a:t>
            </a:r>
            <a:r>
              <a:rPr lang="en-US" altLang="en-US" sz="2000" dirty="0">
                <a:solidFill>
                  <a:srgbClr val="DCE6F2"/>
                </a:solidFill>
                <a:latin typeface="Bell MT" panose="02020503060305020303" pitchFamily="18" charset="0"/>
              </a:rPr>
              <a:t> University</a:t>
            </a:r>
          </a:p>
        </p:txBody>
      </p:sp>
      <p:sp>
        <p:nvSpPr>
          <p:cNvPr id="7" name="Rectangle 6"/>
          <p:cNvSpPr/>
          <p:nvPr/>
        </p:nvSpPr>
        <p:spPr>
          <a:xfrm>
            <a:off x="0" y="0"/>
            <a:ext cx="9144000" cy="6745288"/>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0" y="-7938"/>
            <a:ext cx="9144000" cy="830263"/>
          </a:xfrm>
          <a:prstGeom prst="rect">
            <a:avLst/>
          </a:prstGeom>
          <a:solidFill>
            <a:schemeClr val="tx2">
              <a:lumMod val="50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a:xfrm>
            <a:off x="0" y="819150"/>
            <a:ext cx="9144000" cy="55563"/>
          </a:xfrm>
          <a:prstGeom prst="rect">
            <a:avLst/>
          </a:prstGeom>
          <a:solidFill>
            <a:schemeClr val="accent5"/>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2" descr="C:\Users\Rajib\Documents\Temp\Logo\eng_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93788"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6663" y="920750"/>
            <a:ext cx="1557337"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descr="C:\Users\Rajib\Documents\Temp\Logo\Ajou_Univ.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18325" y="839788"/>
            <a:ext cx="68421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6"/>
          <p:cNvSpPr txBox="1">
            <a:spLocks noChangeArrowheads="1"/>
          </p:cNvSpPr>
          <p:nvPr/>
        </p:nvSpPr>
        <p:spPr bwMode="auto">
          <a:xfrm>
            <a:off x="1219200" y="4703763"/>
            <a:ext cx="2058988"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맑은 고딕" panose="020B0503020000020004" pitchFamily="34" charset="-127"/>
              </a:defRPr>
            </a:lvl1pPr>
            <a:lvl2pPr marL="742950" indent="-285750">
              <a:defRPr>
                <a:solidFill>
                  <a:schemeClr val="tx1"/>
                </a:solidFill>
                <a:latin typeface="맑은 고딕" panose="020B0503020000020004" pitchFamily="34" charset="-127"/>
              </a:defRPr>
            </a:lvl2pPr>
            <a:lvl3pPr marL="1143000" indent="-228600">
              <a:defRPr>
                <a:solidFill>
                  <a:schemeClr val="tx1"/>
                </a:solidFill>
                <a:latin typeface="맑은 고딕" panose="020B0503020000020004" pitchFamily="34" charset="-127"/>
              </a:defRPr>
            </a:lvl3pPr>
            <a:lvl4pPr marL="1600200" indent="-228600">
              <a:defRPr>
                <a:solidFill>
                  <a:schemeClr val="tx1"/>
                </a:solidFill>
                <a:latin typeface="맑은 고딕" panose="020B0503020000020004" pitchFamily="34" charset="-127"/>
              </a:defRPr>
            </a:lvl4pPr>
            <a:lvl5pPr marL="2057400" indent="-228600">
              <a:defRPr>
                <a:solidFill>
                  <a:schemeClr val="tx1"/>
                </a:solidFill>
                <a:latin typeface="맑은 고딕" panose="020B0503020000020004" pitchFamily="34" charset="-127"/>
              </a:defRPr>
            </a:lvl5pPr>
            <a:lvl6pPr marL="2514600" indent="-228600" fontAlgn="base">
              <a:spcBef>
                <a:spcPct val="0"/>
              </a:spcBef>
              <a:spcAft>
                <a:spcPct val="0"/>
              </a:spcAft>
              <a:defRPr>
                <a:solidFill>
                  <a:schemeClr val="tx1"/>
                </a:solidFill>
                <a:latin typeface="맑은 고딕" panose="020B0503020000020004" pitchFamily="34" charset="-127"/>
              </a:defRPr>
            </a:lvl6pPr>
            <a:lvl7pPr marL="2971800" indent="-228600" fontAlgn="base">
              <a:spcBef>
                <a:spcPct val="0"/>
              </a:spcBef>
              <a:spcAft>
                <a:spcPct val="0"/>
              </a:spcAft>
              <a:defRPr>
                <a:solidFill>
                  <a:schemeClr val="tx1"/>
                </a:solidFill>
                <a:latin typeface="맑은 고딕" panose="020B0503020000020004" pitchFamily="34" charset="-127"/>
              </a:defRPr>
            </a:lvl7pPr>
            <a:lvl8pPr marL="3429000" indent="-228600" fontAlgn="base">
              <a:spcBef>
                <a:spcPct val="0"/>
              </a:spcBef>
              <a:spcAft>
                <a:spcPct val="0"/>
              </a:spcAft>
              <a:defRPr>
                <a:solidFill>
                  <a:schemeClr val="tx1"/>
                </a:solidFill>
                <a:latin typeface="맑은 고딕" panose="020B0503020000020004" pitchFamily="34" charset="-127"/>
              </a:defRPr>
            </a:lvl8pPr>
            <a:lvl9pPr marL="3886200" indent="-228600" fontAlgn="base">
              <a:spcBef>
                <a:spcPct val="0"/>
              </a:spcBef>
              <a:spcAft>
                <a:spcPct val="0"/>
              </a:spcAft>
              <a:defRPr>
                <a:solidFill>
                  <a:schemeClr val="tx1"/>
                </a:solidFill>
                <a:latin typeface="맑은 고딕" panose="020B0503020000020004" pitchFamily="34" charset="-127"/>
              </a:defRPr>
            </a:lvl9pPr>
          </a:lstStyle>
          <a:p>
            <a:pPr eaLnBrk="1" hangingPunct="1"/>
            <a:r>
              <a:rPr lang="en-US" altLang="en-US" sz="2000" dirty="0">
                <a:solidFill>
                  <a:srgbClr val="DCE6F2"/>
                </a:solidFill>
                <a:latin typeface="Bell MT" panose="02020503060305020303" pitchFamily="18" charset="0"/>
              </a:rPr>
              <a:t>Rajib Paul (Ph.D.)</a:t>
            </a:r>
          </a:p>
        </p:txBody>
      </p:sp>
      <p:sp>
        <p:nvSpPr>
          <p:cNvPr id="2" name="제목 1"/>
          <p:cNvSpPr>
            <a:spLocks noGrp="1"/>
          </p:cNvSpPr>
          <p:nvPr>
            <p:ph type="ctrTitle"/>
          </p:nvPr>
        </p:nvSpPr>
        <p:spPr>
          <a:xfrm>
            <a:off x="685800" y="2391024"/>
            <a:ext cx="7772400" cy="1470025"/>
          </a:xfrm>
        </p:spPr>
        <p:txBody>
          <a:bodyPr>
            <a:normAutofit/>
          </a:bodyPr>
          <a:lstStyle>
            <a:lvl1pPr>
              <a:defRPr sz="4800"/>
            </a:lvl1pPr>
          </a:lstStyle>
          <a:p>
            <a:r>
              <a:rPr lang="en-US" altLang="ko-KR"/>
              <a:t>Click to edit Master title style</a:t>
            </a:r>
            <a:endParaRPr lang="ko-KR" altLang="en-US" dirty="0"/>
          </a:p>
        </p:txBody>
      </p:sp>
    </p:spTree>
    <p:extLst>
      <p:ext uri="{BB962C8B-B14F-4D97-AF65-F5344CB8AC3E}">
        <p14:creationId xmlns:p14="http://schemas.microsoft.com/office/powerpoint/2010/main" val="1888163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4" name="Rectangle 3"/>
          <p:cNvSpPr/>
          <p:nvPr/>
        </p:nvSpPr>
        <p:spPr>
          <a:xfrm>
            <a:off x="0" y="6751638"/>
            <a:ext cx="9163050" cy="3175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5" name="Picture 2" descr="C:\Users\Rajib\Documents\Temp\Logo\Ajou_Univ.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 y="6246813"/>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슬라이드 번호 개체 틀 4"/>
          <p:cNvSpPr txBox="1">
            <a:spLocks/>
          </p:cNvSpPr>
          <p:nvPr/>
        </p:nvSpPr>
        <p:spPr>
          <a:xfrm>
            <a:off x="511175" y="6465888"/>
            <a:ext cx="2133600" cy="365125"/>
          </a:xfrm>
          <a:prstGeom prst="rect">
            <a:avLst/>
          </a:prstGeom>
        </p:spPr>
        <p:txBody>
          <a:bodyPr anchor="ctr"/>
          <a:lstStyle>
            <a:defPPr>
              <a:defRPr lang="en-US"/>
            </a:defPPr>
            <a:lvl1pPr marL="0" algn="r" defTabSz="457200" rtl="0" eaLnBrk="1" latinLnBrk="0" hangingPunct="1">
              <a:defRPr sz="1200" kern="1200">
                <a:solidFill>
                  <a:schemeClr val="tx1">
                    <a:lumMod val="50000"/>
                    <a:lumOff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dirty="0"/>
          </a:p>
        </p:txBody>
      </p:sp>
      <p:sp>
        <p:nvSpPr>
          <p:cNvPr id="7" name="Rectangle 6"/>
          <p:cNvSpPr/>
          <p:nvPr/>
        </p:nvSpPr>
        <p:spPr>
          <a:xfrm>
            <a:off x="-19050" y="-25400"/>
            <a:ext cx="9163050" cy="68834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5400" y="762000"/>
            <a:ext cx="9169400" cy="46038"/>
          </a:xfrm>
          <a:prstGeom prst="rect">
            <a:avLst/>
          </a:prstGeom>
          <a:solidFill>
            <a:schemeClr val="accent5">
              <a:lumMod val="75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2" descr="C:\Users\Rajib\Documents\Temp\Logo\eng_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0"/>
            <a:ext cx="1093787"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텍스트 개체 틀 8"/>
          <p:cNvSpPr>
            <a:spLocks noGrp="1"/>
          </p:cNvSpPr>
          <p:nvPr>
            <p:ph type="body" sz="quarter" idx="10"/>
          </p:nvPr>
        </p:nvSpPr>
        <p:spPr>
          <a:xfrm>
            <a:off x="323850" y="1441579"/>
            <a:ext cx="8496300" cy="4925347"/>
          </a:xfrm>
        </p:spPr>
        <p:txBody>
          <a:bodyPr>
            <a:normAutofit/>
          </a:bodyPr>
          <a:lstStyle>
            <a:lvl1pPr marL="285750" indent="-285750">
              <a:buFont typeface="Arial" panose="020B0604020202020204" pitchFamily="34" charset="0"/>
              <a:buChar char="•"/>
              <a:defRPr sz="1800"/>
            </a:lvl1pPr>
            <a:lvl2pPr>
              <a:defRPr sz="1600"/>
            </a:lvl2pPr>
            <a:lvl3pPr marL="1143000" indent="-228600">
              <a:buFont typeface="Arial" panose="020B0604020202020204" pitchFamily="34" charset="0"/>
              <a:buChar char="•"/>
              <a:defRPr sz="1400"/>
            </a:lvl3pPr>
            <a:lvl4pPr>
              <a:defRPr sz="1200"/>
            </a:lvl4pPr>
            <a:lvl5pPr>
              <a:defRPr sz="1200"/>
            </a:lvl5pPr>
            <a:lvl6pPr>
              <a:defRPr sz="1200"/>
            </a:lvl6pPr>
            <a:lvl7pPr>
              <a:defRPr sz="1200"/>
            </a:lvl7pPr>
            <a:lvl8pPr>
              <a:defRPr sz="1800"/>
            </a:lvl8pPr>
            <a:lvl9pPr>
              <a:defRPr sz="1800"/>
            </a:lvl9pPr>
          </a:lstStyle>
          <a:p>
            <a:pPr lvl="0"/>
            <a:r>
              <a:rPr lang="en-US" altLang="ko-KR"/>
              <a:t>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dirty="0"/>
          </a:p>
        </p:txBody>
      </p:sp>
      <p:sp>
        <p:nvSpPr>
          <p:cNvPr id="2" name="제목 1"/>
          <p:cNvSpPr>
            <a:spLocks noGrp="1"/>
          </p:cNvSpPr>
          <p:nvPr>
            <p:ph type="title"/>
          </p:nvPr>
        </p:nvSpPr>
        <p:spPr>
          <a:xfrm>
            <a:off x="179512" y="302400"/>
            <a:ext cx="4896544" cy="691277"/>
          </a:xfrm>
          <a:solidFill>
            <a:schemeClr val="bg1"/>
          </a:solidFill>
        </p:spPr>
        <p:txBody>
          <a:bodyPr>
            <a:noAutofit/>
          </a:bodyPr>
          <a:lstStyle>
            <a:lvl1pPr algn="l">
              <a:defRPr sz="4800">
                <a:solidFill>
                  <a:srgbClr val="53999C"/>
                </a:solidFill>
                <a:effectLst/>
              </a:defRPr>
            </a:lvl1pPr>
          </a:lstStyle>
          <a:p>
            <a:r>
              <a:rPr lang="en-US" altLang="ko-KR"/>
              <a:t>Click to edit Master title style</a:t>
            </a:r>
            <a:endParaRPr lang="ko-KR" altLang="en-US" dirty="0"/>
          </a:p>
        </p:txBody>
      </p:sp>
      <p:sp>
        <p:nvSpPr>
          <p:cNvPr id="11" name="슬라이드 번호 개체 틀 4"/>
          <p:cNvSpPr>
            <a:spLocks noGrp="1"/>
          </p:cNvSpPr>
          <p:nvPr>
            <p:ph type="sldNum" sz="quarter" idx="11"/>
          </p:nvPr>
        </p:nvSpPr>
        <p:spPr>
          <a:xfrm>
            <a:off x="6911975" y="6462713"/>
            <a:ext cx="2133600" cy="365125"/>
          </a:xfrm>
        </p:spPr>
        <p:txBody>
          <a:bodyPr/>
          <a:lstStyle>
            <a:lvl1pPr algn="r">
              <a:defRPr smtClean="0">
                <a:solidFill>
                  <a:schemeClr val="tx1">
                    <a:lumMod val="50000"/>
                    <a:lumOff val="50000"/>
                  </a:schemeClr>
                </a:solidFill>
              </a:defRPr>
            </a:lvl1pPr>
          </a:lstStyle>
          <a:p>
            <a:pPr>
              <a:defRPr/>
            </a:pPr>
            <a:fld id="{8B54D4F5-0B3E-4D5E-A4C2-8D7668C34286}" type="slidenum">
              <a:rPr lang="en-US"/>
              <a:pPr>
                <a:defRPr/>
              </a:pPr>
              <a:t>‹#›</a:t>
            </a:fld>
            <a:endParaRPr lang="en-US"/>
          </a:p>
        </p:txBody>
      </p:sp>
      <p:sp>
        <p:nvSpPr>
          <p:cNvPr id="12" name="Date Placeholder 3"/>
          <p:cNvSpPr>
            <a:spLocks noGrp="1"/>
          </p:cNvSpPr>
          <p:nvPr>
            <p:ph type="dt" sz="half" idx="12"/>
          </p:nvPr>
        </p:nvSpPr>
        <p:spPr>
          <a:xfrm>
            <a:off x="552450" y="6461125"/>
            <a:ext cx="2133600" cy="365125"/>
          </a:xfrm>
        </p:spPr>
        <p:txBody>
          <a:bodyPr/>
          <a:lstStyle>
            <a:lvl1pPr algn="l">
              <a:defRPr sz="1050" smtClean="0">
                <a:solidFill>
                  <a:schemeClr val="tx1">
                    <a:tint val="75000"/>
                  </a:schemeClr>
                </a:solidFill>
              </a:defRPr>
            </a:lvl1pPr>
          </a:lstStyle>
          <a:p>
            <a:pPr>
              <a:defRPr/>
            </a:pPr>
            <a:fld id="{B237DBED-33CD-47A9-891F-1EF490AFEF10}" type="datetime4">
              <a:rPr lang="en-US"/>
              <a:pPr>
                <a:defRPr/>
              </a:pPr>
              <a:t>March 21, 2020</a:t>
            </a:fld>
            <a:endParaRPr lang="en-US"/>
          </a:p>
        </p:txBody>
      </p:sp>
    </p:spTree>
    <p:extLst>
      <p:ext uri="{BB962C8B-B14F-4D97-AF65-F5344CB8AC3E}">
        <p14:creationId xmlns:p14="http://schemas.microsoft.com/office/powerpoint/2010/main" val="1417244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cxnSp>
        <p:nvCxnSpPr>
          <p:cNvPr id="4" name="직선 연결선 11"/>
          <p:cNvCxnSpPr/>
          <p:nvPr/>
        </p:nvCxnSpPr>
        <p:spPr>
          <a:xfrm>
            <a:off x="684213" y="4117975"/>
            <a:ext cx="7848600" cy="0"/>
          </a:xfrm>
          <a:prstGeom prst="line">
            <a:avLst/>
          </a:prstGeom>
          <a:ln>
            <a:solidFill>
              <a:srgbClr val="0C86CB"/>
            </a:solidFill>
          </a:ln>
        </p:spPr>
        <p:style>
          <a:lnRef idx="1">
            <a:schemeClr val="accent1"/>
          </a:lnRef>
          <a:fillRef idx="0">
            <a:schemeClr val="accent1"/>
          </a:fillRef>
          <a:effectRef idx="0">
            <a:schemeClr val="accent1"/>
          </a:effectRef>
          <a:fontRef idx="minor">
            <a:schemeClr val="tx1"/>
          </a:fontRef>
        </p:style>
      </p:cxnSp>
      <p:sp>
        <p:nvSpPr>
          <p:cNvPr id="5" name="직사각형 12"/>
          <p:cNvSpPr/>
          <p:nvPr/>
        </p:nvSpPr>
        <p:spPr>
          <a:xfrm>
            <a:off x="8172450" y="3644900"/>
            <a:ext cx="576263" cy="576263"/>
          </a:xfrm>
          <a:prstGeom prst="rect">
            <a:avLst/>
          </a:prstGeom>
          <a:solidFill>
            <a:srgbClr val="00B0F0"/>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dirty="0"/>
          </a:p>
        </p:txBody>
      </p:sp>
      <p:sp>
        <p:nvSpPr>
          <p:cNvPr id="6" name="직사각형 14"/>
          <p:cNvSpPr/>
          <p:nvPr/>
        </p:nvSpPr>
        <p:spPr>
          <a:xfrm>
            <a:off x="7991475" y="4030663"/>
            <a:ext cx="287338" cy="288925"/>
          </a:xfrm>
          <a:prstGeom prst="rect">
            <a:avLst/>
          </a:prstGeom>
          <a:solidFill>
            <a:srgbClr val="0C86CB"/>
          </a:solidFill>
          <a:ln w="3175">
            <a:solidFill>
              <a:srgbClr val="0C86C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dirty="0"/>
          </a:p>
        </p:txBody>
      </p:sp>
      <p:sp>
        <p:nvSpPr>
          <p:cNvPr id="7" name="Rectangle 6"/>
          <p:cNvSpPr/>
          <p:nvPr/>
        </p:nvSpPr>
        <p:spPr>
          <a:xfrm>
            <a:off x="0" y="6751638"/>
            <a:ext cx="9163050" cy="3175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2" descr="C:\Users\Rajib\Documents\Temp\Logo\Ajou_Univ.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 y="6246813"/>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9050" y="-25400"/>
            <a:ext cx="9163050" cy="68834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a:xfrm>
            <a:off x="-25400" y="762000"/>
            <a:ext cx="9169400" cy="46038"/>
          </a:xfrm>
          <a:prstGeom prst="rect">
            <a:avLst/>
          </a:prstGeom>
          <a:solidFill>
            <a:schemeClr val="accent5">
              <a:lumMod val="75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2" descr="C:\Users\Rajib\Documents\Temp\Logo\eng_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0"/>
            <a:ext cx="1093787"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텍스트 개체 틀 2"/>
          <p:cNvSpPr>
            <a:spLocks noGrp="1"/>
          </p:cNvSpPr>
          <p:nvPr>
            <p:ph type="body" idx="1"/>
          </p:nvPr>
        </p:nvSpPr>
        <p:spPr>
          <a:xfrm>
            <a:off x="722313" y="2906714"/>
            <a:ext cx="7772400" cy="1188470"/>
          </a:xfrm>
        </p:spPr>
        <p:txBody>
          <a:bodyPr anchor="ctr"/>
          <a:lstStyle>
            <a:lvl1pPr marL="514350" indent="-514350">
              <a:buFont typeface="+mj-lt"/>
              <a:buAutoNum type="romanUcPeriod"/>
              <a:defRPr sz="2000" baseline="0">
                <a:solidFill>
                  <a:schemeClr val="tx1">
                    <a:tint val="75000"/>
                  </a:schemeClr>
                </a:solidFill>
                <a:latin typeface="Gill Sans MT" panose="020B0502020104020203"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ko-KR"/>
              <a:t>Edit Master text styles</a:t>
            </a:r>
          </a:p>
        </p:txBody>
      </p:sp>
      <p:sp>
        <p:nvSpPr>
          <p:cNvPr id="16" name="제목 1"/>
          <p:cNvSpPr>
            <a:spLocks noGrp="1"/>
          </p:cNvSpPr>
          <p:nvPr>
            <p:ph type="title"/>
          </p:nvPr>
        </p:nvSpPr>
        <p:spPr>
          <a:xfrm>
            <a:off x="722313" y="4406900"/>
            <a:ext cx="7772400" cy="1362075"/>
          </a:xfrm>
        </p:spPr>
        <p:txBody>
          <a:bodyPr anchor="t"/>
          <a:lstStyle>
            <a:lvl1pPr algn="l">
              <a:defRPr sz="4000" b="1" cap="all" baseline="0">
                <a:solidFill>
                  <a:srgbClr val="2E3640"/>
                </a:solidFill>
                <a:latin typeface="Gill Sans MT" panose="020B0502020104020203" pitchFamily="34" charset="0"/>
              </a:defRPr>
            </a:lvl1pPr>
          </a:lstStyle>
          <a:p>
            <a:r>
              <a:rPr lang="en-US" altLang="ko-KR"/>
              <a:t>Click to edit Master title style</a:t>
            </a:r>
            <a:endParaRPr lang="ko-KR" altLang="en-US" dirty="0"/>
          </a:p>
        </p:txBody>
      </p:sp>
      <p:sp>
        <p:nvSpPr>
          <p:cNvPr id="12" name="슬라이드 번호 개체 틀 4"/>
          <p:cNvSpPr>
            <a:spLocks noGrp="1"/>
          </p:cNvSpPr>
          <p:nvPr>
            <p:ph type="sldNum" sz="quarter" idx="10"/>
          </p:nvPr>
        </p:nvSpPr>
        <p:spPr>
          <a:xfrm>
            <a:off x="6911975" y="6462713"/>
            <a:ext cx="2133600" cy="365125"/>
          </a:xfrm>
        </p:spPr>
        <p:txBody>
          <a:bodyPr/>
          <a:lstStyle>
            <a:lvl1pPr algn="r">
              <a:defRPr smtClean="0">
                <a:solidFill>
                  <a:schemeClr val="tx1">
                    <a:lumMod val="50000"/>
                    <a:lumOff val="50000"/>
                  </a:schemeClr>
                </a:solidFill>
              </a:defRPr>
            </a:lvl1pPr>
          </a:lstStyle>
          <a:p>
            <a:pPr>
              <a:defRPr/>
            </a:pPr>
            <a:fld id="{BC55A74C-2C7E-49C4-8163-A17EB935A354}" type="slidenum">
              <a:rPr lang="en-US"/>
              <a:pPr>
                <a:defRPr/>
              </a:pPr>
              <a:t>‹#›</a:t>
            </a:fld>
            <a:endParaRPr lang="en-US"/>
          </a:p>
        </p:txBody>
      </p:sp>
      <p:sp>
        <p:nvSpPr>
          <p:cNvPr id="13" name="Date Placeholder 3"/>
          <p:cNvSpPr>
            <a:spLocks noGrp="1"/>
          </p:cNvSpPr>
          <p:nvPr>
            <p:ph type="dt" sz="half" idx="11"/>
          </p:nvPr>
        </p:nvSpPr>
        <p:spPr>
          <a:xfrm>
            <a:off x="552450" y="6461125"/>
            <a:ext cx="2133600" cy="365125"/>
          </a:xfrm>
        </p:spPr>
        <p:txBody>
          <a:bodyPr/>
          <a:lstStyle>
            <a:lvl1pPr algn="l">
              <a:defRPr sz="1050" smtClean="0">
                <a:solidFill>
                  <a:schemeClr val="tx1">
                    <a:tint val="75000"/>
                  </a:schemeClr>
                </a:solidFill>
              </a:defRPr>
            </a:lvl1pPr>
          </a:lstStyle>
          <a:p>
            <a:pPr>
              <a:defRPr/>
            </a:pPr>
            <a:fld id="{05D9572C-F393-4F55-B72A-105EFE070886}" type="datetime4">
              <a:rPr lang="en-US"/>
              <a:pPr>
                <a:defRPr/>
              </a:pPr>
              <a:t>March 21, 2020</a:t>
            </a:fld>
            <a:endParaRPr lang="en-US"/>
          </a:p>
        </p:txBody>
      </p:sp>
    </p:spTree>
    <p:extLst>
      <p:ext uri="{BB962C8B-B14F-4D97-AF65-F5344CB8AC3E}">
        <p14:creationId xmlns:p14="http://schemas.microsoft.com/office/powerpoint/2010/main" val="123669247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제목 및 내용">
    <p:spTree>
      <p:nvGrpSpPr>
        <p:cNvPr id="1" name=""/>
        <p:cNvGrpSpPr/>
        <p:nvPr/>
      </p:nvGrpSpPr>
      <p:grpSpPr>
        <a:xfrm>
          <a:off x="0" y="0"/>
          <a:ext cx="0" cy="0"/>
          <a:chOff x="0" y="0"/>
          <a:chExt cx="0" cy="0"/>
        </a:xfrm>
      </p:grpSpPr>
      <p:pic>
        <p:nvPicPr>
          <p:cNvPr id="3" name="그림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제목 1"/>
          <p:cNvSpPr>
            <a:spLocks noGrp="1"/>
          </p:cNvSpPr>
          <p:nvPr>
            <p:ph type="title"/>
          </p:nvPr>
        </p:nvSpPr>
        <p:spPr>
          <a:xfrm>
            <a:off x="302840" y="1614398"/>
            <a:ext cx="8229600" cy="1143000"/>
          </a:xfrm>
        </p:spPr>
        <p:txBody>
          <a:bodyPr/>
          <a:lstStyle>
            <a:lvl1pPr algn="l">
              <a:defRPr sz="4800">
                <a:solidFill>
                  <a:schemeClr val="bg1"/>
                </a:solidFill>
              </a:defRPr>
            </a:lvl1pPr>
          </a:lstStyle>
          <a:p>
            <a:r>
              <a:rPr lang="en-US" altLang="ko-KR"/>
              <a:t>Click to edit Master title style</a:t>
            </a:r>
            <a:endParaRPr lang="ko-KR" altLang="en-US" dirty="0"/>
          </a:p>
        </p:txBody>
      </p:sp>
    </p:spTree>
    <p:extLst>
      <p:ext uri="{BB962C8B-B14F-4D97-AF65-F5344CB8AC3E}">
        <p14:creationId xmlns:p14="http://schemas.microsoft.com/office/powerpoint/2010/main" val="4007670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구역 머리글">
    <p:spTree>
      <p:nvGrpSpPr>
        <p:cNvPr id="1" name=""/>
        <p:cNvGrpSpPr/>
        <p:nvPr/>
      </p:nvGrpSpPr>
      <p:grpSpPr>
        <a:xfrm>
          <a:off x="0" y="0"/>
          <a:ext cx="0" cy="0"/>
          <a:chOff x="0" y="0"/>
          <a:chExt cx="0" cy="0"/>
        </a:xfrm>
      </p:grpSpPr>
      <p:sp>
        <p:nvSpPr>
          <p:cNvPr id="4" name="Rectangle 3"/>
          <p:cNvSpPr/>
          <p:nvPr/>
        </p:nvSpPr>
        <p:spPr>
          <a:xfrm>
            <a:off x="-12700" y="1588"/>
            <a:ext cx="9156700" cy="350520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p:cNvSpPr/>
          <p:nvPr/>
        </p:nvSpPr>
        <p:spPr>
          <a:xfrm>
            <a:off x="-12700" y="3506788"/>
            <a:ext cx="9156700" cy="33528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제목 1"/>
          <p:cNvSpPr>
            <a:spLocks noGrp="1"/>
          </p:cNvSpPr>
          <p:nvPr>
            <p:ph type="title"/>
          </p:nvPr>
        </p:nvSpPr>
        <p:spPr>
          <a:xfrm>
            <a:off x="2298660" y="838200"/>
            <a:ext cx="4534272" cy="1102847"/>
          </a:xfrm>
        </p:spPr>
        <p:txBody>
          <a:bodyPr>
            <a:normAutofit/>
          </a:bodyPr>
          <a:lstStyle>
            <a:lvl1pPr algn="ctr">
              <a:defRPr sz="6000" b="1" cap="all">
                <a:solidFill>
                  <a:schemeClr val="bg1"/>
                </a:solidFill>
              </a:defRPr>
            </a:lvl1pPr>
          </a:lstStyle>
          <a:p>
            <a:r>
              <a:rPr lang="en-US" altLang="ko-KR"/>
              <a:t>Click to edit Master title style</a:t>
            </a:r>
            <a:endParaRPr lang="ko-KR" altLang="en-US" dirty="0"/>
          </a:p>
        </p:txBody>
      </p:sp>
      <p:sp>
        <p:nvSpPr>
          <p:cNvPr id="9" name="텍스트 개체 틀 8"/>
          <p:cNvSpPr>
            <a:spLocks noGrp="1"/>
          </p:cNvSpPr>
          <p:nvPr>
            <p:ph type="body" sz="quarter" idx="10"/>
          </p:nvPr>
        </p:nvSpPr>
        <p:spPr>
          <a:xfrm>
            <a:off x="2915444" y="4898440"/>
            <a:ext cx="3313112" cy="690800"/>
          </a:xfrm>
        </p:spPr>
        <p:txBody>
          <a:bodyPr>
            <a:normAutofit/>
          </a:bodyPr>
          <a:lstStyle>
            <a:lvl1pPr marL="0" indent="0" algn="ctr">
              <a:buNone/>
              <a:defRPr sz="1600" baseline="0">
                <a:solidFill>
                  <a:schemeClr val="bg1"/>
                </a:solidFill>
              </a:defRPr>
            </a:lvl1pPr>
          </a:lstStyle>
          <a:p>
            <a:pPr lvl="0"/>
            <a:r>
              <a:rPr lang="en-US" altLang="ko-KR"/>
              <a:t>Edit Master text styles</a:t>
            </a:r>
          </a:p>
        </p:txBody>
      </p:sp>
    </p:spTree>
    <p:extLst>
      <p:ext uri="{BB962C8B-B14F-4D97-AF65-F5344CB8AC3E}">
        <p14:creationId xmlns:p14="http://schemas.microsoft.com/office/powerpoint/2010/main" val="15323432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제목 개체 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텍스트 개체 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a:p>
            <a:pPr lvl="4"/>
            <a:endParaRPr lang="en-US" altLang="ko-KR"/>
          </a:p>
          <a:p>
            <a:pPr lvl="4"/>
            <a:endParaRPr lang="en-US" altLang="ko-KR"/>
          </a:p>
          <a:p>
            <a:pPr lvl="4"/>
            <a:endParaRPr lang="en-US" altLang="ko-KR"/>
          </a:p>
          <a:p>
            <a:pPr lvl="4"/>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43CE4450-5D2A-436F-B8D8-435C8CE3F92D}" type="datetime4">
              <a:rPr lang="en-US"/>
              <a:pPr>
                <a:defRPr/>
              </a:pPr>
              <a:t>March 21, 2020</a:t>
            </a:fld>
            <a:endParaRPr 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64D405EB-8F50-4888-B56C-BB64F1DE1AA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Lst>
  <p:transition spd="med">
    <p:fade/>
  </p:transition>
  <p:hf hdr="0" ftr="0"/>
  <p:txStyles>
    <p:titleStyle>
      <a:lvl1pPr algn="ctr" rtl="0" eaLnBrk="1" fontAlgn="base" latinLnBrk="1" hangingPunct="1">
        <a:spcBef>
          <a:spcPct val="0"/>
        </a:spcBef>
        <a:spcAft>
          <a:spcPct val="0"/>
        </a:spcAft>
        <a:defRPr sz="4400" kern="1200">
          <a:solidFill>
            <a:schemeClr val="tx1"/>
          </a:solidFill>
          <a:latin typeface="+mj-lt"/>
          <a:ea typeface="+mj-ea"/>
          <a:cs typeface="+mj-cs"/>
        </a:defRPr>
      </a:lvl1pPr>
      <a:lvl2pPr algn="ctr" rtl="0" eaLnBrk="1" fontAlgn="base" latinLnBrk="1" hangingPunct="1">
        <a:spcBef>
          <a:spcPct val="0"/>
        </a:spcBef>
        <a:spcAft>
          <a:spcPct val="0"/>
        </a:spcAft>
        <a:defRPr sz="4400">
          <a:solidFill>
            <a:schemeClr val="tx1"/>
          </a:solidFill>
          <a:latin typeface="맑은 고딕" panose="020B0503020000020004" pitchFamily="34" charset="-127"/>
        </a:defRPr>
      </a:lvl2pPr>
      <a:lvl3pPr algn="ctr" rtl="0" eaLnBrk="1" fontAlgn="base" latinLnBrk="1" hangingPunct="1">
        <a:spcBef>
          <a:spcPct val="0"/>
        </a:spcBef>
        <a:spcAft>
          <a:spcPct val="0"/>
        </a:spcAft>
        <a:defRPr sz="4400">
          <a:solidFill>
            <a:schemeClr val="tx1"/>
          </a:solidFill>
          <a:latin typeface="맑은 고딕" panose="020B0503020000020004" pitchFamily="34" charset="-127"/>
        </a:defRPr>
      </a:lvl3pPr>
      <a:lvl4pPr algn="ctr" rtl="0" eaLnBrk="1" fontAlgn="base" latinLnBrk="1" hangingPunct="1">
        <a:spcBef>
          <a:spcPct val="0"/>
        </a:spcBef>
        <a:spcAft>
          <a:spcPct val="0"/>
        </a:spcAft>
        <a:defRPr sz="4400">
          <a:solidFill>
            <a:schemeClr val="tx1"/>
          </a:solidFill>
          <a:latin typeface="맑은 고딕" panose="020B0503020000020004" pitchFamily="34" charset="-127"/>
        </a:defRPr>
      </a:lvl4pPr>
      <a:lvl5pPr algn="ctr" rtl="0" eaLnBrk="1" fontAlgn="base" latinLnBrk="1" hangingPunct="1">
        <a:spcBef>
          <a:spcPct val="0"/>
        </a:spcBef>
        <a:spcAft>
          <a:spcPct val="0"/>
        </a:spcAft>
        <a:defRPr sz="4400">
          <a:solidFill>
            <a:schemeClr val="tx1"/>
          </a:solidFill>
          <a:latin typeface="맑은 고딕" panose="020B0503020000020004" pitchFamily="34" charset="-127"/>
        </a:defRPr>
      </a:lvl5pPr>
      <a:lvl6pPr marL="457200" algn="ctr" rtl="0" eaLnBrk="1" fontAlgn="base" latinLnBrk="1" hangingPunct="1">
        <a:spcBef>
          <a:spcPct val="0"/>
        </a:spcBef>
        <a:spcAft>
          <a:spcPct val="0"/>
        </a:spcAft>
        <a:defRPr sz="4400">
          <a:solidFill>
            <a:schemeClr val="tx1"/>
          </a:solidFill>
          <a:latin typeface="맑은 고딕" panose="020B0503020000020004" pitchFamily="34" charset="-127"/>
        </a:defRPr>
      </a:lvl6pPr>
      <a:lvl7pPr marL="914400" algn="ctr" rtl="0" eaLnBrk="1" fontAlgn="base" latinLnBrk="1" hangingPunct="1">
        <a:spcBef>
          <a:spcPct val="0"/>
        </a:spcBef>
        <a:spcAft>
          <a:spcPct val="0"/>
        </a:spcAft>
        <a:defRPr sz="4400">
          <a:solidFill>
            <a:schemeClr val="tx1"/>
          </a:solidFill>
          <a:latin typeface="맑은 고딕" panose="020B0503020000020004" pitchFamily="34" charset="-127"/>
        </a:defRPr>
      </a:lvl7pPr>
      <a:lvl8pPr marL="1371600" algn="ctr" rtl="0" eaLnBrk="1" fontAlgn="base" latinLnBrk="1" hangingPunct="1">
        <a:spcBef>
          <a:spcPct val="0"/>
        </a:spcBef>
        <a:spcAft>
          <a:spcPct val="0"/>
        </a:spcAft>
        <a:defRPr sz="4400">
          <a:solidFill>
            <a:schemeClr val="tx1"/>
          </a:solidFill>
          <a:latin typeface="맑은 고딕" panose="020B0503020000020004" pitchFamily="34" charset="-127"/>
        </a:defRPr>
      </a:lvl8pPr>
      <a:lvl9pPr marL="1828800" algn="ctr" rtl="0" eaLnBrk="1" fontAlgn="base" latinLnBrk="1" hangingPunct="1">
        <a:spcBef>
          <a:spcPct val="0"/>
        </a:spcBef>
        <a:spcAft>
          <a:spcPct val="0"/>
        </a:spcAft>
        <a:defRPr sz="4400">
          <a:solidFill>
            <a:schemeClr val="tx1"/>
          </a:solidFill>
          <a:latin typeface="맑은 고딕" panose="020B0503020000020004" pitchFamily="34" charset="-127"/>
        </a:defRPr>
      </a:lvl9pPr>
    </p:titleStyle>
    <p:bodyStyle>
      <a:lvl1pPr marL="342900" indent="-342900" algn="l" rtl="0" eaLnBrk="1" fontAlgn="base" latinLnBrk="1"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latinLnBrk="1"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latinLnBrk="1"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latinLnBrk="1"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latinLnBrk="1"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rajib@ajou.ac.k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3"/>
          <p:cNvSpPr>
            <a:spLocks noGrp="1"/>
          </p:cNvSpPr>
          <p:nvPr>
            <p:ph type="ctrTitle"/>
          </p:nvPr>
        </p:nvSpPr>
        <p:spPr>
          <a:xfrm>
            <a:off x="685800" y="1752600"/>
            <a:ext cx="7772400" cy="1470025"/>
          </a:xfrm>
        </p:spPr>
        <p:txBody>
          <a:bodyPr/>
          <a:lstStyle/>
          <a:p>
            <a:r>
              <a:rPr lang="en-US" altLang="en-US" sz="4400" dirty="0">
                <a:latin typeface="Leelawadee UI" panose="020B0502040204020203" pitchFamily="34" charset="-34"/>
                <a:cs typeface="Leelawadee UI" panose="020B0502040204020203" pitchFamily="34" charset="-34"/>
              </a:rPr>
              <a:t>Concepts </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79388" y="301625"/>
            <a:ext cx="3478212" cy="692150"/>
          </a:xfrm>
        </p:spPr>
        <p:txBody>
          <a:bodyPr/>
          <a:lstStyle/>
          <a:p>
            <a:r>
              <a:rPr lang="en-US" altLang="en-US" b="1" dirty="0">
                <a:latin typeface="Calibri" panose="020F0502020204030204" pitchFamily="34" charset="0"/>
                <a:cs typeface="Calibri" panose="020F0502020204030204" pitchFamily="34" charset="0"/>
              </a:rPr>
              <a:t>Who Am I?</a:t>
            </a:r>
          </a:p>
        </p:txBody>
      </p:sp>
      <p:sp>
        <p:nvSpPr>
          <p:cNvPr id="4" name="Text Placeholder 2"/>
          <p:cNvSpPr>
            <a:spLocks noGrp="1"/>
          </p:cNvSpPr>
          <p:nvPr>
            <p:ph type="body" sz="quarter" idx="10"/>
          </p:nvPr>
        </p:nvSpPr>
        <p:spPr>
          <a:xfrm>
            <a:off x="323850" y="1171575"/>
            <a:ext cx="8496300" cy="5381625"/>
          </a:xfrm>
        </p:spPr>
        <p:txBody>
          <a:bodyPr rtlCol="0"/>
          <a:lstStyle/>
          <a:p>
            <a:r>
              <a:rPr lang="en-US" altLang="ko-KR" dirty="0"/>
              <a:t>Professor: </a:t>
            </a:r>
            <a:r>
              <a:rPr lang="en-US" altLang="ko-KR" dirty="0" err="1"/>
              <a:t>Rajib</a:t>
            </a:r>
            <a:r>
              <a:rPr lang="en-US" altLang="ko-KR" dirty="0"/>
              <a:t> Paul (PhD)</a:t>
            </a:r>
          </a:p>
          <a:p>
            <a:pPr lvl="1"/>
            <a:r>
              <a:rPr lang="en-US" altLang="ko-KR" dirty="0"/>
              <a:t>Email</a:t>
            </a:r>
            <a:r>
              <a:rPr lang="en-US" altLang="ko-KR" dirty="0">
                <a:solidFill>
                  <a:srgbClr val="7030A0"/>
                </a:solidFill>
              </a:rPr>
              <a:t>: </a:t>
            </a:r>
            <a:r>
              <a:rPr lang="en-US" altLang="ko-KR" dirty="0">
                <a:solidFill>
                  <a:srgbClr val="7030A0"/>
                </a:solidFill>
                <a:hlinkClick r:id="rId2"/>
              </a:rPr>
              <a:t>rajib@ajou.ac.kr</a:t>
            </a:r>
            <a:endParaRPr lang="en-US" altLang="ko-KR" dirty="0">
              <a:solidFill>
                <a:srgbClr val="7030A0"/>
              </a:solidFill>
            </a:endParaRPr>
          </a:p>
          <a:p>
            <a:pPr lvl="1"/>
            <a:r>
              <a:rPr lang="en-US" altLang="ko-KR" dirty="0"/>
              <a:t>School: Masters + PhD, </a:t>
            </a:r>
            <a:r>
              <a:rPr lang="en-US" altLang="ko-KR" dirty="0" err="1"/>
              <a:t>Ajou</a:t>
            </a:r>
            <a:r>
              <a:rPr lang="en-US" altLang="ko-KR" dirty="0"/>
              <a:t> University</a:t>
            </a:r>
          </a:p>
          <a:p>
            <a:pPr lvl="1"/>
            <a:r>
              <a:rPr lang="en-US" altLang="ko-KR" dirty="0"/>
              <a:t>Office: </a:t>
            </a:r>
            <a:r>
              <a:rPr lang="en-US" altLang="ko-KR" dirty="0" err="1">
                <a:solidFill>
                  <a:srgbClr val="7030A0"/>
                </a:solidFill>
              </a:rPr>
              <a:t>Paldall</a:t>
            </a:r>
            <a:r>
              <a:rPr lang="en-US" altLang="ko-KR" dirty="0">
                <a:solidFill>
                  <a:srgbClr val="7030A0"/>
                </a:solidFill>
              </a:rPr>
              <a:t> Hall #1011</a:t>
            </a:r>
          </a:p>
          <a:p>
            <a:pPr lvl="1"/>
            <a:r>
              <a:rPr lang="en-US" altLang="ko-KR" dirty="0"/>
              <a:t>Visiting hours: </a:t>
            </a:r>
            <a:r>
              <a:rPr lang="en-US" altLang="ko-KR" dirty="0">
                <a:solidFill>
                  <a:srgbClr val="7030A0"/>
                </a:solidFill>
              </a:rPr>
              <a:t>Not decided yet</a:t>
            </a:r>
          </a:p>
        </p:txBody>
      </p:sp>
      <p:sp>
        <p:nvSpPr>
          <p:cNvPr id="3" name="Date Placeholder 2"/>
          <p:cNvSpPr>
            <a:spLocks noGrp="1"/>
          </p:cNvSpPr>
          <p:nvPr>
            <p:ph type="dt" sz="quarter" idx="12"/>
          </p:nvPr>
        </p:nvSpPr>
        <p:spPr/>
        <p:txBody>
          <a:bodyPr/>
          <a:lstStyle/>
          <a:p>
            <a:pPr>
              <a:defRPr/>
            </a:pPr>
            <a:fld id="{41AC9DD8-3696-D24F-A481-2B5485C958B6}" type="datetime4">
              <a:rPr lang="en-US"/>
              <a:pPr>
                <a:defRPr/>
              </a:pPr>
              <a:t>March 21, 2020</a:t>
            </a:fld>
            <a:endParaRPr lang="en-US"/>
          </a:p>
        </p:txBody>
      </p:sp>
      <p:sp>
        <p:nvSpPr>
          <p:cNvPr id="56" name="Slide Number Placeholder 55"/>
          <p:cNvSpPr>
            <a:spLocks noGrp="1"/>
          </p:cNvSpPr>
          <p:nvPr>
            <p:ph type="sldNum" sz="quarter" idx="11"/>
          </p:nvPr>
        </p:nvSpPr>
        <p:spPr/>
        <p:txBody>
          <a:bodyPr/>
          <a:lstStyle/>
          <a:p>
            <a:pPr>
              <a:defRPr/>
            </a:pPr>
            <a:fld id="{FA4F792D-6E83-4DD3-ACF8-1E6E35718706}" type="slidenum">
              <a:rPr lang="en-US"/>
              <a:pPr>
                <a:defRPr/>
              </a:pPr>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4163888" cy="691277"/>
          </a:xfrm>
        </p:spPr>
        <p:txBody>
          <a:bodyPr/>
          <a:lstStyle/>
          <a:p>
            <a:r>
              <a:rPr lang="en-US" dirty="0"/>
              <a:t>My Thoughts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pic>
        <p:nvPicPr>
          <p:cNvPr id="6"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7800" y="2532063"/>
            <a:ext cx="24003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1813" y="1066801"/>
            <a:ext cx="952500" cy="833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5"/>
          <p:cNvSpPr>
            <a:spLocks noChangeArrowheads="1"/>
          </p:cNvSpPr>
          <p:nvPr/>
        </p:nvSpPr>
        <p:spPr bwMode="auto">
          <a:xfrm>
            <a:off x="0" y="5657850"/>
            <a:ext cx="777557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dirty="0"/>
              <a:t>I </a:t>
            </a:r>
            <a:r>
              <a:rPr lang="en-US" sz="2000" dirty="0"/>
              <a:t>reserve the right to </a:t>
            </a:r>
            <a:r>
              <a:rPr lang="en-US" sz="2000" dirty="0">
                <a:solidFill>
                  <a:srgbClr val="6600CC"/>
                </a:solidFill>
              </a:rPr>
              <a:t>wait until</a:t>
            </a:r>
            <a:br>
              <a:rPr lang="en-US" sz="2000" dirty="0">
                <a:solidFill>
                  <a:srgbClr val="6600CC"/>
                </a:solidFill>
              </a:rPr>
            </a:br>
            <a:r>
              <a:rPr lang="en-US" sz="2000" dirty="0">
                <a:solidFill>
                  <a:srgbClr val="6600CC"/>
                </a:solidFill>
              </a:rPr>
              <a:t>office hours</a:t>
            </a:r>
            <a:r>
              <a:rPr lang="en-US" sz="2000" dirty="0"/>
              <a:t> to answer advanced questions.</a:t>
            </a:r>
          </a:p>
        </p:txBody>
      </p:sp>
      <p:sp>
        <p:nvSpPr>
          <p:cNvPr id="9" name="Rectangle 9"/>
          <p:cNvSpPr>
            <a:spLocks noChangeArrowheads="1"/>
          </p:cNvSpPr>
          <p:nvPr/>
        </p:nvSpPr>
        <p:spPr bwMode="auto">
          <a:xfrm>
            <a:off x="1736725" y="1274763"/>
            <a:ext cx="73279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t>It’s more important that </a:t>
            </a:r>
            <a:r>
              <a:rPr lang="en-US" sz="2000" dirty="0">
                <a:solidFill>
                  <a:srgbClr val="6600CC"/>
                </a:solidFill>
              </a:rPr>
              <a:t>everyone understand</a:t>
            </a:r>
            <a:r>
              <a:rPr lang="en-US" sz="2000" dirty="0"/>
              <a:t> </a:t>
            </a:r>
            <a:br>
              <a:rPr lang="en-US" sz="2000" dirty="0"/>
            </a:br>
            <a:r>
              <a:rPr lang="en-US" sz="2000" dirty="0"/>
              <a:t>a topic than I </a:t>
            </a:r>
            <a:r>
              <a:rPr lang="en-US" sz="2000" dirty="0">
                <a:solidFill>
                  <a:srgbClr val="6600CC"/>
                </a:solidFill>
              </a:rPr>
              <a:t>finish a lecture on time</a:t>
            </a:r>
            <a:r>
              <a:rPr lang="en-US" sz="2000" dirty="0"/>
              <a:t>.</a:t>
            </a:r>
          </a:p>
        </p:txBody>
      </p:sp>
      <p:sp>
        <p:nvSpPr>
          <p:cNvPr id="10" name="Rectangle 10"/>
          <p:cNvSpPr>
            <a:spLocks noChangeArrowheads="1"/>
          </p:cNvSpPr>
          <p:nvPr/>
        </p:nvSpPr>
        <p:spPr bwMode="auto">
          <a:xfrm>
            <a:off x="339725" y="2401888"/>
            <a:ext cx="61087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t>Don’t be shy!!!</a:t>
            </a:r>
          </a:p>
          <a:p>
            <a:pPr algn="ctr"/>
            <a:r>
              <a:rPr lang="en-US" sz="2000" dirty="0"/>
              <a:t>If something </a:t>
            </a:r>
            <a:r>
              <a:rPr lang="en-US" sz="2000" dirty="0">
                <a:solidFill>
                  <a:srgbClr val="6600CC"/>
                </a:solidFill>
              </a:rPr>
              <a:t>confuses you</a:t>
            </a:r>
            <a:r>
              <a:rPr lang="en-US" sz="2000" dirty="0"/>
              <a:t>…</a:t>
            </a:r>
          </a:p>
        </p:txBody>
      </p:sp>
      <p:sp>
        <p:nvSpPr>
          <p:cNvPr id="11" name="AutoShape 15"/>
          <p:cNvSpPr>
            <a:spLocks noChangeArrowheads="1"/>
          </p:cNvSpPr>
          <p:nvPr/>
        </p:nvSpPr>
        <p:spPr bwMode="auto">
          <a:xfrm>
            <a:off x="7189788" y="2087563"/>
            <a:ext cx="1714500" cy="698500"/>
          </a:xfrm>
          <a:prstGeom prst="cloudCallout">
            <a:avLst>
              <a:gd name="adj1" fmla="val -55185"/>
              <a:gd name="adj2" fmla="val 9840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200"/>
              <a:t>Blah blah blah blah blah</a:t>
            </a:r>
          </a:p>
        </p:txBody>
      </p:sp>
      <p:sp>
        <p:nvSpPr>
          <p:cNvPr id="12" name="Text Box 13"/>
          <p:cNvSpPr txBox="1">
            <a:spLocks noChangeArrowheads="1"/>
          </p:cNvSpPr>
          <p:nvPr/>
        </p:nvSpPr>
        <p:spPr bwMode="auto">
          <a:xfrm>
            <a:off x="7923213" y="2381250"/>
            <a:ext cx="5826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6000">
                <a:solidFill>
                  <a:srgbClr val="FF3300"/>
                </a:solidFill>
              </a:rPr>
              <a:t>?</a:t>
            </a:r>
          </a:p>
        </p:txBody>
      </p:sp>
      <p:sp>
        <p:nvSpPr>
          <p:cNvPr id="13" name="Rectangle 16"/>
          <p:cNvSpPr>
            <a:spLocks noChangeArrowheads="1"/>
          </p:cNvSpPr>
          <p:nvPr/>
        </p:nvSpPr>
        <p:spPr bwMode="auto">
          <a:xfrm>
            <a:off x="731115" y="3257359"/>
            <a:ext cx="49217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dirty="0"/>
              <a:t>it probably </a:t>
            </a:r>
            <a:r>
              <a:rPr lang="en-US" sz="2000" dirty="0">
                <a:solidFill>
                  <a:srgbClr val="6600CC"/>
                </a:solidFill>
              </a:rPr>
              <a:t>confuses 5 other people</a:t>
            </a:r>
            <a:r>
              <a:rPr lang="en-US" sz="2000" dirty="0"/>
              <a:t> too.</a:t>
            </a:r>
          </a:p>
        </p:txBody>
      </p:sp>
      <p:sp>
        <p:nvSpPr>
          <p:cNvPr id="14" name="Text Box 17"/>
          <p:cNvSpPr txBox="1">
            <a:spLocks noChangeArrowheads="1"/>
          </p:cNvSpPr>
          <p:nvPr/>
        </p:nvSpPr>
        <p:spPr bwMode="auto">
          <a:xfrm>
            <a:off x="8304213" y="2674938"/>
            <a:ext cx="5826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6000">
                <a:solidFill>
                  <a:srgbClr val="FF3300"/>
                </a:solidFill>
              </a:rPr>
              <a:t>?</a:t>
            </a:r>
          </a:p>
        </p:txBody>
      </p:sp>
      <p:sp>
        <p:nvSpPr>
          <p:cNvPr id="15" name="Text Box 18"/>
          <p:cNvSpPr txBox="1">
            <a:spLocks noChangeArrowheads="1"/>
          </p:cNvSpPr>
          <p:nvPr/>
        </p:nvSpPr>
        <p:spPr bwMode="auto">
          <a:xfrm>
            <a:off x="7253288" y="2403475"/>
            <a:ext cx="5826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6000">
                <a:solidFill>
                  <a:srgbClr val="FF3300"/>
                </a:solidFill>
              </a:rPr>
              <a:t>?</a:t>
            </a:r>
          </a:p>
        </p:txBody>
      </p:sp>
      <p:sp>
        <p:nvSpPr>
          <p:cNvPr id="16" name="Text Box 19"/>
          <p:cNvSpPr txBox="1">
            <a:spLocks noChangeArrowheads="1"/>
          </p:cNvSpPr>
          <p:nvPr/>
        </p:nvSpPr>
        <p:spPr bwMode="auto">
          <a:xfrm>
            <a:off x="8628063" y="2416175"/>
            <a:ext cx="5826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6000">
                <a:solidFill>
                  <a:srgbClr val="FF3300"/>
                </a:solidFill>
              </a:rPr>
              <a:t>?</a:t>
            </a:r>
          </a:p>
        </p:txBody>
      </p:sp>
      <p:sp>
        <p:nvSpPr>
          <p:cNvPr id="17" name="Text Box 20"/>
          <p:cNvSpPr txBox="1">
            <a:spLocks noChangeArrowheads="1"/>
          </p:cNvSpPr>
          <p:nvPr/>
        </p:nvSpPr>
        <p:spPr bwMode="auto">
          <a:xfrm>
            <a:off x="7737475" y="2616200"/>
            <a:ext cx="5826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6000">
                <a:solidFill>
                  <a:srgbClr val="FF3300"/>
                </a:solidFill>
              </a:rPr>
              <a:t>?</a:t>
            </a:r>
          </a:p>
        </p:txBody>
      </p:sp>
      <p:sp>
        <p:nvSpPr>
          <p:cNvPr id="18" name="Rectangle 21"/>
          <p:cNvSpPr>
            <a:spLocks noChangeArrowheads="1"/>
          </p:cNvSpPr>
          <p:nvPr/>
        </p:nvSpPr>
        <p:spPr bwMode="auto">
          <a:xfrm>
            <a:off x="149225" y="3687763"/>
            <a:ext cx="63801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t>So </a:t>
            </a:r>
            <a:r>
              <a:rPr lang="en-US" sz="2000" dirty="0">
                <a:solidFill>
                  <a:srgbClr val="6600CC"/>
                </a:solidFill>
              </a:rPr>
              <a:t>always ask questions </a:t>
            </a:r>
            <a:r>
              <a:rPr lang="en-US" sz="2000" dirty="0"/>
              <a:t>if you’re confused!</a:t>
            </a:r>
          </a:p>
        </p:txBody>
      </p:sp>
      <p:sp>
        <p:nvSpPr>
          <p:cNvPr id="19" name="Rectangle 22"/>
          <p:cNvSpPr>
            <a:spLocks noChangeArrowheads="1"/>
          </p:cNvSpPr>
          <p:nvPr/>
        </p:nvSpPr>
        <p:spPr bwMode="auto">
          <a:xfrm>
            <a:off x="1898650" y="4641850"/>
            <a:ext cx="57467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t>Always save more </a:t>
            </a:r>
            <a:r>
              <a:rPr lang="en-US" sz="2000" dirty="0">
                <a:solidFill>
                  <a:srgbClr val="6600CC"/>
                </a:solidFill>
              </a:rPr>
              <a:t>advanced questions</a:t>
            </a:r>
            <a:r>
              <a:rPr lang="en-US" sz="2000" dirty="0"/>
              <a:t> for office hours or break.</a:t>
            </a:r>
          </a:p>
        </p:txBody>
      </p:sp>
      <p:pic>
        <p:nvPicPr>
          <p:cNvPr id="20"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6775" y="5260975"/>
            <a:ext cx="17557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350" y="1158875"/>
            <a:ext cx="1492250" cy="1498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Line 29"/>
          <p:cNvSpPr>
            <a:spLocks noChangeShapeType="1"/>
          </p:cNvSpPr>
          <p:nvPr/>
        </p:nvSpPr>
        <p:spPr bwMode="auto">
          <a:xfrm>
            <a:off x="438150" y="1082675"/>
            <a:ext cx="1614488" cy="1622425"/>
          </a:xfrm>
          <a:prstGeom prst="line">
            <a:avLst/>
          </a:prstGeom>
          <a:noFill/>
          <a:ln w="1270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54697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down)">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down)">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down)">
                                      <p:cBhvr>
                                        <p:cTn id="29" dur="500"/>
                                        <p:tgtEl>
                                          <p:spTgt spid="12"/>
                                        </p:tgtEl>
                                      </p:cBhvr>
                                    </p:animEffect>
                                  </p:childTnLst>
                                </p:cTn>
                              </p:par>
                              <p:par>
                                <p:cTn id="30" presetID="1" presetClass="exit" presetSubtype="0" fill="hold" grpId="1" nodeType="withEffect">
                                  <p:stCondLst>
                                    <p:cond delay="0"/>
                                  </p:stCondLst>
                                  <p:childTnLst>
                                    <p:set>
                                      <p:cBhvr>
                                        <p:cTn id="31" dur="1" fill="hold">
                                          <p:stCondLst>
                                            <p:cond delay="0"/>
                                          </p:stCondLst>
                                        </p:cTn>
                                        <p:tgtEl>
                                          <p:spTgt spid="11"/>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down)">
                                      <p:cBhvr>
                                        <p:cTn id="43" dur="500"/>
                                        <p:tgtEl>
                                          <p:spTgt spid="15"/>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down)">
                                      <p:cBhvr>
                                        <p:cTn id="46" dur="500"/>
                                        <p:tgtEl>
                                          <p:spTgt spid="16"/>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down)">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1" grpId="1" animBg="1"/>
      <p:bldP spid="12" grpId="0"/>
      <p:bldP spid="13" grpId="0"/>
      <p:bldP spid="14" grpId="0"/>
      <p:bldP spid="15" grpId="0"/>
      <p:bldP spid="16" grpId="0"/>
      <p:bldP spid="17" grpId="0"/>
      <p:bldP spid="18" grpId="0"/>
      <p:bldP spid="19" grpId="0"/>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4468688" cy="691277"/>
          </a:xfrm>
        </p:spPr>
        <p:txBody>
          <a:bodyPr/>
          <a:lstStyle/>
          <a:p>
            <a:r>
              <a:rPr lang="en-US" sz="4400" dirty="0"/>
              <a:t>Thoughts on CS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4</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Box 5">
            <a:extLst>
              <a:ext uri="{FF2B5EF4-FFF2-40B4-BE49-F238E27FC236}">
                <a16:creationId xmlns:a16="http://schemas.microsoft.com/office/drawing/2014/main" id="{4E192A9F-3A14-418F-949C-1AE358E4ABCA}"/>
              </a:ext>
            </a:extLst>
          </p:cNvPr>
          <p:cNvSpPr txBox="1"/>
          <p:nvPr/>
        </p:nvSpPr>
        <p:spPr>
          <a:xfrm>
            <a:off x="628212" y="3937003"/>
            <a:ext cx="7901533" cy="400110"/>
          </a:xfrm>
          <a:prstGeom prst="rect">
            <a:avLst/>
          </a:prstGeom>
          <a:noFill/>
        </p:spPr>
        <p:txBody>
          <a:bodyPr wrap="square" rtlCol="0">
            <a:spAutoFit/>
          </a:bodyPr>
          <a:lstStyle/>
          <a:p>
            <a:pPr algn="ctr"/>
            <a:r>
              <a:rPr lang="en-US" sz="2000" dirty="0"/>
              <a:t>Don’t freak out if you’re in the latter camp.</a:t>
            </a:r>
          </a:p>
        </p:txBody>
      </p:sp>
      <p:sp>
        <p:nvSpPr>
          <p:cNvPr id="7" name="TextBox 6">
            <a:extLst>
              <a:ext uri="{FF2B5EF4-FFF2-40B4-BE49-F238E27FC236}">
                <a16:creationId xmlns:a16="http://schemas.microsoft.com/office/drawing/2014/main" id="{E918CBC1-80EC-473E-B114-9D65F2288B5B}"/>
              </a:ext>
            </a:extLst>
          </p:cNvPr>
          <p:cNvSpPr txBox="1"/>
          <p:nvPr/>
        </p:nvSpPr>
        <p:spPr>
          <a:xfrm>
            <a:off x="685800" y="4624801"/>
            <a:ext cx="7901533" cy="707886"/>
          </a:xfrm>
          <a:prstGeom prst="rect">
            <a:avLst/>
          </a:prstGeom>
          <a:noFill/>
        </p:spPr>
        <p:txBody>
          <a:bodyPr wrap="square" rtlCol="0">
            <a:spAutoFit/>
          </a:bodyPr>
          <a:lstStyle/>
          <a:p>
            <a:pPr algn="ctr"/>
            <a:r>
              <a:rPr lang="en-US" sz="2000" dirty="0"/>
              <a:t>If you enjoy coding… </a:t>
            </a:r>
            <a:r>
              <a:rPr lang="en-US" sz="2000" dirty="0">
                <a:solidFill>
                  <a:schemeClr val="accent1">
                    <a:lumMod val="75000"/>
                  </a:schemeClr>
                </a:solidFill>
              </a:rPr>
              <a:t>don’t give up</a:t>
            </a:r>
            <a:r>
              <a:rPr lang="en-US" sz="2000" dirty="0"/>
              <a:t>, </a:t>
            </a:r>
            <a:r>
              <a:rPr lang="en-US" sz="2000" dirty="0">
                <a:solidFill>
                  <a:schemeClr val="accent1">
                    <a:lumMod val="75000"/>
                  </a:schemeClr>
                </a:solidFill>
              </a:rPr>
              <a:t>don’t worry about your grade</a:t>
            </a:r>
            <a:r>
              <a:rPr lang="en-US" sz="2000" dirty="0"/>
              <a:t>, just </a:t>
            </a:r>
            <a:r>
              <a:rPr lang="en-US" sz="2000" dirty="0">
                <a:solidFill>
                  <a:srgbClr val="7030A0"/>
                </a:solidFill>
              </a:rPr>
              <a:t>practice </a:t>
            </a:r>
            <a:r>
              <a:rPr lang="en-US" sz="2000" dirty="0"/>
              <a:t>and</a:t>
            </a:r>
            <a:r>
              <a:rPr lang="en-US" sz="2000" dirty="0">
                <a:solidFill>
                  <a:srgbClr val="7030A0"/>
                </a:solidFill>
              </a:rPr>
              <a:t> practice </a:t>
            </a:r>
            <a:r>
              <a:rPr lang="en-US" sz="2000" dirty="0"/>
              <a:t>and </a:t>
            </a:r>
            <a:r>
              <a:rPr lang="en-US" sz="2000" dirty="0">
                <a:solidFill>
                  <a:srgbClr val="7030A0"/>
                </a:solidFill>
              </a:rPr>
              <a:t>practice.</a:t>
            </a:r>
          </a:p>
        </p:txBody>
      </p:sp>
      <p:sp>
        <p:nvSpPr>
          <p:cNvPr id="8" name="TextBox 7">
            <a:extLst>
              <a:ext uri="{FF2B5EF4-FFF2-40B4-BE49-F238E27FC236}">
                <a16:creationId xmlns:a16="http://schemas.microsoft.com/office/drawing/2014/main" id="{5DD08E12-08CB-4D20-9E6C-42D8ECB8DC30}"/>
              </a:ext>
            </a:extLst>
          </p:cNvPr>
          <p:cNvSpPr txBox="1"/>
          <p:nvPr/>
        </p:nvSpPr>
        <p:spPr>
          <a:xfrm>
            <a:off x="685800" y="5711794"/>
            <a:ext cx="7901533" cy="707886"/>
          </a:xfrm>
          <a:prstGeom prst="rect">
            <a:avLst/>
          </a:prstGeom>
          <a:noFill/>
        </p:spPr>
        <p:txBody>
          <a:bodyPr wrap="square" rtlCol="0">
            <a:spAutoFit/>
          </a:bodyPr>
          <a:lstStyle/>
          <a:p>
            <a:pPr algn="ctr"/>
            <a:r>
              <a:rPr lang="en-US" sz="2000" dirty="0"/>
              <a:t>There’s nothing more important than </a:t>
            </a:r>
            <a:r>
              <a:rPr lang="en-US" sz="2000" dirty="0">
                <a:solidFill>
                  <a:srgbClr val="FF0000"/>
                </a:solidFill>
              </a:rPr>
              <a:t>grit</a:t>
            </a:r>
            <a:r>
              <a:rPr lang="en-US" sz="2000" dirty="0"/>
              <a:t> when it comes to programming.</a:t>
            </a:r>
          </a:p>
        </p:txBody>
      </p:sp>
      <p:grpSp>
        <p:nvGrpSpPr>
          <p:cNvPr id="9" name="Group 8">
            <a:extLst>
              <a:ext uri="{FF2B5EF4-FFF2-40B4-BE49-F238E27FC236}">
                <a16:creationId xmlns:a16="http://schemas.microsoft.com/office/drawing/2014/main" id="{C53D2240-7F24-4A45-A29D-0C02FB3D5404}"/>
              </a:ext>
            </a:extLst>
          </p:cNvPr>
          <p:cNvGrpSpPr/>
          <p:nvPr/>
        </p:nvGrpSpPr>
        <p:grpSpPr>
          <a:xfrm>
            <a:off x="105283" y="1044714"/>
            <a:ext cx="3797203" cy="2515607"/>
            <a:chOff x="105283" y="1044714"/>
            <a:chExt cx="3797203" cy="2515607"/>
          </a:xfrm>
        </p:grpSpPr>
        <p:sp>
          <p:nvSpPr>
            <p:cNvPr id="10" name="TextBox 9">
              <a:extLst>
                <a:ext uri="{FF2B5EF4-FFF2-40B4-BE49-F238E27FC236}">
                  <a16:creationId xmlns:a16="http://schemas.microsoft.com/office/drawing/2014/main" id="{A4BE800D-F366-48E3-9560-3C0A4419D701}"/>
                </a:ext>
              </a:extLst>
            </p:cNvPr>
            <p:cNvSpPr txBox="1"/>
            <p:nvPr/>
          </p:nvSpPr>
          <p:spPr>
            <a:xfrm>
              <a:off x="105283" y="1044714"/>
              <a:ext cx="3797203" cy="707886"/>
            </a:xfrm>
            <a:prstGeom prst="rect">
              <a:avLst/>
            </a:prstGeom>
            <a:noFill/>
          </p:spPr>
          <p:txBody>
            <a:bodyPr wrap="square" rtlCol="0">
              <a:spAutoFit/>
            </a:bodyPr>
            <a:lstStyle/>
            <a:p>
              <a:pPr algn="ctr"/>
              <a:r>
                <a:rPr lang="en-US" sz="2000" dirty="0"/>
                <a:t>Some people just “get” programming… </a:t>
              </a:r>
            </a:p>
          </p:txBody>
        </p:sp>
        <p:pic>
          <p:nvPicPr>
            <p:cNvPr id="11" name="Picture 10">
              <a:extLst>
                <a:ext uri="{FF2B5EF4-FFF2-40B4-BE49-F238E27FC236}">
                  <a16:creationId xmlns:a16="http://schemas.microsoft.com/office/drawing/2014/main" id="{FECD4AC6-A64C-4D51-B28A-F4AE05030E14}"/>
                </a:ext>
              </a:extLst>
            </p:cNvPr>
            <p:cNvPicPr>
              <a:picLocks noChangeAspect="1"/>
            </p:cNvPicPr>
            <p:nvPr/>
          </p:nvPicPr>
          <p:blipFill>
            <a:blip r:embed="rId2"/>
            <a:stretch>
              <a:fillRect/>
            </a:stretch>
          </p:blipFill>
          <p:spPr>
            <a:xfrm>
              <a:off x="873662" y="1792992"/>
              <a:ext cx="2225526" cy="17673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2" name="Group 11">
            <a:extLst>
              <a:ext uri="{FF2B5EF4-FFF2-40B4-BE49-F238E27FC236}">
                <a16:creationId xmlns:a16="http://schemas.microsoft.com/office/drawing/2014/main" id="{A10ABBD4-BC30-4313-A4C2-8E2C1C7C823E}"/>
              </a:ext>
            </a:extLst>
          </p:cNvPr>
          <p:cNvGrpSpPr/>
          <p:nvPr/>
        </p:nvGrpSpPr>
        <p:grpSpPr>
          <a:xfrm>
            <a:off x="4733706" y="1044714"/>
            <a:ext cx="3853626" cy="2504890"/>
            <a:chOff x="4733706" y="1044714"/>
            <a:chExt cx="3853626" cy="2504890"/>
          </a:xfrm>
        </p:grpSpPr>
        <p:sp>
          <p:nvSpPr>
            <p:cNvPr id="13" name="TextBox 12">
              <a:extLst>
                <a:ext uri="{FF2B5EF4-FFF2-40B4-BE49-F238E27FC236}">
                  <a16:creationId xmlns:a16="http://schemas.microsoft.com/office/drawing/2014/main" id="{A85656DA-EE4B-49D5-BD7A-5D8CF6E7C456}"/>
                </a:ext>
              </a:extLst>
            </p:cNvPr>
            <p:cNvSpPr txBox="1"/>
            <p:nvPr/>
          </p:nvSpPr>
          <p:spPr>
            <a:xfrm>
              <a:off x="4733706" y="1044714"/>
              <a:ext cx="3853626" cy="707886"/>
            </a:xfrm>
            <a:prstGeom prst="rect">
              <a:avLst/>
            </a:prstGeom>
            <a:noFill/>
          </p:spPr>
          <p:txBody>
            <a:bodyPr wrap="square" rtlCol="0">
              <a:spAutoFit/>
            </a:bodyPr>
            <a:lstStyle/>
            <a:p>
              <a:pPr algn="ctr"/>
              <a:r>
                <a:rPr lang="en-US" sz="2000" dirty="0"/>
                <a:t>Others need to work hours and hours on it…</a:t>
              </a:r>
            </a:p>
          </p:txBody>
        </p:sp>
        <p:pic>
          <p:nvPicPr>
            <p:cNvPr id="14" name="Picture 13">
              <a:extLst>
                <a:ext uri="{FF2B5EF4-FFF2-40B4-BE49-F238E27FC236}">
                  <a16:creationId xmlns:a16="http://schemas.microsoft.com/office/drawing/2014/main" id="{E3AA37E5-63CB-432B-906D-91810BFE0F16}"/>
                </a:ext>
              </a:extLst>
            </p:cNvPr>
            <p:cNvPicPr>
              <a:picLocks noChangeAspect="1"/>
            </p:cNvPicPr>
            <p:nvPr/>
          </p:nvPicPr>
          <p:blipFill>
            <a:blip r:embed="rId3"/>
            <a:stretch>
              <a:fillRect/>
            </a:stretch>
          </p:blipFill>
          <p:spPr>
            <a:xfrm>
              <a:off x="5444452" y="1788951"/>
              <a:ext cx="2432133" cy="17606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Tree>
    <p:extLst>
      <p:ext uri="{BB962C8B-B14F-4D97-AF65-F5344CB8AC3E}">
        <p14:creationId xmlns:p14="http://schemas.microsoft.com/office/powerpoint/2010/main" val="327726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1" y="302400"/>
            <a:ext cx="6173089" cy="691277"/>
          </a:xfrm>
        </p:spPr>
        <p:txBody>
          <a:bodyPr/>
          <a:lstStyle/>
          <a:p>
            <a:r>
              <a:rPr lang="en-US" sz="4400" dirty="0"/>
              <a:t>Use me as A Resource!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5</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Box 5"/>
          <p:cNvSpPr txBox="1"/>
          <p:nvPr/>
        </p:nvSpPr>
        <p:spPr>
          <a:xfrm>
            <a:off x="31348" y="1275823"/>
            <a:ext cx="9112652" cy="830997"/>
          </a:xfrm>
          <a:prstGeom prst="rect">
            <a:avLst/>
          </a:prstGeom>
          <a:noFill/>
        </p:spPr>
        <p:txBody>
          <a:bodyPr wrap="square" rtlCol="0">
            <a:spAutoFit/>
          </a:bodyPr>
          <a:lstStyle/>
          <a:p>
            <a:pPr algn="ctr"/>
            <a:r>
              <a:rPr lang="en-US" sz="2400" dirty="0"/>
              <a:t>If you’re </a:t>
            </a:r>
            <a:r>
              <a:rPr lang="en-US" sz="2400" dirty="0">
                <a:solidFill>
                  <a:srgbClr val="FF0000"/>
                </a:solidFill>
              </a:rPr>
              <a:t>struggling with projects</a:t>
            </a:r>
            <a:r>
              <a:rPr lang="en-US" sz="2400" dirty="0"/>
              <a:t>,</a:t>
            </a:r>
            <a:r>
              <a:rPr lang="en-US" sz="2400" dirty="0">
                <a:solidFill>
                  <a:srgbClr val="FF0000"/>
                </a:solidFill>
              </a:rPr>
              <a:t> stressing out on exams</a:t>
            </a:r>
            <a:r>
              <a:rPr lang="en-US" sz="2400" dirty="0"/>
              <a:t>,</a:t>
            </a:r>
            <a:r>
              <a:rPr lang="en-US" sz="2400" dirty="0">
                <a:solidFill>
                  <a:srgbClr val="FF0000"/>
                </a:solidFill>
              </a:rPr>
              <a:t> not getting the material</a:t>
            </a:r>
            <a:r>
              <a:rPr lang="en-US" sz="2400" dirty="0"/>
              <a:t>,</a:t>
            </a:r>
            <a:r>
              <a:rPr lang="en-US" sz="2400" dirty="0">
                <a:solidFill>
                  <a:srgbClr val="FF0000"/>
                </a:solidFill>
              </a:rPr>
              <a:t> </a:t>
            </a:r>
            <a:r>
              <a:rPr lang="en-US" sz="2400" dirty="0"/>
              <a:t>or just need some advice about life.</a:t>
            </a:r>
          </a:p>
        </p:txBody>
      </p:sp>
      <p:sp>
        <p:nvSpPr>
          <p:cNvPr id="7" name="TextBox 6"/>
          <p:cNvSpPr txBox="1"/>
          <p:nvPr/>
        </p:nvSpPr>
        <p:spPr>
          <a:xfrm>
            <a:off x="181522" y="2665178"/>
            <a:ext cx="8794376" cy="1569660"/>
          </a:xfrm>
          <a:prstGeom prst="rect">
            <a:avLst/>
          </a:prstGeom>
          <a:noFill/>
        </p:spPr>
        <p:txBody>
          <a:bodyPr wrap="square" rtlCol="0">
            <a:spAutoFit/>
          </a:bodyPr>
          <a:lstStyle/>
          <a:p>
            <a:pPr algn="ctr"/>
            <a:r>
              <a:rPr lang="en-US" sz="2400" dirty="0">
                <a:solidFill>
                  <a:srgbClr val="6600CC"/>
                </a:solidFill>
              </a:rPr>
              <a:t>Come meet with me </a:t>
            </a:r>
            <a:br>
              <a:rPr lang="en-US" sz="2400" dirty="0"/>
            </a:br>
            <a:r>
              <a:rPr lang="en-US" sz="2400" dirty="0">
                <a:solidFill>
                  <a:srgbClr val="FF6600"/>
                </a:solidFill>
              </a:rPr>
              <a:t>Schedule a video chat</a:t>
            </a:r>
          </a:p>
          <a:p>
            <a:pPr algn="ctr"/>
            <a:r>
              <a:rPr lang="en-US" sz="2400" dirty="0">
                <a:solidFill>
                  <a:srgbClr val="00B050"/>
                </a:solidFill>
              </a:rPr>
              <a:t>Let’s talk on the phone</a:t>
            </a:r>
          </a:p>
          <a:p>
            <a:pPr algn="ctr"/>
            <a:r>
              <a:rPr lang="en-US" sz="2400" dirty="0">
                <a:solidFill>
                  <a:srgbClr val="FF00FF"/>
                </a:solidFill>
              </a:rPr>
              <a:t>Or grab a coffee</a:t>
            </a:r>
          </a:p>
        </p:txBody>
      </p:sp>
      <p:sp>
        <p:nvSpPr>
          <p:cNvPr id="8" name="TextBox 7"/>
          <p:cNvSpPr txBox="1"/>
          <p:nvPr/>
        </p:nvSpPr>
        <p:spPr>
          <a:xfrm>
            <a:off x="990599" y="4994255"/>
            <a:ext cx="4899212" cy="830997"/>
          </a:xfrm>
          <a:prstGeom prst="rect">
            <a:avLst/>
          </a:prstGeom>
          <a:noFill/>
        </p:spPr>
        <p:txBody>
          <a:bodyPr wrap="square" rtlCol="0">
            <a:spAutoFit/>
          </a:bodyPr>
          <a:lstStyle/>
          <a:p>
            <a:pPr algn="ctr"/>
            <a:r>
              <a:rPr lang="en-US" sz="2400" dirty="0"/>
              <a:t>Don’t wait until 8</a:t>
            </a:r>
            <a:r>
              <a:rPr lang="en-US" sz="2400" baseline="30000" dirty="0"/>
              <a:t>th</a:t>
            </a:r>
            <a:r>
              <a:rPr lang="en-US" sz="2400" dirty="0"/>
              <a:t> week when it’s too late!</a:t>
            </a:r>
          </a:p>
        </p:txBody>
      </p:sp>
      <p:pic>
        <p:nvPicPr>
          <p:cNvPr id="9" name="Picture 8"/>
          <p:cNvPicPr>
            <a:picLocks noChangeAspect="1"/>
          </p:cNvPicPr>
          <p:nvPr/>
        </p:nvPicPr>
        <p:blipFill rotWithShape="1">
          <a:blip r:embed="rId2"/>
          <a:srcRect t="21981" b="16854"/>
          <a:stretch/>
        </p:blipFill>
        <p:spPr>
          <a:xfrm>
            <a:off x="6352601" y="4404798"/>
            <a:ext cx="2695015" cy="2330824"/>
          </a:xfrm>
          <a:prstGeom prst="rect">
            <a:avLst/>
          </a:prstGeom>
        </p:spPr>
      </p:pic>
    </p:spTree>
    <p:extLst>
      <p:ext uri="{BB962C8B-B14F-4D97-AF65-F5344CB8AC3E}">
        <p14:creationId xmlns:p14="http://schemas.microsoft.com/office/powerpoint/2010/main" val="2272442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AC3207-8F96-4AD4-929A-F515D314264B}"/>
              </a:ext>
            </a:extLst>
          </p:cNvPr>
          <p:cNvSpPr>
            <a:spLocks noGrp="1"/>
          </p:cNvSpPr>
          <p:nvPr>
            <p:ph type="body" sz="quarter" idx="10"/>
          </p:nvPr>
        </p:nvSpPr>
        <p:spPr>
          <a:xfrm>
            <a:off x="323850" y="1143001"/>
            <a:ext cx="8496300" cy="5223926"/>
          </a:xfrm>
        </p:spPr>
        <p:txBody>
          <a:bodyPr>
            <a:normAutofit/>
          </a:bodyPr>
          <a:lstStyle/>
          <a:p>
            <a:r>
              <a:rPr lang="en-US" sz="2400" b="1" dirty="0">
                <a:solidFill>
                  <a:schemeClr val="accent2">
                    <a:lumMod val="75000"/>
                  </a:schemeClr>
                </a:solidFill>
              </a:rPr>
              <a:t>Random Quiz (5-7)%</a:t>
            </a:r>
          </a:p>
          <a:p>
            <a:r>
              <a:rPr lang="en-US" sz="2400" b="1" dirty="0">
                <a:solidFill>
                  <a:schemeClr val="accent2">
                    <a:lumMod val="75000"/>
                  </a:schemeClr>
                </a:solidFill>
              </a:rPr>
              <a:t>Midterm (35%)</a:t>
            </a:r>
          </a:p>
          <a:p>
            <a:r>
              <a:rPr lang="en-US" sz="2400" b="1" dirty="0">
                <a:solidFill>
                  <a:schemeClr val="accent2">
                    <a:lumMod val="75000"/>
                  </a:schemeClr>
                </a:solidFill>
              </a:rPr>
              <a:t>Final Exam (35%)</a:t>
            </a:r>
          </a:p>
          <a:p>
            <a:r>
              <a:rPr lang="en-US" sz="2400" b="1" dirty="0">
                <a:solidFill>
                  <a:schemeClr val="accent2">
                    <a:lumMod val="75000"/>
                  </a:schemeClr>
                </a:solidFill>
              </a:rPr>
              <a:t>Lab (20%)</a:t>
            </a:r>
          </a:p>
          <a:p>
            <a:r>
              <a:rPr lang="en-US" sz="2400" b="1" dirty="0">
                <a:solidFill>
                  <a:schemeClr val="accent2">
                    <a:lumMod val="75000"/>
                  </a:schemeClr>
                </a:solidFill>
              </a:rPr>
              <a:t>Lab Exam (3-5%)</a:t>
            </a:r>
          </a:p>
        </p:txBody>
      </p:sp>
      <p:sp>
        <p:nvSpPr>
          <p:cNvPr id="3" name="Title 2">
            <a:extLst>
              <a:ext uri="{FF2B5EF4-FFF2-40B4-BE49-F238E27FC236}">
                <a16:creationId xmlns:a16="http://schemas.microsoft.com/office/drawing/2014/main" id="{77336301-5566-48F3-8FAB-826976EFC373}"/>
              </a:ext>
            </a:extLst>
          </p:cNvPr>
          <p:cNvSpPr>
            <a:spLocks noGrp="1"/>
          </p:cNvSpPr>
          <p:nvPr>
            <p:ph type="title"/>
          </p:nvPr>
        </p:nvSpPr>
        <p:spPr/>
        <p:txBody>
          <a:bodyPr/>
          <a:lstStyle/>
          <a:p>
            <a:r>
              <a:rPr lang="en-US" dirty="0"/>
              <a:t>Course Work</a:t>
            </a:r>
          </a:p>
        </p:txBody>
      </p:sp>
      <p:sp>
        <p:nvSpPr>
          <p:cNvPr id="4" name="Slide Number Placeholder 3">
            <a:extLst>
              <a:ext uri="{FF2B5EF4-FFF2-40B4-BE49-F238E27FC236}">
                <a16:creationId xmlns:a16="http://schemas.microsoft.com/office/drawing/2014/main" id="{BAEA53FE-0E2F-42BD-81EF-EAC695A8C16F}"/>
              </a:ext>
            </a:extLst>
          </p:cNvPr>
          <p:cNvSpPr>
            <a:spLocks noGrp="1"/>
          </p:cNvSpPr>
          <p:nvPr>
            <p:ph type="sldNum" sz="quarter" idx="11"/>
          </p:nvPr>
        </p:nvSpPr>
        <p:spPr/>
        <p:txBody>
          <a:bodyPr/>
          <a:lstStyle/>
          <a:p>
            <a:pPr>
              <a:defRPr/>
            </a:pPr>
            <a:fld id="{8B54D4F5-0B3E-4D5E-A4C2-8D7668C34286}" type="slidenum">
              <a:rPr lang="en-US" smtClean="0"/>
              <a:pPr>
                <a:defRPr/>
              </a:pPr>
              <a:t>6</a:t>
            </a:fld>
            <a:endParaRPr lang="en-US"/>
          </a:p>
        </p:txBody>
      </p:sp>
      <p:sp>
        <p:nvSpPr>
          <p:cNvPr id="5" name="Date Placeholder 4">
            <a:extLst>
              <a:ext uri="{FF2B5EF4-FFF2-40B4-BE49-F238E27FC236}">
                <a16:creationId xmlns:a16="http://schemas.microsoft.com/office/drawing/2014/main" id="{5D489CCD-D58F-4173-A964-77322218D02D}"/>
              </a:ext>
            </a:extLst>
          </p:cNvPr>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Tree>
    <p:extLst>
      <p:ext uri="{BB962C8B-B14F-4D97-AF65-F5344CB8AC3E}">
        <p14:creationId xmlns:p14="http://schemas.microsoft.com/office/powerpoint/2010/main" val="3853288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52450" y="1524000"/>
            <a:ext cx="7524750" cy="3919291"/>
          </a:xfrm>
          <a:prstGeom prst="rect">
            <a:avLst/>
          </a:prstGeom>
        </p:spPr>
      </p:pic>
      <p:sp>
        <p:nvSpPr>
          <p:cNvPr id="11266" name="Text Placeholder 1"/>
          <p:cNvSpPr>
            <a:spLocks noGrp="1"/>
          </p:cNvSpPr>
          <p:nvPr>
            <p:ph type="body" sz="quarter" idx="10"/>
          </p:nvPr>
        </p:nvSpPr>
        <p:spPr>
          <a:xfrm>
            <a:off x="323850" y="1441450"/>
            <a:ext cx="8496300" cy="4926013"/>
          </a:xfrm>
        </p:spPr>
        <p:txBody>
          <a:bodyPr/>
          <a:lstStyle/>
          <a:p>
            <a:endParaRPr lang="en-US" altLang="en-US" dirty="0"/>
          </a:p>
        </p:txBody>
      </p:sp>
      <p:sp>
        <p:nvSpPr>
          <p:cNvPr id="3" name="Slide Number Placeholder 2"/>
          <p:cNvSpPr>
            <a:spLocks noGrp="1"/>
          </p:cNvSpPr>
          <p:nvPr>
            <p:ph type="sldNum" sz="quarter" idx="11"/>
          </p:nvPr>
        </p:nvSpPr>
        <p:spPr/>
        <p:txBody>
          <a:bodyPr/>
          <a:lstStyle/>
          <a:p>
            <a:pPr>
              <a:defRPr/>
            </a:pPr>
            <a:fld id="{B7D60126-BC8B-4A03-9167-3C2ECBD4B8FD}" type="slidenum">
              <a:rPr lang="en-US"/>
              <a:pPr>
                <a:defRPr/>
              </a:pPr>
              <a:t>7</a:t>
            </a:fld>
            <a:endParaRPr lang="en-US"/>
          </a:p>
        </p:txBody>
      </p:sp>
      <p:sp>
        <p:nvSpPr>
          <p:cNvPr id="4" name="Date Placeholder 3"/>
          <p:cNvSpPr>
            <a:spLocks noGrp="1"/>
          </p:cNvSpPr>
          <p:nvPr>
            <p:ph type="dt" sz="quarter" idx="12"/>
          </p:nvPr>
        </p:nvSpPr>
        <p:spPr/>
        <p:txBody>
          <a:bodyPr/>
          <a:lstStyle/>
          <a:p>
            <a:pPr>
              <a:defRPr/>
            </a:pPr>
            <a:fld id="{12DE379B-7820-5B48-99F8-AEE60EC14683}" type="datetime4">
              <a:rPr lang="en-US"/>
              <a:pPr>
                <a:defRPr/>
              </a:pPr>
              <a:t>March 21, 2020</a:t>
            </a:fld>
            <a:endParaRPr lang="en-US"/>
          </a:p>
        </p:txBody>
      </p:sp>
      <p:sp>
        <p:nvSpPr>
          <p:cNvPr id="11269" name="Title 4"/>
          <p:cNvSpPr>
            <a:spLocks noGrp="1"/>
          </p:cNvSpPr>
          <p:nvPr>
            <p:ph type="title"/>
          </p:nvPr>
        </p:nvSpPr>
        <p:spPr>
          <a:xfrm>
            <a:off x="179388" y="301625"/>
            <a:ext cx="5764212" cy="692150"/>
          </a:xfrm>
        </p:spPr>
        <p:txBody>
          <a:bodyPr/>
          <a:lstStyle/>
          <a:p>
            <a:r>
              <a:rPr lang="en-US" altLang="en-US" sz="4400" dirty="0"/>
              <a:t>Scientist vs. Engineer</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90600" y="1143001"/>
            <a:ext cx="7361650" cy="4724400"/>
          </a:xfrm>
          <a:prstGeom prst="rect">
            <a:avLst/>
          </a:prstGeom>
        </p:spPr>
      </p:pic>
      <p:sp>
        <p:nvSpPr>
          <p:cNvPr id="2" name="Text Placeholder 1"/>
          <p:cNvSpPr>
            <a:spLocks noGrp="1"/>
          </p:cNvSpPr>
          <p:nvPr>
            <p:ph type="body" sz="quarter" idx="10"/>
          </p:nvPr>
        </p:nvSpPr>
        <p:spPr>
          <a:xfrm>
            <a:off x="323850" y="1143001"/>
            <a:ext cx="8496300" cy="5223926"/>
          </a:xfrm>
        </p:spPr>
        <p:txBody>
          <a:bodyPr/>
          <a:lstStyle/>
          <a:p>
            <a:endParaRPr lang="en-US" dirty="0"/>
          </a:p>
        </p:txBody>
      </p:sp>
      <p:sp>
        <p:nvSpPr>
          <p:cNvPr id="3" name="Title 2"/>
          <p:cNvSpPr>
            <a:spLocks noGrp="1"/>
          </p:cNvSpPr>
          <p:nvPr>
            <p:ph type="title"/>
          </p:nvPr>
        </p:nvSpPr>
        <p:spPr>
          <a:xfrm>
            <a:off x="179512" y="302400"/>
            <a:ext cx="7669088" cy="691277"/>
          </a:xfrm>
        </p:spPr>
        <p:txBody>
          <a:bodyPr/>
          <a:lstStyle/>
          <a:p>
            <a:r>
              <a:rPr lang="en-US" sz="3200" dirty="0"/>
              <a:t>Programming vs. Software Engineering </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8</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Tree>
    <p:extLst>
      <p:ext uri="{BB962C8B-B14F-4D97-AF65-F5344CB8AC3E}">
        <p14:creationId xmlns:p14="http://schemas.microsoft.com/office/powerpoint/2010/main" val="2410056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219201"/>
            <a:ext cx="8496300" cy="5147726"/>
          </a:xfrm>
        </p:spPr>
        <p:txBody>
          <a:bodyPr>
            <a:normAutofit/>
          </a:bodyPr>
          <a:lstStyle/>
          <a:p>
            <a:pPr marL="381000" lvl="0" indent="-381000">
              <a:buNone/>
            </a:pPr>
            <a:r>
              <a:rPr kumimoji="1" lang="en-US" altLang="ko-KR" sz="2400" kern="0" dirty="0">
                <a:solidFill>
                  <a:srgbClr val="2D2DB9"/>
                </a:solidFill>
                <a:latin typeface="Consolas" pitchFamily="49" charset="0"/>
                <a:ea typeface="굴림"/>
              </a:rPr>
              <a:t>Requirement specification</a:t>
            </a:r>
          </a:p>
          <a:p>
            <a:pPr marL="400050" lvl="2" indent="-342900">
              <a:buSzPct val="80000"/>
              <a:buFont typeface="Wingdings" pitchFamily="2" charset="2"/>
              <a:buChar char="l"/>
            </a:pPr>
            <a:r>
              <a:rPr kumimoji="1" lang="en-US" altLang="ko-KR" sz="1800" kern="0" dirty="0">
                <a:solidFill>
                  <a:srgbClr val="000000"/>
                </a:solidFill>
                <a:latin typeface="Consolas" pitchFamily="49" charset="0"/>
                <a:ea typeface="굴림"/>
              </a:rPr>
              <a:t>What is the purpose of the project</a:t>
            </a:r>
          </a:p>
          <a:p>
            <a:pPr marL="400050" lvl="2" indent="-342900">
              <a:buSzPct val="80000"/>
              <a:buFont typeface="Wingdings" pitchFamily="2" charset="2"/>
              <a:buChar char="l"/>
            </a:pPr>
            <a:r>
              <a:rPr kumimoji="1" lang="en-US" altLang="ko-KR" sz="1800" kern="0" dirty="0">
                <a:solidFill>
                  <a:srgbClr val="000000"/>
                </a:solidFill>
                <a:latin typeface="Consolas" pitchFamily="49" charset="0"/>
                <a:ea typeface="굴림"/>
              </a:rPr>
              <a:t>Descriptions of input and output</a:t>
            </a:r>
          </a:p>
          <a:p>
            <a:pPr marL="381000" lvl="0" indent="-381000">
              <a:buNone/>
            </a:pPr>
            <a:r>
              <a:rPr kumimoji="1" lang="en-US" altLang="ko-KR" sz="2400" kern="0" dirty="0">
                <a:solidFill>
                  <a:srgbClr val="2D2DB9"/>
                </a:solidFill>
                <a:latin typeface="Consolas" pitchFamily="49" charset="0"/>
                <a:ea typeface="굴림"/>
              </a:rPr>
              <a:t>Analysis</a:t>
            </a:r>
          </a:p>
          <a:p>
            <a:pPr marL="400050" lvl="2" indent="-342900">
              <a:buSzPct val="80000"/>
              <a:buFont typeface="Wingdings" pitchFamily="2" charset="2"/>
              <a:buChar char="l"/>
            </a:pPr>
            <a:r>
              <a:rPr kumimoji="1" lang="en-US" altLang="ko-KR" sz="1800" kern="0" dirty="0">
                <a:solidFill>
                  <a:srgbClr val="000000"/>
                </a:solidFill>
                <a:latin typeface="Consolas" pitchFamily="49" charset="0"/>
                <a:ea typeface="굴림"/>
              </a:rPr>
              <a:t>To break the problems down into manageable pieces</a:t>
            </a:r>
          </a:p>
          <a:p>
            <a:pPr marL="400050" lvl="2" indent="-342900">
              <a:buSzPct val="80000"/>
              <a:buFont typeface="Wingdings" pitchFamily="2" charset="2"/>
              <a:buChar char="l"/>
            </a:pPr>
            <a:r>
              <a:rPr kumimoji="1" lang="en-US" altLang="ko-KR" sz="1800" kern="0" dirty="0">
                <a:solidFill>
                  <a:srgbClr val="000000"/>
                </a:solidFill>
                <a:latin typeface="Consolas" pitchFamily="49" charset="0"/>
                <a:ea typeface="굴림"/>
              </a:rPr>
              <a:t>Bottom-up approach vs. Top-down approach</a:t>
            </a:r>
          </a:p>
          <a:p>
            <a:pPr marL="381000" lvl="0" indent="-381000">
              <a:buNone/>
            </a:pPr>
            <a:r>
              <a:rPr kumimoji="1" lang="en-US" altLang="ko-KR" sz="2400" kern="0" dirty="0">
                <a:solidFill>
                  <a:srgbClr val="2D2DB9"/>
                </a:solidFill>
                <a:latin typeface="Consolas" pitchFamily="49" charset="0"/>
                <a:ea typeface="굴림"/>
              </a:rPr>
              <a:t>System design</a:t>
            </a:r>
          </a:p>
          <a:p>
            <a:pPr marL="400050" lvl="2" indent="-342900">
              <a:buSzPct val="80000"/>
              <a:buFont typeface="Wingdings" pitchFamily="2" charset="2"/>
              <a:buChar char="l"/>
            </a:pPr>
            <a:r>
              <a:rPr kumimoji="1" lang="en-US" altLang="ko-KR" sz="1800" kern="0" dirty="0">
                <a:solidFill>
                  <a:srgbClr val="000000"/>
                </a:solidFill>
                <a:latin typeface="Consolas" pitchFamily="49" charset="0"/>
                <a:ea typeface="굴림"/>
              </a:rPr>
              <a:t>Data objects and operations</a:t>
            </a:r>
          </a:p>
          <a:p>
            <a:pPr marL="400050" lvl="2" indent="-342900">
              <a:buSzPct val="80000"/>
              <a:buFont typeface="Wingdings" pitchFamily="2" charset="2"/>
              <a:buChar char="l"/>
            </a:pPr>
            <a:r>
              <a:rPr kumimoji="1" lang="en-US" altLang="ko-KR" sz="1800" kern="0" dirty="0">
                <a:solidFill>
                  <a:srgbClr val="000000"/>
                </a:solidFill>
                <a:latin typeface="Consolas" pitchFamily="49" charset="0"/>
                <a:ea typeface="굴림"/>
              </a:rPr>
              <a:t>Abstract data type and algorithm specification</a:t>
            </a:r>
          </a:p>
          <a:p>
            <a:pPr marL="381000" lvl="0" indent="-381000">
              <a:buNone/>
            </a:pPr>
            <a:r>
              <a:rPr kumimoji="1" lang="en-US" altLang="ko-KR" sz="2400" kern="0" dirty="0">
                <a:solidFill>
                  <a:srgbClr val="2D2DB9"/>
                </a:solidFill>
                <a:latin typeface="Consolas" pitchFamily="49" charset="0"/>
                <a:ea typeface="굴림"/>
              </a:rPr>
              <a:t>Refinement and coding</a:t>
            </a:r>
          </a:p>
          <a:p>
            <a:pPr marL="381000" lvl="0" indent="-381000">
              <a:buNone/>
            </a:pPr>
            <a:r>
              <a:rPr kumimoji="1" lang="en-US" altLang="ko-KR" sz="2400" kern="0" dirty="0">
                <a:solidFill>
                  <a:srgbClr val="2D2DB9"/>
                </a:solidFill>
                <a:latin typeface="Consolas" pitchFamily="49" charset="0"/>
                <a:ea typeface="굴림"/>
              </a:rPr>
              <a:t>Verification</a:t>
            </a:r>
          </a:p>
          <a:p>
            <a:pPr marL="400050" lvl="2" indent="-342900">
              <a:buSzPct val="80000"/>
              <a:buFont typeface="Wingdings" pitchFamily="2" charset="2"/>
              <a:buChar char="l"/>
            </a:pPr>
            <a:r>
              <a:rPr kumimoji="1" lang="en-US" altLang="ko-KR" sz="1800" kern="0" dirty="0">
                <a:solidFill>
                  <a:srgbClr val="000000"/>
                </a:solidFill>
                <a:latin typeface="Consolas" pitchFamily="49" charset="0"/>
                <a:ea typeface="굴림"/>
              </a:rPr>
              <a:t>Developing </a:t>
            </a:r>
            <a:r>
              <a:rPr kumimoji="1" lang="en-US" altLang="ko-KR" sz="1800" kern="0" dirty="0">
                <a:solidFill>
                  <a:srgbClr val="3333CC"/>
                </a:solidFill>
                <a:latin typeface="Consolas" pitchFamily="49" charset="0"/>
                <a:ea typeface="굴림"/>
              </a:rPr>
              <a:t>correctness proofs</a:t>
            </a:r>
            <a:r>
              <a:rPr kumimoji="1" lang="en-US" altLang="ko-KR" sz="1800" kern="0" dirty="0">
                <a:solidFill>
                  <a:srgbClr val="000000"/>
                </a:solidFill>
                <a:latin typeface="Consolas" pitchFamily="49" charset="0"/>
                <a:ea typeface="굴림"/>
              </a:rPr>
              <a:t> for the program</a:t>
            </a:r>
          </a:p>
          <a:p>
            <a:pPr marL="400050" lvl="2" indent="-342900">
              <a:buSzPct val="80000"/>
              <a:buFont typeface="Wingdings" pitchFamily="2" charset="2"/>
              <a:buChar char="l"/>
            </a:pPr>
            <a:r>
              <a:rPr kumimoji="1" lang="en-US" altLang="ko-KR" sz="1800" kern="0" dirty="0">
                <a:solidFill>
                  <a:srgbClr val="000000"/>
                </a:solidFill>
                <a:latin typeface="Consolas" pitchFamily="49" charset="0"/>
                <a:ea typeface="굴림"/>
              </a:rPr>
              <a:t>Testing the program with </a:t>
            </a:r>
            <a:r>
              <a:rPr kumimoji="1" lang="en-US" altLang="ko-KR" sz="1800" kern="0" dirty="0">
                <a:solidFill>
                  <a:srgbClr val="3333CC"/>
                </a:solidFill>
                <a:latin typeface="Consolas" pitchFamily="49" charset="0"/>
                <a:ea typeface="굴림"/>
              </a:rPr>
              <a:t>a variety of input data</a:t>
            </a:r>
          </a:p>
          <a:p>
            <a:endParaRPr lang="en-US" dirty="0"/>
          </a:p>
        </p:txBody>
      </p:sp>
      <p:sp>
        <p:nvSpPr>
          <p:cNvPr id="3" name="Title 2"/>
          <p:cNvSpPr>
            <a:spLocks noGrp="1"/>
          </p:cNvSpPr>
          <p:nvPr>
            <p:ph type="title"/>
          </p:nvPr>
        </p:nvSpPr>
        <p:spPr>
          <a:xfrm>
            <a:off x="179512" y="302400"/>
            <a:ext cx="4392488" cy="691277"/>
          </a:xfrm>
        </p:spPr>
        <p:txBody>
          <a:bodyPr/>
          <a:lstStyle/>
          <a:p>
            <a:r>
              <a:rPr lang="en-US" sz="4000" dirty="0"/>
              <a:t>System Life Cycle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9</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Tree>
    <p:extLst>
      <p:ext uri="{BB962C8B-B14F-4D97-AF65-F5344CB8AC3E}">
        <p14:creationId xmlns:p14="http://schemas.microsoft.com/office/powerpoint/2010/main" val="3736246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5687888" cy="691277"/>
          </a:xfrm>
        </p:spPr>
        <p:txBody>
          <a:bodyPr/>
          <a:lstStyle/>
          <a:p>
            <a:r>
              <a:rPr lang="en-US" sz="4000" dirty="0" err="1"/>
              <a:t>Algo</a:t>
            </a:r>
            <a:r>
              <a:rPr lang="en-US" sz="4000" dirty="0"/>
              <a:t>. vs. Data Structure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10</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grpSp>
        <p:nvGrpSpPr>
          <p:cNvPr id="6" name="Group 5"/>
          <p:cNvGrpSpPr/>
          <p:nvPr/>
        </p:nvGrpSpPr>
        <p:grpSpPr>
          <a:xfrm>
            <a:off x="4876953" y="1676400"/>
            <a:ext cx="3588299" cy="3272614"/>
            <a:chOff x="1497341" y="3797998"/>
            <a:chExt cx="2953053" cy="2455475"/>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42023" y="4317733"/>
              <a:ext cx="2063689" cy="1935740"/>
            </a:xfrm>
            <a:prstGeom prst="rect">
              <a:avLst/>
            </a:prstGeom>
          </p:spPr>
        </p:pic>
        <p:sp>
          <p:nvSpPr>
            <p:cNvPr id="8" name="Text Box 4"/>
            <p:cNvSpPr txBox="1">
              <a:spLocks noChangeArrowheads="1"/>
            </p:cNvSpPr>
            <p:nvPr/>
          </p:nvSpPr>
          <p:spPr bwMode="auto">
            <a:xfrm>
              <a:off x="1497341" y="3797998"/>
              <a:ext cx="29530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800" dirty="0">
                  <a:solidFill>
                    <a:srgbClr val="FF0000"/>
                  </a:solidFill>
                </a:rPr>
                <a:t>Data Structures</a:t>
              </a:r>
            </a:p>
          </p:txBody>
        </p:sp>
      </p:grpSp>
      <p:grpSp>
        <p:nvGrpSpPr>
          <p:cNvPr id="9" name="Group 8"/>
          <p:cNvGrpSpPr/>
          <p:nvPr/>
        </p:nvGrpSpPr>
        <p:grpSpPr>
          <a:xfrm>
            <a:off x="685800" y="1676400"/>
            <a:ext cx="3088633" cy="3919064"/>
            <a:chOff x="5563498" y="3807051"/>
            <a:chExt cx="2541844" cy="2940511"/>
          </a:xfrm>
        </p:grpSpPr>
        <p:sp>
          <p:nvSpPr>
            <p:cNvPr id="10" name="Text Box 4"/>
            <p:cNvSpPr txBox="1">
              <a:spLocks noChangeArrowheads="1"/>
            </p:cNvSpPr>
            <p:nvPr/>
          </p:nvSpPr>
          <p:spPr bwMode="auto">
            <a:xfrm>
              <a:off x="6075620" y="3807051"/>
              <a:ext cx="20297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800" dirty="0">
                  <a:solidFill>
                    <a:srgbClr val="FF0000"/>
                  </a:solidFill>
                </a:rPr>
                <a:t>Algorithms</a:t>
              </a:r>
            </a:p>
          </p:txBody>
        </p:sp>
        <p:grpSp>
          <p:nvGrpSpPr>
            <p:cNvPr id="11" name="Group 10"/>
            <p:cNvGrpSpPr/>
            <p:nvPr/>
          </p:nvGrpSpPr>
          <p:grpSpPr>
            <a:xfrm>
              <a:off x="5563498" y="4042462"/>
              <a:ext cx="2541844" cy="2705100"/>
              <a:chOff x="5611091" y="4042462"/>
              <a:chExt cx="2541844" cy="2705100"/>
            </a:xfrm>
          </p:grpSpPr>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l="47193"/>
              <a:stretch/>
            </p:blipFill>
            <p:spPr>
              <a:xfrm>
                <a:off x="6075620" y="4042462"/>
                <a:ext cx="2077315" cy="2705100"/>
              </a:xfrm>
              <a:prstGeom prst="rect">
                <a:avLst/>
              </a:prstGeom>
            </p:spPr>
          </p:pic>
          <p:sp>
            <p:nvSpPr>
              <p:cNvPr id="13" name="Rectangle 12"/>
              <p:cNvSpPr/>
              <p:nvPr/>
            </p:nvSpPr>
            <p:spPr>
              <a:xfrm>
                <a:off x="5611091" y="4558145"/>
                <a:ext cx="831273" cy="8368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9198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6068888" cy="691277"/>
          </a:xfrm>
        </p:spPr>
        <p:txBody>
          <a:bodyPr/>
          <a:lstStyle/>
          <a:p>
            <a:r>
              <a:rPr lang="en-US" sz="4400" dirty="0"/>
              <a:t>What is Data Structure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11</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7" name="Rectangle 9"/>
          <p:cNvSpPr>
            <a:spLocks noChangeArrowheads="1"/>
          </p:cNvSpPr>
          <p:nvPr/>
        </p:nvSpPr>
        <p:spPr bwMode="auto">
          <a:xfrm>
            <a:off x="304800" y="1071135"/>
            <a:ext cx="8458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cs typeface="Courier New" pitchFamily="49" charset="0"/>
              </a:rPr>
              <a:t>      </a:t>
            </a:r>
            <a:r>
              <a:rPr lang="en-US" sz="2400" dirty="0"/>
              <a:t>A </a:t>
            </a:r>
            <a:r>
              <a:rPr lang="en-US" sz="2400" dirty="0">
                <a:solidFill>
                  <a:srgbClr val="008080"/>
                </a:solidFill>
              </a:rPr>
              <a:t>data structure</a:t>
            </a:r>
            <a:r>
              <a:rPr lang="en-US" sz="2400" dirty="0"/>
              <a:t> is the </a:t>
            </a:r>
            <a:r>
              <a:rPr lang="en-US" sz="2400" dirty="0">
                <a:solidFill>
                  <a:srgbClr val="800000"/>
                </a:solidFill>
              </a:rPr>
              <a:t>data</a:t>
            </a:r>
            <a:r>
              <a:rPr lang="en-US" sz="2400" dirty="0"/>
              <a:t> that’s operated </a:t>
            </a:r>
            <a:br>
              <a:rPr lang="en-US" sz="2400" dirty="0"/>
            </a:br>
            <a:r>
              <a:rPr lang="en-US" sz="2400" dirty="0"/>
              <a:t>     on by an algorithm to solve a problem.</a:t>
            </a:r>
            <a:r>
              <a:rPr lang="en-US" sz="2000" dirty="0"/>
              <a:t> </a:t>
            </a:r>
          </a:p>
        </p:txBody>
      </p:sp>
      <p:pic>
        <p:nvPicPr>
          <p:cNvPr id="8" name="Picture 10"/>
          <p:cNvPicPr>
            <a:picLocks noChangeAspect="1" noChangeArrowheads="1"/>
          </p:cNvPicPr>
          <p:nvPr/>
        </p:nvPicPr>
        <p:blipFill>
          <a:blip r:embed="rId2">
            <a:extLst>
              <a:ext uri="{28A0092B-C50C-407E-A947-70E740481C1C}">
                <a14:useLocalDpi xmlns:a14="http://schemas.microsoft.com/office/drawing/2010/main" val="0"/>
              </a:ext>
            </a:extLst>
          </a:blip>
          <a:srcRect l="50000" t="9999" r="28125" b="10001"/>
          <a:stretch>
            <a:fillRect/>
          </a:stretch>
        </p:blipFill>
        <p:spPr bwMode="auto">
          <a:xfrm>
            <a:off x="370250" y="1080660"/>
            <a:ext cx="56388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4"/>
          <p:cNvSpPr>
            <a:spLocks noChangeArrowheads="1"/>
          </p:cNvSpPr>
          <p:nvPr/>
        </p:nvSpPr>
        <p:spPr bwMode="auto">
          <a:xfrm>
            <a:off x="304800" y="2101850"/>
            <a:ext cx="8001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cs typeface="Courier New" pitchFamily="49" charset="0"/>
              </a:rPr>
              <a:t>      An </a:t>
            </a:r>
            <a:r>
              <a:rPr lang="en-US" sz="2400" dirty="0">
                <a:solidFill>
                  <a:srgbClr val="008080"/>
                </a:solidFill>
                <a:cs typeface="Courier New" pitchFamily="49" charset="0"/>
              </a:rPr>
              <a:t>algorithm</a:t>
            </a:r>
            <a:r>
              <a:rPr lang="en-US" sz="2400" dirty="0">
                <a:cs typeface="Courier New" pitchFamily="49" charset="0"/>
              </a:rPr>
              <a:t> is a set of </a:t>
            </a:r>
            <a:r>
              <a:rPr lang="en-US" sz="2400" dirty="0">
                <a:solidFill>
                  <a:srgbClr val="800000"/>
                </a:solidFill>
                <a:cs typeface="Courier New" pitchFamily="49" charset="0"/>
              </a:rPr>
              <a:t>instructions/steps  </a:t>
            </a:r>
            <a:br>
              <a:rPr lang="en-US" sz="2400" dirty="0">
                <a:solidFill>
                  <a:srgbClr val="800000"/>
                </a:solidFill>
                <a:cs typeface="Courier New" pitchFamily="49" charset="0"/>
              </a:rPr>
            </a:br>
            <a:r>
              <a:rPr lang="en-US" sz="2400" dirty="0">
                <a:solidFill>
                  <a:srgbClr val="800000"/>
                </a:solidFill>
                <a:cs typeface="Courier New" pitchFamily="49" charset="0"/>
              </a:rPr>
              <a:t>      </a:t>
            </a:r>
            <a:r>
              <a:rPr lang="en-US" sz="2400" dirty="0">
                <a:cs typeface="Courier New" pitchFamily="49" charset="0"/>
              </a:rPr>
              <a:t>that solves a particular problem. </a:t>
            </a:r>
            <a:endParaRPr lang="en-US" sz="2400" dirty="0"/>
          </a:p>
        </p:txBody>
      </p:sp>
      <p:pic>
        <p:nvPicPr>
          <p:cNvPr id="10" name="Picture 10"/>
          <p:cNvPicPr>
            <a:picLocks noChangeAspect="1" noChangeArrowheads="1"/>
          </p:cNvPicPr>
          <p:nvPr/>
        </p:nvPicPr>
        <p:blipFill>
          <a:blip r:embed="rId2">
            <a:extLst>
              <a:ext uri="{28A0092B-C50C-407E-A947-70E740481C1C}">
                <a14:useLocalDpi xmlns:a14="http://schemas.microsoft.com/office/drawing/2010/main" val="0"/>
              </a:ext>
            </a:extLst>
          </a:blip>
          <a:srcRect l="50000" t="9999" r="28125" b="10001"/>
          <a:stretch>
            <a:fillRect/>
          </a:stretch>
        </p:blipFill>
        <p:spPr bwMode="auto">
          <a:xfrm>
            <a:off x="366713" y="2054225"/>
            <a:ext cx="533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2"/>
          <p:cNvSpPr txBox="1">
            <a:spLocks noChangeArrowheads="1"/>
          </p:cNvSpPr>
          <p:nvPr/>
        </p:nvSpPr>
        <p:spPr bwMode="auto">
          <a:xfrm>
            <a:off x="-412750" y="3161566"/>
            <a:ext cx="91757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t>Each algorithm can be classified by </a:t>
            </a:r>
            <a:br>
              <a:rPr lang="en-US" sz="2000" dirty="0"/>
            </a:br>
            <a:r>
              <a:rPr lang="en-US" sz="2000" dirty="0">
                <a:solidFill>
                  <a:srgbClr val="6600CC"/>
                </a:solidFill>
              </a:rPr>
              <a:t>how long it takes to run</a:t>
            </a:r>
            <a:r>
              <a:rPr lang="en-US" sz="2000" dirty="0"/>
              <a:t> on a particular input.</a:t>
            </a:r>
          </a:p>
        </p:txBody>
      </p:sp>
      <p:pic>
        <p:nvPicPr>
          <p:cNvPr id="12"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1975" y="2747159"/>
            <a:ext cx="1463675" cy="153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693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3554288" cy="691277"/>
          </a:xfrm>
        </p:spPr>
        <p:txBody>
          <a:bodyPr/>
          <a:lstStyle/>
          <a:p>
            <a:r>
              <a:rPr lang="en-US" sz="4400" dirty="0"/>
              <a:t>Algorithm#1</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12</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 Box 3"/>
          <p:cNvSpPr txBox="1">
            <a:spLocks noChangeArrowheads="1"/>
          </p:cNvSpPr>
          <p:nvPr/>
        </p:nvSpPr>
        <p:spPr bwMode="auto">
          <a:xfrm>
            <a:off x="601952" y="1296122"/>
            <a:ext cx="80137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t>Let’s try a simple algorithm: We’ll </a:t>
            </a:r>
            <a:r>
              <a:rPr lang="en-US" sz="2000" dirty="0">
                <a:solidFill>
                  <a:srgbClr val="6600CC"/>
                </a:solidFill>
              </a:rPr>
              <a:t>search linearly from top to bottom</a:t>
            </a:r>
            <a:r>
              <a:rPr lang="en-US" sz="2000" dirty="0"/>
              <a:t> and ask the user about each word:</a:t>
            </a:r>
          </a:p>
        </p:txBody>
      </p:sp>
      <p:sp>
        <p:nvSpPr>
          <p:cNvPr id="7" name="Text Box 4"/>
          <p:cNvSpPr txBox="1">
            <a:spLocks noChangeArrowheads="1"/>
          </p:cNvSpPr>
          <p:nvPr/>
        </p:nvSpPr>
        <p:spPr bwMode="auto">
          <a:xfrm>
            <a:off x="938213" y="2235188"/>
            <a:ext cx="7642225" cy="2385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sz="900" dirty="0"/>
          </a:p>
          <a:p>
            <a:r>
              <a:rPr lang="en-US" sz="2000" dirty="0">
                <a:solidFill>
                  <a:srgbClr val="003399"/>
                </a:solidFill>
              </a:rPr>
              <a:t>    j = 0	</a:t>
            </a:r>
          </a:p>
          <a:p>
            <a:r>
              <a:rPr lang="en-US" sz="2000" dirty="0">
                <a:solidFill>
                  <a:srgbClr val="003399"/>
                </a:solidFill>
              </a:rPr>
              <a:t>    While I haven’t guessed the user’s word</a:t>
            </a:r>
          </a:p>
          <a:p>
            <a:r>
              <a:rPr lang="en-US" sz="2000" dirty="0">
                <a:solidFill>
                  <a:srgbClr val="003399"/>
                </a:solidFill>
              </a:rPr>
              <a:t>    </a:t>
            </a:r>
            <a:r>
              <a:rPr lang="en-US" sz="1600" dirty="0">
                <a:solidFill>
                  <a:srgbClr val="003399"/>
                </a:solidFill>
              </a:rPr>
              <a:t>{</a:t>
            </a:r>
            <a:endParaRPr lang="en-US" sz="2400" dirty="0">
              <a:solidFill>
                <a:srgbClr val="003399"/>
              </a:solidFill>
            </a:endParaRPr>
          </a:p>
          <a:p>
            <a:r>
              <a:rPr lang="en-US" sz="2000" dirty="0">
                <a:solidFill>
                  <a:srgbClr val="003399"/>
                </a:solidFill>
              </a:rPr>
              <a:t>        Select </a:t>
            </a:r>
            <a:r>
              <a:rPr lang="en-US" sz="2000" dirty="0">
                <a:solidFill>
                  <a:srgbClr val="006666"/>
                </a:solidFill>
              </a:rPr>
              <a:t>word j </a:t>
            </a:r>
            <a:r>
              <a:rPr lang="en-US" sz="2000" dirty="0">
                <a:solidFill>
                  <a:srgbClr val="003399"/>
                </a:solidFill>
              </a:rPr>
              <a:t>from the dictionary</a:t>
            </a:r>
          </a:p>
          <a:p>
            <a:r>
              <a:rPr lang="en-US" sz="2000" dirty="0">
                <a:solidFill>
                  <a:srgbClr val="003399"/>
                </a:solidFill>
              </a:rPr>
              <a:t>       Ask the user if </a:t>
            </a:r>
            <a:r>
              <a:rPr lang="en-US" sz="2000" dirty="0">
                <a:solidFill>
                  <a:srgbClr val="006666"/>
                </a:solidFill>
              </a:rPr>
              <a:t>word j </a:t>
            </a:r>
            <a:r>
              <a:rPr lang="en-US" sz="2000" dirty="0">
                <a:solidFill>
                  <a:srgbClr val="003399"/>
                </a:solidFill>
              </a:rPr>
              <a:t>is the word they picked</a:t>
            </a:r>
          </a:p>
          <a:p>
            <a:r>
              <a:rPr lang="en-US" sz="2000" dirty="0">
                <a:solidFill>
                  <a:srgbClr val="003399"/>
                </a:solidFill>
              </a:rPr>
              <a:t>       j = j + 1</a:t>
            </a:r>
          </a:p>
          <a:p>
            <a:r>
              <a:rPr lang="en-US" sz="2000" dirty="0">
                <a:solidFill>
                  <a:srgbClr val="003399"/>
                </a:solidFill>
              </a:rPr>
              <a:t>    </a:t>
            </a:r>
            <a:r>
              <a:rPr lang="en-US" sz="1600" dirty="0">
                <a:solidFill>
                  <a:srgbClr val="003399"/>
                </a:solidFill>
              </a:rPr>
              <a:t>}</a:t>
            </a:r>
            <a:endParaRPr lang="en-US" sz="2000" dirty="0">
              <a:solidFill>
                <a:srgbClr val="003399"/>
              </a:solidFill>
            </a:endParaRPr>
          </a:p>
        </p:txBody>
      </p:sp>
      <p:sp>
        <p:nvSpPr>
          <p:cNvPr id="8" name="Text Box 5"/>
          <p:cNvSpPr txBox="1">
            <a:spLocks noChangeArrowheads="1"/>
          </p:cNvSpPr>
          <p:nvPr/>
        </p:nvSpPr>
        <p:spPr bwMode="auto">
          <a:xfrm>
            <a:off x="475746" y="5865279"/>
            <a:ext cx="7642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dirty="0">
                <a:solidFill>
                  <a:srgbClr val="6600CC"/>
                </a:solidFill>
              </a:rPr>
              <a:t>Ok, let’s try it.</a:t>
            </a:r>
          </a:p>
        </p:txBody>
      </p:sp>
      <p:sp>
        <p:nvSpPr>
          <p:cNvPr id="9" name="Text Box 8"/>
          <p:cNvSpPr txBox="1">
            <a:spLocks noChangeArrowheads="1"/>
          </p:cNvSpPr>
          <p:nvPr/>
        </p:nvSpPr>
        <p:spPr bwMode="auto">
          <a:xfrm>
            <a:off x="475746" y="5020335"/>
            <a:ext cx="826611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solidFill>
                  <a:srgbClr val="003399"/>
                </a:solidFill>
              </a:rPr>
              <a:t>Question: </a:t>
            </a:r>
            <a:r>
              <a:rPr lang="en-US" sz="2000" dirty="0"/>
              <a:t>If there are </a:t>
            </a:r>
            <a:r>
              <a:rPr lang="en-US" sz="2000" dirty="0">
                <a:solidFill>
                  <a:srgbClr val="FF0000"/>
                </a:solidFill>
              </a:rPr>
              <a:t>N total words</a:t>
            </a:r>
            <a:r>
              <a:rPr lang="en-US" sz="2000" dirty="0"/>
              <a:t> in our dictionary, on average, how many guesses will our algorithm require?</a:t>
            </a:r>
          </a:p>
        </p:txBody>
      </p:sp>
    </p:spTree>
    <p:extLst>
      <p:ext uri="{BB962C8B-B14F-4D97-AF65-F5344CB8AC3E}">
        <p14:creationId xmlns:p14="http://schemas.microsoft.com/office/powerpoint/2010/main" val="367001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0" presetClass="exit" presetSubtype="0" fill="hold" grpId="1" nodeType="withEffect">
                                  <p:stCondLst>
                                    <p:cond delay="0"/>
                                  </p:stCondLst>
                                  <p:childTnLst>
                                    <p:animEffect transition="out" filter="fade">
                                      <p:cBhvr>
                                        <p:cTn id="44" dur="500"/>
                                        <p:tgtEl>
                                          <p:spTgt spid="8"/>
                                        </p:tgtEl>
                                      </p:cBhvr>
                                    </p:animEffect>
                                    <p:set>
                                      <p:cBhvr>
                                        <p:cTn id="45"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P spid="8" grpId="0"/>
      <p:bldP spid="8" grpId="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3478088" cy="691277"/>
          </a:xfrm>
        </p:spPr>
        <p:txBody>
          <a:bodyPr/>
          <a:lstStyle/>
          <a:p>
            <a:r>
              <a:rPr lang="en-US" sz="4400" dirty="0"/>
              <a:t>Algorithm#2</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13</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 Box 3"/>
          <p:cNvSpPr txBox="1">
            <a:spLocks noChangeArrowheads="1"/>
          </p:cNvSpPr>
          <p:nvPr/>
        </p:nvSpPr>
        <p:spPr bwMode="auto">
          <a:xfrm>
            <a:off x="820738" y="1044714"/>
            <a:ext cx="76422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t>Alright, for our second strategy let’s try a more intelligent approach called </a:t>
            </a:r>
            <a:r>
              <a:rPr lang="en-US" sz="2000" dirty="0">
                <a:solidFill>
                  <a:srgbClr val="6600CC"/>
                </a:solidFill>
              </a:rPr>
              <a:t>binary search</a:t>
            </a:r>
            <a:r>
              <a:rPr lang="en-US" sz="2000" dirty="0"/>
              <a:t>:</a:t>
            </a:r>
          </a:p>
        </p:txBody>
      </p:sp>
      <p:sp>
        <p:nvSpPr>
          <p:cNvPr id="7" name="Text Box 4"/>
          <p:cNvSpPr txBox="1">
            <a:spLocks noChangeArrowheads="1"/>
          </p:cNvSpPr>
          <p:nvPr/>
        </p:nvSpPr>
        <p:spPr bwMode="auto">
          <a:xfrm>
            <a:off x="671737" y="1826418"/>
            <a:ext cx="820578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sz="800" dirty="0"/>
          </a:p>
          <a:p>
            <a:r>
              <a:rPr lang="en-US" sz="1600" dirty="0">
                <a:solidFill>
                  <a:srgbClr val="003399"/>
                </a:solidFill>
              </a:rPr>
              <a:t>    </a:t>
            </a:r>
            <a:r>
              <a:rPr lang="en-US" sz="1600" dirty="0" err="1">
                <a:solidFill>
                  <a:srgbClr val="003399"/>
                </a:solidFill>
              </a:rPr>
              <a:t>SearchArea</a:t>
            </a:r>
            <a:r>
              <a:rPr lang="en-US" sz="1600" dirty="0">
                <a:solidFill>
                  <a:srgbClr val="003399"/>
                </a:solidFill>
              </a:rPr>
              <a:t> = The entire dictionary</a:t>
            </a:r>
          </a:p>
          <a:p>
            <a:r>
              <a:rPr lang="en-US" sz="1600" dirty="0"/>
              <a:t>    </a:t>
            </a:r>
            <a:r>
              <a:rPr lang="en-US" sz="1600" dirty="0">
                <a:solidFill>
                  <a:srgbClr val="003399"/>
                </a:solidFill>
              </a:rPr>
              <a:t>While I haven’t guessed the user’s word</a:t>
            </a:r>
          </a:p>
          <a:p>
            <a:r>
              <a:rPr lang="en-US" sz="1200" dirty="0">
                <a:solidFill>
                  <a:srgbClr val="003399"/>
                </a:solidFill>
              </a:rPr>
              <a:t>      {</a:t>
            </a:r>
          </a:p>
          <a:p>
            <a:r>
              <a:rPr lang="en-US" sz="1600" dirty="0">
                <a:solidFill>
                  <a:srgbClr val="003399"/>
                </a:solidFill>
              </a:rPr>
              <a:t>         Pick the middle word </a:t>
            </a:r>
            <a:r>
              <a:rPr lang="en-US" sz="1600" dirty="0">
                <a:solidFill>
                  <a:srgbClr val="006666"/>
                </a:solidFill>
              </a:rPr>
              <a:t>w</a:t>
            </a:r>
            <a:r>
              <a:rPr lang="en-US" sz="1600" dirty="0">
                <a:solidFill>
                  <a:srgbClr val="003399"/>
                </a:solidFill>
              </a:rPr>
              <a:t> in the </a:t>
            </a:r>
            <a:r>
              <a:rPr lang="en-US" sz="1600" dirty="0" err="1">
                <a:solidFill>
                  <a:srgbClr val="003399"/>
                </a:solidFill>
              </a:rPr>
              <a:t>SearchArea</a:t>
            </a:r>
            <a:endParaRPr lang="en-US" sz="1600" dirty="0">
              <a:solidFill>
                <a:srgbClr val="003399"/>
              </a:solidFill>
            </a:endParaRPr>
          </a:p>
          <a:p>
            <a:r>
              <a:rPr lang="en-US" sz="1600" dirty="0">
                <a:solidFill>
                  <a:srgbClr val="003399"/>
                </a:solidFill>
              </a:rPr>
              <a:t>         Ask the user: </a:t>
            </a:r>
            <a:r>
              <a:rPr lang="en-US" sz="1600" dirty="0">
                <a:solidFill>
                  <a:srgbClr val="FF0000"/>
                </a:solidFill>
              </a:rPr>
              <a:t>“Is </a:t>
            </a:r>
            <a:r>
              <a:rPr lang="en-US" sz="1600" dirty="0">
                <a:solidFill>
                  <a:srgbClr val="006666"/>
                </a:solidFill>
              </a:rPr>
              <a:t>w</a:t>
            </a:r>
            <a:r>
              <a:rPr lang="en-US" sz="1600" dirty="0">
                <a:solidFill>
                  <a:srgbClr val="FF0000"/>
                </a:solidFill>
              </a:rPr>
              <a:t> your word?”</a:t>
            </a:r>
          </a:p>
          <a:p>
            <a:r>
              <a:rPr lang="en-US" sz="1600" dirty="0">
                <a:solidFill>
                  <a:srgbClr val="003399"/>
                </a:solidFill>
              </a:rPr>
              <a:t>         If so, you’re done! </a:t>
            </a:r>
            <a:r>
              <a:rPr lang="en-US" sz="1600" dirty="0" err="1">
                <a:solidFill>
                  <a:srgbClr val="003399"/>
                </a:solidFill>
              </a:rPr>
              <a:t>Woohoo</a:t>
            </a:r>
            <a:r>
              <a:rPr lang="en-US" sz="1600" dirty="0">
                <a:solidFill>
                  <a:srgbClr val="003399"/>
                </a:solidFill>
              </a:rPr>
              <a:t>!</a:t>
            </a:r>
          </a:p>
          <a:p>
            <a:r>
              <a:rPr lang="en-US" sz="1600" dirty="0">
                <a:solidFill>
                  <a:srgbClr val="003399"/>
                </a:solidFill>
              </a:rPr>
              <a:t>         If not, ask: </a:t>
            </a:r>
            <a:r>
              <a:rPr lang="en-US" sz="1600" dirty="0">
                <a:solidFill>
                  <a:srgbClr val="FF0000"/>
                </a:solidFill>
              </a:rPr>
              <a:t>“Does your word come before or after </a:t>
            </a:r>
            <a:r>
              <a:rPr lang="en-US" sz="1600" dirty="0">
                <a:solidFill>
                  <a:srgbClr val="006666"/>
                </a:solidFill>
              </a:rPr>
              <a:t>w</a:t>
            </a:r>
            <a:r>
              <a:rPr lang="en-US" sz="1600" dirty="0">
                <a:solidFill>
                  <a:srgbClr val="FF0000"/>
                </a:solidFill>
              </a:rPr>
              <a:t>?”</a:t>
            </a:r>
          </a:p>
          <a:p>
            <a:r>
              <a:rPr lang="en-US" sz="1600" dirty="0">
                <a:solidFill>
                  <a:srgbClr val="003399"/>
                </a:solidFill>
              </a:rPr>
              <a:t>         If their word comes </a:t>
            </a:r>
            <a:r>
              <a:rPr lang="en-US" sz="1600" dirty="0">
                <a:solidFill>
                  <a:srgbClr val="006666"/>
                </a:solidFill>
              </a:rPr>
              <a:t>before</a:t>
            </a:r>
            <a:r>
              <a:rPr lang="en-US" sz="1600" dirty="0">
                <a:solidFill>
                  <a:srgbClr val="003399"/>
                </a:solidFill>
              </a:rPr>
              <a:t> our middle word </a:t>
            </a:r>
            <a:r>
              <a:rPr lang="en-US" sz="1600" dirty="0">
                <a:solidFill>
                  <a:srgbClr val="006666"/>
                </a:solidFill>
              </a:rPr>
              <a:t>w</a:t>
            </a:r>
          </a:p>
          <a:p>
            <a:r>
              <a:rPr lang="en-US" sz="1600" dirty="0">
                <a:solidFill>
                  <a:srgbClr val="003399"/>
                </a:solidFill>
              </a:rPr>
              <a:t>              </a:t>
            </a:r>
            <a:r>
              <a:rPr lang="en-US" sz="1600" dirty="0" err="1">
                <a:solidFill>
                  <a:srgbClr val="003399"/>
                </a:solidFill>
              </a:rPr>
              <a:t>SearchArea</a:t>
            </a:r>
            <a:r>
              <a:rPr lang="en-US" sz="1600" dirty="0">
                <a:solidFill>
                  <a:srgbClr val="003399"/>
                </a:solidFill>
              </a:rPr>
              <a:t> = first ½ of the current </a:t>
            </a:r>
            <a:r>
              <a:rPr lang="en-US" sz="1600" dirty="0" err="1">
                <a:solidFill>
                  <a:srgbClr val="003399"/>
                </a:solidFill>
              </a:rPr>
              <a:t>SearchArea</a:t>
            </a:r>
            <a:endParaRPr lang="en-US" sz="1600" dirty="0">
              <a:solidFill>
                <a:srgbClr val="003399"/>
              </a:solidFill>
            </a:endParaRPr>
          </a:p>
          <a:p>
            <a:r>
              <a:rPr lang="en-US" sz="1600" dirty="0">
                <a:solidFill>
                  <a:srgbClr val="003399"/>
                </a:solidFill>
              </a:rPr>
              <a:t>         If their word comes </a:t>
            </a:r>
            <a:r>
              <a:rPr lang="en-US" sz="1600" dirty="0">
                <a:solidFill>
                  <a:srgbClr val="006666"/>
                </a:solidFill>
              </a:rPr>
              <a:t>after</a:t>
            </a:r>
            <a:r>
              <a:rPr lang="en-US" sz="1600" dirty="0">
                <a:solidFill>
                  <a:srgbClr val="003399"/>
                </a:solidFill>
              </a:rPr>
              <a:t> our middle word </a:t>
            </a:r>
            <a:r>
              <a:rPr lang="en-US" sz="1600" dirty="0">
                <a:solidFill>
                  <a:srgbClr val="006666"/>
                </a:solidFill>
              </a:rPr>
              <a:t>w</a:t>
            </a:r>
          </a:p>
          <a:p>
            <a:r>
              <a:rPr lang="en-US" sz="1600" dirty="0">
                <a:solidFill>
                  <a:srgbClr val="003399"/>
                </a:solidFill>
              </a:rPr>
              <a:t>              </a:t>
            </a:r>
            <a:r>
              <a:rPr lang="en-US" sz="1600" dirty="0" err="1">
                <a:solidFill>
                  <a:srgbClr val="003399"/>
                </a:solidFill>
              </a:rPr>
              <a:t>SearchArea</a:t>
            </a:r>
            <a:r>
              <a:rPr lang="en-US" sz="1600" dirty="0">
                <a:solidFill>
                  <a:srgbClr val="003399"/>
                </a:solidFill>
              </a:rPr>
              <a:t> = second ½ of the current </a:t>
            </a:r>
            <a:r>
              <a:rPr lang="en-US" sz="1600" dirty="0" err="1">
                <a:solidFill>
                  <a:srgbClr val="003399"/>
                </a:solidFill>
              </a:rPr>
              <a:t>SearchArea</a:t>
            </a:r>
            <a:endParaRPr lang="en-US" sz="1600" dirty="0">
              <a:solidFill>
                <a:srgbClr val="003399"/>
              </a:solidFill>
            </a:endParaRPr>
          </a:p>
          <a:p>
            <a:r>
              <a:rPr lang="en-US" sz="1600" dirty="0">
                <a:solidFill>
                  <a:srgbClr val="003399"/>
                </a:solidFill>
              </a:rPr>
              <a:t>   </a:t>
            </a:r>
            <a:r>
              <a:rPr lang="en-US" sz="1200" dirty="0">
                <a:solidFill>
                  <a:srgbClr val="003399"/>
                </a:solidFill>
              </a:rPr>
              <a:t>   }</a:t>
            </a:r>
          </a:p>
        </p:txBody>
      </p:sp>
      <p:sp>
        <p:nvSpPr>
          <p:cNvPr id="8" name="Text Box 10"/>
          <p:cNvSpPr txBox="1">
            <a:spLocks noChangeArrowheads="1"/>
          </p:cNvSpPr>
          <p:nvPr/>
        </p:nvSpPr>
        <p:spPr bwMode="auto">
          <a:xfrm>
            <a:off x="531813" y="5105400"/>
            <a:ext cx="826611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000" dirty="0">
                <a:solidFill>
                  <a:srgbClr val="003399"/>
                </a:solidFill>
              </a:rPr>
              <a:t>Question: </a:t>
            </a:r>
            <a:r>
              <a:rPr lang="en-US" sz="2000" dirty="0"/>
              <a:t>If there are </a:t>
            </a:r>
            <a:r>
              <a:rPr lang="en-US" sz="2000" dirty="0">
                <a:solidFill>
                  <a:srgbClr val="FF0000"/>
                </a:solidFill>
              </a:rPr>
              <a:t>N total words</a:t>
            </a:r>
            <a:r>
              <a:rPr lang="en-US" sz="2000" dirty="0"/>
              <a:t> in our dictionary, on average, how many guesses will our algorithm require?</a:t>
            </a:r>
          </a:p>
        </p:txBody>
      </p:sp>
      <p:sp>
        <p:nvSpPr>
          <p:cNvPr id="9" name="Text Box 11"/>
          <p:cNvSpPr txBox="1">
            <a:spLocks noChangeArrowheads="1"/>
          </p:cNvSpPr>
          <p:nvPr/>
        </p:nvSpPr>
        <p:spPr bwMode="auto">
          <a:xfrm>
            <a:off x="958850" y="6023718"/>
            <a:ext cx="7642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dirty="0">
                <a:solidFill>
                  <a:srgbClr val="6600CC"/>
                </a:solidFill>
              </a:rPr>
              <a:t>Ok, let’s try it.</a:t>
            </a:r>
          </a:p>
        </p:txBody>
      </p:sp>
    </p:spTree>
    <p:extLst>
      <p:ext uri="{BB962C8B-B14F-4D97-AF65-F5344CB8AC3E}">
        <p14:creationId xmlns:p14="http://schemas.microsoft.com/office/powerpoint/2010/main" val="89133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par>
                                <p:cTn id="63" presetID="10" presetClass="exit" presetSubtype="0" fill="hold" grpId="1" nodeType="withEffect">
                                  <p:stCondLst>
                                    <p:cond delay="0"/>
                                  </p:stCondLst>
                                  <p:childTnLst>
                                    <p:animEffect transition="out" filter="fade">
                                      <p:cBhvr>
                                        <p:cTn id="64" dur="500"/>
                                        <p:tgtEl>
                                          <p:spTgt spid="9"/>
                                        </p:tgtEl>
                                      </p:cBhvr>
                                    </p:animEffect>
                                    <p:set>
                                      <p:cBhvr>
                                        <p:cTn id="65"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P spid="8" grpId="0"/>
      <p:bldP spid="9" grpId="0"/>
      <p:bldP spid="9"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5078288" cy="691277"/>
          </a:xfrm>
        </p:spPr>
        <p:txBody>
          <a:bodyPr/>
          <a:lstStyle/>
          <a:p>
            <a:r>
              <a:rPr lang="en-US" sz="4000" dirty="0"/>
              <a:t>How many Guesses?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14</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 Box 7"/>
          <p:cNvSpPr txBox="1">
            <a:spLocks noChangeArrowheads="1"/>
          </p:cNvSpPr>
          <p:nvPr/>
        </p:nvSpPr>
        <p:spPr bwMode="auto">
          <a:xfrm>
            <a:off x="315913" y="1704975"/>
            <a:ext cx="302577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dirty="0"/>
              <a:t>In the worst case, we must keep halving our search area until it contains just a single word – our word!</a:t>
            </a:r>
          </a:p>
        </p:txBody>
      </p:sp>
      <p:sp>
        <p:nvSpPr>
          <p:cNvPr id="7" name="Text Box 5"/>
          <p:cNvSpPr txBox="1">
            <a:spLocks noChangeArrowheads="1"/>
          </p:cNvSpPr>
          <p:nvPr/>
        </p:nvSpPr>
        <p:spPr bwMode="auto">
          <a:xfrm>
            <a:off x="1730375" y="966788"/>
            <a:ext cx="55133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dirty="0"/>
              <a:t>We keep on dividing our search area in half until we finally arrive at our word.</a:t>
            </a:r>
          </a:p>
        </p:txBody>
      </p:sp>
      <p:pic>
        <p:nvPicPr>
          <p:cNvPr id="8"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4575" y="1992313"/>
            <a:ext cx="5378450" cy="458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36"/>
          <p:cNvSpPr>
            <a:spLocks noChangeArrowheads="1"/>
          </p:cNvSpPr>
          <p:nvPr/>
        </p:nvSpPr>
        <p:spPr bwMode="auto">
          <a:xfrm>
            <a:off x="6345238" y="1809750"/>
            <a:ext cx="2798762" cy="49149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37"/>
          <p:cNvSpPr>
            <a:spLocks noChangeArrowheads="1"/>
          </p:cNvSpPr>
          <p:nvPr/>
        </p:nvSpPr>
        <p:spPr bwMode="auto">
          <a:xfrm>
            <a:off x="3446463" y="1627188"/>
            <a:ext cx="1639887" cy="50228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38"/>
          <p:cNvSpPr>
            <a:spLocks noChangeArrowheads="1"/>
          </p:cNvSpPr>
          <p:nvPr/>
        </p:nvSpPr>
        <p:spPr bwMode="auto">
          <a:xfrm>
            <a:off x="4975225" y="4025900"/>
            <a:ext cx="1639888" cy="2622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39"/>
          <p:cNvSpPr>
            <a:spLocks noChangeArrowheads="1"/>
          </p:cNvSpPr>
          <p:nvPr/>
        </p:nvSpPr>
        <p:spPr bwMode="auto">
          <a:xfrm>
            <a:off x="4927600" y="1654175"/>
            <a:ext cx="1639888" cy="14446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40"/>
          <p:cNvSpPr>
            <a:spLocks noChangeArrowheads="1"/>
          </p:cNvSpPr>
          <p:nvPr/>
        </p:nvSpPr>
        <p:spPr bwMode="auto">
          <a:xfrm>
            <a:off x="4935538" y="3598863"/>
            <a:ext cx="1639887" cy="7921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41"/>
          <p:cNvSpPr>
            <a:spLocks noChangeArrowheads="1"/>
          </p:cNvSpPr>
          <p:nvPr/>
        </p:nvSpPr>
        <p:spPr bwMode="auto">
          <a:xfrm>
            <a:off x="4916488" y="2873375"/>
            <a:ext cx="1639887" cy="4667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42"/>
          <p:cNvSpPr>
            <a:spLocks noChangeArrowheads="1"/>
          </p:cNvSpPr>
          <p:nvPr/>
        </p:nvSpPr>
        <p:spPr bwMode="auto">
          <a:xfrm>
            <a:off x="4951413" y="3406775"/>
            <a:ext cx="1639887" cy="4667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9"/>
          <p:cNvSpPr txBox="1">
            <a:spLocks noChangeArrowheads="1"/>
          </p:cNvSpPr>
          <p:nvPr/>
        </p:nvSpPr>
        <p:spPr bwMode="auto">
          <a:xfrm>
            <a:off x="1585913" y="4354513"/>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solidFill>
                  <a:srgbClr val="6600CC"/>
                </a:solidFill>
              </a:rPr>
              <a:t>8</a:t>
            </a:r>
          </a:p>
        </p:txBody>
      </p:sp>
      <p:sp>
        <p:nvSpPr>
          <p:cNvPr id="17" name="Text Box 10"/>
          <p:cNvSpPr txBox="1">
            <a:spLocks noChangeArrowheads="1"/>
          </p:cNvSpPr>
          <p:nvPr/>
        </p:nvSpPr>
        <p:spPr bwMode="auto">
          <a:xfrm>
            <a:off x="2235200" y="4351338"/>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solidFill>
                  <a:srgbClr val="6600CC"/>
                </a:solidFill>
              </a:rPr>
              <a:t>4</a:t>
            </a:r>
          </a:p>
        </p:txBody>
      </p:sp>
      <p:sp>
        <p:nvSpPr>
          <p:cNvPr id="18" name="Text Box 11"/>
          <p:cNvSpPr txBox="1">
            <a:spLocks noChangeArrowheads="1"/>
          </p:cNvSpPr>
          <p:nvPr/>
        </p:nvSpPr>
        <p:spPr bwMode="auto">
          <a:xfrm>
            <a:off x="2797175" y="4351338"/>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solidFill>
                  <a:srgbClr val="6600CC"/>
                </a:solidFill>
              </a:rPr>
              <a:t>2</a:t>
            </a:r>
          </a:p>
        </p:txBody>
      </p:sp>
      <p:sp>
        <p:nvSpPr>
          <p:cNvPr id="19" name="Text Box 12"/>
          <p:cNvSpPr txBox="1">
            <a:spLocks noChangeArrowheads="1"/>
          </p:cNvSpPr>
          <p:nvPr/>
        </p:nvSpPr>
        <p:spPr bwMode="auto">
          <a:xfrm>
            <a:off x="3465513" y="4351338"/>
            <a:ext cx="320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solidFill>
                  <a:srgbClr val="6600CC"/>
                </a:solidFill>
              </a:rPr>
              <a:t>1</a:t>
            </a:r>
          </a:p>
        </p:txBody>
      </p:sp>
      <p:sp>
        <p:nvSpPr>
          <p:cNvPr id="20" name="Text Box 15"/>
          <p:cNvSpPr txBox="1">
            <a:spLocks noChangeArrowheads="1"/>
          </p:cNvSpPr>
          <p:nvPr/>
        </p:nvSpPr>
        <p:spPr bwMode="auto">
          <a:xfrm>
            <a:off x="4986338" y="4348163"/>
            <a:ext cx="26325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000" dirty="0">
                <a:solidFill>
                  <a:srgbClr val="006666"/>
                </a:solidFill>
              </a:rPr>
              <a:t>It would take 4 steps</a:t>
            </a:r>
          </a:p>
        </p:txBody>
      </p:sp>
      <p:sp>
        <p:nvSpPr>
          <p:cNvPr id="21" name="Text Box 16"/>
          <p:cNvSpPr txBox="1">
            <a:spLocks noChangeArrowheads="1"/>
          </p:cNvSpPr>
          <p:nvPr/>
        </p:nvSpPr>
        <p:spPr bwMode="auto">
          <a:xfrm>
            <a:off x="947738" y="4354513"/>
            <a:ext cx="506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rgbClr val="6600CC"/>
                </a:solidFill>
              </a:rPr>
              <a:t>16</a:t>
            </a:r>
          </a:p>
        </p:txBody>
      </p:sp>
      <p:sp>
        <p:nvSpPr>
          <p:cNvPr id="22" name="Text Box 17"/>
          <p:cNvSpPr txBox="1">
            <a:spLocks noChangeArrowheads="1"/>
          </p:cNvSpPr>
          <p:nvPr/>
        </p:nvSpPr>
        <p:spPr bwMode="auto">
          <a:xfrm>
            <a:off x="373063" y="4987411"/>
            <a:ext cx="84280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dirty="0"/>
              <a:t>Ok, what if our dictionary had </a:t>
            </a:r>
            <a:r>
              <a:rPr lang="en-US" dirty="0">
                <a:solidFill>
                  <a:srgbClr val="6600CC"/>
                </a:solidFill>
              </a:rPr>
              <a:t>N=131,072 </a:t>
            </a:r>
            <a:r>
              <a:rPr lang="en-US" dirty="0"/>
              <a:t>words?</a:t>
            </a:r>
          </a:p>
        </p:txBody>
      </p:sp>
      <p:sp>
        <p:nvSpPr>
          <p:cNvPr id="23" name="Text Box 18"/>
          <p:cNvSpPr txBox="1">
            <a:spLocks noChangeArrowheads="1"/>
          </p:cNvSpPr>
          <p:nvPr/>
        </p:nvSpPr>
        <p:spPr bwMode="auto">
          <a:xfrm>
            <a:off x="5532335" y="5491699"/>
            <a:ext cx="570990"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512</a:t>
            </a:r>
          </a:p>
        </p:txBody>
      </p:sp>
      <p:sp>
        <p:nvSpPr>
          <p:cNvPr id="24" name="Text Box 19"/>
          <p:cNvSpPr txBox="1">
            <a:spLocks noChangeArrowheads="1"/>
          </p:cNvSpPr>
          <p:nvPr/>
        </p:nvSpPr>
        <p:spPr bwMode="auto">
          <a:xfrm>
            <a:off x="6001658" y="5491699"/>
            <a:ext cx="607859"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256</a:t>
            </a:r>
          </a:p>
        </p:txBody>
      </p:sp>
      <p:sp>
        <p:nvSpPr>
          <p:cNvPr id="25" name="Text Box 20"/>
          <p:cNvSpPr txBox="1">
            <a:spLocks noChangeArrowheads="1"/>
          </p:cNvSpPr>
          <p:nvPr/>
        </p:nvSpPr>
        <p:spPr bwMode="auto">
          <a:xfrm>
            <a:off x="6466295" y="5491699"/>
            <a:ext cx="570990"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128</a:t>
            </a:r>
          </a:p>
        </p:txBody>
      </p:sp>
      <p:sp>
        <p:nvSpPr>
          <p:cNvPr id="26" name="Text Box 21"/>
          <p:cNvSpPr txBox="1">
            <a:spLocks noChangeArrowheads="1"/>
          </p:cNvSpPr>
          <p:nvPr/>
        </p:nvSpPr>
        <p:spPr bwMode="auto">
          <a:xfrm>
            <a:off x="6928472" y="5491699"/>
            <a:ext cx="466794"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64</a:t>
            </a:r>
          </a:p>
        </p:txBody>
      </p:sp>
      <p:sp>
        <p:nvSpPr>
          <p:cNvPr id="27" name="Text Box 22"/>
          <p:cNvSpPr txBox="1">
            <a:spLocks noChangeArrowheads="1"/>
          </p:cNvSpPr>
          <p:nvPr/>
        </p:nvSpPr>
        <p:spPr bwMode="auto">
          <a:xfrm>
            <a:off x="2376658" y="5873755"/>
            <a:ext cx="352218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600" dirty="0">
                <a:solidFill>
                  <a:srgbClr val="006666"/>
                </a:solidFill>
              </a:rPr>
              <a:t>It would take just 17 steps!!! WOW!</a:t>
            </a:r>
          </a:p>
        </p:txBody>
      </p:sp>
      <p:sp>
        <p:nvSpPr>
          <p:cNvPr id="28" name="Text Box 23"/>
          <p:cNvSpPr txBox="1">
            <a:spLocks noChangeArrowheads="1"/>
          </p:cNvSpPr>
          <p:nvPr/>
        </p:nvSpPr>
        <p:spPr bwMode="auto">
          <a:xfrm>
            <a:off x="4951526" y="5491699"/>
            <a:ext cx="712054"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1024</a:t>
            </a:r>
          </a:p>
        </p:txBody>
      </p:sp>
      <p:sp>
        <p:nvSpPr>
          <p:cNvPr id="29" name="Text Box 24"/>
          <p:cNvSpPr txBox="1">
            <a:spLocks noChangeArrowheads="1"/>
          </p:cNvSpPr>
          <p:nvPr/>
        </p:nvSpPr>
        <p:spPr bwMode="auto">
          <a:xfrm>
            <a:off x="4328693" y="5491699"/>
            <a:ext cx="748923"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2048</a:t>
            </a:r>
          </a:p>
        </p:txBody>
      </p:sp>
      <p:sp>
        <p:nvSpPr>
          <p:cNvPr id="30" name="Text Box 25"/>
          <p:cNvSpPr txBox="1">
            <a:spLocks noChangeArrowheads="1"/>
          </p:cNvSpPr>
          <p:nvPr/>
        </p:nvSpPr>
        <p:spPr bwMode="auto">
          <a:xfrm>
            <a:off x="372591" y="6172200"/>
            <a:ext cx="84280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dirty="0"/>
              <a:t>Can we come up with a general formula to determine the # of steps?</a:t>
            </a:r>
          </a:p>
        </p:txBody>
      </p:sp>
      <p:sp>
        <p:nvSpPr>
          <p:cNvPr id="31" name="Text Box 8"/>
          <p:cNvSpPr txBox="1">
            <a:spLocks noChangeArrowheads="1"/>
          </p:cNvSpPr>
          <p:nvPr/>
        </p:nvSpPr>
        <p:spPr bwMode="auto">
          <a:xfrm>
            <a:off x="350838" y="3463925"/>
            <a:ext cx="84280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dirty="0"/>
              <a:t>If our dictionary had </a:t>
            </a:r>
            <a:r>
              <a:rPr lang="en-US" dirty="0">
                <a:solidFill>
                  <a:srgbClr val="6600CC"/>
                </a:solidFill>
              </a:rPr>
              <a:t>N=16</a:t>
            </a:r>
            <a:r>
              <a:rPr lang="en-US" dirty="0"/>
              <a:t> words, how many times would we </a:t>
            </a:r>
            <a:br>
              <a:rPr lang="en-US" dirty="0"/>
            </a:br>
            <a:r>
              <a:rPr lang="en-US" dirty="0"/>
              <a:t>need to halve it until we have just one word left?</a:t>
            </a:r>
          </a:p>
        </p:txBody>
      </p:sp>
      <p:sp>
        <p:nvSpPr>
          <p:cNvPr id="32" name="Text Box 18"/>
          <p:cNvSpPr txBox="1">
            <a:spLocks noChangeArrowheads="1"/>
          </p:cNvSpPr>
          <p:nvPr/>
        </p:nvSpPr>
        <p:spPr bwMode="auto">
          <a:xfrm>
            <a:off x="7879963" y="5491699"/>
            <a:ext cx="325730"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8</a:t>
            </a:r>
          </a:p>
        </p:txBody>
      </p:sp>
      <p:sp>
        <p:nvSpPr>
          <p:cNvPr id="33" name="Text Box 19"/>
          <p:cNvSpPr txBox="1">
            <a:spLocks noChangeArrowheads="1"/>
          </p:cNvSpPr>
          <p:nvPr/>
        </p:nvSpPr>
        <p:spPr bwMode="auto">
          <a:xfrm>
            <a:off x="8143199" y="5491699"/>
            <a:ext cx="325730"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4</a:t>
            </a:r>
          </a:p>
        </p:txBody>
      </p:sp>
      <p:sp>
        <p:nvSpPr>
          <p:cNvPr id="34" name="Text Box 20"/>
          <p:cNvSpPr txBox="1">
            <a:spLocks noChangeArrowheads="1"/>
          </p:cNvSpPr>
          <p:nvPr/>
        </p:nvSpPr>
        <p:spPr bwMode="auto">
          <a:xfrm>
            <a:off x="8401593" y="5491699"/>
            <a:ext cx="325730"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solidFill>
                  <a:srgbClr val="6600CC"/>
                </a:solidFill>
              </a:rPr>
              <a:t>2</a:t>
            </a:r>
          </a:p>
        </p:txBody>
      </p:sp>
      <p:sp>
        <p:nvSpPr>
          <p:cNvPr id="35" name="Text Box 21"/>
          <p:cNvSpPr txBox="1">
            <a:spLocks noChangeArrowheads="1"/>
          </p:cNvSpPr>
          <p:nvPr/>
        </p:nvSpPr>
        <p:spPr bwMode="auto">
          <a:xfrm>
            <a:off x="8718087" y="5491699"/>
            <a:ext cx="288862"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1</a:t>
            </a:r>
          </a:p>
        </p:txBody>
      </p:sp>
      <p:sp>
        <p:nvSpPr>
          <p:cNvPr id="36" name="Text Box 23"/>
          <p:cNvSpPr txBox="1">
            <a:spLocks noChangeArrowheads="1"/>
          </p:cNvSpPr>
          <p:nvPr/>
        </p:nvSpPr>
        <p:spPr bwMode="auto">
          <a:xfrm>
            <a:off x="7578916" y="5491699"/>
            <a:ext cx="429926"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16</a:t>
            </a:r>
          </a:p>
        </p:txBody>
      </p:sp>
      <p:sp>
        <p:nvSpPr>
          <p:cNvPr id="37" name="Text Box 24"/>
          <p:cNvSpPr txBox="1">
            <a:spLocks noChangeArrowheads="1"/>
          </p:cNvSpPr>
          <p:nvPr/>
        </p:nvSpPr>
        <p:spPr bwMode="auto">
          <a:xfrm>
            <a:off x="7253047" y="5491699"/>
            <a:ext cx="466794"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32</a:t>
            </a:r>
          </a:p>
        </p:txBody>
      </p:sp>
      <p:sp>
        <p:nvSpPr>
          <p:cNvPr id="38" name="Text Box 18"/>
          <p:cNvSpPr txBox="1">
            <a:spLocks noChangeArrowheads="1"/>
          </p:cNvSpPr>
          <p:nvPr/>
        </p:nvSpPr>
        <p:spPr bwMode="auto">
          <a:xfrm>
            <a:off x="1639006" y="5491699"/>
            <a:ext cx="889987"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32768</a:t>
            </a:r>
          </a:p>
        </p:txBody>
      </p:sp>
      <p:sp>
        <p:nvSpPr>
          <p:cNvPr id="39" name="Text Box 19"/>
          <p:cNvSpPr txBox="1">
            <a:spLocks noChangeArrowheads="1"/>
          </p:cNvSpPr>
          <p:nvPr/>
        </p:nvSpPr>
        <p:spPr bwMode="auto">
          <a:xfrm>
            <a:off x="2399277" y="5491699"/>
            <a:ext cx="853119"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16384</a:t>
            </a:r>
          </a:p>
        </p:txBody>
      </p:sp>
      <p:sp>
        <p:nvSpPr>
          <p:cNvPr id="40" name="Text Box 20"/>
          <p:cNvSpPr txBox="1">
            <a:spLocks noChangeArrowheads="1"/>
          </p:cNvSpPr>
          <p:nvPr/>
        </p:nvSpPr>
        <p:spPr bwMode="auto">
          <a:xfrm>
            <a:off x="3119350" y="5491699"/>
            <a:ext cx="712054"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8192</a:t>
            </a:r>
          </a:p>
        </p:txBody>
      </p:sp>
      <p:sp>
        <p:nvSpPr>
          <p:cNvPr id="41" name="Text Box 21"/>
          <p:cNvSpPr txBox="1">
            <a:spLocks noChangeArrowheads="1"/>
          </p:cNvSpPr>
          <p:nvPr/>
        </p:nvSpPr>
        <p:spPr bwMode="auto">
          <a:xfrm>
            <a:off x="3720273" y="5491699"/>
            <a:ext cx="748923"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4096</a:t>
            </a:r>
          </a:p>
        </p:txBody>
      </p:sp>
      <p:sp>
        <p:nvSpPr>
          <p:cNvPr id="42" name="Text Box 23"/>
          <p:cNvSpPr txBox="1">
            <a:spLocks noChangeArrowheads="1"/>
          </p:cNvSpPr>
          <p:nvPr/>
        </p:nvSpPr>
        <p:spPr bwMode="auto">
          <a:xfrm>
            <a:off x="856369" y="5491699"/>
            <a:ext cx="889987"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65536</a:t>
            </a:r>
          </a:p>
        </p:txBody>
      </p:sp>
      <p:sp>
        <p:nvSpPr>
          <p:cNvPr id="43" name="Text Box 24"/>
          <p:cNvSpPr txBox="1">
            <a:spLocks noChangeArrowheads="1"/>
          </p:cNvSpPr>
          <p:nvPr/>
        </p:nvSpPr>
        <p:spPr bwMode="auto">
          <a:xfrm>
            <a:off x="20902" y="5491699"/>
            <a:ext cx="957313" cy="446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131072</a:t>
            </a:r>
          </a:p>
        </p:txBody>
      </p:sp>
    </p:spTree>
    <p:extLst>
      <p:ext uri="{BB962C8B-B14F-4D97-AF65-F5344CB8AC3E}">
        <p14:creationId xmlns:p14="http://schemas.microsoft.com/office/powerpoint/2010/main" val="282766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0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10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20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20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2000"/>
                                        <p:tgtEl>
                                          <p:spTgt spid="1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2000"/>
                                        <p:tgtEl>
                                          <p:spTgt spid="1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2000"/>
                                        <p:tgtEl>
                                          <p:spTgt spid="1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2000"/>
                                        <p:tgtEl>
                                          <p:spTgt spid="20"/>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2"/>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fade">
                                      <p:cBhvr>
                                        <p:cTn id="92" dur="2000"/>
                                        <p:tgtEl>
                                          <p:spTgt spid="43"/>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2000"/>
                                        <p:tgtEl>
                                          <p:spTgt spid="42"/>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2000"/>
                                        <p:tgtEl>
                                          <p:spTgt spid="38"/>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2000"/>
                                        <p:tgtEl>
                                          <p:spTgt spid="39"/>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2000"/>
                                        <p:tgtEl>
                                          <p:spTgt spid="40"/>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41"/>
                                        </p:tgtEl>
                                        <p:attrNameLst>
                                          <p:attrName>style.visibility</p:attrName>
                                        </p:attrNameLst>
                                      </p:cBhvr>
                                      <p:to>
                                        <p:strVal val="visible"/>
                                      </p:to>
                                    </p:set>
                                    <p:animEffect transition="in" filter="fade">
                                      <p:cBhvr>
                                        <p:cTn id="117" dur="2000"/>
                                        <p:tgtEl>
                                          <p:spTgt spid="41"/>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2000"/>
                                        <p:tgtEl>
                                          <p:spTgt spid="29"/>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2000"/>
                                        <p:tgtEl>
                                          <p:spTgt spid="28"/>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23"/>
                                        </p:tgtEl>
                                        <p:attrNameLst>
                                          <p:attrName>style.visibility</p:attrName>
                                        </p:attrNameLst>
                                      </p:cBhvr>
                                      <p:to>
                                        <p:strVal val="visible"/>
                                      </p:to>
                                    </p:set>
                                    <p:animEffect transition="in" filter="fade">
                                      <p:cBhvr>
                                        <p:cTn id="132" dur="2000"/>
                                        <p:tgtEl>
                                          <p:spTgt spid="23"/>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24"/>
                                        </p:tgtEl>
                                        <p:attrNameLst>
                                          <p:attrName>style.visibility</p:attrName>
                                        </p:attrNameLst>
                                      </p:cBhvr>
                                      <p:to>
                                        <p:strVal val="visible"/>
                                      </p:to>
                                    </p:set>
                                    <p:animEffect transition="in" filter="fade">
                                      <p:cBhvr>
                                        <p:cTn id="137" dur="2000"/>
                                        <p:tgtEl>
                                          <p:spTgt spid="24"/>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25"/>
                                        </p:tgtEl>
                                        <p:attrNameLst>
                                          <p:attrName>style.visibility</p:attrName>
                                        </p:attrNameLst>
                                      </p:cBhvr>
                                      <p:to>
                                        <p:strVal val="visible"/>
                                      </p:to>
                                    </p:set>
                                    <p:animEffect transition="in" filter="fade">
                                      <p:cBhvr>
                                        <p:cTn id="142" dur="2000"/>
                                        <p:tgtEl>
                                          <p:spTgt spid="25"/>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26"/>
                                        </p:tgtEl>
                                        <p:attrNameLst>
                                          <p:attrName>style.visibility</p:attrName>
                                        </p:attrNameLst>
                                      </p:cBhvr>
                                      <p:to>
                                        <p:strVal val="visible"/>
                                      </p:to>
                                    </p:set>
                                    <p:animEffect transition="in" filter="fade">
                                      <p:cBhvr>
                                        <p:cTn id="147" dur="2000"/>
                                        <p:tgtEl>
                                          <p:spTgt spid="26"/>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2000"/>
                                        <p:tgtEl>
                                          <p:spTgt spid="37"/>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2000"/>
                                        <p:tgtEl>
                                          <p:spTgt spid="36"/>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32"/>
                                        </p:tgtEl>
                                        <p:attrNameLst>
                                          <p:attrName>style.visibility</p:attrName>
                                        </p:attrNameLst>
                                      </p:cBhvr>
                                      <p:to>
                                        <p:strVal val="visible"/>
                                      </p:to>
                                    </p:set>
                                    <p:animEffect transition="in" filter="fade">
                                      <p:cBhvr>
                                        <p:cTn id="162" dur="2000"/>
                                        <p:tgtEl>
                                          <p:spTgt spid="32"/>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33"/>
                                        </p:tgtEl>
                                        <p:attrNameLst>
                                          <p:attrName>style.visibility</p:attrName>
                                        </p:attrNameLst>
                                      </p:cBhvr>
                                      <p:to>
                                        <p:strVal val="visible"/>
                                      </p:to>
                                    </p:set>
                                    <p:animEffect transition="in" filter="fade">
                                      <p:cBhvr>
                                        <p:cTn id="167" dur="2000"/>
                                        <p:tgtEl>
                                          <p:spTgt spid="33"/>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34"/>
                                        </p:tgtEl>
                                        <p:attrNameLst>
                                          <p:attrName>style.visibility</p:attrName>
                                        </p:attrNameLst>
                                      </p:cBhvr>
                                      <p:to>
                                        <p:strVal val="visible"/>
                                      </p:to>
                                    </p:set>
                                    <p:animEffect transition="in" filter="fade">
                                      <p:cBhvr>
                                        <p:cTn id="172" dur="2000"/>
                                        <p:tgtEl>
                                          <p:spTgt spid="34"/>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35"/>
                                        </p:tgtEl>
                                        <p:attrNameLst>
                                          <p:attrName>style.visibility</p:attrName>
                                        </p:attrNameLst>
                                      </p:cBhvr>
                                      <p:to>
                                        <p:strVal val="visible"/>
                                      </p:to>
                                    </p:set>
                                    <p:animEffect transition="in" filter="fade">
                                      <p:cBhvr>
                                        <p:cTn id="177" dur="2000"/>
                                        <p:tgtEl>
                                          <p:spTgt spid="35"/>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grpId="0" nodeType="clickEffect">
                                  <p:stCondLst>
                                    <p:cond delay="0"/>
                                  </p:stCondLst>
                                  <p:childTnLst>
                                    <p:set>
                                      <p:cBhvr>
                                        <p:cTn id="181" dur="1" fill="hold">
                                          <p:stCondLst>
                                            <p:cond delay="0"/>
                                          </p:stCondLst>
                                        </p:cTn>
                                        <p:tgtEl>
                                          <p:spTgt spid="27"/>
                                        </p:tgtEl>
                                        <p:attrNameLst>
                                          <p:attrName>style.visibility</p:attrName>
                                        </p:attrNameLst>
                                      </p:cBhvr>
                                      <p:to>
                                        <p:strVal val="visible"/>
                                      </p:to>
                                    </p:set>
                                    <p:animEffect transition="in" filter="fade">
                                      <p:cBhvr>
                                        <p:cTn id="182" dur="2000"/>
                                        <p:tgtEl>
                                          <p:spTgt spid="27"/>
                                        </p:tgtEl>
                                      </p:cBhvr>
                                    </p:animEffec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animBg="1"/>
      <p:bldP spid="10" grpId="0" animBg="1"/>
      <p:bldP spid="11" grpId="0" animBg="1"/>
      <p:bldP spid="12" grpId="0" animBg="1"/>
      <p:bldP spid="13" grpId="0" animBg="1"/>
      <p:bldP spid="14" grpId="0" animBg="1"/>
      <p:bldP spid="15" grpId="0" animBg="1"/>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3478088" cy="691277"/>
          </a:xfrm>
        </p:spPr>
        <p:txBody>
          <a:bodyPr/>
          <a:lstStyle/>
          <a:p>
            <a:r>
              <a:rPr lang="en-US" sz="4400" dirty="0"/>
              <a:t>Significance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15</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 Box 4"/>
          <p:cNvSpPr txBox="1">
            <a:spLocks noChangeArrowheads="1"/>
          </p:cNvSpPr>
          <p:nvPr/>
        </p:nvSpPr>
        <p:spPr bwMode="auto">
          <a:xfrm>
            <a:off x="986972" y="1524902"/>
            <a:ext cx="711200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2000" dirty="0"/>
              <a:t>Our </a:t>
            </a:r>
            <a:r>
              <a:rPr lang="en-US" sz="2000" dirty="0">
                <a:solidFill>
                  <a:srgbClr val="6600CC"/>
                </a:solidFill>
              </a:rPr>
              <a:t>linear search algorithm</a:t>
            </a:r>
            <a:r>
              <a:rPr lang="en-US" sz="2000" dirty="0"/>
              <a:t> requires </a:t>
            </a:r>
            <a:r>
              <a:rPr lang="en-US" sz="2000" dirty="0">
                <a:solidFill>
                  <a:srgbClr val="6600CC"/>
                </a:solidFill>
              </a:rPr>
              <a:t>N/2 steps</a:t>
            </a:r>
            <a:r>
              <a:rPr lang="en-US" sz="2000" dirty="0"/>
              <a:t>, on average, to guess the user’s secret word.</a:t>
            </a:r>
          </a:p>
          <a:p>
            <a:pPr algn="ctr"/>
            <a:r>
              <a:rPr lang="en-US" sz="1600" dirty="0">
                <a:solidFill>
                  <a:srgbClr val="FF0000"/>
                </a:solidFill>
              </a:rPr>
              <a:t>(~50,000 steps</a:t>
            </a:r>
            <a:r>
              <a:rPr lang="en-US" sz="1600" dirty="0">
                <a:solidFill>
                  <a:srgbClr val="006666"/>
                </a:solidFill>
              </a:rPr>
              <a:t> for a dictionary with 100,000 words)</a:t>
            </a:r>
          </a:p>
        </p:txBody>
      </p:sp>
      <p:sp>
        <p:nvSpPr>
          <p:cNvPr id="7" name="Text Box 5"/>
          <p:cNvSpPr txBox="1">
            <a:spLocks noChangeArrowheads="1"/>
          </p:cNvSpPr>
          <p:nvPr/>
        </p:nvSpPr>
        <p:spPr bwMode="auto">
          <a:xfrm>
            <a:off x="754744" y="3258686"/>
            <a:ext cx="7779657"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2000" dirty="0"/>
              <a:t>But our </a:t>
            </a:r>
            <a:r>
              <a:rPr lang="en-US" sz="2000" dirty="0">
                <a:solidFill>
                  <a:srgbClr val="6600CC"/>
                </a:solidFill>
              </a:rPr>
              <a:t>binary search algorithm</a:t>
            </a:r>
            <a:r>
              <a:rPr lang="en-US" sz="2000" dirty="0"/>
              <a:t> only requires </a:t>
            </a:r>
            <a:r>
              <a:rPr lang="en-US" sz="2000" dirty="0">
                <a:solidFill>
                  <a:srgbClr val="6600CC"/>
                </a:solidFill>
              </a:rPr>
              <a:t>log</a:t>
            </a:r>
            <a:r>
              <a:rPr lang="en-US" sz="2000" baseline="-25000" dirty="0">
                <a:solidFill>
                  <a:srgbClr val="6600CC"/>
                </a:solidFill>
              </a:rPr>
              <a:t>2</a:t>
            </a:r>
            <a:r>
              <a:rPr lang="en-US" sz="2000" dirty="0">
                <a:solidFill>
                  <a:srgbClr val="6600CC"/>
                </a:solidFill>
              </a:rPr>
              <a:t>(N) steps</a:t>
            </a:r>
            <a:r>
              <a:rPr lang="en-US" sz="2000" dirty="0"/>
              <a:t>, on average, to guess the user’s secret word.</a:t>
            </a:r>
          </a:p>
          <a:p>
            <a:pPr algn="ctr"/>
            <a:r>
              <a:rPr lang="en-US" sz="1600" dirty="0">
                <a:solidFill>
                  <a:srgbClr val="FF0000"/>
                </a:solidFill>
              </a:rPr>
              <a:t>(~17 steps</a:t>
            </a:r>
            <a:r>
              <a:rPr lang="en-US" sz="1600" dirty="0">
                <a:solidFill>
                  <a:srgbClr val="006666"/>
                </a:solidFill>
              </a:rPr>
              <a:t> for a dictionary with 100,000 words)</a:t>
            </a:r>
            <a:endParaRPr lang="en-US" sz="1600" dirty="0"/>
          </a:p>
        </p:txBody>
      </p:sp>
      <p:sp>
        <p:nvSpPr>
          <p:cNvPr id="8" name="Text Box 6"/>
          <p:cNvSpPr txBox="1">
            <a:spLocks noChangeArrowheads="1"/>
          </p:cNvSpPr>
          <p:nvPr/>
        </p:nvSpPr>
        <p:spPr bwMode="auto">
          <a:xfrm>
            <a:off x="301625" y="5118335"/>
            <a:ext cx="86185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dirty="0"/>
              <a:t>If, instead of a dictionary, we had to search a database of </a:t>
            </a:r>
            <a:r>
              <a:rPr lang="en-US" sz="2400" dirty="0">
                <a:solidFill>
                  <a:srgbClr val="6600CC"/>
                </a:solidFill>
              </a:rPr>
              <a:t>300 million people</a:t>
            </a:r>
            <a:r>
              <a:rPr lang="en-US" sz="2400" dirty="0"/>
              <a:t>, which algorithm would you choose?</a:t>
            </a:r>
          </a:p>
        </p:txBody>
      </p:sp>
    </p:spTree>
    <p:extLst>
      <p:ext uri="{BB962C8B-B14F-4D97-AF65-F5344CB8AC3E}">
        <p14:creationId xmlns:p14="http://schemas.microsoft.com/office/powerpoint/2010/main" val="52279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5550074" cy="691277"/>
          </a:xfrm>
        </p:spPr>
        <p:txBody>
          <a:bodyPr/>
          <a:lstStyle/>
          <a:p>
            <a:r>
              <a:rPr lang="en-US" sz="4400" dirty="0"/>
              <a:t>A data Structure :FB</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16</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grpSp>
        <p:nvGrpSpPr>
          <p:cNvPr id="6" name="Group 5"/>
          <p:cNvGrpSpPr/>
          <p:nvPr/>
        </p:nvGrpSpPr>
        <p:grpSpPr>
          <a:xfrm>
            <a:off x="168874" y="797831"/>
            <a:ext cx="7521103" cy="1097819"/>
            <a:chOff x="160338" y="826407"/>
            <a:chExt cx="7521103" cy="1097819"/>
          </a:xfrm>
        </p:grpSpPr>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1050" y="826407"/>
              <a:ext cx="1960391" cy="10978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 Box 3"/>
            <p:cNvSpPr txBox="1">
              <a:spLocks noChangeArrowheads="1"/>
            </p:cNvSpPr>
            <p:nvPr/>
          </p:nvSpPr>
          <p:spPr bwMode="auto">
            <a:xfrm>
              <a:off x="160338" y="949325"/>
              <a:ext cx="654090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dirty="0">
                  <a:cs typeface="Courier New" pitchFamily="49" charset="0"/>
                </a:rPr>
                <a:t>Imagine that you’re building a social </a:t>
              </a:r>
              <a:br>
                <a:rPr lang="en-US" sz="2000" dirty="0">
                  <a:cs typeface="Courier New" pitchFamily="49" charset="0"/>
                </a:rPr>
              </a:br>
              <a:r>
                <a:rPr lang="en-US" sz="2000" dirty="0">
                  <a:cs typeface="Courier New" pitchFamily="49" charset="0"/>
                </a:rPr>
                <a:t>network website like </a:t>
              </a:r>
              <a:r>
                <a:rPr lang="en-US" sz="2000" dirty="0">
                  <a:solidFill>
                    <a:srgbClr val="6600CC"/>
                  </a:solidFill>
                  <a:cs typeface="Courier New" pitchFamily="49" charset="0"/>
                </a:rPr>
                <a:t>Facebook</a:t>
              </a:r>
              <a:r>
                <a:rPr lang="en-US" sz="2000" dirty="0">
                  <a:cs typeface="Courier New" pitchFamily="49" charset="0"/>
                </a:rPr>
                <a:t>…</a:t>
              </a:r>
              <a:r>
                <a:rPr lang="en-US" sz="2000" dirty="0"/>
                <a:t> </a:t>
              </a:r>
            </a:p>
          </p:txBody>
        </p:sp>
      </p:grpSp>
      <p:sp>
        <p:nvSpPr>
          <p:cNvPr id="9" name="Text Box 17"/>
          <p:cNvSpPr txBox="1">
            <a:spLocks noChangeArrowheads="1"/>
          </p:cNvSpPr>
          <p:nvPr/>
        </p:nvSpPr>
        <p:spPr bwMode="auto">
          <a:xfrm>
            <a:off x="4211856" y="1987755"/>
            <a:ext cx="4876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dirty="0">
                <a:cs typeface="Courier New" pitchFamily="49" charset="0"/>
              </a:rPr>
              <a:t>And you want to keep track of </a:t>
            </a:r>
            <a:br>
              <a:rPr lang="en-US" sz="2000" dirty="0">
                <a:cs typeface="Courier New" pitchFamily="49" charset="0"/>
              </a:rPr>
            </a:br>
            <a:r>
              <a:rPr lang="en-US" sz="2000" dirty="0">
                <a:cs typeface="Courier New" pitchFamily="49" charset="0"/>
              </a:rPr>
              <a:t>who made friends with whom…</a:t>
            </a:r>
            <a:endParaRPr lang="en-US" sz="2000" dirty="0"/>
          </a:p>
        </p:txBody>
      </p:sp>
      <p:sp>
        <p:nvSpPr>
          <p:cNvPr id="10" name="Text Box 18"/>
          <p:cNvSpPr txBox="1">
            <a:spLocks noChangeArrowheads="1"/>
          </p:cNvSpPr>
          <p:nvPr/>
        </p:nvSpPr>
        <p:spPr bwMode="auto">
          <a:xfrm>
            <a:off x="4211856" y="2895600"/>
            <a:ext cx="4876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dirty="0"/>
              <a:t>How would you do it?</a:t>
            </a:r>
          </a:p>
        </p:txBody>
      </p:sp>
      <p:sp>
        <p:nvSpPr>
          <p:cNvPr id="11" name="Text Box 19"/>
          <p:cNvSpPr txBox="1">
            <a:spLocks noChangeArrowheads="1"/>
          </p:cNvSpPr>
          <p:nvPr/>
        </p:nvSpPr>
        <p:spPr bwMode="auto">
          <a:xfrm>
            <a:off x="4526452" y="3421928"/>
            <a:ext cx="431274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800" dirty="0"/>
              <a:t>Well, one </a:t>
            </a:r>
            <a:r>
              <a:rPr lang="en-US" sz="1800" i="1" dirty="0">
                <a:solidFill>
                  <a:srgbClr val="FF0000"/>
                </a:solidFill>
              </a:rPr>
              <a:t>data structure </a:t>
            </a:r>
            <a:br>
              <a:rPr lang="en-US" sz="1800" i="1" dirty="0">
                <a:solidFill>
                  <a:srgbClr val="FF0000"/>
                </a:solidFill>
              </a:rPr>
            </a:br>
            <a:r>
              <a:rPr lang="en-US" sz="1800" i="1" dirty="0"/>
              <a:t>we could use would be a long</a:t>
            </a:r>
            <a:br>
              <a:rPr lang="en-US" sz="1800" dirty="0"/>
            </a:br>
            <a:r>
              <a:rPr lang="en-US" sz="1800" dirty="0">
                <a:solidFill>
                  <a:schemeClr val="accent2"/>
                </a:solidFill>
              </a:rPr>
              <a:t>list</a:t>
            </a:r>
            <a:r>
              <a:rPr lang="en-US" sz="1800" dirty="0"/>
              <a:t> </a:t>
            </a:r>
            <a:r>
              <a:rPr lang="en-US" sz="1800" dirty="0">
                <a:solidFill>
                  <a:schemeClr val="accent2"/>
                </a:solidFill>
              </a:rPr>
              <a:t>of every pair of friends</a:t>
            </a:r>
            <a:r>
              <a:rPr lang="en-US" sz="1800" dirty="0"/>
              <a:t>…</a:t>
            </a:r>
          </a:p>
        </p:txBody>
      </p:sp>
      <p:sp>
        <p:nvSpPr>
          <p:cNvPr id="12" name="Text Box 20"/>
          <p:cNvSpPr txBox="1">
            <a:spLocks noChangeArrowheads="1"/>
          </p:cNvSpPr>
          <p:nvPr/>
        </p:nvSpPr>
        <p:spPr bwMode="auto">
          <a:xfrm>
            <a:off x="212725" y="1974850"/>
            <a:ext cx="3716701" cy="3170099"/>
          </a:xfrm>
          <a:prstGeom prst="rect">
            <a:avLst/>
          </a:prstGeom>
          <a:solidFill>
            <a:srgbClr val="FFFFCC"/>
          </a:solidFill>
          <a:ln w="9525">
            <a:solidFill>
              <a:schemeClr val="tx1"/>
            </a:solidFill>
            <a:miter lim="800000"/>
            <a:headEnd/>
            <a:tailEnd/>
          </a:ln>
        </p:spPr>
        <p:txBody>
          <a:bodyPr wrap="squar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2000" b="1" u="sng" dirty="0">
                <a:solidFill>
                  <a:srgbClr val="800000"/>
                </a:solidFill>
              </a:rPr>
              <a:t>Friend A</a:t>
            </a:r>
            <a:r>
              <a:rPr lang="en-US" sz="2000" b="1" dirty="0">
                <a:solidFill>
                  <a:srgbClr val="800000"/>
                </a:solidFill>
              </a:rPr>
              <a:t>    	 </a:t>
            </a:r>
            <a:r>
              <a:rPr lang="en-US" sz="2000" b="1" u="sng" dirty="0">
                <a:solidFill>
                  <a:srgbClr val="800000"/>
                </a:solidFill>
              </a:rPr>
              <a:t>Friend B   </a:t>
            </a:r>
            <a:endParaRPr lang="en-US" sz="2000" b="1" u="sng" dirty="0">
              <a:solidFill>
                <a:srgbClr val="006666"/>
              </a:solidFill>
            </a:endParaRPr>
          </a:p>
          <a:p>
            <a:pPr eaLnBrk="1" hangingPunct="1"/>
            <a:r>
              <a:rPr lang="en-US" sz="1800" dirty="0">
                <a:solidFill>
                  <a:srgbClr val="800000"/>
                </a:solidFill>
                <a:latin typeface="+mj-lt"/>
              </a:rPr>
              <a:t>Danny Hsu</a:t>
            </a:r>
            <a:r>
              <a:rPr lang="en-US" sz="1800" dirty="0">
                <a:latin typeface="+mj-lt"/>
              </a:rPr>
              <a:t>  	 </a:t>
            </a:r>
            <a:r>
              <a:rPr lang="en-US" sz="1800" dirty="0">
                <a:solidFill>
                  <a:srgbClr val="006666"/>
                </a:solidFill>
                <a:latin typeface="+mj-lt"/>
              </a:rPr>
              <a:t>Jenny Oh</a:t>
            </a:r>
          </a:p>
          <a:p>
            <a:pPr eaLnBrk="1" hangingPunct="1"/>
            <a:r>
              <a:rPr lang="en-US" sz="1800" dirty="0">
                <a:solidFill>
                  <a:srgbClr val="800000"/>
                </a:solidFill>
                <a:latin typeface="+mj-lt"/>
              </a:rPr>
              <a:t>Danny Hsu</a:t>
            </a:r>
            <a:r>
              <a:rPr lang="en-US" sz="1800" dirty="0">
                <a:latin typeface="+mj-lt"/>
              </a:rPr>
              <a:t>  	 </a:t>
            </a:r>
            <a:r>
              <a:rPr lang="en-US" sz="1800" dirty="0">
                <a:solidFill>
                  <a:srgbClr val="006666"/>
                </a:solidFill>
                <a:latin typeface="+mj-lt"/>
              </a:rPr>
              <a:t>Rich Lim</a:t>
            </a:r>
          </a:p>
          <a:p>
            <a:pPr eaLnBrk="1" hangingPunct="1"/>
            <a:r>
              <a:rPr lang="en-US" sz="1800" dirty="0">
                <a:solidFill>
                  <a:srgbClr val="800000"/>
                </a:solidFill>
                <a:latin typeface="+mj-lt"/>
              </a:rPr>
              <a:t>Jenny Oh</a:t>
            </a:r>
            <a:r>
              <a:rPr lang="en-US" sz="1800" dirty="0">
                <a:latin typeface="+mj-lt"/>
              </a:rPr>
              <a:t>   	 </a:t>
            </a:r>
            <a:r>
              <a:rPr lang="en-US" sz="1800" dirty="0">
                <a:solidFill>
                  <a:srgbClr val="006666"/>
                </a:solidFill>
                <a:latin typeface="+mj-lt"/>
              </a:rPr>
              <a:t>David Sun</a:t>
            </a:r>
          </a:p>
          <a:p>
            <a:pPr eaLnBrk="1" hangingPunct="1"/>
            <a:r>
              <a:rPr lang="en-US" sz="1800" dirty="0">
                <a:solidFill>
                  <a:srgbClr val="800000"/>
                </a:solidFill>
                <a:latin typeface="+mj-lt"/>
              </a:rPr>
              <a:t>Danny Hsu</a:t>
            </a:r>
            <a:r>
              <a:rPr lang="en-US" sz="1800" dirty="0">
                <a:latin typeface="+mj-lt"/>
              </a:rPr>
              <a:t>  	 </a:t>
            </a:r>
            <a:r>
              <a:rPr lang="en-US" sz="1800" dirty="0">
                <a:solidFill>
                  <a:srgbClr val="006666"/>
                </a:solidFill>
                <a:latin typeface="+mj-lt"/>
              </a:rPr>
              <a:t>Carey Nash</a:t>
            </a:r>
          </a:p>
          <a:p>
            <a:pPr eaLnBrk="1" hangingPunct="1"/>
            <a:r>
              <a:rPr lang="en-US" sz="1800" dirty="0">
                <a:solidFill>
                  <a:srgbClr val="800000"/>
                </a:solidFill>
                <a:latin typeface="+mj-lt"/>
              </a:rPr>
              <a:t>Carey Nash</a:t>
            </a:r>
            <a:r>
              <a:rPr lang="en-US" sz="1800" dirty="0">
                <a:latin typeface="+mj-lt"/>
              </a:rPr>
              <a:t> 	 </a:t>
            </a:r>
            <a:r>
              <a:rPr lang="en-US" sz="1800" dirty="0">
                <a:solidFill>
                  <a:srgbClr val="006666"/>
                </a:solidFill>
                <a:latin typeface="+mj-lt"/>
              </a:rPr>
              <a:t>Scott Wilhelm</a:t>
            </a:r>
          </a:p>
          <a:p>
            <a:pPr eaLnBrk="1" hangingPunct="1"/>
            <a:r>
              <a:rPr lang="en-US" sz="1800" dirty="0" err="1">
                <a:solidFill>
                  <a:srgbClr val="800000"/>
                </a:solidFill>
                <a:latin typeface="+mj-lt"/>
              </a:rPr>
              <a:t>Melani</a:t>
            </a:r>
            <a:r>
              <a:rPr lang="en-US" sz="1800" dirty="0">
                <a:solidFill>
                  <a:srgbClr val="800000"/>
                </a:solidFill>
                <a:latin typeface="+mj-lt"/>
              </a:rPr>
              <a:t> </a:t>
            </a:r>
            <a:r>
              <a:rPr lang="en-US" sz="1800" dirty="0" err="1">
                <a:solidFill>
                  <a:srgbClr val="800000"/>
                </a:solidFill>
                <a:latin typeface="+mj-lt"/>
              </a:rPr>
              <a:t>Kan</a:t>
            </a:r>
            <a:r>
              <a:rPr lang="en-US" sz="1800" dirty="0">
                <a:latin typeface="+mj-lt"/>
              </a:rPr>
              <a:t> 	 </a:t>
            </a:r>
            <a:r>
              <a:rPr lang="en-US" sz="1800" dirty="0">
                <a:solidFill>
                  <a:srgbClr val="006666"/>
                </a:solidFill>
                <a:latin typeface="+mj-lt"/>
              </a:rPr>
              <a:t>Danny Hsu</a:t>
            </a:r>
          </a:p>
          <a:p>
            <a:pPr eaLnBrk="1" hangingPunct="1"/>
            <a:r>
              <a:rPr lang="en-US" sz="1800" dirty="0">
                <a:solidFill>
                  <a:srgbClr val="800000"/>
                </a:solidFill>
                <a:latin typeface="+mj-lt"/>
              </a:rPr>
              <a:t>Carey Nash</a:t>
            </a:r>
            <a:r>
              <a:rPr lang="en-US" sz="1800" dirty="0">
                <a:latin typeface="+mj-lt"/>
              </a:rPr>
              <a:t> 	 </a:t>
            </a:r>
            <a:r>
              <a:rPr lang="en-US" sz="1800" dirty="0">
                <a:solidFill>
                  <a:srgbClr val="006666"/>
                </a:solidFill>
                <a:latin typeface="+mj-lt"/>
              </a:rPr>
              <a:t>David Small</a:t>
            </a:r>
          </a:p>
          <a:p>
            <a:pPr eaLnBrk="1" hangingPunct="1"/>
            <a:r>
              <a:rPr lang="en-US" sz="1800" dirty="0">
                <a:solidFill>
                  <a:srgbClr val="800000"/>
                </a:solidFill>
                <a:latin typeface="+mj-lt"/>
              </a:rPr>
              <a:t>Jenny Oh</a:t>
            </a:r>
            <a:r>
              <a:rPr lang="en-US" sz="1800" dirty="0">
                <a:latin typeface="+mj-lt"/>
              </a:rPr>
              <a:t>   	 </a:t>
            </a:r>
            <a:r>
              <a:rPr lang="en-US" sz="1800" dirty="0">
                <a:solidFill>
                  <a:srgbClr val="006666"/>
                </a:solidFill>
                <a:latin typeface="+mj-lt"/>
              </a:rPr>
              <a:t>Len </a:t>
            </a:r>
            <a:r>
              <a:rPr lang="en-US" sz="1800" dirty="0" err="1">
                <a:solidFill>
                  <a:srgbClr val="006666"/>
                </a:solidFill>
                <a:latin typeface="+mj-lt"/>
              </a:rPr>
              <a:t>Kleinrock</a:t>
            </a:r>
            <a:endParaRPr lang="en-US" sz="1800" dirty="0">
              <a:solidFill>
                <a:srgbClr val="006666"/>
              </a:solidFill>
              <a:latin typeface="+mj-lt"/>
            </a:endParaRPr>
          </a:p>
          <a:p>
            <a:pPr eaLnBrk="1" hangingPunct="1"/>
            <a:r>
              <a:rPr lang="en-US" sz="1800" dirty="0">
                <a:solidFill>
                  <a:srgbClr val="800000"/>
                </a:solidFill>
                <a:latin typeface="+mj-lt"/>
              </a:rPr>
              <a:t>Jenny Oh</a:t>
            </a:r>
            <a:r>
              <a:rPr lang="en-US" sz="1800" dirty="0">
                <a:latin typeface="+mj-lt"/>
              </a:rPr>
              <a:t>   	 </a:t>
            </a:r>
            <a:r>
              <a:rPr lang="en-US" sz="1800" dirty="0">
                <a:solidFill>
                  <a:srgbClr val="006666"/>
                </a:solidFill>
                <a:latin typeface="+mj-lt"/>
              </a:rPr>
              <a:t>Mario </a:t>
            </a:r>
            <a:r>
              <a:rPr lang="en-US" sz="1800" dirty="0" err="1">
                <a:solidFill>
                  <a:srgbClr val="006666"/>
                </a:solidFill>
                <a:latin typeface="+mj-lt"/>
              </a:rPr>
              <a:t>Giso</a:t>
            </a:r>
            <a:endParaRPr lang="en-US" sz="1800" dirty="0">
              <a:solidFill>
                <a:srgbClr val="006666"/>
              </a:solidFill>
              <a:latin typeface="+mj-lt"/>
            </a:endParaRPr>
          </a:p>
          <a:p>
            <a:pPr eaLnBrk="1" hangingPunct="1"/>
            <a:r>
              <a:rPr lang="en-US" sz="1800" dirty="0">
                <a:solidFill>
                  <a:srgbClr val="800000"/>
                </a:solidFill>
                <a:latin typeface="+mj-lt"/>
              </a:rPr>
              <a:t>Mario </a:t>
            </a:r>
            <a:r>
              <a:rPr lang="en-US" sz="1800" dirty="0" err="1">
                <a:solidFill>
                  <a:srgbClr val="800000"/>
                </a:solidFill>
                <a:latin typeface="+mj-lt"/>
              </a:rPr>
              <a:t>Giso</a:t>
            </a:r>
            <a:r>
              <a:rPr lang="en-US" sz="1800" dirty="0">
                <a:latin typeface="+mj-lt"/>
              </a:rPr>
              <a:t> 	 </a:t>
            </a:r>
            <a:r>
              <a:rPr lang="en-US" sz="1800" dirty="0">
                <a:solidFill>
                  <a:srgbClr val="006666"/>
                </a:solidFill>
                <a:latin typeface="+mj-lt"/>
              </a:rPr>
              <a:t>Rich Nguyen</a:t>
            </a:r>
          </a:p>
        </p:txBody>
      </p:sp>
      <p:sp>
        <p:nvSpPr>
          <p:cNvPr id="13" name="Text Box 21"/>
          <p:cNvSpPr txBox="1">
            <a:spLocks noChangeArrowheads="1"/>
          </p:cNvSpPr>
          <p:nvPr/>
        </p:nvSpPr>
        <p:spPr bwMode="auto">
          <a:xfrm>
            <a:off x="4161850" y="4683125"/>
            <a:ext cx="49768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800" dirty="0"/>
              <a:t>Now how could I find out if </a:t>
            </a:r>
            <a:br>
              <a:rPr lang="en-US" sz="1800" dirty="0"/>
            </a:br>
            <a:r>
              <a:rPr lang="en-US" sz="1800" dirty="0">
                <a:solidFill>
                  <a:srgbClr val="6600CC"/>
                </a:solidFill>
              </a:rPr>
              <a:t>Jenny Oh </a:t>
            </a:r>
            <a:r>
              <a:rPr lang="en-US" sz="1800" dirty="0"/>
              <a:t>is a friend of </a:t>
            </a:r>
            <a:r>
              <a:rPr lang="en-US" sz="1800" dirty="0">
                <a:solidFill>
                  <a:srgbClr val="6600CC"/>
                </a:solidFill>
              </a:rPr>
              <a:t>Mario </a:t>
            </a:r>
            <a:r>
              <a:rPr lang="en-US" sz="1800" dirty="0" err="1">
                <a:solidFill>
                  <a:srgbClr val="6600CC"/>
                </a:solidFill>
              </a:rPr>
              <a:t>Giso</a:t>
            </a:r>
            <a:r>
              <a:rPr lang="en-US" sz="1800" dirty="0"/>
              <a:t>?</a:t>
            </a:r>
          </a:p>
        </p:txBody>
      </p:sp>
      <p:sp>
        <p:nvSpPr>
          <p:cNvPr id="14" name="Rectangle 24"/>
          <p:cNvSpPr>
            <a:spLocks noChangeArrowheads="1"/>
          </p:cNvSpPr>
          <p:nvPr/>
        </p:nvSpPr>
        <p:spPr bwMode="auto">
          <a:xfrm>
            <a:off x="257538" y="2341698"/>
            <a:ext cx="3671888" cy="254431"/>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p>
        </p:txBody>
      </p:sp>
      <p:sp>
        <p:nvSpPr>
          <p:cNvPr id="15" name="Text Box 25"/>
          <p:cNvSpPr txBox="1">
            <a:spLocks noChangeArrowheads="1"/>
          </p:cNvSpPr>
          <p:nvPr/>
        </p:nvSpPr>
        <p:spPr bwMode="auto">
          <a:xfrm>
            <a:off x="4356675" y="5529262"/>
            <a:ext cx="4482525" cy="923330"/>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800" dirty="0"/>
              <a:t>Well, we could search through</a:t>
            </a:r>
            <a:br>
              <a:rPr lang="en-US" sz="1800" dirty="0"/>
            </a:br>
            <a:r>
              <a:rPr lang="en-US" sz="1800" dirty="0"/>
              <a:t>every pair until we find the friendship we are looking for…</a:t>
            </a:r>
          </a:p>
        </p:txBody>
      </p:sp>
      <p:sp>
        <p:nvSpPr>
          <p:cNvPr id="16" name="Text Box 25"/>
          <p:cNvSpPr txBox="1">
            <a:spLocks noChangeArrowheads="1"/>
          </p:cNvSpPr>
          <p:nvPr/>
        </p:nvSpPr>
        <p:spPr bwMode="auto">
          <a:xfrm>
            <a:off x="66675" y="5292725"/>
            <a:ext cx="4102100" cy="1200329"/>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800" dirty="0">
                <a:solidFill>
                  <a:srgbClr val="006666"/>
                </a:solidFill>
              </a:rPr>
              <a:t>Hmmm. But if we had </a:t>
            </a:r>
            <a:br>
              <a:rPr lang="en-US" sz="1800" dirty="0">
                <a:solidFill>
                  <a:srgbClr val="006666"/>
                </a:solidFill>
              </a:rPr>
            </a:br>
            <a:r>
              <a:rPr lang="en-US" sz="1800" dirty="0">
                <a:solidFill>
                  <a:srgbClr val="FF0000"/>
                </a:solidFill>
              </a:rPr>
              <a:t>100 million users</a:t>
            </a:r>
            <a:r>
              <a:rPr lang="en-US" sz="1800" dirty="0">
                <a:solidFill>
                  <a:srgbClr val="006666"/>
                </a:solidFill>
              </a:rPr>
              <a:t> with </a:t>
            </a:r>
            <a:br>
              <a:rPr lang="en-US" sz="1800" dirty="0">
                <a:solidFill>
                  <a:srgbClr val="006666"/>
                </a:solidFill>
              </a:rPr>
            </a:br>
            <a:r>
              <a:rPr lang="en-US" sz="1800" dirty="0">
                <a:solidFill>
                  <a:srgbClr val="FF0000"/>
                </a:solidFill>
              </a:rPr>
              <a:t>10 billion friendships</a:t>
            </a:r>
            <a:r>
              <a:rPr lang="en-US" sz="1800" dirty="0">
                <a:solidFill>
                  <a:srgbClr val="006666"/>
                </a:solidFill>
              </a:rPr>
              <a:t>, that </a:t>
            </a:r>
            <a:br>
              <a:rPr lang="en-US" sz="1800" dirty="0">
                <a:solidFill>
                  <a:srgbClr val="006666"/>
                </a:solidFill>
              </a:rPr>
            </a:br>
            <a:r>
              <a:rPr lang="en-US" sz="1800" dirty="0">
                <a:solidFill>
                  <a:srgbClr val="006666"/>
                </a:solidFill>
              </a:rPr>
              <a:t>might be a bit too slow! </a:t>
            </a:r>
            <a:r>
              <a:rPr lang="en-US" sz="1800" dirty="0">
                <a:solidFill>
                  <a:srgbClr val="006666"/>
                </a:solidFill>
                <a:sym typeface="Wingdings" pitchFamily="2" charset="2"/>
              </a:rPr>
              <a:t></a:t>
            </a:r>
            <a:endParaRPr lang="en-US" sz="1800" dirty="0">
              <a:solidFill>
                <a:srgbClr val="006666"/>
              </a:solidFill>
            </a:endParaRPr>
          </a:p>
        </p:txBody>
      </p:sp>
      <p:sp>
        <p:nvSpPr>
          <p:cNvPr id="17" name="Left Arrow 16"/>
          <p:cNvSpPr/>
          <p:nvPr/>
        </p:nvSpPr>
        <p:spPr>
          <a:xfrm>
            <a:off x="3415215" y="1472301"/>
            <a:ext cx="4869800" cy="2016477"/>
          </a:xfrm>
          <a:prstGeom prst="leftArrow">
            <a:avLst>
              <a:gd name="adj1" fmla="val 57594"/>
              <a:gd name="adj2" fmla="val 50000"/>
            </a:avLst>
          </a:prstGeom>
          <a:solidFill>
            <a:srgbClr val="EAFF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solidFill>
              </a:rPr>
              <a:t>For example, this line indicates that Danny and Jenny are friends.</a:t>
            </a:r>
          </a:p>
        </p:txBody>
      </p:sp>
    </p:spTree>
    <p:extLst>
      <p:ext uri="{BB962C8B-B14F-4D97-AF65-F5344CB8AC3E}">
        <p14:creationId xmlns:p14="http://schemas.microsoft.com/office/powerpoint/2010/main" val="187604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0-#ppt_w/2"/>
                                          </p:val>
                                        </p:tav>
                                        <p:tav tm="100000">
                                          <p:val>
                                            <p:strVal val="#ppt_x"/>
                                          </p:val>
                                        </p:tav>
                                      </p:tavLst>
                                    </p:anim>
                                    <p:anim calcmode="lin" valueType="num">
                                      <p:cBhvr additive="base">
                                        <p:cTn id="2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right)">
                                      <p:cBhvr>
                                        <p:cTn id="29" dur="500"/>
                                        <p:tgtEl>
                                          <p:spTgt spid="17"/>
                                        </p:tgtEl>
                                      </p:cBhvr>
                                    </p:animEffect>
                                  </p:childTnLst>
                                </p:cTn>
                              </p:par>
                              <p:par>
                                <p:cTn id="30" presetID="22" presetClass="entr" presetSubtype="8" fill="hold" grpId="3"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17"/>
                                        </p:tgtEl>
                                      </p:cBhvr>
                                    </p:animEffect>
                                    <p:set>
                                      <p:cBhvr>
                                        <p:cTn id="37" dur="1" fill="hold">
                                          <p:stCondLst>
                                            <p:cond delay="499"/>
                                          </p:stCondLst>
                                        </p:cTn>
                                        <p:tgtEl>
                                          <p:spTgt spid="17"/>
                                        </p:tgtEl>
                                        <p:attrNameLst>
                                          <p:attrName>style.visibility</p:attrName>
                                        </p:attrNameLst>
                                      </p:cBhvr>
                                      <p:to>
                                        <p:strVal val="hidden"/>
                                      </p:to>
                                    </p:set>
                                  </p:childTnLst>
                                </p:cTn>
                              </p:par>
                              <p:par>
                                <p:cTn id="38" presetID="1" presetClass="exit" presetSubtype="0" fill="hold" grpId="4" nodeType="withEffect">
                                  <p:stCondLst>
                                    <p:cond delay="0"/>
                                  </p:stCondLst>
                                  <p:childTnLst>
                                    <p:set>
                                      <p:cBhvr>
                                        <p:cTn id="39" dur="1" fill="hold">
                                          <p:stCondLst>
                                            <p:cond delay="0"/>
                                          </p:stCondLst>
                                        </p:cTn>
                                        <p:tgtEl>
                                          <p:spTgt spid="1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42" presetClass="path" presetSubtype="0" fill="hold" grpId="2" nodeType="clickEffect">
                                  <p:stCondLst>
                                    <p:cond delay="0"/>
                                  </p:stCondLst>
                                  <p:childTnLst>
                                    <p:animMotion origin="layout" path="M 5.55556E-7 -3.7037E-6 L 5.55556E-7 0.31991 " pathEditMode="relative" rAng="0" ptsTypes="AA">
                                      <p:cBhvr>
                                        <p:cTn id="55" dur="1900" fill="hold"/>
                                        <p:tgtEl>
                                          <p:spTgt spid="14"/>
                                        </p:tgtEl>
                                        <p:attrNameLst>
                                          <p:attrName>ppt_x</p:attrName>
                                          <p:attrName>ppt_y</p:attrName>
                                        </p:attrNameLst>
                                      </p:cBhvr>
                                      <p:rCtr x="0" y="15995"/>
                                    </p:animMotion>
                                  </p:childTnLst>
                                </p:cTn>
                              </p:par>
                            </p:childTnLst>
                          </p:cTn>
                        </p:par>
                        <p:par>
                          <p:cTn id="56" fill="hold">
                            <p:stCondLst>
                              <p:cond delay="1900"/>
                            </p:stCondLst>
                            <p:childTnLst>
                              <p:par>
                                <p:cTn id="57" presetID="26" presetClass="emph" presetSubtype="0" repeatCount="3000" fill="hold" grpId="1" nodeType="afterEffect">
                                  <p:stCondLst>
                                    <p:cond delay="0"/>
                                  </p:stCondLst>
                                  <p:childTnLst>
                                    <p:animEffect transition="out" filter="fade">
                                      <p:cBhvr>
                                        <p:cTn id="58" dur="500" tmFilter="0, 0; .2, .5; .8, .5; 1, 0"/>
                                        <p:tgtEl>
                                          <p:spTgt spid="14"/>
                                        </p:tgtEl>
                                      </p:cBhvr>
                                    </p:animEffect>
                                    <p:animScale>
                                      <p:cBhvr>
                                        <p:cTn id="59" dur="250" autoRev="1" fill="hold"/>
                                        <p:tgtEl>
                                          <p:spTgt spid="14"/>
                                        </p:tgtEl>
                                      </p:cBhvr>
                                      <p:by x="105000" y="105000"/>
                                    </p:animScale>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animBg="1"/>
      <p:bldP spid="13" grpId="0"/>
      <p:bldP spid="14" grpId="0" animBg="1"/>
      <p:bldP spid="14" grpId="1" animBg="1"/>
      <p:bldP spid="14" grpId="2" animBg="1"/>
      <p:bldP spid="14" grpId="3" animBg="1"/>
      <p:bldP spid="14" grpId="4" animBg="1"/>
      <p:bldP spid="15" grpId="0"/>
      <p:bldP spid="16" grpId="0"/>
      <p:bldP spid="17" grpId="0" animBg="1"/>
      <p:bldP spid="17"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8856" y="152400"/>
            <a:ext cx="3768215" cy="691277"/>
          </a:xfrm>
        </p:spPr>
        <p:txBody>
          <a:bodyPr/>
          <a:lstStyle/>
          <a:p>
            <a:r>
              <a:rPr lang="en-US" sz="4400" dirty="0"/>
              <a:t>A Better One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17</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 Box 4"/>
          <p:cNvSpPr txBox="1">
            <a:spLocks noChangeArrowheads="1"/>
          </p:cNvSpPr>
          <p:nvPr/>
        </p:nvSpPr>
        <p:spPr bwMode="auto">
          <a:xfrm>
            <a:off x="139700" y="755650"/>
            <a:ext cx="39862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dirty="0"/>
              <a:t>What if instead we assigned each of our </a:t>
            </a:r>
            <a:r>
              <a:rPr lang="en-US" sz="2000" dirty="0">
                <a:solidFill>
                  <a:srgbClr val="6600CC"/>
                </a:solidFill>
              </a:rPr>
              <a:t>N</a:t>
            </a:r>
            <a:r>
              <a:rPr lang="en-US" sz="2000" dirty="0"/>
              <a:t> users a number…</a:t>
            </a:r>
          </a:p>
        </p:txBody>
      </p:sp>
      <p:sp>
        <p:nvSpPr>
          <p:cNvPr id="7" name="Text Box 5"/>
          <p:cNvSpPr txBox="1">
            <a:spLocks noChangeArrowheads="1"/>
          </p:cNvSpPr>
          <p:nvPr/>
        </p:nvSpPr>
        <p:spPr bwMode="auto">
          <a:xfrm>
            <a:off x="214313" y="2305050"/>
            <a:ext cx="3825875" cy="3785652"/>
          </a:xfrm>
          <a:prstGeom prst="rect">
            <a:avLst/>
          </a:prstGeom>
          <a:solidFill>
            <a:srgbClr val="FFFFE1"/>
          </a:solidFill>
          <a:ln w="9525">
            <a:solidFill>
              <a:schemeClr val="tx1"/>
            </a:solidFill>
            <a:miter lim="800000"/>
            <a:headEnd/>
            <a:tailEnd/>
          </a:ln>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2000" u="sng" dirty="0">
                <a:solidFill>
                  <a:srgbClr val="800000"/>
                </a:solidFill>
              </a:rPr>
              <a:t>User</a:t>
            </a:r>
            <a:r>
              <a:rPr lang="en-US" sz="2000" dirty="0"/>
              <a:t> 		           </a:t>
            </a:r>
            <a:r>
              <a:rPr lang="en-US" sz="2000" u="sng" dirty="0">
                <a:solidFill>
                  <a:srgbClr val="006666"/>
                </a:solidFill>
              </a:rPr>
              <a:t>Number</a:t>
            </a:r>
          </a:p>
          <a:p>
            <a:pPr eaLnBrk="1" hangingPunct="1"/>
            <a:r>
              <a:rPr lang="en-US" sz="2000" dirty="0">
                <a:solidFill>
                  <a:srgbClr val="800000"/>
                </a:solidFill>
              </a:rPr>
              <a:t>Carey Nash</a:t>
            </a:r>
            <a:r>
              <a:rPr lang="en-US" sz="2000" dirty="0"/>
              <a:t> 		</a:t>
            </a:r>
            <a:r>
              <a:rPr lang="en-US" sz="2000" dirty="0">
                <a:solidFill>
                  <a:srgbClr val="006666"/>
                </a:solidFill>
              </a:rPr>
              <a:t>0</a:t>
            </a:r>
          </a:p>
          <a:p>
            <a:pPr eaLnBrk="1" hangingPunct="1"/>
            <a:r>
              <a:rPr lang="en-US" sz="2000" dirty="0">
                <a:solidFill>
                  <a:srgbClr val="800000"/>
                </a:solidFill>
              </a:rPr>
              <a:t>Danny Hsu</a:t>
            </a:r>
            <a:r>
              <a:rPr lang="en-US" sz="2000" dirty="0"/>
              <a:t> 		</a:t>
            </a:r>
            <a:r>
              <a:rPr lang="en-US" sz="2000" dirty="0">
                <a:solidFill>
                  <a:srgbClr val="006666"/>
                </a:solidFill>
              </a:rPr>
              <a:t>1</a:t>
            </a:r>
            <a:br>
              <a:rPr lang="en-US" sz="2000" dirty="0"/>
            </a:br>
            <a:r>
              <a:rPr lang="en-US" sz="2000" dirty="0">
                <a:solidFill>
                  <a:srgbClr val="800000"/>
                </a:solidFill>
              </a:rPr>
              <a:t>David Small	</a:t>
            </a:r>
            <a:r>
              <a:rPr lang="en-US" sz="2000" dirty="0">
                <a:solidFill>
                  <a:srgbClr val="006666"/>
                </a:solidFill>
              </a:rPr>
              <a:t>	2</a:t>
            </a:r>
          </a:p>
          <a:p>
            <a:pPr eaLnBrk="1" hangingPunct="1"/>
            <a:r>
              <a:rPr lang="en-US" sz="2000" dirty="0">
                <a:solidFill>
                  <a:srgbClr val="800000"/>
                </a:solidFill>
              </a:rPr>
              <a:t>David</a:t>
            </a:r>
            <a:r>
              <a:rPr lang="en-US" sz="2000" dirty="0"/>
              <a:t> </a:t>
            </a:r>
            <a:r>
              <a:rPr lang="en-US" sz="2000" dirty="0">
                <a:solidFill>
                  <a:srgbClr val="800000"/>
                </a:solidFill>
              </a:rPr>
              <a:t>Sun</a:t>
            </a:r>
            <a:r>
              <a:rPr lang="en-US" sz="2000" dirty="0">
                <a:solidFill>
                  <a:srgbClr val="006666"/>
                </a:solidFill>
              </a:rPr>
              <a:t>		3</a:t>
            </a:r>
          </a:p>
          <a:p>
            <a:pPr eaLnBrk="1" hangingPunct="1"/>
            <a:r>
              <a:rPr lang="en-US" sz="2000" dirty="0">
                <a:solidFill>
                  <a:srgbClr val="800000"/>
                </a:solidFill>
              </a:rPr>
              <a:t>Jenny</a:t>
            </a:r>
            <a:r>
              <a:rPr lang="en-US" sz="2000" dirty="0"/>
              <a:t> </a:t>
            </a:r>
            <a:r>
              <a:rPr lang="en-US" sz="2000" dirty="0">
                <a:solidFill>
                  <a:srgbClr val="800000"/>
                </a:solidFill>
              </a:rPr>
              <a:t>Oh</a:t>
            </a:r>
            <a:r>
              <a:rPr lang="en-US" sz="2000" dirty="0">
                <a:solidFill>
                  <a:srgbClr val="006666"/>
                </a:solidFill>
              </a:rPr>
              <a:t>		4</a:t>
            </a:r>
          </a:p>
          <a:p>
            <a:pPr eaLnBrk="1" hangingPunct="1"/>
            <a:r>
              <a:rPr lang="en-US" sz="2000" dirty="0">
                <a:solidFill>
                  <a:srgbClr val="800000"/>
                </a:solidFill>
              </a:rPr>
              <a:t>Len</a:t>
            </a:r>
            <a:r>
              <a:rPr lang="en-US" sz="2000" dirty="0"/>
              <a:t> </a:t>
            </a:r>
            <a:r>
              <a:rPr lang="en-US" sz="2000" dirty="0" err="1">
                <a:solidFill>
                  <a:srgbClr val="800000"/>
                </a:solidFill>
              </a:rPr>
              <a:t>Kleinrock</a:t>
            </a:r>
            <a:r>
              <a:rPr lang="en-US" sz="2000" dirty="0">
                <a:solidFill>
                  <a:srgbClr val="006666"/>
                </a:solidFill>
              </a:rPr>
              <a:t>		5</a:t>
            </a:r>
          </a:p>
          <a:p>
            <a:pPr eaLnBrk="1" hangingPunct="1"/>
            <a:r>
              <a:rPr lang="en-US" sz="2000" dirty="0">
                <a:solidFill>
                  <a:srgbClr val="800000"/>
                </a:solidFill>
              </a:rPr>
              <a:t>Mario</a:t>
            </a:r>
            <a:r>
              <a:rPr lang="en-US" sz="2000" dirty="0"/>
              <a:t> </a:t>
            </a:r>
            <a:r>
              <a:rPr lang="en-US" sz="2000" dirty="0" err="1">
                <a:solidFill>
                  <a:srgbClr val="800000"/>
                </a:solidFill>
              </a:rPr>
              <a:t>Giso</a:t>
            </a:r>
            <a:r>
              <a:rPr lang="en-US" sz="2000" dirty="0">
                <a:solidFill>
                  <a:srgbClr val="006666"/>
                </a:solidFill>
              </a:rPr>
              <a:t>		6</a:t>
            </a:r>
          </a:p>
          <a:p>
            <a:pPr eaLnBrk="1" hangingPunct="1"/>
            <a:r>
              <a:rPr lang="en-US" sz="2000" dirty="0" err="1">
                <a:solidFill>
                  <a:srgbClr val="800000"/>
                </a:solidFill>
              </a:rPr>
              <a:t>Melani</a:t>
            </a:r>
            <a:r>
              <a:rPr lang="en-US" sz="2000" dirty="0">
                <a:solidFill>
                  <a:srgbClr val="800000"/>
                </a:solidFill>
              </a:rPr>
              <a:t> </a:t>
            </a:r>
            <a:r>
              <a:rPr lang="en-US" sz="2000" dirty="0" err="1">
                <a:solidFill>
                  <a:srgbClr val="800000"/>
                </a:solidFill>
              </a:rPr>
              <a:t>Kan</a:t>
            </a:r>
            <a:r>
              <a:rPr lang="en-US" sz="2000" dirty="0"/>
              <a:t> 		</a:t>
            </a:r>
            <a:r>
              <a:rPr lang="en-US" sz="2000" dirty="0">
                <a:solidFill>
                  <a:srgbClr val="006666"/>
                </a:solidFill>
              </a:rPr>
              <a:t>7</a:t>
            </a:r>
          </a:p>
          <a:p>
            <a:pPr eaLnBrk="1" hangingPunct="1"/>
            <a:r>
              <a:rPr lang="en-US" sz="2000" dirty="0">
                <a:solidFill>
                  <a:srgbClr val="800000"/>
                </a:solidFill>
              </a:rPr>
              <a:t>Rich</a:t>
            </a:r>
            <a:r>
              <a:rPr lang="en-US" sz="2000" dirty="0"/>
              <a:t> </a:t>
            </a:r>
            <a:r>
              <a:rPr lang="en-US" sz="2000" dirty="0">
                <a:solidFill>
                  <a:srgbClr val="800000"/>
                </a:solidFill>
              </a:rPr>
              <a:t>Lim</a:t>
            </a:r>
            <a:r>
              <a:rPr lang="en-US" sz="2000" dirty="0">
                <a:solidFill>
                  <a:srgbClr val="006666"/>
                </a:solidFill>
              </a:rPr>
              <a:t>		8</a:t>
            </a:r>
          </a:p>
          <a:p>
            <a:pPr eaLnBrk="1" hangingPunct="1"/>
            <a:r>
              <a:rPr lang="en-US" sz="2000" dirty="0">
                <a:solidFill>
                  <a:srgbClr val="800000"/>
                </a:solidFill>
              </a:rPr>
              <a:t>Rich</a:t>
            </a:r>
            <a:r>
              <a:rPr lang="en-US" sz="2000" dirty="0"/>
              <a:t> </a:t>
            </a:r>
            <a:r>
              <a:rPr lang="en-US" sz="2000" dirty="0">
                <a:solidFill>
                  <a:srgbClr val="800000"/>
                </a:solidFill>
              </a:rPr>
              <a:t>Nguyen</a:t>
            </a:r>
            <a:r>
              <a:rPr lang="en-US" sz="2000" dirty="0">
                <a:solidFill>
                  <a:srgbClr val="006666"/>
                </a:solidFill>
              </a:rPr>
              <a:t>		9</a:t>
            </a:r>
          </a:p>
          <a:p>
            <a:pPr eaLnBrk="1" hangingPunct="1"/>
            <a:r>
              <a:rPr lang="en-US" sz="2000" dirty="0">
                <a:solidFill>
                  <a:srgbClr val="800000"/>
                </a:solidFill>
              </a:rPr>
              <a:t>Scott Wilhelm</a:t>
            </a:r>
            <a:r>
              <a:rPr lang="en-US" sz="2000" dirty="0">
                <a:solidFill>
                  <a:srgbClr val="006666"/>
                </a:solidFill>
              </a:rPr>
              <a:t>		10</a:t>
            </a:r>
          </a:p>
        </p:txBody>
      </p:sp>
      <p:sp>
        <p:nvSpPr>
          <p:cNvPr id="8" name="Text Box 20"/>
          <p:cNvSpPr txBox="1">
            <a:spLocks noChangeArrowheads="1"/>
          </p:cNvSpPr>
          <p:nvPr/>
        </p:nvSpPr>
        <p:spPr bwMode="auto">
          <a:xfrm>
            <a:off x="463550" y="4552950"/>
            <a:ext cx="3825875" cy="3152775"/>
          </a:xfrm>
          <a:prstGeom prst="rect">
            <a:avLst/>
          </a:prstGeom>
          <a:solidFill>
            <a:srgbClr val="CCFFFF"/>
          </a:solidFill>
          <a:ln w="9525">
            <a:solidFill>
              <a:schemeClr val="tx1"/>
            </a:solidFill>
            <a:miter lim="800000"/>
            <a:headEnd/>
            <a:tailEnd/>
          </a:ln>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2000" b="1" u="sng" dirty="0" err="1">
                <a:solidFill>
                  <a:srgbClr val="800000"/>
                </a:solidFill>
              </a:rPr>
              <a:t>FriendA</a:t>
            </a:r>
            <a:r>
              <a:rPr lang="en-US" sz="2000" dirty="0"/>
              <a:t> 	</a:t>
            </a:r>
            <a:r>
              <a:rPr lang="en-US" sz="2000" b="1" u="sng" dirty="0" err="1">
                <a:solidFill>
                  <a:srgbClr val="006666"/>
                </a:solidFill>
                <a:latin typeface="+mj-lt"/>
              </a:rPr>
              <a:t>FriendB</a:t>
            </a:r>
            <a:endParaRPr lang="en-US" sz="1800" b="1" u="sng" dirty="0">
              <a:solidFill>
                <a:srgbClr val="006666"/>
              </a:solidFill>
              <a:latin typeface="+mj-lt"/>
            </a:endParaRPr>
          </a:p>
          <a:p>
            <a:pPr eaLnBrk="1" hangingPunct="1"/>
            <a:r>
              <a:rPr lang="en-US" sz="1800" b="1" dirty="0">
                <a:solidFill>
                  <a:srgbClr val="800000"/>
                </a:solidFill>
                <a:latin typeface="Courier New" pitchFamily="49" charset="0"/>
              </a:rPr>
              <a:t>Danny Hsu</a:t>
            </a:r>
            <a:r>
              <a:rPr lang="en-US" sz="1800" b="1" dirty="0">
                <a:latin typeface="Courier New" pitchFamily="49" charset="0"/>
              </a:rPr>
              <a:t>    </a:t>
            </a:r>
            <a:r>
              <a:rPr lang="en-US" sz="1800" b="1" dirty="0">
                <a:solidFill>
                  <a:srgbClr val="006666"/>
                </a:solidFill>
                <a:latin typeface="Courier New" pitchFamily="49" charset="0"/>
              </a:rPr>
              <a:t>Jenny Oh</a:t>
            </a:r>
          </a:p>
          <a:p>
            <a:pPr eaLnBrk="1" hangingPunct="1"/>
            <a:r>
              <a:rPr lang="en-US" sz="1800" b="1" dirty="0">
                <a:solidFill>
                  <a:srgbClr val="800000"/>
                </a:solidFill>
                <a:latin typeface="Courier New" pitchFamily="49" charset="0"/>
              </a:rPr>
              <a:t>David Sun</a:t>
            </a:r>
            <a:r>
              <a:rPr lang="en-US" sz="1800" b="1" dirty="0">
                <a:latin typeface="Courier New" pitchFamily="49" charset="0"/>
              </a:rPr>
              <a:t>    </a:t>
            </a:r>
            <a:r>
              <a:rPr lang="en-US" sz="1800" b="1" dirty="0">
                <a:solidFill>
                  <a:srgbClr val="006666"/>
                </a:solidFill>
                <a:latin typeface="Courier New" pitchFamily="49" charset="0"/>
              </a:rPr>
              <a:t>Carey Nash</a:t>
            </a:r>
          </a:p>
          <a:p>
            <a:pPr eaLnBrk="1" hangingPunct="1"/>
            <a:r>
              <a:rPr lang="en-US" sz="1800" b="1" dirty="0">
                <a:solidFill>
                  <a:srgbClr val="800000"/>
                </a:solidFill>
                <a:latin typeface="Courier New" pitchFamily="49" charset="0"/>
              </a:rPr>
              <a:t>Jenny Oh</a:t>
            </a:r>
            <a:r>
              <a:rPr lang="en-US" sz="1800" b="1" dirty="0">
                <a:latin typeface="Courier New" pitchFamily="49" charset="0"/>
              </a:rPr>
              <a:t>     </a:t>
            </a:r>
            <a:r>
              <a:rPr lang="en-US" sz="1800" b="1" dirty="0">
                <a:solidFill>
                  <a:srgbClr val="006666"/>
                </a:solidFill>
                <a:latin typeface="Courier New" pitchFamily="49" charset="0"/>
              </a:rPr>
              <a:t>David Sun</a:t>
            </a:r>
          </a:p>
          <a:p>
            <a:pPr eaLnBrk="1" hangingPunct="1"/>
            <a:r>
              <a:rPr lang="en-US" sz="1800" b="1" dirty="0">
                <a:solidFill>
                  <a:srgbClr val="800000"/>
                </a:solidFill>
                <a:latin typeface="Courier New" pitchFamily="49" charset="0"/>
              </a:rPr>
              <a:t>Danny Hsu</a:t>
            </a:r>
            <a:r>
              <a:rPr lang="en-US" sz="1800" b="1" dirty="0">
                <a:latin typeface="Courier New" pitchFamily="49" charset="0"/>
              </a:rPr>
              <a:t>    </a:t>
            </a:r>
            <a:r>
              <a:rPr lang="en-US" sz="1800" b="1" dirty="0">
                <a:solidFill>
                  <a:srgbClr val="006666"/>
                </a:solidFill>
                <a:latin typeface="Courier New" pitchFamily="49" charset="0"/>
              </a:rPr>
              <a:t>Carey Nash</a:t>
            </a:r>
          </a:p>
          <a:p>
            <a:pPr eaLnBrk="1" hangingPunct="1"/>
            <a:r>
              <a:rPr lang="en-US" sz="1800" b="1" dirty="0">
                <a:solidFill>
                  <a:srgbClr val="800000"/>
                </a:solidFill>
                <a:latin typeface="Courier New" pitchFamily="49" charset="0"/>
              </a:rPr>
              <a:t>Carey Nash</a:t>
            </a:r>
            <a:r>
              <a:rPr lang="en-US" sz="1800" b="1" dirty="0">
                <a:latin typeface="Courier New" pitchFamily="49" charset="0"/>
              </a:rPr>
              <a:t>   </a:t>
            </a:r>
            <a:r>
              <a:rPr lang="en-US" sz="1800" b="1" dirty="0">
                <a:solidFill>
                  <a:srgbClr val="006666"/>
                </a:solidFill>
                <a:latin typeface="Courier New" pitchFamily="49" charset="0"/>
              </a:rPr>
              <a:t>Scott Wilhelm</a:t>
            </a:r>
          </a:p>
          <a:p>
            <a:pPr eaLnBrk="1" hangingPunct="1"/>
            <a:r>
              <a:rPr lang="en-US" sz="1800" b="1" dirty="0" err="1">
                <a:solidFill>
                  <a:srgbClr val="800000"/>
                </a:solidFill>
                <a:latin typeface="Courier New" pitchFamily="49" charset="0"/>
              </a:rPr>
              <a:t>Melani</a:t>
            </a:r>
            <a:r>
              <a:rPr lang="en-US" sz="1800" b="1" dirty="0">
                <a:solidFill>
                  <a:srgbClr val="800000"/>
                </a:solidFill>
                <a:latin typeface="Courier New" pitchFamily="49" charset="0"/>
              </a:rPr>
              <a:t> </a:t>
            </a:r>
            <a:r>
              <a:rPr lang="en-US" sz="1800" b="1" dirty="0" err="1">
                <a:solidFill>
                  <a:srgbClr val="800000"/>
                </a:solidFill>
                <a:latin typeface="Courier New" pitchFamily="49" charset="0"/>
              </a:rPr>
              <a:t>Kan</a:t>
            </a:r>
            <a:r>
              <a:rPr lang="en-US" sz="1800" b="1" dirty="0">
                <a:latin typeface="Courier New" pitchFamily="49" charset="0"/>
              </a:rPr>
              <a:t>   </a:t>
            </a:r>
            <a:r>
              <a:rPr lang="en-US" sz="1800" b="1" dirty="0">
                <a:solidFill>
                  <a:srgbClr val="006666"/>
                </a:solidFill>
                <a:latin typeface="Courier New" pitchFamily="49" charset="0"/>
              </a:rPr>
              <a:t>Danny Hsu</a:t>
            </a:r>
          </a:p>
          <a:p>
            <a:pPr eaLnBrk="1" hangingPunct="1"/>
            <a:r>
              <a:rPr lang="en-US" sz="1800" b="1" dirty="0">
                <a:solidFill>
                  <a:srgbClr val="800000"/>
                </a:solidFill>
                <a:latin typeface="Courier New" pitchFamily="49" charset="0"/>
              </a:rPr>
              <a:t>Carey Nash</a:t>
            </a:r>
            <a:r>
              <a:rPr lang="en-US" sz="1800" b="1" dirty="0">
                <a:latin typeface="Courier New" pitchFamily="49" charset="0"/>
              </a:rPr>
              <a:t>   </a:t>
            </a:r>
            <a:r>
              <a:rPr lang="en-US" sz="1800" b="1" dirty="0">
                <a:solidFill>
                  <a:srgbClr val="006666"/>
                </a:solidFill>
                <a:latin typeface="Courier New" pitchFamily="49" charset="0"/>
              </a:rPr>
              <a:t>David Small</a:t>
            </a:r>
          </a:p>
          <a:p>
            <a:pPr eaLnBrk="1" hangingPunct="1"/>
            <a:r>
              <a:rPr lang="en-US" sz="1800" b="1" dirty="0">
                <a:solidFill>
                  <a:srgbClr val="800000"/>
                </a:solidFill>
                <a:latin typeface="Courier New" pitchFamily="49" charset="0"/>
              </a:rPr>
              <a:t>Jenny Oh</a:t>
            </a:r>
            <a:r>
              <a:rPr lang="en-US" sz="1800" b="1" dirty="0">
                <a:latin typeface="Courier New" pitchFamily="49" charset="0"/>
              </a:rPr>
              <a:t>     </a:t>
            </a:r>
            <a:r>
              <a:rPr lang="en-US" sz="1800" b="1" dirty="0">
                <a:solidFill>
                  <a:srgbClr val="006666"/>
                </a:solidFill>
                <a:latin typeface="Courier New" pitchFamily="49" charset="0"/>
              </a:rPr>
              <a:t>Len </a:t>
            </a:r>
            <a:r>
              <a:rPr lang="en-US" sz="1800" b="1" dirty="0" err="1">
                <a:solidFill>
                  <a:srgbClr val="006666"/>
                </a:solidFill>
                <a:latin typeface="Courier New" pitchFamily="49" charset="0"/>
              </a:rPr>
              <a:t>Kleinrock</a:t>
            </a:r>
            <a:endParaRPr lang="en-US" sz="1800" b="1" dirty="0">
              <a:solidFill>
                <a:srgbClr val="006666"/>
              </a:solidFill>
              <a:latin typeface="Courier New" pitchFamily="49" charset="0"/>
            </a:endParaRPr>
          </a:p>
          <a:p>
            <a:pPr eaLnBrk="1" hangingPunct="1"/>
            <a:r>
              <a:rPr lang="en-US" sz="1800" b="1" dirty="0">
                <a:solidFill>
                  <a:srgbClr val="800000"/>
                </a:solidFill>
                <a:latin typeface="Courier New" pitchFamily="49" charset="0"/>
              </a:rPr>
              <a:t>Jenny Oh</a:t>
            </a:r>
            <a:r>
              <a:rPr lang="en-US" sz="1800" b="1" dirty="0">
                <a:latin typeface="Courier New" pitchFamily="49" charset="0"/>
              </a:rPr>
              <a:t>     </a:t>
            </a:r>
            <a:r>
              <a:rPr lang="en-US" sz="1800" b="1" dirty="0">
                <a:solidFill>
                  <a:srgbClr val="006666"/>
                </a:solidFill>
                <a:latin typeface="Courier New" pitchFamily="49" charset="0"/>
              </a:rPr>
              <a:t>Mario </a:t>
            </a:r>
            <a:r>
              <a:rPr lang="en-US" sz="1800" b="1" dirty="0" err="1">
                <a:solidFill>
                  <a:srgbClr val="006666"/>
                </a:solidFill>
                <a:latin typeface="Courier New" pitchFamily="49" charset="0"/>
              </a:rPr>
              <a:t>Giso</a:t>
            </a:r>
            <a:endParaRPr lang="en-US" sz="1800" b="1" dirty="0">
              <a:solidFill>
                <a:srgbClr val="006666"/>
              </a:solidFill>
              <a:latin typeface="Courier New" pitchFamily="49" charset="0"/>
            </a:endParaRPr>
          </a:p>
          <a:p>
            <a:pPr eaLnBrk="1" hangingPunct="1"/>
            <a:r>
              <a:rPr lang="en-US" sz="1800" b="1" dirty="0">
                <a:solidFill>
                  <a:srgbClr val="800000"/>
                </a:solidFill>
                <a:latin typeface="Courier New" pitchFamily="49" charset="0"/>
              </a:rPr>
              <a:t>Mario </a:t>
            </a:r>
            <a:r>
              <a:rPr lang="en-US" sz="1800" b="1" dirty="0" err="1">
                <a:solidFill>
                  <a:srgbClr val="800000"/>
                </a:solidFill>
                <a:latin typeface="Courier New" pitchFamily="49" charset="0"/>
              </a:rPr>
              <a:t>Giso</a:t>
            </a:r>
            <a:r>
              <a:rPr lang="en-US" sz="1800" b="1" dirty="0">
                <a:latin typeface="Courier New" pitchFamily="49" charset="0"/>
              </a:rPr>
              <a:t>   </a:t>
            </a:r>
            <a:r>
              <a:rPr lang="en-US" sz="1800" b="1" dirty="0">
                <a:solidFill>
                  <a:srgbClr val="006666"/>
                </a:solidFill>
                <a:latin typeface="Courier New" pitchFamily="49" charset="0"/>
              </a:rPr>
              <a:t>Rich Nguyen</a:t>
            </a:r>
          </a:p>
        </p:txBody>
      </p:sp>
      <p:graphicFrame>
        <p:nvGraphicFramePr>
          <p:cNvPr id="9" name="Group 331"/>
          <p:cNvGraphicFramePr>
            <a:graphicFrameLocks/>
          </p:cNvGraphicFramePr>
          <p:nvPr/>
        </p:nvGraphicFramePr>
        <p:xfrm>
          <a:off x="4587875" y="3382963"/>
          <a:ext cx="3871913" cy="3292476"/>
        </p:xfrm>
        <a:graphic>
          <a:graphicData uri="http://schemas.openxmlformats.org/drawingml/2006/table">
            <a:tbl>
              <a:tblPr/>
              <a:tblGrid>
                <a:gridCol w="423863">
                  <a:extLst>
                    <a:ext uri="{9D8B030D-6E8A-4147-A177-3AD203B41FA5}">
                      <a16:colId xmlns:a16="http://schemas.microsoft.com/office/drawing/2014/main" val="20000"/>
                    </a:ext>
                  </a:extLst>
                </a:gridCol>
                <a:gridCol w="315912">
                  <a:extLst>
                    <a:ext uri="{9D8B030D-6E8A-4147-A177-3AD203B41FA5}">
                      <a16:colId xmlns:a16="http://schemas.microsoft.com/office/drawing/2014/main" val="20001"/>
                    </a:ext>
                  </a:extLst>
                </a:gridCol>
                <a:gridCol w="328613">
                  <a:extLst>
                    <a:ext uri="{9D8B030D-6E8A-4147-A177-3AD203B41FA5}">
                      <a16:colId xmlns:a16="http://schemas.microsoft.com/office/drawing/2014/main" val="20002"/>
                    </a:ext>
                  </a:extLst>
                </a:gridCol>
                <a:gridCol w="284162">
                  <a:extLst>
                    <a:ext uri="{9D8B030D-6E8A-4147-A177-3AD203B41FA5}">
                      <a16:colId xmlns:a16="http://schemas.microsoft.com/office/drawing/2014/main" val="20003"/>
                    </a:ext>
                  </a:extLst>
                </a:gridCol>
                <a:gridCol w="284163">
                  <a:extLst>
                    <a:ext uri="{9D8B030D-6E8A-4147-A177-3AD203B41FA5}">
                      <a16:colId xmlns:a16="http://schemas.microsoft.com/office/drawing/2014/main" val="20004"/>
                    </a:ext>
                  </a:extLst>
                </a:gridCol>
                <a:gridCol w="300037">
                  <a:extLst>
                    <a:ext uri="{9D8B030D-6E8A-4147-A177-3AD203B41FA5}">
                      <a16:colId xmlns:a16="http://schemas.microsoft.com/office/drawing/2014/main" val="20005"/>
                    </a:ext>
                  </a:extLst>
                </a:gridCol>
                <a:gridCol w="322263">
                  <a:extLst>
                    <a:ext uri="{9D8B030D-6E8A-4147-A177-3AD203B41FA5}">
                      <a16:colId xmlns:a16="http://schemas.microsoft.com/office/drawing/2014/main" val="20006"/>
                    </a:ext>
                  </a:extLst>
                </a:gridCol>
                <a:gridCol w="320675">
                  <a:extLst>
                    <a:ext uri="{9D8B030D-6E8A-4147-A177-3AD203B41FA5}">
                      <a16:colId xmlns:a16="http://schemas.microsoft.com/office/drawing/2014/main" val="20007"/>
                    </a:ext>
                  </a:extLst>
                </a:gridCol>
                <a:gridCol w="325437">
                  <a:extLst>
                    <a:ext uri="{9D8B030D-6E8A-4147-A177-3AD203B41FA5}">
                      <a16:colId xmlns:a16="http://schemas.microsoft.com/office/drawing/2014/main" val="20008"/>
                    </a:ext>
                  </a:extLst>
                </a:gridCol>
                <a:gridCol w="322263">
                  <a:extLst>
                    <a:ext uri="{9D8B030D-6E8A-4147-A177-3AD203B41FA5}">
                      <a16:colId xmlns:a16="http://schemas.microsoft.com/office/drawing/2014/main" val="20009"/>
                    </a:ext>
                  </a:extLst>
                </a:gridCol>
                <a:gridCol w="261937">
                  <a:extLst>
                    <a:ext uri="{9D8B030D-6E8A-4147-A177-3AD203B41FA5}">
                      <a16:colId xmlns:a16="http://schemas.microsoft.com/office/drawing/2014/main" val="20010"/>
                    </a:ext>
                  </a:extLst>
                </a:gridCol>
                <a:gridCol w="382588">
                  <a:extLst>
                    <a:ext uri="{9D8B030D-6E8A-4147-A177-3AD203B41FA5}">
                      <a16:colId xmlns:a16="http://schemas.microsoft.com/office/drawing/2014/main" val="20011"/>
                    </a:ext>
                  </a:extLst>
                </a:gridCol>
              </a:tblGrid>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dirty="0">
                        <a:ln>
                          <a:noFill/>
                        </a:ln>
                        <a:solidFill>
                          <a:schemeClr val="tx1"/>
                        </a:solidFill>
                        <a:effectLst/>
                        <a:latin typeface="Comic Sans MS" pitchFamily="66" charset="0"/>
                        <a:cs typeface="Times New Roman" pitchFamily="18" charset="0"/>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0</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2</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3</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4</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5</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6</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7</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8</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9</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0</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2</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dirty="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3</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4</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5</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6</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7</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8</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9</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Comic Sans MS" pitchFamily="66" charset="0"/>
                          <a:cs typeface="Times New Roman" pitchFamily="18" charset="0"/>
                        </a:rPr>
                        <a:t>10</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dirty="0">
                        <a:ln>
                          <a:noFill/>
                        </a:ln>
                        <a:solidFill>
                          <a:schemeClr val="tx1"/>
                        </a:solidFill>
                        <a:effectLst/>
                        <a:latin typeface="Comic Sans MS" pitchFamily="66" charset="0"/>
                        <a:cs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0" name="Rectangle 333"/>
          <p:cNvSpPr>
            <a:spLocks noChangeArrowheads="1"/>
          </p:cNvSpPr>
          <p:nvPr/>
        </p:nvSpPr>
        <p:spPr bwMode="auto">
          <a:xfrm>
            <a:off x="538163" y="4894263"/>
            <a:ext cx="3732212" cy="2857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p>
        </p:txBody>
      </p:sp>
      <p:sp>
        <p:nvSpPr>
          <p:cNvPr id="11" name="Rectangle 349"/>
          <p:cNvSpPr>
            <a:spLocks noChangeArrowheads="1"/>
          </p:cNvSpPr>
          <p:nvPr/>
        </p:nvSpPr>
        <p:spPr bwMode="auto">
          <a:xfrm>
            <a:off x="4567238" y="4748213"/>
            <a:ext cx="3883025" cy="284162"/>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p>
        </p:txBody>
      </p:sp>
      <p:sp>
        <p:nvSpPr>
          <p:cNvPr id="12" name="Rectangle 350"/>
          <p:cNvSpPr>
            <a:spLocks noChangeArrowheads="1"/>
          </p:cNvSpPr>
          <p:nvPr/>
        </p:nvSpPr>
        <p:spPr bwMode="auto">
          <a:xfrm>
            <a:off x="5340350" y="3386138"/>
            <a:ext cx="301625" cy="326548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p>
        </p:txBody>
      </p:sp>
      <p:sp>
        <p:nvSpPr>
          <p:cNvPr id="13" name="Text Box 351"/>
          <p:cNvSpPr txBox="1">
            <a:spLocks noChangeArrowheads="1"/>
          </p:cNvSpPr>
          <p:nvPr/>
        </p:nvSpPr>
        <p:spPr bwMode="auto">
          <a:xfrm>
            <a:off x="5308600" y="472757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14" name="Text Box 4"/>
          <p:cNvSpPr txBox="1">
            <a:spLocks noChangeArrowheads="1"/>
          </p:cNvSpPr>
          <p:nvPr/>
        </p:nvSpPr>
        <p:spPr bwMode="auto">
          <a:xfrm>
            <a:off x="96838" y="1485900"/>
            <a:ext cx="4083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dirty="0"/>
              <a:t>And kept an </a:t>
            </a:r>
            <a:r>
              <a:rPr lang="en-US" sz="2000" dirty="0">
                <a:solidFill>
                  <a:srgbClr val="FF0000"/>
                </a:solidFill>
              </a:rPr>
              <a:t>alphabetized list</a:t>
            </a:r>
            <a:r>
              <a:rPr lang="en-US" sz="2000" dirty="0"/>
              <a:t> of each </a:t>
            </a:r>
            <a:r>
              <a:rPr lang="en-US" sz="2000" dirty="0">
                <a:solidFill>
                  <a:srgbClr val="006666"/>
                </a:solidFill>
              </a:rPr>
              <a:t>user</a:t>
            </a:r>
            <a:r>
              <a:rPr lang="en-US" sz="2000" dirty="0">
                <a:solidFill>
                  <a:srgbClr val="6600CC"/>
                </a:solidFill>
              </a:rPr>
              <a:t> </a:t>
            </a:r>
            <a:r>
              <a:rPr lang="en-US" sz="2000" dirty="0">
                <a:solidFill>
                  <a:srgbClr val="6600CC"/>
                </a:solidFill>
                <a:sym typeface="Wingdings" pitchFamily="2" charset="2"/>
              </a:rPr>
              <a:t> </a:t>
            </a:r>
            <a:r>
              <a:rPr lang="en-US" sz="2000" dirty="0">
                <a:solidFill>
                  <a:srgbClr val="006666"/>
                </a:solidFill>
                <a:sym typeface="Wingdings" pitchFamily="2" charset="2"/>
              </a:rPr>
              <a:t>number</a:t>
            </a:r>
            <a:r>
              <a:rPr lang="en-US" sz="2000" dirty="0">
                <a:sym typeface="Wingdings" pitchFamily="2" charset="2"/>
              </a:rPr>
              <a:t> pair</a:t>
            </a:r>
            <a:r>
              <a:rPr lang="en-US" sz="2000" dirty="0"/>
              <a:t>.</a:t>
            </a:r>
          </a:p>
        </p:txBody>
      </p:sp>
      <p:sp>
        <p:nvSpPr>
          <p:cNvPr id="15" name="Text Box 6"/>
          <p:cNvSpPr txBox="1">
            <a:spLocks noChangeArrowheads="1"/>
          </p:cNvSpPr>
          <p:nvPr/>
        </p:nvSpPr>
        <p:spPr bwMode="auto">
          <a:xfrm>
            <a:off x="4483100" y="1925638"/>
            <a:ext cx="435768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a:t>Cool – and once we have both users’</a:t>
            </a:r>
            <a:br>
              <a:rPr lang="en-US" sz="2000"/>
            </a:br>
            <a:r>
              <a:rPr lang="en-US" sz="2000"/>
              <a:t>numbers, we can use them and a </a:t>
            </a:r>
            <a:br>
              <a:rPr lang="en-US" sz="2000"/>
            </a:br>
            <a:r>
              <a:rPr lang="en-US" sz="2000">
                <a:solidFill>
                  <a:srgbClr val="006666"/>
                </a:solidFill>
              </a:rPr>
              <a:t>two-dimensional array</a:t>
            </a:r>
            <a:r>
              <a:rPr lang="en-US" sz="2000"/>
              <a:t> </a:t>
            </a:r>
            <a:br>
              <a:rPr lang="en-US" sz="2000"/>
            </a:br>
            <a:r>
              <a:rPr lang="en-US" sz="2000"/>
              <a:t>to represent relationships!</a:t>
            </a:r>
          </a:p>
        </p:txBody>
      </p:sp>
      <p:sp>
        <p:nvSpPr>
          <p:cNvPr id="16" name="Rectangle 333"/>
          <p:cNvSpPr>
            <a:spLocks noChangeArrowheads="1"/>
          </p:cNvSpPr>
          <p:nvPr/>
        </p:nvSpPr>
        <p:spPr bwMode="auto">
          <a:xfrm>
            <a:off x="528638" y="5189538"/>
            <a:ext cx="3732212" cy="2857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p>
        </p:txBody>
      </p:sp>
      <p:sp>
        <p:nvSpPr>
          <p:cNvPr id="17" name="Rectangle 349"/>
          <p:cNvSpPr>
            <a:spLocks noChangeArrowheads="1"/>
          </p:cNvSpPr>
          <p:nvPr/>
        </p:nvSpPr>
        <p:spPr bwMode="auto">
          <a:xfrm>
            <a:off x="4575175" y="3649663"/>
            <a:ext cx="3883025" cy="284162"/>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p>
        </p:txBody>
      </p:sp>
      <p:sp>
        <p:nvSpPr>
          <p:cNvPr id="18" name="Rectangle 350"/>
          <p:cNvSpPr>
            <a:spLocks noChangeArrowheads="1"/>
          </p:cNvSpPr>
          <p:nvPr/>
        </p:nvSpPr>
        <p:spPr bwMode="auto">
          <a:xfrm>
            <a:off x="5927725" y="3382963"/>
            <a:ext cx="301625" cy="326548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a:p>
        </p:txBody>
      </p:sp>
      <p:sp>
        <p:nvSpPr>
          <p:cNvPr id="19" name="Text Box 351"/>
          <p:cNvSpPr txBox="1">
            <a:spLocks noChangeArrowheads="1"/>
          </p:cNvSpPr>
          <p:nvPr/>
        </p:nvSpPr>
        <p:spPr bwMode="auto">
          <a:xfrm>
            <a:off x="5905500" y="361315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0" name="Text Box 363"/>
          <p:cNvSpPr txBox="1">
            <a:spLocks noChangeArrowheads="1"/>
          </p:cNvSpPr>
          <p:nvPr/>
        </p:nvSpPr>
        <p:spPr bwMode="auto">
          <a:xfrm>
            <a:off x="4983163" y="391795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1" name="Text Box 364"/>
          <p:cNvSpPr txBox="1">
            <a:spLocks noChangeArrowheads="1"/>
          </p:cNvSpPr>
          <p:nvPr/>
        </p:nvSpPr>
        <p:spPr bwMode="auto">
          <a:xfrm>
            <a:off x="5907088" y="474186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2" name="Text Box 365"/>
          <p:cNvSpPr txBox="1">
            <a:spLocks noChangeArrowheads="1"/>
          </p:cNvSpPr>
          <p:nvPr/>
        </p:nvSpPr>
        <p:spPr bwMode="auto">
          <a:xfrm>
            <a:off x="6173788" y="447992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3" name="Text Box 366"/>
          <p:cNvSpPr txBox="1">
            <a:spLocks noChangeArrowheads="1"/>
          </p:cNvSpPr>
          <p:nvPr/>
        </p:nvSpPr>
        <p:spPr bwMode="auto">
          <a:xfrm>
            <a:off x="5897563" y="361791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4" name="Text Box 367"/>
          <p:cNvSpPr txBox="1">
            <a:spLocks noChangeArrowheads="1"/>
          </p:cNvSpPr>
          <p:nvPr/>
        </p:nvSpPr>
        <p:spPr bwMode="auto">
          <a:xfrm>
            <a:off x="4983163" y="447516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5" name="Text Box 369"/>
          <p:cNvSpPr txBox="1">
            <a:spLocks noChangeArrowheads="1"/>
          </p:cNvSpPr>
          <p:nvPr/>
        </p:nvSpPr>
        <p:spPr bwMode="auto">
          <a:xfrm>
            <a:off x="6807200" y="472757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6" name="Text Box 370"/>
          <p:cNvSpPr txBox="1">
            <a:spLocks noChangeArrowheads="1"/>
          </p:cNvSpPr>
          <p:nvPr/>
        </p:nvSpPr>
        <p:spPr bwMode="auto">
          <a:xfrm>
            <a:off x="6202363" y="530860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7" name="Text Box 371"/>
          <p:cNvSpPr txBox="1">
            <a:spLocks noChangeArrowheads="1"/>
          </p:cNvSpPr>
          <p:nvPr/>
        </p:nvSpPr>
        <p:spPr bwMode="auto">
          <a:xfrm>
            <a:off x="6211888" y="556101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8" name="Text Box 372"/>
          <p:cNvSpPr txBox="1">
            <a:spLocks noChangeArrowheads="1"/>
          </p:cNvSpPr>
          <p:nvPr/>
        </p:nvSpPr>
        <p:spPr bwMode="auto">
          <a:xfrm>
            <a:off x="7135813" y="475615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29" name="Text Box 373"/>
          <p:cNvSpPr txBox="1">
            <a:spLocks noChangeArrowheads="1"/>
          </p:cNvSpPr>
          <p:nvPr/>
        </p:nvSpPr>
        <p:spPr bwMode="auto">
          <a:xfrm>
            <a:off x="6207125" y="584200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0" name="Text Box 374"/>
          <p:cNvSpPr txBox="1">
            <a:spLocks noChangeArrowheads="1"/>
          </p:cNvSpPr>
          <p:nvPr/>
        </p:nvSpPr>
        <p:spPr bwMode="auto">
          <a:xfrm>
            <a:off x="7431088" y="472281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1" name="Text Box 375"/>
          <p:cNvSpPr txBox="1">
            <a:spLocks noChangeArrowheads="1"/>
          </p:cNvSpPr>
          <p:nvPr/>
        </p:nvSpPr>
        <p:spPr bwMode="auto">
          <a:xfrm>
            <a:off x="7754938" y="583247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2" name="Text Box 376"/>
          <p:cNvSpPr txBox="1">
            <a:spLocks noChangeArrowheads="1"/>
          </p:cNvSpPr>
          <p:nvPr/>
        </p:nvSpPr>
        <p:spPr bwMode="auto">
          <a:xfrm>
            <a:off x="7478713" y="611346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3" name="Text Box 377"/>
          <p:cNvSpPr txBox="1">
            <a:spLocks noChangeArrowheads="1"/>
          </p:cNvSpPr>
          <p:nvPr/>
        </p:nvSpPr>
        <p:spPr bwMode="auto">
          <a:xfrm>
            <a:off x="5916613" y="636587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4" name="Text Box 378"/>
          <p:cNvSpPr txBox="1">
            <a:spLocks noChangeArrowheads="1"/>
          </p:cNvSpPr>
          <p:nvPr/>
        </p:nvSpPr>
        <p:spPr bwMode="auto">
          <a:xfrm>
            <a:off x="8045450" y="4478338"/>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5" name="Text Box 379"/>
          <p:cNvSpPr txBox="1">
            <a:spLocks noChangeArrowheads="1"/>
          </p:cNvSpPr>
          <p:nvPr/>
        </p:nvSpPr>
        <p:spPr bwMode="auto">
          <a:xfrm>
            <a:off x="4310063" y="1035050"/>
            <a:ext cx="4767262" cy="19510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2200" dirty="0"/>
              <a:t>     Now, to see if two people are friends, all we need to do is…</a:t>
            </a:r>
          </a:p>
          <a:p>
            <a:pPr eaLnBrk="1" hangingPunct="1"/>
            <a:endParaRPr lang="en-US" sz="1800" dirty="0"/>
          </a:p>
          <a:p>
            <a:pPr eaLnBrk="1" hangingPunct="1">
              <a:buFontTx/>
              <a:buAutoNum type="arabicPeriod"/>
            </a:pPr>
            <a:r>
              <a:rPr lang="en-US" sz="2000" dirty="0"/>
              <a:t>Look up their numbers </a:t>
            </a:r>
            <a:r>
              <a:rPr lang="en-US" sz="2000" dirty="0">
                <a:solidFill>
                  <a:srgbClr val="6600CC"/>
                </a:solidFill>
              </a:rPr>
              <a:t>A</a:t>
            </a:r>
            <a:r>
              <a:rPr lang="en-US" sz="2000" dirty="0"/>
              <a:t>, </a:t>
            </a:r>
            <a:r>
              <a:rPr lang="en-US" sz="2000" dirty="0">
                <a:solidFill>
                  <a:srgbClr val="6600CC"/>
                </a:solidFill>
              </a:rPr>
              <a:t>B</a:t>
            </a:r>
          </a:p>
          <a:p>
            <a:pPr eaLnBrk="1" hangingPunct="1">
              <a:buFontTx/>
              <a:buAutoNum type="arabicPeriod"/>
            </a:pPr>
            <a:r>
              <a:rPr lang="en-US" sz="2000" dirty="0"/>
              <a:t>Check (</a:t>
            </a:r>
            <a:r>
              <a:rPr lang="en-US" sz="2000" dirty="0">
                <a:solidFill>
                  <a:srgbClr val="6600CC"/>
                </a:solidFill>
              </a:rPr>
              <a:t>A</a:t>
            </a:r>
            <a:r>
              <a:rPr lang="en-US" sz="2000" dirty="0"/>
              <a:t>,</a:t>
            </a:r>
            <a:r>
              <a:rPr lang="en-US" sz="2000" dirty="0">
                <a:solidFill>
                  <a:srgbClr val="6600CC"/>
                </a:solidFill>
              </a:rPr>
              <a:t>B</a:t>
            </a:r>
            <a:r>
              <a:rPr lang="en-US" sz="2000" dirty="0"/>
              <a:t>) </a:t>
            </a:r>
            <a:r>
              <a:rPr lang="en-US" sz="2000" i="1" dirty="0"/>
              <a:t>or</a:t>
            </a:r>
            <a:r>
              <a:rPr lang="en-US" sz="2000" dirty="0"/>
              <a:t> (</a:t>
            </a:r>
            <a:r>
              <a:rPr lang="en-US" sz="2000" dirty="0">
                <a:solidFill>
                  <a:srgbClr val="6600CC"/>
                </a:solidFill>
              </a:rPr>
              <a:t>B</a:t>
            </a:r>
            <a:r>
              <a:rPr lang="en-US" sz="2000" dirty="0"/>
              <a:t>,</a:t>
            </a:r>
            <a:r>
              <a:rPr lang="en-US" sz="2000" dirty="0">
                <a:solidFill>
                  <a:srgbClr val="6600CC"/>
                </a:solidFill>
              </a:rPr>
              <a:t>A</a:t>
            </a:r>
            <a:r>
              <a:rPr lang="en-US" sz="2000" dirty="0"/>
              <a:t>) in our array</a:t>
            </a:r>
          </a:p>
          <a:p>
            <a:pPr eaLnBrk="1" hangingPunct="1">
              <a:buFontTx/>
              <a:buAutoNum type="arabicPeriod"/>
            </a:pPr>
            <a:r>
              <a:rPr lang="en-US" sz="2000" dirty="0"/>
              <a:t>If we find a </a:t>
            </a:r>
            <a:r>
              <a:rPr lang="en-US" sz="2000" dirty="0">
                <a:solidFill>
                  <a:srgbClr val="6600CC"/>
                </a:solidFill>
              </a:rPr>
              <a:t>*</a:t>
            </a:r>
            <a:r>
              <a:rPr lang="en-US" sz="2000" dirty="0"/>
              <a:t>, they’re buddies!</a:t>
            </a:r>
          </a:p>
        </p:txBody>
      </p:sp>
      <p:sp>
        <p:nvSpPr>
          <p:cNvPr id="36" name="Text Box 4"/>
          <p:cNvSpPr txBox="1">
            <a:spLocks noChangeArrowheads="1"/>
          </p:cNvSpPr>
          <p:nvPr/>
        </p:nvSpPr>
        <p:spPr bwMode="auto">
          <a:xfrm>
            <a:off x="4211638" y="777875"/>
            <a:ext cx="4735512" cy="9763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a:t>Now given a user’s name, how can we quickly find their number?</a:t>
            </a:r>
          </a:p>
          <a:p>
            <a:pPr algn="ctr" eaLnBrk="1" hangingPunct="1"/>
            <a:r>
              <a:rPr lang="en-US" sz="1800">
                <a:solidFill>
                  <a:srgbClr val="6600CC"/>
                </a:solidFill>
              </a:rPr>
              <a:t>Right – just use a Binary Search!</a:t>
            </a:r>
          </a:p>
        </p:txBody>
      </p:sp>
      <p:sp>
        <p:nvSpPr>
          <p:cNvPr id="37" name="Left Arrow 36"/>
          <p:cNvSpPr/>
          <p:nvPr/>
        </p:nvSpPr>
        <p:spPr>
          <a:xfrm>
            <a:off x="3246438" y="2764631"/>
            <a:ext cx="567553" cy="655637"/>
          </a:xfrm>
          <a:prstGeom prst="leftArrow">
            <a:avLst/>
          </a:prstGeom>
          <a:solidFill>
            <a:srgbClr val="FBDE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6666"/>
              </a:solidFill>
            </a:endParaRPr>
          </a:p>
        </p:txBody>
      </p:sp>
      <p:sp>
        <p:nvSpPr>
          <p:cNvPr id="38" name="Left Arrow 37"/>
          <p:cNvSpPr/>
          <p:nvPr/>
        </p:nvSpPr>
        <p:spPr>
          <a:xfrm rot="16200000">
            <a:off x="5225642" y="2723872"/>
            <a:ext cx="567553" cy="655637"/>
          </a:xfrm>
          <a:prstGeom prst="leftArrow">
            <a:avLst/>
          </a:prstGeom>
          <a:solidFill>
            <a:srgbClr val="FBDE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6666"/>
              </a:solidFill>
            </a:endParaRPr>
          </a:p>
        </p:txBody>
      </p:sp>
      <p:sp>
        <p:nvSpPr>
          <p:cNvPr id="39" name="Left Arrow 38"/>
          <p:cNvSpPr/>
          <p:nvPr/>
        </p:nvSpPr>
        <p:spPr>
          <a:xfrm>
            <a:off x="3258795" y="3699776"/>
            <a:ext cx="567553" cy="655637"/>
          </a:xfrm>
          <a:prstGeom prst="leftArrow">
            <a:avLst/>
          </a:prstGeom>
          <a:solidFill>
            <a:srgbClr val="FBDE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6666"/>
              </a:solidFill>
            </a:endParaRPr>
          </a:p>
        </p:txBody>
      </p:sp>
      <p:sp>
        <p:nvSpPr>
          <p:cNvPr id="40" name="Left Arrow 39"/>
          <p:cNvSpPr/>
          <p:nvPr/>
        </p:nvSpPr>
        <p:spPr>
          <a:xfrm rot="10800000">
            <a:off x="3977073" y="4552950"/>
            <a:ext cx="567553" cy="655637"/>
          </a:xfrm>
          <a:prstGeom prst="leftArrow">
            <a:avLst/>
          </a:prstGeom>
          <a:solidFill>
            <a:srgbClr val="FBDE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6666"/>
              </a:solidFill>
            </a:endParaRPr>
          </a:p>
        </p:txBody>
      </p:sp>
      <p:sp>
        <p:nvSpPr>
          <p:cNvPr id="41" name="Left Arrow 40"/>
          <p:cNvSpPr/>
          <p:nvPr/>
        </p:nvSpPr>
        <p:spPr>
          <a:xfrm>
            <a:off x="3218851" y="3401475"/>
            <a:ext cx="567553" cy="655637"/>
          </a:xfrm>
          <a:prstGeom prst="leftArrow">
            <a:avLst/>
          </a:prstGeom>
          <a:solidFill>
            <a:srgbClr val="FBDE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6666"/>
              </a:solidFill>
            </a:endParaRPr>
          </a:p>
        </p:txBody>
      </p:sp>
      <p:sp>
        <p:nvSpPr>
          <p:cNvPr id="42" name="Left Arrow 41"/>
          <p:cNvSpPr/>
          <p:nvPr/>
        </p:nvSpPr>
        <p:spPr>
          <a:xfrm rot="16200000">
            <a:off x="5804264" y="2736227"/>
            <a:ext cx="567553" cy="655637"/>
          </a:xfrm>
          <a:prstGeom prst="leftArrow">
            <a:avLst/>
          </a:prstGeom>
          <a:solidFill>
            <a:srgbClr val="FBDE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6666"/>
              </a:solidFill>
            </a:endParaRPr>
          </a:p>
        </p:txBody>
      </p:sp>
      <p:sp>
        <p:nvSpPr>
          <p:cNvPr id="43" name="Left Arrow 42"/>
          <p:cNvSpPr/>
          <p:nvPr/>
        </p:nvSpPr>
        <p:spPr>
          <a:xfrm>
            <a:off x="3209367" y="2477163"/>
            <a:ext cx="567553" cy="655637"/>
          </a:xfrm>
          <a:prstGeom prst="leftArrow">
            <a:avLst/>
          </a:prstGeom>
          <a:solidFill>
            <a:srgbClr val="FBDE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6666"/>
              </a:solidFill>
            </a:endParaRPr>
          </a:p>
        </p:txBody>
      </p:sp>
      <p:sp>
        <p:nvSpPr>
          <p:cNvPr id="44" name="Left Arrow 43"/>
          <p:cNvSpPr/>
          <p:nvPr/>
        </p:nvSpPr>
        <p:spPr>
          <a:xfrm rot="10800000">
            <a:off x="3977072" y="3463925"/>
            <a:ext cx="567553" cy="655637"/>
          </a:xfrm>
          <a:prstGeom prst="leftArrow">
            <a:avLst/>
          </a:prstGeom>
          <a:solidFill>
            <a:srgbClr val="FBDED9"/>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6666"/>
              </a:solidFill>
            </a:endParaRPr>
          </a:p>
        </p:txBody>
      </p:sp>
    </p:spTree>
    <p:extLst>
      <p:ext uri="{BB962C8B-B14F-4D97-AF65-F5344CB8AC3E}">
        <p14:creationId xmlns:p14="http://schemas.microsoft.com/office/powerpoint/2010/main" val="59284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6">
                                            <p:bg/>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20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wipe(right)">
                                      <p:cBhvr>
                                        <p:cTn id="52" dur="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wipe(up)">
                                      <p:cBhvr>
                                        <p:cTn id="57" dur="50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10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1" nodeType="clickEffect">
                                  <p:stCondLst>
                                    <p:cond delay="0"/>
                                  </p:stCondLst>
                                  <p:childTnLst>
                                    <p:animEffect transition="out" filter="fade">
                                      <p:cBhvr>
                                        <p:cTn id="64" dur="500"/>
                                        <p:tgtEl>
                                          <p:spTgt spid="37"/>
                                        </p:tgtEl>
                                      </p:cBhvr>
                                    </p:animEffect>
                                    <p:set>
                                      <p:cBhvr>
                                        <p:cTn id="65" dur="1" fill="hold">
                                          <p:stCondLst>
                                            <p:cond delay="499"/>
                                          </p:stCondLst>
                                        </p:cTn>
                                        <p:tgtEl>
                                          <p:spTgt spid="37"/>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500"/>
                                        <p:tgtEl>
                                          <p:spTgt spid="38"/>
                                        </p:tgtEl>
                                      </p:cBhvr>
                                    </p:animEffect>
                                    <p:set>
                                      <p:cBhvr>
                                        <p:cTn id="68" dur="1" fill="hold">
                                          <p:stCondLst>
                                            <p:cond delay="499"/>
                                          </p:stCondLst>
                                        </p:cTn>
                                        <p:tgtEl>
                                          <p:spTgt spid="3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2"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wipe(right)">
                                      <p:cBhvr>
                                        <p:cTn id="73" dur="500"/>
                                        <p:tgtEl>
                                          <p:spTgt spid="3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wipe(left)">
                                      <p:cBhvr>
                                        <p:cTn id="78" dur="500"/>
                                        <p:tgtEl>
                                          <p:spTgt spid="4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fade">
                                      <p:cBhvr>
                                        <p:cTn id="81" dur="1000"/>
                                        <p:tgtEl>
                                          <p:spTgt spid="1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grpId="1" nodeType="clickEffect">
                                  <p:stCondLst>
                                    <p:cond delay="0"/>
                                  </p:stCondLst>
                                  <p:childTnLst>
                                    <p:animEffect transition="out" filter="fade">
                                      <p:cBhvr>
                                        <p:cTn id="85" dur="500"/>
                                        <p:tgtEl>
                                          <p:spTgt spid="39"/>
                                        </p:tgtEl>
                                      </p:cBhvr>
                                    </p:animEffect>
                                    <p:set>
                                      <p:cBhvr>
                                        <p:cTn id="86" dur="1" fill="hold">
                                          <p:stCondLst>
                                            <p:cond delay="499"/>
                                          </p:stCondLst>
                                        </p:cTn>
                                        <p:tgtEl>
                                          <p:spTgt spid="39"/>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500"/>
                                        <p:tgtEl>
                                          <p:spTgt spid="40"/>
                                        </p:tgtEl>
                                      </p:cBhvr>
                                    </p:animEffect>
                                    <p:set>
                                      <p:cBhvr>
                                        <p:cTn id="89" dur="1" fill="hold">
                                          <p:stCondLst>
                                            <p:cond delay="499"/>
                                          </p:stCondLst>
                                        </p:cTn>
                                        <p:tgtEl>
                                          <p:spTgt spid="40"/>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3"/>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0" presetClass="exit" presetSubtype="0" fill="hold" grpId="1" nodeType="clickEffect">
                                  <p:stCondLst>
                                    <p:cond delay="0"/>
                                  </p:stCondLst>
                                  <p:childTnLst>
                                    <p:animEffect transition="out" filter="fade">
                                      <p:cBhvr>
                                        <p:cTn id="97" dur="1000"/>
                                        <p:tgtEl>
                                          <p:spTgt spid="12"/>
                                        </p:tgtEl>
                                      </p:cBhvr>
                                    </p:animEffect>
                                    <p:set>
                                      <p:cBhvr>
                                        <p:cTn id="98" dur="1" fill="hold">
                                          <p:stCondLst>
                                            <p:cond delay="999"/>
                                          </p:stCondLst>
                                        </p:cTn>
                                        <p:tgtEl>
                                          <p:spTgt spid="12"/>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1000"/>
                                        <p:tgtEl>
                                          <p:spTgt spid="11"/>
                                        </p:tgtEl>
                                      </p:cBhvr>
                                    </p:animEffect>
                                    <p:set>
                                      <p:cBhvr>
                                        <p:cTn id="101" dur="1" fill="hold">
                                          <p:stCondLst>
                                            <p:cond delay="999"/>
                                          </p:stCondLst>
                                        </p:cTn>
                                        <p:tgtEl>
                                          <p:spTgt spid="11"/>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1000"/>
                                        <p:tgtEl>
                                          <p:spTgt spid="10"/>
                                        </p:tgtEl>
                                      </p:cBhvr>
                                    </p:animEffect>
                                    <p:set>
                                      <p:cBhvr>
                                        <p:cTn id="104" dur="1" fill="hold">
                                          <p:stCondLst>
                                            <p:cond delay="999"/>
                                          </p:stCondLst>
                                        </p:cTn>
                                        <p:tgtEl>
                                          <p:spTgt spid="10"/>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wipe(left)">
                                      <p:cBhvr>
                                        <p:cTn id="109" dur="500"/>
                                        <p:tgtEl>
                                          <p:spTgt spid="16"/>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2" fill="hold" grpId="0" nodeType="click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wipe(right)">
                                      <p:cBhvr>
                                        <p:cTn id="114" dur="500"/>
                                        <p:tgtEl>
                                          <p:spTgt spid="41"/>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42"/>
                                        </p:tgtEl>
                                        <p:attrNameLst>
                                          <p:attrName>style.visibility</p:attrName>
                                        </p:attrNameLst>
                                      </p:cBhvr>
                                      <p:to>
                                        <p:strVal val="visible"/>
                                      </p:to>
                                    </p:set>
                                    <p:animEffect transition="in" filter="wipe(up)">
                                      <p:cBhvr>
                                        <p:cTn id="119" dur="500"/>
                                        <p:tgtEl>
                                          <p:spTgt spid="42"/>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18"/>
                                        </p:tgtEl>
                                        <p:attrNameLst>
                                          <p:attrName>style.visibility</p:attrName>
                                        </p:attrNameLst>
                                      </p:cBhvr>
                                      <p:to>
                                        <p:strVal val="visible"/>
                                      </p:to>
                                    </p:set>
                                    <p:animEffect transition="in" filter="fade">
                                      <p:cBhvr>
                                        <p:cTn id="124" dur="1000"/>
                                        <p:tgtEl>
                                          <p:spTgt spid="18"/>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xit" presetSubtype="0" fill="hold" grpId="1" nodeType="clickEffect">
                                  <p:stCondLst>
                                    <p:cond delay="0"/>
                                  </p:stCondLst>
                                  <p:childTnLst>
                                    <p:animEffect transition="out" filter="fade">
                                      <p:cBhvr>
                                        <p:cTn id="128" dur="500"/>
                                        <p:tgtEl>
                                          <p:spTgt spid="41"/>
                                        </p:tgtEl>
                                      </p:cBhvr>
                                    </p:animEffect>
                                    <p:set>
                                      <p:cBhvr>
                                        <p:cTn id="129" dur="1" fill="hold">
                                          <p:stCondLst>
                                            <p:cond delay="499"/>
                                          </p:stCondLst>
                                        </p:cTn>
                                        <p:tgtEl>
                                          <p:spTgt spid="41"/>
                                        </p:tgtEl>
                                        <p:attrNameLst>
                                          <p:attrName>style.visibility</p:attrName>
                                        </p:attrNameLst>
                                      </p:cBhvr>
                                      <p:to>
                                        <p:strVal val="hidden"/>
                                      </p:to>
                                    </p:set>
                                  </p:childTnLst>
                                </p:cTn>
                              </p:par>
                              <p:par>
                                <p:cTn id="130" presetID="10" presetClass="exit" presetSubtype="0" fill="hold" grpId="1" nodeType="withEffect">
                                  <p:stCondLst>
                                    <p:cond delay="0"/>
                                  </p:stCondLst>
                                  <p:childTnLst>
                                    <p:animEffect transition="out" filter="fade">
                                      <p:cBhvr>
                                        <p:cTn id="131" dur="500"/>
                                        <p:tgtEl>
                                          <p:spTgt spid="42"/>
                                        </p:tgtEl>
                                      </p:cBhvr>
                                    </p:animEffect>
                                    <p:set>
                                      <p:cBhvr>
                                        <p:cTn id="132" dur="1" fill="hold">
                                          <p:stCondLst>
                                            <p:cond delay="499"/>
                                          </p:stCondLst>
                                        </p:cTn>
                                        <p:tgtEl>
                                          <p:spTgt spid="42"/>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2" fill="hold" grpId="0" nodeType="click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wipe(right)">
                                      <p:cBhvr>
                                        <p:cTn id="137" dur="500"/>
                                        <p:tgtEl>
                                          <p:spTgt spid="43"/>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44"/>
                                        </p:tgtEl>
                                        <p:attrNameLst>
                                          <p:attrName>style.visibility</p:attrName>
                                        </p:attrNameLst>
                                      </p:cBhvr>
                                      <p:to>
                                        <p:strVal val="visible"/>
                                      </p:to>
                                    </p:set>
                                    <p:animEffect transition="in" filter="wipe(left)">
                                      <p:cBhvr>
                                        <p:cTn id="142" dur="500"/>
                                        <p:tgtEl>
                                          <p:spTgt spid="44"/>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17"/>
                                        </p:tgtEl>
                                        <p:attrNameLst>
                                          <p:attrName>style.visibility</p:attrName>
                                        </p:attrNameLst>
                                      </p:cBhvr>
                                      <p:to>
                                        <p:strVal val="visible"/>
                                      </p:to>
                                    </p:set>
                                    <p:animEffect transition="in" filter="fade">
                                      <p:cBhvr>
                                        <p:cTn id="147" dur="1000"/>
                                        <p:tgtEl>
                                          <p:spTgt spid="17"/>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xit" presetSubtype="0" fill="hold" grpId="1" nodeType="clickEffect">
                                  <p:stCondLst>
                                    <p:cond delay="0"/>
                                  </p:stCondLst>
                                  <p:childTnLst>
                                    <p:animEffect transition="out" filter="fade">
                                      <p:cBhvr>
                                        <p:cTn id="151" dur="500"/>
                                        <p:tgtEl>
                                          <p:spTgt spid="43"/>
                                        </p:tgtEl>
                                      </p:cBhvr>
                                    </p:animEffect>
                                    <p:set>
                                      <p:cBhvr>
                                        <p:cTn id="152" dur="1" fill="hold">
                                          <p:stCondLst>
                                            <p:cond delay="499"/>
                                          </p:stCondLst>
                                        </p:cTn>
                                        <p:tgtEl>
                                          <p:spTgt spid="43"/>
                                        </p:tgtEl>
                                        <p:attrNameLst>
                                          <p:attrName>style.visibility</p:attrName>
                                        </p:attrNameLst>
                                      </p:cBhvr>
                                      <p:to>
                                        <p:strVal val="hidden"/>
                                      </p:to>
                                    </p:set>
                                  </p:childTnLst>
                                </p:cTn>
                              </p:par>
                              <p:par>
                                <p:cTn id="153" presetID="10" presetClass="exit" presetSubtype="0" fill="hold" grpId="1" nodeType="withEffect">
                                  <p:stCondLst>
                                    <p:cond delay="0"/>
                                  </p:stCondLst>
                                  <p:childTnLst>
                                    <p:animEffect transition="out" filter="fade">
                                      <p:cBhvr>
                                        <p:cTn id="154" dur="500"/>
                                        <p:tgtEl>
                                          <p:spTgt spid="44"/>
                                        </p:tgtEl>
                                      </p:cBhvr>
                                    </p:animEffect>
                                    <p:set>
                                      <p:cBhvr>
                                        <p:cTn id="155" dur="1" fill="hold">
                                          <p:stCondLst>
                                            <p:cond delay="499"/>
                                          </p:stCondLst>
                                        </p:cTn>
                                        <p:tgtEl>
                                          <p:spTgt spid="44"/>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19"/>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0" presetClass="exit" presetSubtype="0" fill="hold" grpId="1" nodeType="clickEffect">
                                  <p:stCondLst>
                                    <p:cond delay="0"/>
                                  </p:stCondLst>
                                  <p:childTnLst>
                                    <p:animEffect transition="out" filter="fade">
                                      <p:cBhvr>
                                        <p:cTn id="163" dur="2000"/>
                                        <p:tgtEl>
                                          <p:spTgt spid="18"/>
                                        </p:tgtEl>
                                      </p:cBhvr>
                                    </p:animEffect>
                                    <p:set>
                                      <p:cBhvr>
                                        <p:cTn id="164" dur="1" fill="hold">
                                          <p:stCondLst>
                                            <p:cond delay="1999"/>
                                          </p:stCondLst>
                                        </p:cTn>
                                        <p:tgtEl>
                                          <p:spTgt spid="18"/>
                                        </p:tgtEl>
                                        <p:attrNameLst>
                                          <p:attrName>style.visibility</p:attrName>
                                        </p:attrNameLst>
                                      </p:cBhvr>
                                      <p:to>
                                        <p:strVal val="hidden"/>
                                      </p:to>
                                    </p:set>
                                  </p:childTnLst>
                                </p:cTn>
                              </p:par>
                              <p:par>
                                <p:cTn id="165" presetID="10" presetClass="exit" presetSubtype="0" fill="hold" grpId="1" nodeType="withEffect">
                                  <p:stCondLst>
                                    <p:cond delay="0"/>
                                  </p:stCondLst>
                                  <p:childTnLst>
                                    <p:animEffect transition="out" filter="fade">
                                      <p:cBhvr>
                                        <p:cTn id="166" dur="2000"/>
                                        <p:tgtEl>
                                          <p:spTgt spid="17"/>
                                        </p:tgtEl>
                                      </p:cBhvr>
                                    </p:animEffect>
                                    <p:set>
                                      <p:cBhvr>
                                        <p:cTn id="167" dur="1" fill="hold">
                                          <p:stCondLst>
                                            <p:cond delay="1999"/>
                                          </p:stCondLst>
                                        </p:cTn>
                                        <p:tgtEl>
                                          <p:spTgt spid="17"/>
                                        </p:tgtEl>
                                        <p:attrNameLst>
                                          <p:attrName>style.visibility</p:attrName>
                                        </p:attrNameLst>
                                      </p:cBhvr>
                                      <p:to>
                                        <p:strVal val="hidden"/>
                                      </p:to>
                                    </p:set>
                                  </p:childTnLst>
                                </p:cTn>
                              </p:par>
                              <p:par>
                                <p:cTn id="168" presetID="10" presetClass="exit" presetSubtype="0" fill="hold" grpId="1" nodeType="withEffect">
                                  <p:stCondLst>
                                    <p:cond delay="0"/>
                                  </p:stCondLst>
                                  <p:childTnLst>
                                    <p:animEffect transition="out" filter="fade">
                                      <p:cBhvr>
                                        <p:cTn id="169" dur="1000"/>
                                        <p:tgtEl>
                                          <p:spTgt spid="16"/>
                                        </p:tgtEl>
                                      </p:cBhvr>
                                    </p:animEffect>
                                    <p:set>
                                      <p:cBhvr>
                                        <p:cTn id="170" dur="1" fill="hold">
                                          <p:stCondLst>
                                            <p:cond delay="999"/>
                                          </p:stCondLst>
                                        </p:cTn>
                                        <p:tgtEl>
                                          <p:spTgt spid="16"/>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20"/>
                                        </p:tgtEl>
                                        <p:attrNameLst>
                                          <p:attrName>style.visibility</p:attrName>
                                        </p:attrNameLst>
                                      </p:cBhvr>
                                      <p:to>
                                        <p:strVal val="visible"/>
                                      </p:to>
                                    </p:set>
                                  </p:childTnLst>
                                </p:cTn>
                              </p:par>
                            </p:childTnLst>
                          </p:cTn>
                        </p:par>
                        <p:par>
                          <p:cTn id="175" fill="hold">
                            <p:stCondLst>
                              <p:cond delay="0"/>
                            </p:stCondLst>
                            <p:childTnLst>
                              <p:par>
                                <p:cTn id="176" presetID="1" presetClass="entr" presetSubtype="0" fill="hold" grpId="0" nodeType="afterEffect">
                                  <p:stCondLst>
                                    <p:cond delay="100"/>
                                  </p:stCondLst>
                                  <p:childTnLst>
                                    <p:set>
                                      <p:cBhvr>
                                        <p:cTn id="177" dur="1" fill="hold">
                                          <p:stCondLst>
                                            <p:cond delay="0"/>
                                          </p:stCondLst>
                                        </p:cTn>
                                        <p:tgtEl>
                                          <p:spTgt spid="21"/>
                                        </p:tgtEl>
                                        <p:attrNameLst>
                                          <p:attrName>style.visibility</p:attrName>
                                        </p:attrNameLst>
                                      </p:cBhvr>
                                      <p:to>
                                        <p:strVal val="visible"/>
                                      </p:to>
                                    </p:set>
                                  </p:childTnLst>
                                </p:cTn>
                              </p:par>
                            </p:childTnLst>
                          </p:cTn>
                        </p:par>
                        <p:par>
                          <p:cTn id="178" fill="hold">
                            <p:stCondLst>
                              <p:cond delay="100"/>
                            </p:stCondLst>
                            <p:childTnLst>
                              <p:par>
                                <p:cTn id="179" presetID="1" presetClass="entr" presetSubtype="0" fill="hold" grpId="0" nodeType="afterEffect">
                                  <p:stCondLst>
                                    <p:cond delay="100"/>
                                  </p:stCondLst>
                                  <p:childTnLst>
                                    <p:set>
                                      <p:cBhvr>
                                        <p:cTn id="180" dur="1" fill="hold">
                                          <p:stCondLst>
                                            <p:cond delay="0"/>
                                          </p:stCondLst>
                                        </p:cTn>
                                        <p:tgtEl>
                                          <p:spTgt spid="22"/>
                                        </p:tgtEl>
                                        <p:attrNameLst>
                                          <p:attrName>style.visibility</p:attrName>
                                        </p:attrNameLst>
                                      </p:cBhvr>
                                      <p:to>
                                        <p:strVal val="visible"/>
                                      </p:to>
                                    </p:set>
                                  </p:childTnLst>
                                </p:cTn>
                              </p:par>
                            </p:childTnLst>
                          </p:cTn>
                        </p:par>
                        <p:par>
                          <p:cTn id="181" fill="hold">
                            <p:stCondLst>
                              <p:cond delay="200"/>
                            </p:stCondLst>
                            <p:childTnLst>
                              <p:par>
                                <p:cTn id="182" presetID="1" presetClass="entr" presetSubtype="0" fill="hold" grpId="0" nodeType="afterEffect">
                                  <p:stCondLst>
                                    <p:cond delay="100"/>
                                  </p:stCondLst>
                                  <p:childTnLst>
                                    <p:set>
                                      <p:cBhvr>
                                        <p:cTn id="183" dur="1" fill="hold">
                                          <p:stCondLst>
                                            <p:cond delay="0"/>
                                          </p:stCondLst>
                                        </p:cTn>
                                        <p:tgtEl>
                                          <p:spTgt spid="23"/>
                                        </p:tgtEl>
                                        <p:attrNameLst>
                                          <p:attrName>style.visibility</p:attrName>
                                        </p:attrNameLst>
                                      </p:cBhvr>
                                      <p:to>
                                        <p:strVal val="visible"/>
                                      </p:to>
                                    </p:set>
                                  </p:childTnLst>
                                </p:cTn>
                              </p:par>
                            </p:childTnLst>
                          </p:cTn>
                        </p:par>
                        <p:par>
                          <p:cTn id="184" fill="hold">
                            <p:stCondLst>
                              <p:cond delay="300"/>
                            </p:stCondLst>
                            <p:childTnLst>
                              <p:par>
                                <p:cTn id="185" presetID="1" presetClass="entr" presetSubtype="0" fill="hold" grpId="0" nodeType="afterEffect">
                                  <p:stCondLst>
                                    <p:cond delay="100"/>
                                  </p:stCondLst>
                                  <p:childTnLst>
                                    <p:set>
                                      <p:cBhvr>
                                        <p:cTn id="186" dur="1" fill="hold">
                                          <p:stCondLst>
                                            <p:cond delay="0"/>
                                          </p:stCondLst>
                                        </p:cTn>
                                        <p:tgtEl>
                                          <p:spTgt spid="24"/>
                                        </p:tgtEl>
                                        <p:attrNameLst>
                                          <p:attrName>style.visibility</p:attrName>
                                        </p:attrNameLst>
                                      </p:cBhvr>
                                      <p:to>
                                        <p:strVal val="visible"/>
                                      </p:to>
                                    </p:set>
                                  </p:childTnLst>
                                </p:cTn>
                              </p:par>
                            </p:childTnLst>
                          </p:cTn>
                        </p:par>
                        <p:par>
                          <p:cTn id="187" fill="hold">
                            <p:stCondLst>
                              <p:cond delay="400"/>
                            </p:stCondLst>
                            <p:childTnLst>
                              <p:par>
                                <p:cTn id="188" presetID="1" presetClass="entr" presetSubtype="0" fill="hold" grpId="0" nodeType="afterEffect">
                                  <p:stCondLst>
                                    <p:cond delay="100"/>
                                  </p:stCondLst>
                                  <p:childTnLst>
                                    <p:set>
                                      <p:cBhvr>
                                        <p:cTn id="189" dur="1" fill="hold">
                                          <p:stCondLst>
                                            <p:cond delay="0"/>
                                          </p:stCondLst>
                                        </p:cTn>
                                        <p:tgtEl>
                                          <p:spTgt spid="25"/>
                                        </p:tgtEl>
                                        <p:attrNameLst>
                                          <p:attrName>style.visibility</p:attrName>
                                        </p:attrNameLst>
                                      </p:cBhvr>
                                      <p:to>
                                        <p:strVal val="visible"/>
                                      </p:to>
                                    </p:set>
                                  </p:childTnLst>
                                </p:cTn>
                              </p:par>
                            </p:childTnLst>
                          </p:cTn>
                        </p:par>
                        <p:par>
                          <p:cTn id="190" fill="hold">
                            <p:stCondLst>
                              <p:cond delay="500"/>
                            </p:stCondLst>
                            <p:childTnLst>
                              <p:par>
                                <p:cTn id="191" presetID="1" presetClass="entr" presetSubtype="0" fill="hold" grpId="0" nodeType="afterEffect">
                                  <p:stCondLst>
                                    <p:cond delay="100"/>
                                  </p:stCondLst>
                                  <p:childTnLst>
                                    <p:set>
                                      <p:cBhvr>
                                        <p:cTn id="192" dur="1" fill="hold">
                                          <p:stCondLst>
                                            <p:cond delay="0"/>
                                          </p:stCondLst>
                                        </p:cTn>
                                        <p:tgtEl>
                                          <p:spTgt spid="26"/>
                                        </p:tgtEl>
                                        <p:attrNameLst>
                                          <p:attrName>style.visibility</p:attrName>
                                        </p:attrNameLst>
                                      </p:cBhvr>
                                      <p:to>
                                        <p:strVal val="visible"/>
                                      </p:to>
                                    </p:set>
                                  </p:childTnLst>
                                </p:cTn>
                              </p:par>
                            </p:childTnLst>
                          </p:cTn>
                        </p:par>
                        <p:par>
                          <p:cTn id="193" fill="hold">
                            <p:stCondLst>
                              <p:cond delay="600"/>
                            </p:stCondLst>
                            <p:childTnLst>
                              <p:par>
                                <p:cTn id="194" presetID="1" presetClass="entr" presetSubtype="0" fill="hold" grpId="0" nodeType="afterEffect">
                                  <p:stCondLst>
                                    <p:cond delay="100"/>
                                  </p:stCondLst>
                                  <p:childTnLst>
                                    <p:set>
                                      <p:cBhvr>
                                        <p:cTn id="195" dur="1" fill="hold">
                                          <p:stCondLst>
                                            <p:cond delay="0"/>
                                          </p:stCondLst>
                                        </p:cTn>
                                        <p:tgtEl>
                                          <p:spTgt spid="27"/>
                                        </p:tgtEl>
                                        <p:attrNameLst>
                                          <p:attrName>style.visibility</p:attrName>
                                        </p:attrNameLst>
                                      </p:cBhvr>
                                      <p:to>
                                        <p:strVal val="visible"/>
                                      </p:to>
                                    </p:set>
                                  </p:childTnLst>
                                </p:cTn>
                              </p:par>
                            </p:childTnLst>
                          </p:cTn>
                        </p:par>
                        <p:par>
                          <p:cTn id="196" fill="hold">
                            <p:stCondLst>
                              <p:cond delay="700"/>
                            </p:stCondLst>
                            <p:childTnLst>
                              <p:par>
                                <p:cTn id="197" presetID="1" presetClass="entr" presetSubtype="0" fill="hold" grpId="0" nodeType="afterEffect">
                                  <p:stCondLst>
                                    <p:cond delay="100"/>
                                  </p:stCondLst>
                                  <p:childTnLst>
                                    <p:set>
                                      <p:cBhvr>
                                        <p:cTn id="198" dur="1" fill="hold">
                                          <p:stCondLst>
                                            <p:cond delay="0"/>
                                          </p:stCondLst>
                                        </p:cTn>
                                        <p:tgtEl>
                                          <p:spTgt spid="28"/>
                                        </p:tgtEl>
                                        <p:attrNameLst>
                                          <p:attrName>style.visibility</p:attrName>
                                        </p:attrNameLst>
                                      </p:cBhvr>
                                      <p:to>
                                        <p:strVal val="visible"/>
                                      </p:to>
                                    </p:set>
                                  </p:childTnLst>
                                </p:cTn>
                              </p:par>
                            </p:childTnLst>
                          </p:cTn>
                        </p:par>
                        <p:par>
                          <p:cTn id="199" fill="hold">
                            <p:stCondLst>
                              <p:cond delay="800"/>
                            </p:stCondLst>
                            <p:childTnLst>
                              <p:par>
                                <p:cTn id="200" presetID="1" presetClass="entr" presetSubtype="0" fill="hold" grpId="0" nodeType="afterEffect">
                                  <p:stCondLst>
                                    <p:cond delay="100"/>
                                  </p:stCondLst>
                                  <p:childTnLst>
                                    <p:set>
                                      <p:cBhvr>
                                        <p:cTn id="201" dur="1" fill="hold">
                                          <p:stCondLst>
                                            <p:cond delay="0"/>
                                          </p:stCondLst>
                                        </p:cTn>
                                        <p:tgtEl>
                                          <p:spTgt spid="29"/>
                                        </p:tgtEl>
                                        <p:attrNameLst>
                                          <p:attrName>style.visibility</p:attrName>
                                        </p:attrNameLst>
                                      </p:cBhvr>
                                      <p:to>
                                        <p:strVal val="visible"/>
                                      </p:to>
                                    </p:set>
                                  </p:childTnLst>
                                </p:cTn>
                              </p:par>
                            </p:childTnLst>
                          </p:cTn>
                        </p:par>
                        <p:par>
                          <p:cTn id="202" fill="hold">
                            <p:stCondLst>
                              <p:cond delay="900"/>
                            </p:stCondLst>
                            <p:childTnLst>
                              <p:par>
                                <p:cTn id="203" presetID="1" presetClass="entr" presetSubtype="0" fill="hold" grpId="0" nodeType="afterEffect">
                                  <p:stCondLst>
                                    <p:cond delay="100"/>
                                  </p:stCondLst>
                                  <p:childTnLst>
                                    <p:set>
                                      <p:cBhvr>
                                        <p:cTn id="204" dur="1" fill="hold">
                                          <p:stCondLst>
                                            <p:cond delay="0"/>
                                          </p:stCondLst>
                                        </p:cTn>
                                        <p:tgtEl>
                                          <p:spTgt spid="30"/>
                                        </p:tgtEl>
                                        <p:attrNameLst>
                                          <p:attrName>style.visibility</p:attrName>
                                        </p:attrNameLst>
                                      </p:cBhvr>
                                      <p:to>
                                        <p:strVal val="visible"/>
                                      </p:to>
                                    </p:set>
                                  </p:childTnLst>
                                </p:cTn>
                              </p:par>
                            </p:childTnLst>
                          </p:cTn>
                        </p:par>
                        <p:par>
                          <p:cTn id="205" fill="hold">
                            <p:stCondLst>
                              <p:cond delay="1000"/>
                            </p:stCondLst>
                            <p:childTnLst>
                              <p:par>
                                <p:cTn id="206" presetID="1" presetClass="entr" presetSubtype="0" fill="hold" grpId="0" nodeType="afterEffect">
                                  <p:stCondLst>
                                    <p:cond delay="100"/>
                                  </p:stCondLst>
                                  <p:childTnLst>
                                    <p:set>
                                      <p:cBhvr>
                                        <p:cTn id="207" dur="1" fill="hold">
                                          <p:stCondLst>
                                            <p:cond delay="0"/>
                                          </p:stCondLst>
                                        </p:cTn>
                                        <p:tgtEl>
                                          <p:spTgt spid="31"/>
                                        </p:tgtEl>
                                        <p:attrNameLst>
                                          <p:attrName>style.visibility</p:attrName>
                                        </p:attrNameLst>
                                      </p:cBhvr>
                                      <p:to>
                                        <p:strVal val="visible"/>
                                      </p:to>
                                    </p:set>
                                  </p:childTnLst>
                                </p:cTn>
                              </p:par>
                            </p:childTnLst>
                          </p:cTn>
                        </p:par>
                        <p:par>
                          <p:cTn id="208" fill="hold">
                            <p:stCondLst>
                              <p:cond delay="1100"/>
                            </p:stCondLst>
                            <p:childTnLst>
                              <p:par>
                                <p:cTn id="209" presetID="1" presetClass="entr" presetSubtype="0" fill="hold" grpId="0" nodeType="afterEffect">
                                  <p:stCondLst>
                                    <p:cond delay="100"/>
                                  </p:stCondLst>
                                  <p:childTnLst>
                                    <p:set>
                                      <p:cBhvr>
                                        <p:cTn id="210" dur="1" fill="hold">
                                          <p:stCondLst>
                                            <p:cond delay="0"/>
                                          </p:stCondLst>
                                        </p:cTn>
                                        <p:tgtEl>
                                          <p:spTgt spid="32"/>
                                        </p:tgtEl>
                                        <p:attrNameLst>
                                          <p:attrName>style.visibility</p:attrName>
                                        </p:attrNameLst>
                                      </p:cBhvr>
                                      <p:to>
                                        <p:strVal val="visible"/>
                                      </p:to>
                                    </p:set>
                                  </p:childTnLst>
                                </p:cTn>
                              </p:par>
                            </p:childTnLst>
                          </p:cTn>
                        </p:par>
                        <p:par>
                          <p:cTn id="211" fill="hold">
                            <p:stCondLst>
                              <p:cond delay="1200"/>
                            </p:stCondLst>
                            <p:childTnLst>
                              <p:par>
                                <p:cTn id="212" presetID="1" presetClass="entr" presetSubtype="0" fill="hold" grpId="0" nodeType="afterEffect">
                                  <p:stCondLst>
                                    <p:cond delay="100"/>
                                  </p:stCondLst>
                                  <p:childTnLst>
                                    <p:set>
                                      <p:cBhvr>
                                        <p:cTn id="213" dur="1" fill="hold">
                                          <p:stCondLst>
                                            <p:cond delay="0"/>
                                          </p:stCondLst>
                                        </p:cTn>
                                        <p:tgtEl>
                                          <p:spTgt spid="33"/>
                                        </p:tgtEl>
                                        <p:attrNameLst>
                                          <p:attrName>style.visibility</p:attrName>
                                        </p:attrNameLst>
                                      </p:cBhvr>
                                      <p:to>
                                        <p:strVal val="visible"/>
                                      </p:to>
                                    </p:set>
                                  </p:childTnLst>
                                </p:cTn>
                              </p:par>
                            </p:childTnLst>
                          </p:cTn>
                        </p:par>
                        <p:par>
                          <p:cTn id="214" fill="hold">
                            <p:stCondLst>
                              <p:cond delay="1300"/>
                            </p:stCondLst>
                            <p:childTnLst>
                              <p:par>
                                <p:cTn id="215" presetID="1" presetClass="entr" presetSubtype="0" fill="hold" grpId="0" nodeType="afterEffect">
                                  <p:stCondLst>
                                    <p:cond delay="100"/>
                                  </p:stCondLst>
                                  <p:childTnLst>
                                    <p:set>
                                      <p:cBhvr>
                                        <p:cTn id="216" dur="1" fill="hold">
                                          <p:stCondLst>
                                            <p:cond delay="0"/>
                                          </p:stCondLst>
                                        </p:cTn>
                                        <p:tgtEl>
                                          <p:spTgt spid="34"/>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0" presetClass="exit" presetSubtype="0" fill="hold" grpId="1" nodeType="clickEffect">
                                  <p:stCondLst>
                                    <p:cond delay="0"/>
                                  </p:stCondLst>
                                  <p:childTnLst>
                                    <p:animEffect transition="out" filter="fade">
                                      <p:cBhvr>
                                        <p:cTn id="220" dur="500"/>
                                        <p:tgtEl>
                                          <p:spTgt spid="6"/>
                                        </p:tgtEl>
                                      </p:cBhvr>
                                    </p:animEffect>
                                    <p:set>
                                      <p:cBhvr>
                                        <p:cTn id="221" dur="1" fill="hold">
                                          <p:stCondLst>
                                            <p:cond delay="499"/>
                                          </p:stCondLst>
                                        </p:cTn>
                                        <p:tgtEl>
                                          <p:spTgt spid="6"/>
                                        </p:tgtEl>
                                        <p:attrNameLst>
                                          <p:attrName>style.visibility</p:attrName>
                                        </p:attrNameLst>
                                      </p:cBhvr>
                                      <p:to>
                                        <p:strVal val="hidden"/>
                                      </p:to>
                                    </p:set>
                                  </p:childTnLst>
                                </p:cTn>
                              </p:par>
                              <p:par>
                                <p:cTn id="222" presetID="10" presetClass="exit" presetSubtype="0" fill="hold" grpId="1" nodeType="withEffect">
                                  <p:stCondLst>
                                    <p:cond delay="0"/>
                                  </p:stCondLst>
                                  <p:childTnLst>
                                    <p:animEffect transition="out" filter="fade">
                                      <p:cBhvr>
                                        <p:cTn id="223" dur="500"/>
                                        <p:tgtEl>
                                          <p:spTgt spid="14"/>
                                        </p:tgtEl>
                                      </p:cBhvr>
                                    </p:animEffect>
                                    <p:set>
                                      <p:cBhvr>
                                        <p:cTn id="224" dur="1" fill="hold">
                                          <p:stCondLst>
                                            <p:cond delay="499"/>
                                          </p:stCondLst>
                                        </p:cTn>
                                        <p:tgtEl>
                                          <p:spTgt spid="14"/>
                                        </p:tgtEl>
                                        <p:attrNameLst>
                                          <p:attrName>style.visibility</p:attrName>
                                        </p:attrNameLst>
                                      </p:cBhvr>
                                      <p:to>
                                        <p:strVal val="hidden"/>
                                      </p:to>
                                    </p:set>
                                  </p:childTnLst>
                                </p:cTn>
                              </p:par>
                              <p:par>
                                <p:cTn id="225" presetID="10" presetClass="exit" presetSubtype="0" fill="hold" grpId="1" nodeType="withEffect">
                                  <p:stCondLst>
                                    <p:cond delay="0"/>
                                  </p:stCondLst>
                                  <p:childTnLst>
                                    <p:animEffect transition="out" filter="fade">
                                      <p:cBhvr>
                                        <p:cTn id="226" dur="500"/>
                                        <p:tgtEl>
                                          <p:spTgt spid="36">
                                            <p:txEl>
                                              <p:pRg st="0" end="0"/>
                                            </p:txEl>
                                          </p:spTgt>
                                        </p:tgtEl>
                                      </p:cBhvr>
                                    </p:animEffect>
                                    <p:set>
                                      <p:cBhvr>
                                        <p:cTn id="227" dur="1" fill="hold">
                                          <p:stCondLst>
                                            <p:cond delay="499"/>
                                          </p:stCondLst>
                                        </p:cTn>
                                        <p:tgtEl>
                                          <p:spTgt spid="36">
                                            <p:txEl>
                                              <p:pRg st="0" end="0"/>
                                            </p:txEl>
                                          </p:spTgt>
                                        </p:tgtEl>
                                        <p:attrNameLst>
                                          <p:attrName>style.visibility</p:attrName>
                                        </p:attrNameLst>
                                      </p:cBhvr>
                                      <p:to>
                                        <p:strVal val="hidden"/>
                                      </p:to>
                                    </p:set>
                                  </p:childTnLst>
                                </p:cTn>
                              </p:par>
                              <p:par>
                                <p:cTn id="228" presetID="10" presetClass="exit" presetSubtype="0" fill="hold" grpId="1" nodeType="withEffect">
                                  <p:stCondLst>
                                    <p:cond delay="0"/>
                                  </p:stCondLst>
                                  <p:childTnLst>
                                    <p:animEffect transition="out" filter="fade">
                                      <p:cBhvr>
                                        <p:cTn id="229" dur="500"/>
                                        <p:tgtEl>
                                          <p:spTgt spid="36">
                                            <p:txEl>
                                              <p:pRg st="1" end="1"/>
                                            </p:txEl>
                                          </p:spTgt>
                                        </p:tgtEl>
                                      </p:cBhvr>
                                    </p:animEffect>
                                    <p:set>
                                      <p:cBhvr>
                                        <p:cTn id="230" dur="1" fill="hold">
                                          <p:stCondLst>
                                            <p:cond delay="499"/>
                                          </p:stCondLst>
                                        </p:cTn>
                                        <p:tgtEl>
                                          <p:spTgt spid="36">
                                            <p:txEl>
                                              <p:pRg st="1" end="1"/>
                                            </p:txEl>
                                          </p:spTgt>
                                        </p:tgtEl>
                                        <p:attrNameLst>
                                          <p:attrName>style.visibility</p:attrName>
                                        </p:attrNameLst>
                                      </p:cBhvr>
                                      <p:to>
                                        <p:strVal val="hidden"/>
                                      </p:to>
                                    </p:set>
                                  </p:childTnLst>
                                </p:cTn>
                              </p:par>
                              <p:par>
                                <p:cTn id="231" presetID="10" presetClass="exit" presetSubtype="0" fill="hold" grpId="1" nodeType="withEffect">
                                  <p:stCondLst>
                                    <p:cond delay="0"/>
                                  </p:stCondLst>
                                  <p:childTnLst>
                                    <p:animEffect transition="out" filter="fade">
                                      <p:cBhvr>
                                        <p:cTn id="232" dur="500"/>
                                        <p:tgtEl>
                                          <p:spTgt spid="36">
                                            <p:bg/>
                                          </p:spTgt>
                                        </p:tgtEl>
                                      </p:cBhvr>
                                    </p:animEffect>
                                    <p:set>
                                      <p:cBhvr>
                                        <p:cTn id="233" dur="1" fill="hold">
                                          <p:stCondLst>
                                            <p:cond delay="499"/>
                                          </p:stCondLst>
                                        </p:cTn>
                                        <p:tgtEl>
                                          <p:spTgt spid="36">
                                            <p:bg/>
                                          </p:spTgt>
                                        </p:tgtEl>
                                        <p:attrNameLst>
                                          <p:attrName>style.visibility</p:attrName>
                                        </p:attrNameLst>
                                      </p:cBhvr>
                                      <p:to>
                                        <p:strVal val="hidden"/>
                                      </p:to>
                                    </p:set>
                                  </p:childTnLst>
                                </p:cTn>
                              </p:par>
                              <p:par>
                                <p:cTn id="234" presetID="10" presetClass="exit" presetSubtype="0" fill="hold" grpId="1" nodeType="withEffect">
                                  <p:stCondLst>
                                    <p:cond delay="0"/>
                                  </p:stCondLst>
                                  <p:childTnLst>
                                    <p:animEffect transition="out" filter="fade">
                                      <p:cBhvr>
                                        <p:cTn id="235" dur="500"/>
                                        <p:tgtEl>
                                          <p:spTgt spid="15"/>
                                        </p:tgtEl>
                                      </p:cBhvr>
                                    </p:animEffect>
                                    <p:set>
                                      <p:cBhvr>
                                        <p:cTn id="236" dur="1" fill="hold">
                                          <p:stCondLst>
                                            <p:cond delay="499"/>
                                          </p:stCondLst>
                                        </p:cTn>
                                        <p:tgtEl>
                                          <p:spTgt spid="15"/>
                                        </p:tgtEl>
                                        <p:attrNameLst>
                                          <p:attrName>style.visibility</p:attrName>
                                        </p:attrNameLst>
                                      </p:cBhvr>
                                      <p:to>
                                        <p:strVal val="hidden"/>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animBg="1"/>
      <p:bldP spid="8" grpId="0" animBg="1"/>
      <p:bldP spid="10" grpId="0" animBg="1"/>
      <p:bldP spid="10" grpId="1" animBg="1"/>
      <p:bldP spid="11" grpId="0" animBg="1"/>
      <p:bldP spid="11" grpId="1" animBg="1"/>
      <p:bldP spid="12" grpId="0" animBg="1"/>
      <p:bldP spid="12" grpId="1" animBg="1"/>
      <p:bldP spid="13" grpId="0"/>
      <p:bldP spid="14" grpId="0"/>
      <p:bldP spid="14" grpId="1"/>
      <p:bldP spid="15" grpId="0"/>
      <p:bldP spid="15" grpId="1"/>
      <p:bldP spid="16" grpId="0" animBg="1"/>
      <p:bldP spid="16" grpId="1" animBg="1"/>
      <p:bldP spid="17" grpId="0" animBg="1"/>
      <p:bldP spid="17" grpId="1" animBg="1"/>
      <p:bldP spid="18" grpId="0" animBg="1"/>
      <p:bldP spid="18" grpId="1" animBg="1"/>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animBg="1"/>
      <p:bldP spid="36" grpId="0" build="p" animBg="1"/>
      <p:bldP spid="36" grpId="1" build="allAtOnce"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3860676" cy="691277"/>
          </a:xfrm>
        </p:spPr>
        <p:txBody>
          <a:bodyPr/>
          <a:lstStyle/>
          <a:p>
            <a:r>
              <a:rPr lang="en-US"/>
              <a:t>A Better One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18</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grpSp>
        <p:nvGrpSpPr>
          <p:cNvPr id="201" name="Group 217"/>
          <p:cNvGrpSpPr>
            <a:grpSpLocks/>
          </p:cNvGrpSpPr>
          <p:nvPr/>
        </p:nvGrpSpPr>
        <p:grpSpPr bwMode="auto">
          <a:xfrm>
            <a:off x="4587875" y="3382963"/>
            <a:ext cx="3871913" cy="3276600"/>
            <a:chOff x="2890" y="2131"/>
            <a:chExt cx="2439" cy="2064"/>
          </a:xfrm>
        </p:grpSpPr>
        <p:sp>
          <p:nvSpPr>
            <p:cNvPr id="202" name="Rectangle 7"/>
            <p:cNvSpPr>
              <a:spLocks noChangeArrowheads="1"/>
            </p:cNvSpPr>
            <p:nvPr/>
          </p:nvSpPr>
          <p:spPr bwMode="auto">
            <a:xfrm>
              <a:off x="5088" y="4023"/>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03" name="Rectangle 8"/>
            <p:cNvSpPr>
              <a:spLocks noChangeArrowheads="1"/>
            </p:cNvSpPr>
            <p:nvPr/>
          </p:nvSpPr>
          <p:spPr bwMode="auto">
            <a:xfrm>
              <a:off x="4923" y="4023"/>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04" name="Rectangle 9"/>
            <p:cNvSpPr>
              <a:spLocks noChangeArrowheads="1"/>
            </p:cNvSpPr>
            <p:nvPr/>
          </p:nvSpPr>
          <p:spPr bwMode="auto">
            <a:xfrm>
              <a:off x="4720" y="4023"/>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05" name="Rectangle 10"/>
            <p:cNvSpPr>
              <a:spLocks noChangeArrowheads="1"/>
            </p:cNvSpPr>
            <p:nvPr/>
          </p:nvSpPr>
          <p:spPr bwMode="auto">
            <a:xfrm>
              <a:off x="4515" y="4023"/>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06" name="Rectangle 11"/>
            <p:cNvSpPr>
              <a:spLocks noChangeArrowheads="1"/>
            </p:cNvSpPr>
            <p:nvPr/>
          </p:nvSpPr>
          <p:spPr bwMode="auto">
            <a:xfrm>
              <a:off x="4313" y="4023"/>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07" name="Rectangle 12"/>
            <p:cNvSpPr>
              <a:spLocks noChangeArrowheads="1"/>
            </p:cNvSpPr>
            <p:nvPr/>
          </p:nvSpPr>
          <p:spPr bwMode="auto">
            <a:xfrm>
              <a:off x="4110" y="4023"/>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08" name="Rectangle 13"/>
            <p:cNvSpPr>
              <a:spLocks noChangeArrowheads="1"/>
            </p:cNvSpPr>
            <p:nvPr/>
          </p:nvSpPr>
          <p:spPr bwMode="auto">
            <a:xfrm>
              <a:off x="3921" y="4023"/>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09" name="Rectangle 14"/>
            <p:cNvSpPr>
              <a:spLocks noChangeArrowheads="1"/>
            </p:cNvSpPr>
            <p:nvPr/>
          </p:nvSpPr>
          <p:spPr bwMode="auto">
            <a:xfrm>
              <a:off x="3742" y="4023"/>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0" name="Rectangle 15"/>
            <p:cNvSpPr>
              <a:spLocks noChangeArrowheads="1"/>
            </p:cNvSpPr>
            <p:nvPr/>
          </p:nvSpPr>
          <p:spPr bwMode="auto">
            <a:xfrm>
              <a:off x="3563" y="4023"/>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1" name="Rectangle 16"/>
            <p:cNvSpPr>
              <a:spLocks noChangeArrowheads="1"/>
            </p:cNvSpPr>
            <p:nvPr/>
          </p:nvSpPr>
          <p:spPr bwMode="auto">
            <a:xfrm>
              <a:off x="3356" y="4023"/>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2" name="Rectangle 17"/>
            <p:cNvSpPr>
              <a:spLocks noChangeArrowheads="1"/>
            </p:cNvSpPr>
            <p:nvPr/>
          </p:nvSpPr>
          <p:spPr bwMode="auto">
            <a:xfrm>
              <a:off x="3157" y="4023"/>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3" name="Rectangle 18"/>
            <p:cNvSpPr>
              <a:spLocks noChangeArrowheads="1"/>
            </p:cNvSpPr>
            <p:nvPr/>
          </p:nvSpPr>
          <p:spPr bwMode="auto">
            <a:xfrm>
              <a:off x="2890" y="4023"/>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10</a:t>
              </a:r>
            </a:p>
          </p:txBody>
        </p:sp>
        <p:sp>
          <p:nvSpPr>
            <p:cNvPr id="214" name="Rectangle 19"/>
            <p:cNvSpPr>
              <a:spLocks noChangeArrowheads="1"/>
            </p:cNvSpPr>
            <p:nvPr/>
          </p:nvSpPr>
          <p:spPr bwMode="auto">
            <a:xfrm>
              <a:off x="5088" y="3851"/>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5" name="Rectangle 20"/>
            <p:cNvSpPr>
              <a:spLocks noChangeArrowheads="1"/>
            </p:cNvSpPr>
            <p:nvPr/>
          </p:nvSpPr>
          <p:spPr bwMode="auto">
            <a:xfrm>
              <a:off x="4923" y="3851"/>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6" name="Rectangle 21"/>
            <p:cNvSpPr>
              <a:spLocks noChangeArrowheads="1"/>
            </p:cNvSpPr>
            <p:nvPr/>
          </p:nvSpPr>
          <p:spPr bwMode="auto">
            <a:xfrm>
              <a:off x="4720" y="3851"/>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7" name="Rectangle 22"/>
            <p:cNvSpPr>
              <a:spLocks noChangeArrowheads="1"/>
            </p:cNvSpPr>
            <p:nvPr/>
          </p:nvSpPr>
          <p:spPr bwMode="auto">
            <a:xfrm>
              <a:off x="4515" y="3851"/>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8" name="Rectangle 23"/>
            <p:cNvSpPr>
              <a:spLocks noChangeArrowheads="1"/>
            </p:cNvSpPr>
            <p:nvPr/>
          </p:nvSpPr>
          <p:spPr bwMode="auto">
            <a:xfrm>
              <a:off x="4313" y="3851"/>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19" name="Rectangle 24"/>
            <p:cNvSpPr>
              <a:spLocks noChangeArrowheads="1"/>
            </p:cNvSpPr>
            <p:nvPr/>
          </p:nvSpPr>
          <p:spPr bwMode="auto">
            <a:xfrm>
              <a:off x="4110" y="3851"/>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0" name="Rectangle 25"/>
            <p:cNvSpPr>
              <a:spLocks noChangeArrowheads="1"/>
            </p:cNvSpPr>
            <p:nvPr/>
          </p:nvSpPr>
          <p:spPr bwMode="auto">
            <a:xfrm>
              <a:off x="3921" y="3851"/>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1" name="Rectangle 26"/>
            <p:cNvSpPr>
              <a:spLocks noChangeArrowheads="1"/>
            </p:cNvSpPr>
            <p:nvPr/>
          </p:nvSpPr>
          <p:spPr bwMode="auto">
            <a:xfrm>
              <a:off x="3742" y="3851"/>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2" name="Rectangle 27"/>
            <p:cNvSpPr>
              <a:spLocks noChangeArrowheads="1"/>
            </p:cNvSpPr>
            <p:nvPr/>
          </p:nvSpPr>
          <p:spPr bwMode="auto">
            <a:xfrm>
              <a:off x="3563" y="3851"/>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3" name="Rectangle 28"/>
            <p:cNvSpPr>
              <a:spLocks noChangeArrowheads="1"/>
            </p:cNvSpPr>
            <p:nvPr/>
          </p:nvSpPr>
          <p:spPr bwMode="auto">
            <a:xfrm>
              <a:off x="3356" y="3851"/>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4" name="Rectangle 29"/>
            <p:cNvSpPr>
              <a:spLocks noChangeArrowheads="1"/>
            </p:cNvSpPr>
            <p:nvPr/>
          </p:nvSpPr>
          <p:spPr bwMode="auto">
            <a:xfrm>
              <a:off x="3157" y="3851"/>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5" name="Rectangle 30"/>
            <p:cNvSpPr>
              <a:spLocks noChangeArrowheads="1"/>
            </p:cNvSpPr>
            <p:nvPr/>
          </p:nvSpPr>
          <p:spPr bwMode="auto">
            <a:xfrm>
              <a:off x="2890" y="3851"/>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9</a:t>
              </a:r>
            </a:p>
          </p:txBody>
        </p:sp>
        <p:sp>
          <p:nvSpPr>
            <p:cNvPr id="226" name="Rectangle 31"/>
            <p:cNvSpPr>
              <a:spLocks noChangeArrowheads="1"/>
            </p:cNvSpPr>
            <p:nvPr/>
          </p:nvSpPr>
          <p:spPr bwMode="auto">
            <a:xfrm>
              <a:off x="5088" y="3679"/>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7" name="Rectangle 32"/>
            <p:cNvSpPr>
              <a:spLocks noChangeArrowheads="1"/>
            </p:cNvSpPr>
            <p:nvPr/>
          </p:nvSpPr>
          <p:spPr bwMode="auto">
            <a:xfrm>
              <a:off x="4923" y="3679"/>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8" name="Rectangle 33"/>
            <p:cNvSpPr>
              <a:spLocks noChangeArrowheads="1"/>
            </p:cNvSpPr>
            <p:nvPr/>
          </p:nvSpPr>
          <p:spPr bwMode="auto">
            <a:xfrm>
              <a:off x="4720" y="3679"/>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29" name="Rectangle 34"/>
            <p:cNvSpPr>
              <a:spLocks noChangeArrowheads="1"/>
            </p:cNvSpPr>
            <p:nvPr/>
          </p:nvSpPr>
          <p:spPr bwMode="auto">
            <a:xfrm>
              <a:off x="4515" y="3679"/>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0" name="Rectangle 35"/>
            <p:cNvSpPr>
              <a:spLocks noChangeArrowheads="1"/>
            </p:cNvSpPr>
            <p:nvPr/>
          </p:nvSpPr>
          <p:spPr bwMode="auto">
            <a:xfrm>
              <a:off x="4313" y="3679"/>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1" name="Rectangle 36"/>
            <p:cNvSpPr>
              <a:spLocks noChangeArrowheads="1"/>
            </p:cNvSpPr>
            <p:nvPr/>
          </p:nvSpPr>
          <p:spPr bwMode="auto">
            <a:xfrm>
              <a:off x="4110" y="3679"/>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2" name="Rectangle 37"/>
            <p:cNvSpPr>
              <a:spLocks noChangeArrowheads="1"/>
            </p:cNvSpPr>
            <p:nvPr/>
          </p:nvSpPr>
          <p:spPr bwMode="auto">
            <a:xfrm>
              <a:off x="3921" y="3679"/>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3" name="Rectangle 38"/>
            <p:cNvSpPr>
              <a:spLocks noChangeArrowheads="1"/>
            </p:cNvSpPr>
            <p:nvPr/>
          </p:nvSpPr>
          <p:spPr bwMode="auto">
            <a:xfrm>
              <a:off x="3742" y="3679"/>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4" name="Rectangle 39"/>
            <p:cNvSpPr>
              <a:spLocks noChangeArrowheads="1"/>
            </p:cNvSpPr>
            <p:nvPr/>
          </p:nvSpPr>
          <p:spPr bwMode="auto">
            <a:xfrm>
              <a:off x="3563" y="3679"/>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5" name="Rectangle 40"/>
            <p:cNvSpPr>
              <a:spLocks noChangeArrowheads="1"/>
            </p:cNvSpPr>
            <p:nvPr/>
          </p:nvSpPr>
          <p:spPr bwMode="auto">
            <a:xfrm>
              <a:off x="3356" y="3679"/>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6" name="Rectangle 41"/>
            <p:cNvSpPr>
              <a:spLocks noChangeArrowheads="1"/>
            </p:cNvSpPr>
            <p:nvPr/>
          </p:nvSpPr>
          <p:spPr bwMode="auto">
            <a:xfrm>
              <a:off x="3157" y="3679"/>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7" name="Rectangle 42"/>
            <p:cNvSpPr>
              <a:spLocks noChangeArrowheads="1"/>
            </p:cNvSpPr>
            <p:nvPr/>
          </p:nvSpPr>
          <p:spPr bwMode="auto">
            <a:xfrm>
              <a:off x="2890" y="3679"/>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8</a:t>
              </a:r>
            </a:p>
          </p:txBody>
        </p:sp>
        <p:sp>
          <p:nvSpPr>
            <p:cNvPr id="238" name="Rectangle 43"/>
            <p:cNvSpPr>
              <a:spLocks noChangeArrowheads="1"/>
            </p:cNvSpPr>
            <p:nvPr/>
          </p:nvSpPr>
          <p:spPr bwMode="auto">
            <a:xfrm>
              <a:off x="5088" y="3507"/>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39" name="Rectangle 44"/>
            <p:cNvSpPr>
              <a:spLocks noChangeArrowheads="1"/>
            </p:cNvSpPr>
            <p:nvPr/>
          </p:nvSpPr>
          <p:spPr bwMode="auto">
            <a:xfrm>
              <a:off x="4923" y="3507"/>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0" name="Rectangle 45"/>
            <p:cNvSpPr>
              <a:spLocks noChangeArrowheads="1"/>
            </p:cNvSpPr>
            <p:nvPr/>
          </p:nvSpPr>
          <p:spPr bwMode="auto">
            <a:xfrm>
              <a:off x="4720" y="3507"/>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1" name="Rectangle 46"/>
            <p:cNvSpPr>
              <a:spLocks noChangeArrowheads="1"/>
            </p:cNvSpPr>
            <p:nvPr/>
          </p:nvSpPr>
          <p:spPr bwMode="auto">
            <a:xfrm>
              <a:off x="4515" y="3507"/>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2" name="Rectangle 47"/>
            <p:cNvSpPr>
              <a:spLocks noChangeArrowheads="1"/>
            </p:cNvSpPr>
            <p:nvPr/>
          </p:nvSpPr>
          <p:spPr bwMode="auto">
            <a:xfrm>
              <a:off x="4313" y="3507"/>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3" name="Rectangle 48"/>
            <p:cNvSpPr>
              <a:spLocks noChangeArrowheads="1"/>
            </p:cNvSpPr>
            <p:nvPr/>
          </p:nvSpPr>
          <p:spPr bwMode="auto">
            <a:xfrm>
              <a:off x="4110" y="3507"/>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4" name="Rectangle 49"/>
            <p:cNvSpPr>
              <a:spLocks noChangeArrowheads="1"/>
            </p:cNvSpPr>
            <p:nvPr/>
          </p:nvSpPr>
          <p:spPr bwMode="auto">
            <a:xfrm>
              <a:off x="3921" y="3507"/>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5" name="Rectangle 50"/>
            <p:cNvSpPr>
              <a:spLocks noChangeArrowheads="1"/>
            </p:cNvSpPr>
            <p:nvPr/>
          </p:nvSpPr>
          <p:spPr bwMode="auto">
            <a:xfrm>
              <a:off x="3742" y="3507"/>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6" name="Rectangle 51"/>
            <p:cNvSpPr>
              <a:spLocks noChangeArrowheads="1"/>
            </p:cNvSpPr>
            <p:nvPr/>
          </p:nvSpPr>
          <p:spPr bwMode="auto">
            <a:xfrm>
              <a:off x="3563" y="3507"/>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7" name="Rectangle 52"/>
            <p:cNvSpPr>
              <a:spLocks noChangeArrowheads="1"/>
            </p:cNvSpPr>
            <p:nvPr/>
          </p:nvSpPr>
          <p:spPr bwMode="auto">
            <a:xfrm>
              <a:off x="3356" y="3507"/>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8" name="Rectangle 53"/>
            <p:cNvSpPr>
              <a:spLocks noChangeArrowheads="1"/>
            </p:cNvSpPr>
            <p:nvPr/>
          </p:nvSpPr>
          <p:spPr bwMode="auto">
            <a:xfrm>
              <a:off x="3157" y="3507"/>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49" name="Rectangle 54"/>
            <p:cNvSpPr>
              <a:spLocks noChangeArrowheads="1"/>
            </p:cNvSpPr>
            <p:nvPr/>
          </p:nvSpPr>
          <p:spPr bwMode="auto">
            <a:xfrm>
              <a:off x="2890" y="3507"/>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7</a:t>
              </a:r>
            </a:p>
          </p:txBody>
        </p:sp>
        <p:sp>
          <p:nvSpPr>
            <p:cNvPr id="250" name="Rectangle 55"/>
            <p:cNvSpPr>
              <a:spLocks noChangeArrowheads="1"/>
            </p:cNvSpPr>
            <p:nvPr/>
          </p:nvSpPr>
          <p:spPr bwMode="auto">
            <a:xfrm>
              <a:off x="5088" y="3335"/>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1" name="Rectangle 56"/>
            <p:cNvSpPr>
              <a:spLocks noChangeArrowheads="1"/>
            </p:cNvSpPr>
            <p:nvPr/>
          </p:nvSpPr>
          <p:spPr bwMode="auto">
            <a:xfrm>
              <a:off x="4923" y="3335"/>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2" name="Rectangle 57"/>
            <p:cNvSpPr>
              <a:spLocks noChangeArrowheads="1"/>
            </p:cNvSpPr>
            <p:nvPr/>
          </p:nvSpPr>
          <p:spPr bwMode="auto">
            <a:xfrm>
              <a:off x="4720" y="3335"/>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3" name="Rectangle 58"/>
            <p:cNvSpPr>
              <a:spLocks noChangeArrowheads="1"/>
            </p:cNvSpPr>
            <p:nvPr/>
          </p:nvSpPr>
          <p:spPr bwMode="auto">
            <a:xfrm>
              <a:off x="4515" y="3335"/>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4" name="Rectangle 59"/>
            <p:cNvSpPr>
              <a:spLocks noChangeArrowheads="1"/>
            </p:cNvSpPr>
            <p:nvPr/>
          </p:nvSpPr>
          <p:spPr bwMode="auto">
            <a:xfrm>
              <a:off x="4313" y="3335"/>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5" name="Rectangle 60"/>
            <p:cNvSpPr>
              <a:spLocks noChangeArrowheads="1"/>
            </p:cNvSpPr>
            <p:nvPr/>
          </p:nvSpPr>
          <p:spPr bwMode="auto">
            <a:xfrm>
              <a:off x="4110" y="3335"/>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6" name="Rectangle 61"/>
            <p:cNvSpPr>
              <a:spLocks noChangeArrowheads="1"/>
            </p:cNvSpPr>
            <p:nvPr/>
          </p:nvSpPr>
          <p:spPr bwMode="auto">
            <a:xfrm>
              <a:off x="3921" y="3335"/>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7" name="Rectangle 62"/>
            <p:cNvSpPr>
              <a:spLocks noChangeArrowheads="1"/>
            </p:cNvSpPr>
            <p:nvPr/>
          </p:nvSpPr>
          <p:spPr bwMode="auto">
            <a:xfrm>
              <a:off x="3742" y="3335"/>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8" name="Rectangle 63"/>
            <p:cNvSpPr>
              <a:spLocks noChangeArrowheads="1"/>
            </p:cNvSpPr>
            <p:nvPr/>
          </p:nvSpPr>
          <p:spPr bwMode="auto">
            <a:xfrm>
              <a:off x="3563" y="3335"/>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59" name="Rectangle 64"/>
            <p:cNvSpPr>
              <a:spLocks noChangeArrowheads="1"/>
            </p:cNvSpPr>
            <p:nvPr/>
          </p:nvSpPr>
          <p:spPr bwMode="auto">
            <a:xfrm>
              <a:off x="3356" y="3335"/>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0" name="Rectangle 65"/>
            <p:cNvSpPr>
              <a:spLocks noChangeArrowheads="1"/>
            </p:cNvSpPr>
            <p:nvPr/>
          </p:nvSpPr>
          <p:spPr bwMode="auto">
            <a:xfrm>
              <a:off x="3157" y="3335"/>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1" name="Rectangle 66"/>
            <p:cNvSpPr>
              <a:spLocks noChangeArrowheads="1"/>
            </p:cNvSpPr>
            <p:nvPr/>
          </p:nvSpPr>
          <p:spPr bwMode="auto">
            <a:xfrm>
              <a:off x="2890" y="3335"/>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6</a:t>
              </a:r>
            </a:p>
          </p:txBody>
        </p:sp>
        <p:sp>
          <p:nvSpPr>
            <p:cNvPr id="262" name="Rectangle 67"/>
            <p:cNvSpPr>
              <a:spLocks noChangeArrowheads="1"/>
            </p:cNvSpPr>
            <p:nvPr/>
          </p:nvSpPr>
          <p:spPr bwMode="auto">
            <a:xfrm>
              <a:off x="5088" y="3163"/>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3" name="Rectangle 68"/>
            <p:cNvSpPr>
              <a:spLocks noChangeArrowheads="1"/>
            </p:cNvSpPr>
            <p:nvPr/>
          </p:nvSpPr>
          <p:spPr bwMode="auto">
            <a:xfrm>
              <a:off x="4923" y="3163"/>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4" name="Rectangle 69"/>
            <p:cNvSpPr>
              <a:spLocks noChangeArrowheads="1"/>
            </p:cNvSpPr>
            <p:nvPr/>
          </p:nvSpPr>
          <p:spPr bwMode="auto">
            <a:xfrm>
              <a:off x="4720" y="3163"/>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5" name="Rectangle 70"/>
            <p:cNvSpPr>
              <a:spLocks noChangeArrowheads="1"/>
            </p:cNvSpPr>
            <p:nvPr/>
          </p:nvSpPr>
          <p:spPr bwMode="auto">
            <a:xfrm>
              <a:off x="4515" y="3163"/>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6" name="Rectangle 71"/>
            <p:cNvSpPr>
              <a:spLocks noChangeArrowheads="1"/>
            </p:cNvSpPr>
            <p:nvPr/>
          </p:nvSpPr>
          <p:spPr bwMode="auto">
            <a:xfrm>
              <a:off x="4313" y="3163"/>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7" name="Rectangle 72"/>
            <p:cNvSpPr>
              <a:spLocks noChangeArrowheads="1"/>
            </p:cNvSpPr>
            <p:nvPr/>
          </p:nvSpPr>
          <p:spPr bwMode="auto">
            <a:xfrm>
              <a:off x="4110" y="3163"/>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8" name="Rectangle 73"/>
            <p:cNvSpPr>
              <a:spLocks noChangeArrowheads="1"/>
            </p:cNvSpPr>
            <p:nvPr/>
          </p:nvSpPr>
          <p:spPr bwMode="auto">
            <a:xfrm>
              <a:off x="3921" y="3163"/>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69" name="Rectangle 74"/>
            <p:cNvSpPr>
              <a:spLocks noChangeArrowheads="1"/>
            </p:cNvSpPr>
            <p:nvPr/>
          </p:nvSpPr>
          <p:spPr bwMode="auto">
            <a:xfrm>
              <a:off x="3742" y="3163"/>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0" name="Rectangle 75"/>
            <p:cNvSpPr>
              <a:spLocks noChangeArrowheads="1"/>
            </p:cNvSpPr>
            <p:nvPr/>
          </p:nvSpPr>
          <p:spPr bwMode="auto">
            <a:xfrm>
              <a:off x="3563" y="3163"/>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1" name="Rectangle 76"/>
            <p:cNvSpPr>
              <a:spLocks noChangeArrowheads="1"/>
            </p:cNvSpPr>
            <p:nvPr/>
          </p:nvSpPr>
          <p:spPr bwMode="auto">
            <a:xfrm>
              <a:off x="3356" y="3163"/>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2" name="Rectangle 77"/>
            <p:cNvSpPr>
              <a:spLocks noChangeArrowheads="1"/>
            </p:cNvSpPr>
            <p:nvPr/>
          </p:nvSpPr>
          <p:spPr bwMode="auto">
            <a:xfrm>
              <a:off x="3157" y="3163"/>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3" name="Rectangle 78"/>
            <p:cNvSpPr>
              <a:spLocks noChangeArrowheads="1"/>
            </p:cNvSpPr>
            <p:nvPr/>
          </p:nvSpPr>
          <p:spPr bwMode="auto">
            <a:xfrm>
              <a:off x="2890" y="3163"/>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5</a:t>
              </a:r>
            </a:p>
          </p:txBody>
        </p:sp>
        <p:sp>
          <p:nvSpPr>
            <p:cNvPr id="274" name="Rectangle 79"/>
            <p:cNvSpPr>
              <a:spLocks noChangeArrowheads="1"/>
            </p:cNvSpPr>
            <p:nvPr/>
          </p:nvSpPr>
          <p:spPr bwMode="auto">
            <a:xfrm>
              <a:off x="5088" y="2991"/>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5" name="Rectangle 80"/>
            <p:cNvSpPr>
              <a:spLocks noChangeArrowheads="1"/>
            </p:cNvSpPr>
            <p:nvPr/>
          </p:nvSpPr>
          <p:spPr bwMode="auto">
            <a:xfrm>
              <a:off x="4923" y="2991"/>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6" name="Rectangle 81"/>
            <p:cNvSpPr>
              <a:spLocks noChangeArrowheads="1"/>
            </p:cNvSpPr>
            <p:nvPr/>
          </p:nvSpPr>
          <p:spPr bwMode="auto">
            <a:xfrm>
              <a:off x="4720" y="2991"/>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7" name="Rectangle 82"/>
            <p:cNvSpPr>
              <a:spLocks noChangeArrowheads="1"/>
            </p:cNvSpPr>
            <p:nvPr/>
          </p:nvSpPr>
          <p:spPr bwMode="auto">
            <a:xfrm>
              <a:off x="4515" y="2991"/>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8" name="Rectangle 83"/>
            <p:cNvSpPr>
              <a:spLocks noChangeArrowheads="1"/>
            </p:cNvSpPr>
            <p:nvPr/>
          </p:nvSpPr>
          <p:spPr bwMode="auto">
            <a:xfrm>
              <a:off x="4313" y="2991"/>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79" name="Rectangle 84"/>
            <p:cNvSpPr>
              <a:spLocks noChangeArrowheads="1"/>
            </p:cNvSpPr>
            <p:nvPr/>
          </p:nvSpPr>
          <p:spPr bwMode="auto">
            <a:xfrm>
              <a:off x="4110" y="2991"/>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0" name="Rectangle 85"/>
            <p:cNvSpPr>
              <a:spLocks noChangeArrowheads="1"/>
            </p:cNvSpPr>
            <p:nvPr/>
          </p:nvSpPr>
          <p:spPr bwMode="auto">
            <a:xfrm>
              <a:off x="3921" y="2991"/>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1" name="Rectangle 86"/>
            <p:cNvSpPr>
              <a:spLocks noChangeArrowheads="1"/>
            </p:cNvSpPr>
            <p:nvPr/>
          </p:nvSpPr>
          <p:spPr bwMode="auto">
            <a:xfrm>
              <a:off x="3742" y="2991"/>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2" name="Rectangle 87"/>
            <p:cNvSpPr>
              <a:spLocks noChangeArrowheads="1"/>
            </p:cNvSpPr>
            <p:nvPr/>
          </p:nvSpPr>
          <p:spPr bwMode="auto">
            <a:xfrm>
              <a:off x="3563" y="2991"/>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3" name="Rectangle 88"/>
            <p:cNvSpPr>
              <a:spLocks noChangeArrowheads="1"/>
            </p:cNvSpPr>
            <p:nvPr/>
          </p:nvSpPr>
          <p:spPr bwMode="auto">
            <a:xfrm>
              <a:off x="3356" y="2991"/>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4" name="Rectangle 89"/>
            <p:cNvSpPr>
              <a:spLocks noChangeArrowheads="1"/>
            </p:cNvSpPr>
            <p:nvPr/>
          </p:nvSpPr>
          <p:spPr bwMode="auto">
            <a:xfrm>
              <a:off x="3157" y="2991"/>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5" name="Rectangle 90"/>
            <p:cNvSpPr>
              <a:spLocks noChangeArrowheads="1"/>
            </p:cNvSpPr>
            <p:nvPr/>
          </p:nvSpPr>
          <p:spPr bwMode="auto">
            <a:xfrm>
              <a:off x="2890" y="2991"/>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4</a:t>
              </a:r>
            </a:p>
          </p:txBody>
        </p:sp>
        <p:sp>
          <p:nvSpPr>
            <p:cNvPr id="286" name="Rectangle 91"/>
            <p:cNvSpPr>
              <a:spLocks noChangeArrowheads="1"/>
            </p:cNvSpPr>
            <p:nvPr/>
          </p:nvSpPr>
          <p:spPr bwMode="auto">
            <a:xfrm>
              <a:off x="5088" y="2819"/>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7" name="Rectangle 92"/>
            <p:cNvSpPr>
              <a:spLocks noChangeArrowheads="1"/>
            </p:cNvSpPr>
            <p:nvPr/>
          </p:nvSpPr>
          <p:spPr bwMode="auto">
            <a:xfrm>
              <a:off x="4923" y="2819"/>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8" name="Rectangle 93"/>
            <p:cNvSpPr>
              <a:spLocks noChangeArrowheads="1"/>
            </p:cNvSpPr>
            <p:nvPr/>
          </p:nvSpPr>
          <p:spPr bwMode="auto">
            <a:xfrm>
              <a:off x="4720" y="2819"/>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89" name="Rectangle 94"/>
            <p:cNvSpPr>
              <a:spLocks noChangeArrowheads="1"/>
            </p:cNvSpPr>
            <p:nvPr/>
          </p:nvSpPr>
          <p:spPr bwMode="auto">
            <a:xfrm>
              <a:off x="4515" y="2819"/>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0" name="Rectangle 95"/>
            <p:cNvSpPr>
              <a:spLocks noChangeArrowheads="1"/>
            </p:cNvSpPr>
            <p:nvPr/>
          </p:nvSpPr>
          <p:spPr bwMode="auto">
            <a:xfrm>
              <a:off x="4313" y="2819"/>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1" name="Rectangle 96"/>
            <p:cNvSpPr>
              <a:spLocks noChangeArrowheads="1"/>
            </p:cNvSpPr>
            <p:nvPr/>
          </p:nvSpPr>
          <p:spPr bwMode="auto">
            <a:xfrm>
              <a:off x="4110" y="2819"/>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2" name="Rectangle 97"/>
            <p:cNvSpPr>
              <a:spLocks noChangeArrowheads="1"/>
            </p:cNvSpPr>
            <p:nvPr/>
          </p:nvSpPr>
          <p:spPr bwMode="auto">
            <a:xfrm>
              <a:off x="3921" y="2819"/>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3" name="Rectangle 98"/>
            <p:cNvSpPr>
              <a:spLocks noChangeArrowheads="1"/>
            </p:cNvSpPr>
            <p:nvPr/>
          </p:nvSpPr>
          <p:spPr bwMode="auto">
            <a:xfrm>
              <a:off x="3742" y="2819"/>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4" name="Rectangle 99"/>
            <p:cNvSpPr>
              <a:spLocks noChangeArrowheads="1"/>
            </p:cNvSpPr>
            <p:nvPr/>
          </p:nvSpPr>
          <p:spPr bwMode="auto">
            <a:xfrm>
              <a:off x="3563" y="2819"/>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5" name="Rectangle 100"/>
            <p:cNvSpPr>
              <a:spLocks noChangeArrowheads="1"/>
            </p:cNvSpPr>
            <p:nvPr/>
          </p:nvSpPr>
          <p:spPr bwMode="auto">
            <a:xfrm>
              <a:off x="3356" y="2819"/>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6" name="Rectangle 101"/>
            <p:cNvSpPr>
              <a:spLocks noChangeArrowheads="1"/>
            </p:cNvSpPr>
            <p:nvPr/>
          </p:nvSpPr>
          <p:spPr bwMode="auto">
            <a:xfrm>
              <a:off x="3157" y="2819"/>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7" name="Rectangle 102"/>
            <p:cNvSpPr>
              <a:spLocks noChangeArrowheads="1"/>
            </p:cNvSpPr>
            <p:nvPr/>
          </p:nvSpPr>
          <p:spPr bwMode="auto">
            <a:xfrm>
              <a:off x="2890" y="2819"/>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3</a:t>
              </a:r>
            </a:p>
          </p:txBody>
        </p:sp>
        <p:sp>
          <p:nvSpPr>
            <p:cNvPr id="298" name="Rectangle 103"/>
            <p:cNvSpPr>
              <a:spLocks noChangeArrowheads="1"/>
            </p:cNvSpPr>
            <p:nvPr/>
          </p:nvSpPr>
          <p:spPr bwMode="auto">
            <a:xfrm>
              <a:off x="5088" y="2647"/>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299" name="Rectangle 104"/>
            <p:cNvSpPr>
              <a:spLocks noChangeArrowheads="1"/>
            </p:cNvSpPr>
            <p:nvPr/>
          </p:nvSpPr>
          <p:spPr bwMode="auto">
            <a:xfrm>
              <a:off x="4923" y="2647"/>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0" name="Rectangle 105"/>
            <p:cNvSpPr>
              <a:spLocks noChangeArrowheads="1"/>
            </p:cNvSpPr>
            <p:nvPr/>
          </p:nvSpPr>
          <p:spPr bwMode="auto">
            <a:xfrm>
              <a:off x="4720" y="2647"/>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1" name="Rectangle 106"/>
            <p:cNvSpPr>
              <a:spLocks noChangeArrowheads="1"/>
            </p:cNvSpPr>
            <p:nvPr/>
          </p:nvSpPr>
          <p:spPr bwMode="auto">
            <a:xfrm>
              <a:off x="4515" y="2647"/>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2" name="Rectangle 107"/>
            <p:cNvSpPr>
              <a:spLocks noChangeArrowheads="1"/>
            </p:cNvSpPr>
            <p:nvPr/>
          </p:nvSpPr>
          <p:spPr bwMode="auto">
            <a:xfrm>
              <a:off x="4313" y="2647"/>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3" name="Rectangle 108"/>
            <p:cNvSpPr>
              <a:spLocks noChangeArrowheads="1"/>
            </p:cNvSpPr>
            <p:nvPr/>
          </p:nvSpPr>
          <p:spPr bwMode="auto">
            <a:xfrm>
              <a:off x="4110" y="2647"/>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4" name="Rectangle 109"/>
            <p:cNvSpPr>
              <a:spLocks noChangeArrowheads="1"/>
            </p:cNvSpPr>
            <p:nvPr/>
          </p:nvSpPr>
          <p:spPr bwMode="auto">
            <a:xfrm>
              <a:off x="3921" y="2647"/>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5" name="Rectangle 110"/>
            <p:cNvSpPr>
              <a:spLocks noChangeArrowheads="1"/>
            </p:cNvSpPr>
            <p:nvPr/>
          </p:nvSpPr>
          <p:spPr bwMode="auto">
            <a:xfrm>
              <a:off x="3742" y="2647"/>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6" name="Rectangle 111"/>
            <p:cNvSpPr>
              <a:spLocks noChangeArrowheads="1"/>
            </p:cNvSpPr>
            <p:nvPr/>
          </p:nvSpPr>
          <p:spPr bwMode="auto">
            <a:xfrm>
              <a:off x="3563" y="2647"/>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7" name="Rectangle 112"/>
            <p:cNvSpPr>
              <a:spLocks noChangeArrowheads="1"/>
            </p:cNvSpPr>
            <p:nvPr/>
          </p:nvSpPr>
          <p:spPr bwMode="auto">
            <a:xfrm>
              <a:off x="3356" y="2647"/>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8" name="Rectangle 113"/>
            <p:cNvSpPr>
              <a:spLocks noChangeArrowheads="1"/>
            </p:cNvSpPr>
            <p:nvPr/>
          </p:nvSpPr>
          <p:spPr bwMode="auto">
            <a:xfrm>
              <a:off x="3157" y="2647"/>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09" name="Rectangle 114"/>
            <p:cNvSpPr>
              <a:spLocks noChangeArrowheads="1"/>
            </p:cNvSpPr>
            <p:nvPr/>
          </p:nvSpPr>
          <p:spPr bwMode="auto">
            <a:xfrm>
              <a:off x="2890" y="2647"/>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2</a:t>
              </a:r>
            </a:p>
          </p:txBody>
        </p:sp>
        <p:sp>
          <p:nvSpPr>
            <p:cNvPr id="310" name="Rectangle 115"/>
            <p:cNvSpPr>
              <a:spLocks noChangeArrowheads="1"/>
            </p:cNvSpPr>
            <p:nvPr/>
          </p:nvSpPr>
          <p:spPr bwMode="auto">
            <a:xfrm>
              <a:off x="5088" y="2475"/>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1" name="Rectangle 116"/>
            <p:cNvSpPr>
              <a:spLocks noChangeArrowheads="1"/>
            </p:cNvSpPr>
            <p:nvPr/>
          </p:nvSpPr>
          <p:spPr bwMode="auto">
            <a:xfrm>
              <a:off x="4923" y="2475"/>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2" name="Rectangle 117"/>
            <p:cNvSpPr>
              <a:spLocks noChangeArrowheads="1"/>
            </p:cNvSpPr>
            <p:nvPr/>
          </p:nvSpPr>
          <p:spPr bwMode="auto">
            <a:xfrm>
              <a:off x="4720" y="2475"/>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3" name="Rectangle 118"/>
            <p:cNvSpPr>
              <a:spLocks noChangeArrowheads="1"/>
            </p:cNvSpPr>
            <p:nvPr/>
          </p:nvSpPr>
          <p:spPr bwMode="auto">
            <a:xfrm>
              <a:off x="4515" y="2475"/>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4" name="Rectangle 119"/>
            <p:cNvSpPr>
              <a:spLocks noChangeArrowheads="1"/>
            </p:cNvSpPr>
            <p:nvPr/>
          </p:nvSpPr>
          <p:spPr bwMode="auto">
            <a:xfrm>
              <a:off x="4313" y="2475"/>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5" name="Rectangle 120"/>
            <p:cNvSpPr>
              <a:spLocks noChangeArrowheads="1"/>
            </p:cNvSpPr>
            <p:nvPr/>
          </p:nvSpPr>
          <p:spPr bwMode="auto">
            <a:xfrm>
              <a:off x="4110" y="2475"/>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6" name="Rectangle 121"/>
            <p:cNvSpPr>
              <a:spLocks noChangeArrowheads="1"/>
            </p:cNvSpPr>
            <p:nvPr/>
          </p:nvSpPr>
          <p:spPr bwMode="auto">
            <a:xfrm>
              <a:off x="3921" y="2475"/>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7" name="Rectangle 122"/>
            <p:cNvSpPr>
              <a:spLocks noChangeArrowheads="1"/>
            </p:cNvSpPr>
            <p:nvPr/>
          </p:nvSpPr>
          <p:spPr bwMode="auto">
            <a:xfrm>
              <a:off x="3742" y="2475"/>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8" name="Rectangle 123"/>
            <p:cNvSpPr>
              <a:spLocks noChangeArrowheads="1"/>
            </p:cNvSpPr>
            <p:nvPr/>
          </p:nvSpPr>
          <p:spPr bwMode="auto">
            <a:xfrm>
              <a:off x="3563" y="2475"/>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19" name="Rectangle 124"/>
            <p:cNvSpPr>
              <a:spLocks noChangeArrowheads="1"/>
            </p:cNvSpPr>
            <p:nvPr/>
          </p:nvSpPr>
          <p:spPr bwMode="auto">
            <a:xfrm>
              <a:off x="3356" y="2475"/>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0" name="Rectangle 125"/>
            <p:cNvSpPr>
              <a:spLocks noChangeArrowheads="1"/>
            </p:cNvSpPr>
            <p:nvPr/>
          </p:nvSpPr>
          <p:spPr bwMode="auto">
            <a:xfrm>
              <a:off x="3157" y="2475"/>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1" name="Rectangle 126"/>
            <p:cNvSpPr>
              <a:spLocks noChangeArrowheads="1"/>
            </p:cNvSpPr>
            <p:nvPr/>
          </p:nvSpPr>
          <p:spPr bwMode="auto">
            <a:xfrm>
              <a:off x="2890" y="2475"/>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1</a:t>
              </a:r>
            </a:p>
          </p:txBody>
        </p:sp>
        <p:sp>
          <p:nvSpPr>
            <p:cNvPr id="322" name="Rectangle 127"/>
            <p:cNvSpPr>
              <a:spLocks noChangeArrowheads="1"/>
            </p:cNvSpPr>
            <p:nvPr/>
          </p:nvSpPr>
          <p:spPr bwMode="auto">
            <a:xfrm>
              <a:off x="5088" y="2303"/>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3" name="Rectangle 128"/>
            <p:cNvSpPr>
              <a:spLocks noChangeArrowheads="1"/>
            </p:cNvSpPr>
            <p:nvPr/>
          </p:nvSpPr>
          <p:spPr bwMode="auto">
            <a:xfrm>
              <a:off x="4923" y="2303"/>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4" name="Rectangle 129"/>
            <p:cNvSpPr>
              <a:spLocks noChangeArrowheads="1"/>
            </p:cNvSpPr>
            <p:nvPr/>
          </p:nvSpPr>
          <p:spPr bwMode="auto">
            <a:xfrm>
              <a:off x="4720" y="2303"/>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5" name="Rectangle 130"/>
            <p:cNvSpPr>
              <a:spLocks noChangeArrowheads="1"/>
            </p:cNvSpPr>
            <p:nvPr/>
          </p:nvSpPr>
          <p:spPr bwMode="auto">
            <a:xfrm>
              <a:off x="4515" y="2303"/>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6" name="Rectangle 131"/>
            <p:cNvSpPr>
              <a:spLocks noChangeArrowheads="1"/>
            </p:cNvSpPr>
            <p:nvPr/>
          </p:nvSpPr>
          <p:spPr bwMode="auto">
            <a:xfrm>
              <a:off x="4313" y="2303"/>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7" name="Rectangle 132"/>
            <p:cNvSpPr>
              <a:spLocks noChangeArrowheads="1"/>
            </p:cNvSpPr>
            <p:nvPr/>
          </p:nvSpPr>
          <p:spPr bwMode="auto">
            <a:xfrm>
              <a:off x="4110" y="2303"/>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8" name="Rectangle 133"/>
            <p:cNvSpPr>
              <a:spLocks noChangeArrowheads="1"/>
            </p:cNvSpPr>
            <p:nvPr/>
          </p:nvSpPr>
          <p:spPr bwMode="auto">
            <a:xfrm>
              <a:off x="3921" y="2303"/>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29" name="Rectangle 134"/>
            <p:cNvSpPr>
              <a:spLocks noChangeArrowheads="1"/>
            </p:cNvSpPr>
            <p:nvPr/>
          </p:nvSpPr>
          <p:spPr bwMode="auto">
            <a:xfrm>
              <a:off x="3742" y="2303"/>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30" name="Rectangle 135"/>
            <p:cNvSpPr>
              <a:spLocks noChangeArrowheads="1"/>
            </p:cNvSpPr>
            <p:nvPr/>
          </p:nvSpPr>
          <p:spPr bwMode="auto">
            <a:xfrm>
              <a:off x="3563" y="2303"/>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31" name="Rectangle 136"/>
            <p:cNvSpPr>
              <a:spLocks noChangeArrowheads="1"/>
            </p:cNvSpPr>
            <p:nvPr/>
          </p:nvSpPr>
          <p:spPr bwMode="auto">
            <a:xfrm>
              <a:off x="3356" y="2303"/>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32" name="Rectangle 137"/>
            <p:cNvSpPr>
              <a:spLocks noChangeArrowheads="1"/>
            </p:cNvSpPr>
            <p:nvPr/>
          </p:nvSpPr>
          <p:spPr bwMode="auto">
            <a:xfrm>
              <a:off x="3157" y="2303"/>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33" name="Rectangle 138"/>
            <p:cNvSpPr>
              <a:spLocks noChangeArrowheads="1"/>
            </p:cNvSpPr>
            <p:nvPr/>
          </p:nvSpPr>
          <p:spPr bwMode="auto">
            <a:xfrm>
              <a:off x="2890" y="2303"/>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0</a:t>
              </a:r>
            </a:p>
          </p:txBody>
        </p:sp>
        <p:sp>
          <p:nvSpPr>
            <p:cNvPr id="334" name="Rectangle 139"/>
            <p:cNvSpPr>
              <a:spLocks noChangeArrowheads="1"/>
            </p:cNvSpPr>
            <p:nvPr/>
          </p:nvSpPr>
          <p:spPr bwMode="auto">
            <a:xfrm>
              <a:off x="5088" y="2131"/>
              <a:ext cx="241"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10</a:t>
              </a:r>
            </a:p>
          </p:txBody>
        </p:sp>
        <p:sp>
          <p:nvSpPr>
            <p:cNvPr id="335" name="Rectangle 140"/>
            <p:cNvSpPr>
              <a:spLocks noChangeArrowheads="1"/>
            </p:cNvSpPr>
            <p:nvPr/>
          </p:nvSpPr>
          <p:spPr bwMode="auto">
            <a:xfrm>
              <a:off x="4923" y="2131"/>
              <a:ext cx="1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9</a:t>
              </a:r>
            </a:p>
          </p:txBody>
        </p:sp>
        <p:sp>
          <p:nvSpPr>
            <p:cNvPr id="336" name="Rectangle 141"/>
            <p:cNvSpPr>
              <a:spLocks noChangeArrowheads="1"/>
            </p:cNvSpPr>
            <p:nvPr/>
          </p:nvSpPr>
          <p:spPr bwMode="auto">
            <a:xfrm>
              <a:off x="4720" y="2131"/>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8</a:t>
              </a:r>
            </a:p>
          </p:txBody>
        </p:sp>
        <p:sp>
          <p:nvSpPr>
            <p:cNvPr id="337" name="Rectangle 142"/>
            <p:cNvSpPr>
              <a:spLocks noChangeArrowheads="1"/>
            </p:cNvSpPr>
            <p:nvPr/>
          </p:nvSpPr>
          <p:spPr bwMode="auto">
            <a:xfrm>
              <a:off x="4515" y="2131"/>
              <a:ext cx="20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7</a:t>
              </a:r>
            </a:p>
          </p:txBody>
        </p:sp>
        <p:sp>
          <p:nvSpPr>
            <p:cNvPr id="338" name="Rectangle 143"/>
            <p:cNvSpPr>
              <a:spLocks noChangeArrowheads="1"/>
            </p:cNvSpPr>
            <p:nvPr/>
          </p:nvSpPr>
          <p:spPr bwMode="auto">
            <a:xfrm>
              <a:off x="4313" y="2131"/>
              <a:ext cx="2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6</a:t>
              </a:r>
            </a:p>
          </p:txBody>
        </p:sp>
        <p:sp>
          <p:nvSpPr>
            <p:cNvPr id="339" name="Rectangle 144"/>
            <p:cNvSpPr>
              <a:spLocks noChangeArrowheads="1"/>
            </p:cNvSpPr>
            <p:nvPr/>
          </p:nvSpPr>
          <p:spPr bwMode="auto">
            <a:xfrm>
              <a:off x="4110" y="2131"/>
              <a:ext cx="20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5</a:t>
              </a:r>
            </a:p>
          </p:txBody>
        </p:sp>
        <p:sp>
          <p:nvSpPr>
            <p:cNvPr id="340" name="Rectangle 145"/>
            <p:cNvSpPr>
              <a:spLocks noChangeArrowheads="1"/>
            </p:cNvSpPr>
            <p:nvPr/>
          </p:nvSpPr>
          <p:spPr bwMode="auto">
            <a:xfrm>
              <a:off x="3921" y="2131"/>
              <a:ext cx="18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4</a:t>
              </a:r>
            </a:p>
          </p:txBody>
        </p:sp>
        <p:sp>
          <p:nvSpPr>
            <p:cNvPr id="341" name="Rectangle 146"/>
            <p:cNvSpPr>
              <a:spLocks noChangeArrowheads="1"/>
            </p:cNvSpPr>
            <p:nvPr/>
          </p:nvSpPr>
          <p:spPr bwMode="auto">
            <a:xfrm>
              <a:off x="3742" y="2131"/>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3</a:t>
              </a:r>
            </a:p>
          </p:txBody>
        </p:sp>
        <p:sp>
          <p:nvSpPr>
            <p:cNvPr id="342" name="Rectangle 147"/>
            <p:cNvSpPr>
              <a:spLocks noChangeArrowheads="1"/>
            </p:cNvSpPr>
            <p:nvPr/>
          </p:nvSpPr>
          <p:spPr bwMode="auto">
            <a:xfrm>
              <a:off x="3563" y="2131"/>
              <a:ext cx="17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2</a:t>
              </a:r>
            </a:p>
          </p:txBody>
        </p:sp>
        <p:sp>
          <p:nvSpPr>
            <p:cNvPr id="343" name="Rectangle 148"/>
            <p:cNvSpPr>
              <a:spLocks noChangeArrowheads="1"/>
            </p:cNvSpPr>
            <p:nvPr/>
          </p:nvSpPr>
          <p:spPr bwMode="auto">
            <a:xfrm>
              <a:off x="3356" y="2131"/>
              <a:ext cx="20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1</a:t>
              </a:r>
            </a:p>
          </p:txBody>
        </p:sp>
        <p:sp>
          <p:nvSpPr>
            <p:cNvPr id="344" name="Rectangle 149"/>
            <p:cNvSpPr>
              <a:spLocks noChangeArrowheads="1"/>
            </p:cNvSpPr>
            <p:nvPr/>
          </p:nvSpPr>
          <p:spPr bwMode="auto">
            <a:xfrm>
              <a:off x="3157" y="2131"/>
              <a:ext cx="19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en-US" sz="1200"/>
                <a:t>0</a:t>
              </a:r>
            </a:p>
          </p:txBody>
        </p:sp>
        <p:sp>
          <p:nvSpPr>
            <p:cNvPr id="345" name="Rectangle 150"/>
            <p:cNvSpPr>
              <a:spLocks noChangeArrowheads="1"/>
            </p:cNvSpPr>
            <p:nvPr/>
          </p:nvSpPr>
          <p:spPr bwMode="auto">
            <a:xfrm>
              <a:off x="2890" y="2131"/>
              <a:ext cx="267"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en-US" sz="1200"/>
            </a:p>
          </p:txBody>
        </p:sp>
        <p:sp>
          <p:nvSpPr>
            <p:cNvPr id="346" name="Line 151"/>
            <p:cNvSpPr>
              <a:spLocks noChangeShapeType="1"/>
            </p:cNvSpPr>
            <p:nvPr/>
          </p:nvSpPr>
          <p:spPr bwMode="auto">
            <a:xfrm>
              <a:off x="2890" y="2131"/>
              <a:ext cx="2439"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7" name="Line 152"/>
            <p:cNvSpPr>
              <a:spLocks noChangeShapeType="1"/>
            </p:cNvSpPr>
            <p:nvPr/>
          </p:nvSpPr>
          <p:spPr bwMode="auto">
            <a:xfrm>
              <a:off x="2890" y="2303"/>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 name="Line 153"/>
            <p:cNvSpPr>
              <a:spLocks noChangeShapeType="1"/>
            </p:cNvSpPr>
            <p:nvPr/>
          </p:nvSpPr>
          <p:spPr bwMode="auto">
            <a:xfrm>
              <a:off x="2890" y="2475"/>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 name="Line 154"/>
            <p:cNvSpPr>
              <a:spLocks noChangeShapeType="1"/>
            </p:cNvSpPr>
            <p:nvPr/>
          </p:nvSpPr>
          <p:spPr bwMode="auto">
            <a:xfrm>
              <a:off x="2890" y="2647"/>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 name="Line 155"/>
            <p:cNvSpPr>
              <a:spLocks noChangeShapeType="1"/>
            </p:cNvSpPr>
            <p:nvPr/>
          </p:nvSpPr>
          <p:spPr bwMode="auto">
            <a:xfrm>
              <a:off x="2890" y="2819"/>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 name="Line 156"/>
            <p:cNvSpPr>
              <a:spLocks noChangeShapeType="1"/>
            </p:cNvSpPr>
            <p:nvPr/>
          </p:nvSpPr>
          <p:spPr bwMode="auto">
            <a:xfrm>
              <a:off x="2890" y="2991"/>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2" name="Line 157"/>
            <p:cNvSpPr>
              <a:spLocks noChangeShapeType="1"/>
            </p:cNvSpPr>
            <p:nvPr/>
          </p:nvSpPr>
          <p:spPr bwMode="auto">
            <a:xfrm>
              <a:off x="2890" y="3163"/>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3" name="Line 158"/>
            <p:cNvSpPr>
              <a:spLocks noChangeShapeType="1"/>
            </p:cNvSpPr>
            <p:nvPr/>
          </p:nvSpPr>
          <p:spPr bwMode="auto">
            <a:xfrm>
              <a:off x="2890" y="3335"/>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4" name="Line 159"/>
            <p:cNvSpPr>
              <a:spLocks noChangeShapeType="1"/>
            </p:cNvSpPr>
            <p:nvPr/>
          </p:nvSpPr>
          <p:spPr bwMode="auto">
            <a:xfrm>
              <a:off x="2890" y="3507"/>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5" name="Line 160"/>
            <p:cNvSpPr>
              <a:spLocks noChangeShapeType="1"/>
            </p:cNvSpPr>
            <p:nvPr/>
          </p:nvSpPr>
          <p:spPr bwMode="auto">
            <a:xfrm>
              <a:off x="2890" y="3679"/>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6" name="Line 161"/>
            <p:cNvSpPr>
              <a:spLocks noChangeShapeType="1"/>
            </p:cNvSpPr>
            <p:nvPr/>
          </p:nvSpPr>
          <p:spPr bwMode="auto">
            <a:xfrm>
              <a:off x="2890" y="3851"/>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7" name="Line 162"/>
            <p:cNvSpPr>
              <a:spLocks noChangeShapeType="1"/>
            </p:cNvSpPr>
            <p:nvPr/>
          </p:nvSpPr>
          <p:spPr bwMode="auto">
            <a:xfrm>
              <a:off x="2890" y="4023"/>
              <a:ext cx="24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 name="Line 163"/>
            <p:cNvSpPr>
              <a:spLocks noChangeShapeType="1"/>
            </p:cNvSpPr>
            <p:nvPr/>
          </p:nvSpPr>
          <p:spPr bwMode="auto">
            <a:xfrm>
              <a:off x="2890" y="4195"/>
              <a:ext cx="2439"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 name="Line 164"/>
            <p:cNvSpPr>
              <a:spLocks noChangeShapeType="1"/>
            </p:cNvSpPr>
            <p:nvPr/>
          </p:nvSpPr>
          <p:spPr bwMode="auto">
            <a:xfrm>
              <a:off x="2890" y="2131"/>
              <a:ext cx="0" cy="206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0" name="Line 165"/>
            <p:cNvSpPr>
              <a:spLocks noChangeShapeType="1"/>
            </p:cNvSpPr>
            <p:nvPr/>
          </p:nvSpPr>
          <p:spPr bwMode="auto">
            <a:xfrm>
              <a:off x="3157"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1" name="Line 166"/>
            <p:cNvSpPr>
              <a:spLocks noChangeShapeType="1"/>
            </p:cNvSpPr>
            <p:nvPr/>
          </p:nvSpPr>
          <p:spPr bwMode="auto">
            <a:xfrm>
              <a:off x="3356"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2" name="Line 167"/>
            <p:cNvSpPr>
              <a:spLocks noChangeShapeType="1"/>
            </p:cNvSpPr>
            <p:nvPr/>
          </p:nvSpPr>
          <p:spPr bwMode="auto">
            <a:xfrm>
              <a:off x="3563"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3" name="Line 168"/>
            <p:cNvSpPr>
              <a:spLocks noChangeShapeType="1"/>
            </p:cNvSpPr>
            <p:nvPr/>
          </p:nvSpPr>
          <p:spPr bwMode="auto">
            <a:xfrm>
              <a:off x="3742"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4" name="Line 169"/>
            <p:cNvSpPr>
              <a:spLocks noChangeShapeType="1"/>
            </p:cNvSpPr>
            <p:nvPr/>
          </p:nvSpPr>
          <p:spPr bwMode="auto">
            <a:xfrm>
              <a:off x="3921"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5" name="Line 170"/>
            <p:cNvSpPr>
              <a:spLocks noChangeShapeType="1"/>
            </p:cNvSpPr>
            <p:nvPr/>
          </p:nvSpPr>
          <p:spPr bwMode="auto">
            <a:xfrm>
              <a:off x="4110"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6" name="Line 171"/>
            <p:cNvSpPr>
              <a:spLocks noChangeShapeType="1"/>
            </p:cNvSpPr>
            <p:nvPr/>
          </p:nvSpPr>
          <p:spPr bwMode="auto">
            <a:xfrm>
              <a:off x="4313"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7" name="Line 172"/>
            <p:cNvSpPr>
              <a:spLocks noChangeShapeType="1"/>
            </p:cNvSpPr>
            <p:nvPr/>
          </p:nvSpPr>
          <p:spPr bwMode="auto">
            <a:xfrm>
              <a:off x="4515"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 name="Line 173"/>
            <p:cNvSpPr>
              <a:spLocks noChangeShapeType="1"/>
            </p:cNvSpPr>
            <p:nvPr/>
          </p:nvSpPr>
          <p:spPr bwMode="auto">
            <a:xfrm>
              <a:off x="4720"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 name="Line 174"/>
            <p:cNvSpPr>
              <a:spLocks noChangeShapeType="1"/>
            </p:cNvSpPr>
            <p:nvPr/>
          </p:nvSpPr>
          <p:spPr bwMode="auto">
            <a:xfrm>
              <a:off x="4923"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0" name="Line 175"/>
            <p:cNvSpPr>
              <a:spLocks noChangeShapeType="1"/>
            </p:cNvSpPr>
            <p:nvPr/>
          </p:nvSpPr>
          <p:spPr bwMode="auto">
            <a:xfrm>
              <a:off x="5088" y="2131"/>
              <a:ext cx="0" cy="20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1" name="Line 176"/>
            <p:cNvSpPr>
              <a:spLocks noChangeShapeType="1"/>
            </p:cNvSpPr>
            <p:nvPr/>
          </p:nvSpPr>
          <p:spPr bwMode="auto">
            <a:xfrm>
              <a:off x="5329" y="2131"/>
              <a:ext cx="0" cy="206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2" name="Text Box 181"/>
          <p:cNvSpPr txBox="1">
            <a:spLocks noChangeArrowheads="1"/>
          </p:cNvSpPr>
          <p:nvPr/>
        </p:nvSpPr>
        <p:spPr bwMode="auto">
          <a:xfrm>
            <a:off x="5646738" y="3621088"/>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73" name="Text Box 188"/>
          <p:cNvSpPr txBox="1">
            <a:spLocks noChangeArrowheads="1"/>
          </p:cNvSpPr>
          <p:nvPr/>
        </p:nvSpPr>
        <p:spPr bwMode="auto">
          <a:xfrm>
            <a:off x="4984750" y="4173538"/>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74" name="Text Box 194"/>
          <p:cNvSpPr txBox="1">
            <a:spLocks noChangeArrowheads="1"/>
          </p:cNvSpPr>
          <p:nvPr/>
        </p:nvSpPr>
        <p:spPr bwMode="auto">
          <a:xfrm>
            <a:off x="5937250" y="499745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75" name="Text Box 197"/>
          <p:cNvSpPr txBox="1">
            <a:spLocks noChangeArrowheads="1"/>
          </p:cNvSpPr>
          <p:nvPr/>
        </p:nvSpPr>
        <p:spPr bwMode="auto">
          <a:xfrm>
            <a:off x="6532563" y="444976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76" name="Text Box 198"/>
          <p:cNvSpPr txBox="1">
            <a:spLocks noChangeArrowheads="1"/>
          </p:cNvSpPr>
          <p:nvPr/>
        </p:nvSpPr>
        <p:spPr bwMode="auto">
          <a:xfrm>
            <a:off x="5316538" y="361791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77" name="Text Box 199"/>
          <p:cNvSpPr txBox="1">
            <a:spLocks noChangeArrowheads="1"/>
          </p:cNvSpPr>
          <p:nvPr/>
        </p:nvSpPr>
        <p:spPr bwMode="auto">
          <a:xfrm>
            <a:off x="5011738" y="389890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78" name="Text Box 200"/>
          <p:cNvSpPr txBox="1">
            <a:spLocks noChangeArrowheads="1"/>
          </p:cNvSpPr>
          <p:nvPr/>
        </p:nvSpPr>
        <p:spPr bwMode="auto">
          <a:xfrm>
            <a:off x="5935663" y="472281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79" name="Text Box 201"/>
          <p:cNvSpPr txBox="1">
            <a:spLocks noChangeArrowheads="1"/>
          </p:cNvSpPr>
          <p:nvPr/>
        </p:nvSpPr>
        <p:spPr bwMode="auto">
          <a:xfrm>
            <a:off x="6202363" y="446087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0" name="Text Box 202"/>
          <p:cNvSpPr txBox="1">
            <a:spLocks noChangeArrowheads="1"/>
          </p:cNvSpPr>
          <p:nvPr/>
        </p:nvSpPr>
        <p:spPr bwMode="auto">
          <a:xfrm>
            <a:off x="5926138" y="359886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1" name="Text Box 203"/>
          <p:cNvSpPr txBox="1">
            <a:spLocks noChangeArrowheads="1"/>
          </p:cNvSpPr>
          <p:nvPr/>
        </p:nvSpPr>
        <p:spPr bwMode="auto">
          <a:xfrm>
            <a:off x="5011738" y="445611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2" name="Text Box 204"/>
          <p:cNvSpPr txBox="1">
            <a:spLocks noChangeArrowheads="1"/>
          </p:cNvSpPr>
          <p:nvPr/>
        </p:nvSpPr>
        <p:spPr bwMode="auto">
          <a:xfrm>
            <a:off x="6835775" y="470852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3" name="Text Box 205"/>
          <p:cNvSpPr txBox="1">
            <a:spLocks noChangeArrowheads="1"/>
          </p:cNvSpPr>
          <p:nvPr/>
        </p:nvSpPr>
        <p:spPr bwMode="auto">
          <a:xfrm>
            <a:off x="6230938" y="528955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4" name="Text Box 206"/>
          <p:cNvSpPr txBox="1">
            <a:spLocks noChangeArrowheads="1"/>
          </p:cNvSpPr>
          <p:nvPr/>
        </p:nvSpPr>
        <p:spPr bwMode="auto">
          <a:xfrm>
            <a:off x="6240463" y="554196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5" name="Text Box 207"/>
          <p:cNvSpPr txBox="1">
            <a:spLocks noChangeArrowheads="1"/>
          </p:cNvSpPr>
          <p:nvPr/>
        </p:nvSpPr>
        <p:spPr bwMode="auto">
          <a:xfrm>
            <a:off x="7164388" y="473710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6" name="Text Box 208"/>
          <p:cNvSpPr txBox="1">
            <a:spLocks noChangeArrowheads="1"/>
          </p:cNvSpPr>
          <p:nvPr/>
        </p:nvSpPr>
        <p:spPr bwMode="auto">
          <a:xfrm>
            <a:off x="6235700" y="5822950"/>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7" name="Text Box 209"/>
          <p:cNvSpPr txBox="1">
            <a:spLocks noChangeArrowheads="1"/>
          </p:cNvSpPr>
          <p:nvPr/>
        </p:nvSpPr>
        <p:spPr bwMode="auto">
          <a:xfrm>
            <a:off x="7459663" y="470376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8" name="Text Box 210"/>
          <p:cNvSpPr txBox="1">
            <a:spLocks noChangeArrowheads="1"/>
          </p:cNvSpPr>
          <p:nvPr/>
        </p:nvSpPr>
        <p:spPr bwMode="auto">
          <a:xfrm>
            <a:off x="7783513" y="581342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89" name="Text Box 211"/>
          <p:cNvSpPr txBox="1">
            <a:spLocks noChangeArrowheads="1"/>
          </p:cNvSpPr>
          <p:nvPr/>
        </p:nvSpPr>
        <p:spPr bwMode="auto">
          <a:xfrm>
            <a:off x="7507288" y="6094413"/>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90" name="Text Box 212"/>
          <p:cNvSpPr txBox="1">
            <a:spLocks noChangeArrowheads="1"/>
          </p:cNvSpPr>
          <p:nvPr/>
        </p:nvSpPr>
        <p:spPr bwMode="auto">
          <a:xfrm>
            <a:off x="5945188" y="6346825"/>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91" name="Text Box 213"/>
          <p:cNvSpPr txBox="1">
            <a:spLocks noChangeArrowheads="1"/>
          </p:cNvSpPr>
          <p:nvPr/>
        </p:nvSpPr>
        <p:spPr bwMode="auto">
          <a:xfrm>
            <a:off x="8074025" y="4459288"/>
            <a:ext cx="34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solidFill>
                  <a:srgbClr val="FF0000"/>
                </a:solidFill>
              </a:rPr>
              <a:t>*</a:t>
            </a:r>
          </a:p>
        </p:txBody>
      </p:sp>
      <p:sp>
        <p:nvSpPr>
          <p:cNvPr id="392" name="Text Box 218"/>
          <p:cNvSpPr txBox="1">
            <a:spLocks noChangeArrowheads="1"/>
          </p:cNvSpPr>
          <p:nvPr/>
        </p:nvSpPr>
        <p:spPr bwMode="auto">
          <a:xfrm>
            <a:off x="779014" y="963613"/>
            <a:ext cx="75596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200" dirty="0"/>
              <a:t>So what we’ve done is created a new </a:t>
            </a:r>
            <a:r>
              <a:rPr lang="en-US" sz="2200" dirty="0">
                <a:solidFill>
                  <a:srgbClr val="9900FF"/>
                </a:solidFill>
              </a:rPr>
              <a:t>data structure</a:t>
            </a:r>
            <a:r>
              <a:rPr lang="en-US" sz="2200" dirty="0"/>
              <a:t> that</a:t>
            </a:r>
            <a:br>
              <a:rPr lang="en-US" sz="2200" dirty="0"/>
            </a:br>
            <a:r>
              <a:rPr lang="en-US" sz="2200" dirty="0"/>
              <a:t>makes it faster to determine if two people are friends!</a:t>
            </a:r>
          </a:p>
        </p:txBody>
      </p:sp>
      <p:sp>
        <p:nvSpPr>
          <p:cNvPr id="393" name="Text Box 219"/>
          <p:cNvSpPr txBox="1">
            <a:spLocks noChangeArrowheads="1"/>
          </p:cNvSpPr>
          <p:nvPr/>
        </p:nvSpPr>
        <p:spPr bwMode="auto">
          <a:xfrm>
            <a:off x="331339" y="1831975"/>
            <a:ext cx="84550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200"/>
              <a:t>Coupled with our new, more efficient </a:t>
            </a:r>
            <a:r>
              <a:rPr lang="en-US" sz="2200">
                <a:solidFill>
                  <a:srgbClr val="9900FF"/>
                </a:solidFill>
              </a:rPr>
              <a:t>algorithm</a:t>
            </a:r>
            <a:r>
              <a:rPr lang="en-US" sz="2200"/>
              <a:t>, we can </a:t>
            </a:r>
            <a:br>
              <a:rPr lang="en-US" sz="2200"/>
            </a:br>
            <a:r>
              <a:rPr lang="en-US" sz="2200"/>
              <a:t>quickly find out if two people are friends!</a:t>
            </a:r>
          </a:p>
        </p:txBody>
      </p:sp>
      <p:sp>
        <p:nvSpPr>
          <p:cNvPr id="394" name="Text Box 5"/>
          <p:cNvSpPr txBox="1">
            <a:spLocks noChangeArrowheads="1"/>
          </p:cNvSpPr>
          <p:nvPr/>
        </p:nvSpPr>
        <p:spPr bwMode="auto">
          <a:xfrm>
            <a:off x="214313" y="2305050"/>
            <a:ext cx="3825875" cy="3759200"/>
          </a:xfrm>
          <a:prstGeom prst="rect">
            <a:avLst/>
          </a:prstGeom>
          <a:solidFill>
            <a:srgbClr val="FFFFE1"/>
          </a:solidFill>
          <a:ln w="9525">
            <a:solidFill>
              <a:schemeClr val="tx1"/>
            </a:solidFill>
            <a:miter lim="800000"/>
            <a:headEnd/>
            <a:tailEnd/>
          </a:ln>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2000" u="sng" dirty="0">
                <a:solidFill>
                  <a:srgbClr val="800000"/>
                </a:solidFill>
              </a:rPr>
              <a:t>User</a:t>
            </a:r>
            <a:r>
              <a:rPr lang="en-US" sz="2000" dirty="0"/>
              <a:t> 		           </a:t>
            </a:r>
            <a:r>
              <a:rPr lang="en-US" sz="2000" u="sng" dirty="0">
                <a:solidFill>
                  <a:srgbClr val="006666"/>
                </a:solidFill>
              </a:rPr>
              <a:t>Number</a:t>
            </a:r>
          </a:p>
          <a:p>
            <a:pPr eaLnBrk="1" hangingPunct="1"/>
            <a:r>
              <a:rPr lang="en-US" sz="2000" dirty="0">
                <a:solidFill>
                  <a:srgbClr val="800000"/>
                </a:solidFill>
              </a:rPr>
              <a:t>Carey Nash</a:t>
            </a:r>
            <a:r>
              <a:rPr lang="en-US" sz="2000" dirty="0"/>
              <a:t> 		</a:t>
            </a:r>
            <a:r>
              <a:rPr lang="en-US" sz="2000" dirty="0">
                <a:solidFill>
                  <a:srgbClr val="006666"/>
                </a:solidFill>
              </a:rPr>
              <a:t>0</a:t>
            </a:r>
          </a:p>
          <a:p>
            <a:pPr eaLnBrk="1" hangingPunct="1"/>
            <a:r>
              <a:rPr lang="en-US" sz="2000" dirty="0">
                <a:solidFill>
                  <a:srgbClr val="800000"/>
                </a:solidFill>
              </a:rPr>
              <a:t>Danny Hsu</a:t>
            </a:r>
            <a:r>
              <a:rPr lang="en-US" sz="2000" dirty="0"/>
              <a:t> 		</a:t>
            </a:r>
            <a:r>
              <a:rPr lang="en-US" sz="2000" dirty="0">
                <a:solidFill>
                  <a:srgbClr val="006666"/>
                </a:solidFill>
              </a:rPr>
              <a:t>1</a:t>
            </a:r>
            <a:br>
              <a:rPr lang="en-US" sz="2000" dirty="0"/>
            </a:br>
            <a:r>
              <a:rPr lang="en-US" sz="2000" dirty="0">
                <a:solidFill>
                  <a:srgbClr val="800000"/>
                </a:solidFill>
              </a:rPr>
              <a:t>David Small	</a:t>
            </a:r>
            <a:r>
              <a:rPr lang="en-US" sz="2000" dirty="0">
                <a:solidFill>
                  <a:srgbClr val="006666"/>
                </a:solidFill>
              </a:rPr>
              <a:t>	2</a:t>
            </a:r>
          </a:p>
          <a:p>
            <a:pPr eaLnBrk="1" hangingPunct="1"/>
            <a:r>
              <a:rPr lang="en-US" sz="2000" dirty="0">
                <a:solidFill>
                  <a:srgbClr val="800000"/>
                </a:solidFill>
              </a:rPr>
              <a:t>David</a:t>
            </a:r>
            <a:r>
              <a:rPr lang="en-US" sz="2000" dirty="0"/>
              <a:t> </a:t>
            </a:r>
            <a:r>
              <a:rPr lang="en-US" sz="2000" dirty="0">
                <a:solidFill>
                  <a:srgbClr val="800000"/>
                </a:solidFill>
              </a:rPr>
              <a:t>Sun</a:t>
            </a:r>
            <a:r>
              <a:rPr lang="en-US" sz="2000" dirty="0">
                <a:solidFill>
                  <a:srgbClr val="006666"/>
                </a:solidFill>
              </a:rPr>
              <a:t>		3</a:t>
            </a:r>
          </a:p>
          <a:p>
            <a:pPr eaLnBrk="1" hangingPunct="1"/>
            <a:r>
              <a:rPr lang="en-US" sz="2000" dirty="0">
                <a:solidFill>
                  <a:srgbClr val="800000"/>
                </a:solidFill>
              </a:rPr>
              <a:t>Jenny</a:t>
            </a:r>
            <a:r>
              <a:rPr lang="en-US" sz="2000" dirty="0"/>
              <a:t> </a:t>
            </a:r>
            <a:r>
              <a:rPr lang="en-US" sz="2000" dirty="0">
                <a:solidFill>
                  <a:srgbClr val="800000"/>
                </a:solidFill>
              </a:rPr>
              <a:t>Oh</a:t>
            </a:r>
            <a:r>
              <a:rPr lang="en-US" sz="2000" dirty="0">
                <a:solidFill>
                  <a:srgbClr val="006666"/>
                </a:solidFill>
              </a:rPr>
              <a:t>		4</a:t>
            </a:r>
          </a:p>
          <a:p>
            <a:pPr eaLnBrk="1" hangingPunct="1"/>
            <a:r>
              <a:rPr lang="en-US" sz="2000" dirty="0">
                <a:solidFill>
                  <a:srgbClr val="800000"/>
                </a:solidFill>
              </a:rPr>
              <a:t>Len</a:t>
            </a:r>
            <a:r>
              <a:rPr lang="en-US" sz="2000" dirty="0"/>
              <a:t> </a:t>
            </a:r>
            <a:r>
              <a:rPr lang="en-US" sz="2000" dirty="0" err="1">
                <a:solidFill>
                  <a:srgbClr val="800000"/>
                </a:solidFill>
              </a:rPr>
              <a:t>Kleinrock</a:t>
            </a:r>
            <a:r>
              <a:rPr lang="en-US" sz="2000" dirty="0">
                <a:solidFill>
                  <a:srgbClr val="006666"/>
                </a:solidFill>
              </a:rPr>
              <a:t>		5</a:t>
            </a:r>
          </a:p>
          <a:p>
            <a:pPr eaLnBrk="1" hangingPunct="1"/>
            <a:r>
              <a:rPr lang="en-US" sz="2000" dirty="0">
                <a:solidFill>
                  <a:srgbClr val="800000"/>
                </a:solidFill>
              </a:rPr>
              <a:t>Mario</a:t>
            </a:r>
            <a:r>
              <a:rPr lang="en-US" sz="2000" dirty="0"/>
              <a:t> </a:t>
            </a:r>
            <a:r>
              <a:rPr lang="en-US" sz="2000" dirty="0" err="1">
                <a:solidFill>
                  <a:srgbClr val="800000"/>
                </a:solidFill>
              </a:rPr>
              <a:t>Giso</a:t>
            </a:r>
            <a:r>
              <a:rPr lang="en-US" sz="2000" dirty="0">
                <a:solidFill>
                  <a:srgbClr val="006666"/>
                </a:solidFill>
              </a:rPr>
              <a:t>		6</a:t>
            </a:r>
          </a:p>
          <a:p>
            <a:pPr eaLnBrk="1" hangingPunct="1"/>
            <a:r>
              <a:rPr lang="en-US" sz="2000" dirty="0" err="1">
                <a:solidFill>
                  <a:srgbClr val="800000"/>
                </a:solidFill>
              </a:rPr>
              <a:t>Melani</a:t>
            </a:r>
            <a:r>
              <a:rPr lang="en-US" sz="2000" dirty="0">
                <a:solidFill>
                  <a:srgbClr val="800000"/>
                </a:solidFill>
              </a:rPr>
              <a:t> </a:t>
            </a:r>
            <a:r>
              <a:rPr lang="en-US" sz="2000" dirty="0" err="1">
                <a:solidFill>
                  <a:srgbClr val="800000"/>
                </a:solidFill>
              </a:rPr>
              <a:t>Kan</a:t>
            </a:r>
            <a:r>
              <a:rPr lang="en-US" sz="2000" dirty="0"/>
              <a:t> 		</a:t>
            </a:r>
            <a:r>
              <a:rPr lang="en-US" sz="2000" dirty="0">
                <a:solidFill>
                  <a:srgbClr val="006666"/>
                </a:solidFill>
              </a:rPr>
              <a:t>7</a:t>
            </a:r>
          </a:p>
          <a:p>
            <a:pPr eaLnBrk="1" hangingPunct="1"/>
            <a:r>
              <a:rPr lang="en-US" sz="2000" dirty="0">
                <a:solidFill>
                  <a:srgbClr val="800000"/>
                </a:solidFill>
              </a:rPr>
              <a:t>Rich</a:t>
            </a:r>
            <a:r>
              <a:rPr lang="en-US" sz="2000" dirty="0"/>
              <a:t> </a:t>
            </a:r>
            <a:r>
              <a:rPr lang="en-US" sz="2000" dirty="0">
                <a:solidFill>
                  <a:srgbClr val="800000"/>
                </a:solidFill>
              </a:rPr>
              <a:t>Lim</a:t>
            </a:r>
            <a:r>
              <a:rPr lang="en-US" sz="2000" dirty="0">
                <a:solidFill>
                  <a:srgbClr val="006666"/>
                </a:solidFill>
              </a:rPr>
              <a:t>		8</a:t>
            </a:r>
          </a:p>
          <a:p>
            <a:pPr eaLnBrk="1" hangingPunct="1"/>
            <a:r>
              <a:rPr lang="en-US" sz="2000" dirty="0">
                <a:solidFill>
                  <a:srgbClr val="800000"/>
                </a:solidFill>
              </a:rPr>
              <a:t>Rich</a:t>
            </a:r>
            <a:r>
              <a:rPr lang="en-US" sz="2000" dirty="0"/>
              <a:t> </a:t>
            </a:r>
            <a:r>
              <a:rPr lang="en-US" sz="2000" dirty="0">
                <a:solidFill>
                  <a:srgbClr val="800000"/>
                </a:solidFill>
              </a:rPr>
              <a:t>Nguyen</a:t>
            </a:r>
            <a:r>
              <a:rPr lang="en-US" sz="2000" dirty="0">
                <a:solidFill>
                  <a:srgbClr val="006666"/>
                </a:solidFill>
              </a:rPr>
              <a:t>		9</a:t>
            </a:r>
          </a:p>
          <a:p>
            <a:pPr eaLnBrk="1" hangingPunct="1"/>
            <a:r>
              <a:rPr lang="en-US" sz="2000" dirty="0">
                <a:solidFill>
                  <a:srgbClr val="800000"/>
                </a:solidFill>
              </a:rPr>
              <a:t>Scott Wilhelm</a:t>
            </a:r>
            <a:r>
              <a:rPr lang="en-US" sz="2000" dirty="0">
                <a:solidFill>
                  <a:srgbClr val="006666"/>
                </a:solidFill>
              </a:rPr>
              <a:t>		10</a:t>
            </a:r>
          </a:p>
        </p:txBody>
      </p:sp>
      <p:sp>
        <p:nvSpPr>
          <p:cNvPr id="395" name="Text Box 220"/>
          <p:cNvSpPr txBox="1">
            <a:spLocks noChangeArrowheads="1"/>
          </p:cNvSpPr>
          <p:nvPr/>
        </p:nvSpPr>
        <p:spPr bwMode="auto">
          <a:xfrm>
            <a:off x="107950" y="5060950"/>
            <a:ext cx="4767263" cy="1625600"/>
          </a:xfrm>
          <a:prstGeom prst="rect">
            <a:avLst/>
          </a:prstGeom>
          <a:solidFill>
            <a:srgbClr val="CCFFCC"/>
          </a:solidFill>
          <a:ln w="9525">
            <a:solidFill>
              <a:schemeClr val="tx1"/>
            </a:solidFill>
            <a:miter lim="800000"/>
            <a:headEnd/>
            <a:tailEnd/>
          </a:ln>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2200"/>
              <a:t>Friend-finding Algorithm:</a:t>
            </a:r>
          </a:p>
          <a:p>
            <a:pPr eaLnBrk="1" hangingPunct="1"/>
            <a:endParaRPr lang="en-US" sz="1800"/>
          </a:p>
          <a:p>
            <a:pPr eaLnBrk="1" hangingPunct="1">
              <a:buFontTx/>
              <a:buAutoNum type="arabicPeriod"/>
            </a:pPr>
            <a:r>
              <a:rPr lang="en-US" sz="2000"/>
              <a:t>Look up their numbers </a:t>
            </a:r>
            <a:r>
              <a:rPr lang="en-US" sz="2000">
                <a:solidFill>
                  <a:srgbClr val="6600CC"/>
                </a:solidFill>
              </a:rPr>
              <a:t>A</a:t>
            </a:r>
            <a:r>
              <a:rPr lang="en-US" sz="2000"/>
              <a:t>, </a:t>
            </a:r>
            <a:r>
              <a:rPr lang="en-US" sz="2000">
                <a:solidFill>
                  <a:srgbClr val="6600CC"/>
                </a:solidFill>
              </a:rPr>
              <a:t>B</a:t>
            </a:r>
          </a:p>
          <a:p>
            <a:pPr eaLnBrk="1" hangingPunct="1">
              <a:buFontTx/>
              <a:buAutoNum type="arabicPeriod"/>
            </a:pPr>
            <a:r>
              <a:rPr lang="en-US" sz="2000"/>
              <a:t>Check (</a:t>
            </a:r>
            <a:r>
              <a:rPr lang="en-US" sz="2000">
                <a:solidFill>
                  <a:srgbClr val="6600CC"/>
                </a:solidFill>
              </a:rPr>
              <a:t>A</a:t>
            </a:r>
            <a:r>
              <a:rPr lang="en-US" sz="2000"/>
              <a:t>,</a:t>
            </a:r>
            <a:r>
              <a:rPr lang="en-US" sz="2000">
                <a:solidFill>
                  <a:srgbClr val="6600CC"/>
                </a:solidFill>
              </a:rPr>
              <a:t>B</a:t>
            </a:r>
            <a:r>
              <a:rPr lang="en-US" sz="2000"/>
              <a:t>) </a:t>
            </a:r>
            <a:r>
              <a:rPr lang="en-US" sz="2000" i="1"/>
              <a:t>or</a:t>
            </a:r>
            <a:r>
              <a:rPr lang="en-US" sz="2000"/>
              <a:t> (</a:t>
            </a:r>
            <a:r>
              <a:rPr lang="en-US" sz="2000">
                <a:solidFill>
                  <a:srgbClr val="6600CC"/>
                </a:solidFill>
              </a:rPr>
              <a:t>B</a:t>
            </a:r>
            <a:r>
              <a:rPr lang="en-US" sz="2000"/>
              <a:t>,</a:t>
            </a:r>
            <a:r>
              <a:rPr lang="en-US" sz="2000">
                <a:solidFill>
                  <a:srgbClr val="6600CC"/>
                </a:solidFill>
              </a:rPr>
              <a:t>A</a:t>
            </a:r>
            <a:r>
              <a:rPr lang="en-US" sz="2000"/>
              <a:t>) in our array</a:t>
            </a:r>
          </a:p>
          <a:p>
            <a:pPr eaLnBrk="1" hangingPunct="1">
              <a:buFontTx/>
              <a:buAutoNum type="arabicPeriod"/>
            </a:pPr>
            <a:r>
              <a:rPr lang="en-US" sz="2000"/>
              <a:t>If we find a </a:t>
            </a:r>
            <a:r>
              <a:rPr lang="en-US" sz="2000">
                <a:solidFill>
                  <a:srgbClr val="6600CC"/>
                </a:solidFill>
              </a:rPr>
              <a:t>*</a:t>
            </a:r>
            <a:r>
              <a:rPr lang="en-US" sz="2000"/>
              <a:t>, they’re buddies!</a:t>
            </a:r>
          </a:p>
        </p:txBody>
      </p:sp>
    </p:spTree>
    <p:extLst>
      <p:ext uri="{BB962C8B-B14F-4D97-AF65-F5344CB8AC3E}">
        <p14:creationId xmlns:p14="http://schemas.microsoft.com/office/powerpoint/2010/main" val="115732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08975 " pathEditMode="relative" ptsTypes="AA">
                                      <p:cBhvr>
                                        <p:cTn id="6" dur="2000" fill="hold"/>
                                        <p:tgtEl>
                                          <p:spTgt spid="394"/>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5"/>
                                        </p:tgtEl>
                                        <p:attrNameLst>
                                          <p:attrName>style.visibility</p:attrName>
                                        </p:attrNameLst>
                                      </p:cBhvr>
                                      <p:to>
                                        <p:strVal val="visible"/>
                                      </p:to>
                                    </p:set>
                                    <p:anim calcmode="lin" valueType="num">
                                      <p:cBhvr additive="base">
                                        <p:cTn id="19" dur="500" fill="hold"/>
                                        <p:tgtEl>
                                          <p:spTgt spid="395"/>
                                        </p:tgtEl>
                                        <p:attrNameLst>
                                          <p:attrName>ppt_x</p:attrName>
                                        </p:attrNameLst>
                                      </p:cBhvr>
                                      <p:tavLst>
                                        <p:tav tm="0">
                                          <p:val>
                                            <p:strVal val="0-#ppt_w/2"/>
                                          </p:val>
                                        </p:tav>
                                        <p:tav tm="100000">
                                          <p:val>
                                            <p:strVal val="#ppt_x"/>
                                          </p:val>
                                        </p:tav>
                                      </p:tavLst>
                                    </p:anim>
                                    <p:anim calcmode="lin" valueType="num">
                                      <p:cBhvr additive="base">
                                        <p:cTn id="20" dur="500" fill="hold"/>
                                        <p:tgtEl>
                                          <p:spTgt spid="3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 grpId="0"/>
      <p:bldP spid="393" grpId="0"/>
      <p:bldP spid="394" grpId="0" animBg="1"/>
      <p:bldP spid="39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5916488" cy="691277"/>
          </a:xfrm>
        </p:spPr>
        <p:txBody>
          <a:bodyPr/>
          <a:lstStyle/>
          <a:p>
            <a:r>
              <a:rPr lang="en-US" sz="4000" dirty="0"/>
              <a:t>ADT(Abstract Data Type)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19</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Rectangle 212"/>
          <p:cNvSpPr>
            <a:spLocks noChangeArrowheads="1"/>
          </p:cNvSpPr>
          <p:nvPr/>
        </p:nvSpPr>
        <p:spPr bwMode="auto">
          <a:xfrm>
            <a:off x="125413" y="2479675"/>
            <a:ext cx="8847137" cy="2376488"/>
          </a:xfrm>
          <a:prstGeom prst="rect">
            <a:avLst/>
          </a:prstGeom>
          <a:solidFill>
            <a:srgbClr val="00484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16"/>
          <p:cNvSpPr>
            <a:spLocks noChangeArrowheads="1"/>
          </p:cNvSpPr>
          <p:nvPr/>
        </p:nvSpPr>
        <p:spPr bwMode="auto">
          <a:xfrm>
            <a:off x="242888" y="868362"/>
            <a:ext cx="8537575"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t>An </a:t>
            </a:r>
            <a:r>
              <a:rPr lang="en-US">
                <a:solidFill>
                  <a:srgbClr val="9900FF"/>
                </a:solidFill>
              </a:rPr>
              <a:t>Abstract Data Type</a:t>
            </a:r>
            <a:r>
              <a:rPr lang="en-US"/>
              <a:t> or </a:t>
            </a:r>
            <a:r>
              <a:rPr lang="en-US">
                <a:solidFill>
                  <a:srgbClr val="9900FF"/>
                </a:solidFill>
              </a:rPr>
              <a:t>ADT</a:t>
            </a:r>
            <a:r>
              <a:rPr lang="en-US"/>
              <a:t> is: </a:t>
            </a:r>
          </a:p>
          <a:p>
            <a:pPr algn="ctr"/>
            <a:br>
              <a:rPr lang="en-US" sz="1200" dirty="0"/>
            </a:br>
            <a:r>
              <a:rPr lang="en-US" dirty="0"/>
              <a:t>“A coordinated group of </a:t>
            </a:r>
            <a:br>
              <a:rPr lang="en-US" dirty="0"/>
            </a:br>
            <a:r>
              <a:rPr lang="en-US" dirty="0">
                <a:solidFill>
                  <a:srgbClr val="6600CC"/>
                </a:solidFill>
              </a:rPr>
              <a:t>(a) data structures</a:t>
            </a:r>
            <a:r>
              <a:rPr lang="en-US" dirty="0">
                <a:solidFill>
                  <a:srgbClr val="004846"/>
                </a:solidFill>
              </a:rPr>
              <a:t>, </a:t>
            </a:r>
            <a:r>
              <a:rPr lang="en-US" dirty="0">
                <a:solidFill>
                  <a:srgbClr val="6600CC"/>
                </a:solidFill>
              </a:rPr>
              <a:t>(b) algorithms</a:t>
            </a:r>
            <a:r>
              <a:rPr lang="en-US" dirty="0">
                <a:solidFill>
                  <a:srgbClr val="004846"/>
                </a:solidFill>
              </a:rPr>
              <a:t> </a:t>
            </a:r>
            <a:r>
              <a:rPr lang="en-US" dirty="0"/>
              <a:t>and</a:t>
            </a:r>
            <a:r>
              <a:rPr lang="en-US" dirty="0">
                <a:solidFill>
                  <a:srgbClr val="004846"/>
                </a:solidFill>
              </a:rPr>
              <a:t> </a:t>
            </a:r>
            <a:r>
              <a:rPr lang="en-US" dirty="0">
                <a:solidFill>
                  <a:srgbClr val="6600CC"/>
                </a:solidFill>
              </a:rPr>
              <a:t>(c) interface functions</a:t>
            </a:r>
            <a:r>
              <a:rPr lang="en-US" dirty="0">
                <a:solidFill>
                  <a:srgbClr val="004846"/>
                </a:solidFill>
              </a:rPr>
              <a:t> </a:t>
            </a:r>
            <a:br>
              <a:rPr lang="en-US" dirty="0">
                <a:solidFill>
                  <a:srgbClr val="004846"/>
                </a:solidFill>
              </a:rPr>
            </a:br>
            <a:r>
              <a:rPr lang="en-US" dirty="0"/>
              <a:t>that is used to solve a particular problem.”</a:t>
            </a:r>
          </a:p>
        </p:txBody>
      </p:sp>
      <p:sp>
        <p:nvSpPr>
          <p:cNvPr id="8" name="Rectangle 19"/>
          <p:cNvSpPr>
            <a:spLocks noChangeArrowheads="1"/>
          </p:cNvSpPr>
          <p:nvPr/>
        </p:nvSpPr>
        <p:spPr bwMode="auto">
          <a:xfrm>
            <a:off x="333375" y="6048375"/>
            <a:ext cx="853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cs typeface="Courier New" pitchFamily="49" charset="0"/>
              </a:rPr>
              <a:t>Typically, we </a:t>
            </a:r>
            <a:r>
              <a:rPr lang="en-US">
                <a:solidFill>
                  <a:srgbClr val="6600CC"/>
                </a:solidFill>
                <a:cs typeface="Courier New" pitchFamily="49" charset="0"/>
              </a:rPr>
              <a:t>build programs</a:t>
            </a:r>
            <a:r>
              <a:rPr lang="en-US">
                <a:cs typeface="Courier New" pitchFamily="49" charset="0"/>
              </a:rPr>
              <a:t> from a </a:t>
            </a:r>
            <a:r>
              <a:rPr lang="en-US">
                <a:solidFill>
                  <a:srgbClr val="6600CC"/>
                </a:solidFill>
                <a:cs typeface="Courier New" pitchFamily="49" charset="0"/>
              </a:rPr>
              <a:t>collection of ADTs</a:t>
            </a:r>
            <a:r>
              <a:rPr lang="en-US">
                <a:cs typeface="Courier New" pitchFamily="49" charset="0"/>
              </a:rPr>
              <a:t>, each of which </a:t>
            </a:r>
            <a:r>
              <a:rPr lang="en-US">
                <a:solidFill>
                  <a:srgbClr val="6600CC"/>
                </a:solidFill>
                <a:cs typeface="Courier New" pitchFamily="49" charset="0"/>
              </a:rPr>
              <a:t>solves a different sub-problem</a:t>
            </a:r>
            <a:r>
              <a:rPr lang="en-US">
                <a:cs typeface="Courier New" pitchFamily="49" charset="0"/>
              </a:rPr>
              <a:t>.</a:t>
            </a:r>
            <a:endParaRPr lang="en-US"/>
          </a:p>
        </p:txBody>
      </p:sp>
      <p:pic>
        <p:nvPicPr>
          <p:cNvPr id="9" name="Picture 2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2971800"/>
            <a:ext cx="1795463" cy="17684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220"/>
          <p:cNvSpPr txBox="1">
            <a:spLocks noChangeArrowheads="1"/>
          </p:cNvSpPr>
          <p:nvPr/>
        </p:nvSpPr>
        <p:spPr bwMode="auto">
          <a:xfrm>
            <a:off x="5740400" y="3432175"/>
            <a:ext cx="3209925" cy="952500"/>
          </a:xfrm>
          <a:prstGeom prst="rect">
            <a:avLst/>
          </a:prstGeom>
          <a:solidFill>
            <a:srgbClr val="CCFFCC"/>
          </a:solidFill>
          <a:ln w="9525">
            <a:solidFill>
              <a:schemeClr val="tx1"/>
            </a:solidFill>
            <a:miter lim="800000"/>
            <a:headEnd/>
            <a:tailEnd/>
          </a:ln>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1400"/>
              <a:t>bool AreTheyFriends(</a:t>
            </a:r>
            <a:r>
              <a:rPr lang="en-US" sz="1400">
                <a:solidFill>
                  <a:srgbClr val="6600FF"/>
                </a:solidFill>
              </a:rPr>
              <a:t>UserA</a:t>
            </a:r>
            <a:r>
              <a:rPr lang="en-US" sz="1400"/>
              <a:t>,</a:t>
            </a:r>
            <a:r>
              <a:rPr lang="en-US" sz="1400">
                <a:solidFill>
                  <a:srgbClr val="6600FF"/>
                </a:solidFill>
              </a:rPr>
              <a:t>UserB</a:t>
            </a:r>
            <a:r>
              <a:rPr lang="en-US" sz="1400"/>
              <a:t>)</a:t>
            </a:r>
          </a:p>
          <a:p>
            <a:pPr eaLnBrk="1" hangingPunct="1"/>
            <a:r>
              <a:rPr lang="en-US" sz="1400"/>
              <a:t>void BecomeFriends(</a:t>
            </a:r>
            <a:r>
              <a:rPr lang="en-US" sz="1400">
                <a:solidFill>
                  <a:srgbClr val="6600CC"/>
                </a:solidFill>
              </a:rPr>
              <a:t>UserA,UserB</a:t>
            </a:r>
            <a:r>
              <a:rPr lang="en-US" sz="1400"/>
              <a:t>)</a:t>
            </a:r>
          </a:p>
          <a:p>
            <a:pPr eaLnBrk="1" hangingPunct="1"/>
            <a:r>
              <a:rPr lang="en-US" sz="1400"/>
              <a:t>void BreakUp(</a:t>
            </a:r>
            <a:r>
              <a:rPr lang="en-US" sz="1400">
                <a:solidFill>
                  <a:srgbClr val="6600CC"/>
                </a:solidFill>
              </a:rPr>
              <a:t>UserA,UserB</a:t>
            </a:r>
            <a:r>
              <a:rPr lang="en-US" sz="1400"/>
              <a:t>)</a:t>
            </a:r>
          </a:p>
          <a:p>
            <a:pPr eaLnBrk="1" hangingPunct="1"/>
            <a:r>
              <a:rPr lang="en-US" sz="1400"/>
              <a:t>…</a:t>
            </a:r>
          </a:p>
        </p:txBody>
      </p:sp>
      <p:sp>
        <p:nvSpPr>
          <p:cNvPr id="11" name="Text Box 213"/>
          <p:cNvSpPr txBox="1">
            <a:spLocks noChangeArrowheads="1"/>
          </p:cNvSpPr>
          <p:nvPr/>
        </p:nvSpPr>
        <p:spPr bwMode="auto">
          <a:xfrm>
            <a:off x="2379663" y="3365500"/>
            <a:ext cx="5508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6000">
                <a:solidFill>
                  <a:srgbClr val="E9FFF1"/>
                </a:solidFill>
              </a:rPr>
              <a:t>+</a:t>
            </a:r>
          </a:p>
        </p:txBody>
      </p:sp>
      <p:sp>
        <p:nvSpPr>
          <p:cNvPr id="12" name="Text Box 214"/>
          <p:cNvSpPr txBox="1">
            <a:spLocks noChangeArrowheads="1"/>
          </p:cNvSpPr>
          <p:nvPr/>
        </p:nvSpPr>
        <p:spPr bwMode="auto">
          <a:xfrm>
            <a:off x="1633538" y="2487613"/>
            <a:ext cx="6108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solidFill>
                  <a:srgbClr val="E9FFF1"/>
                </a:solidFill>
              </a:rPr>
              <a:t>Abstract Data Type  (for finding friends)</a:t>
            </a:r>
          </a:p>
        </p:txBody>
      </p:sp>
      <p:sp>
        <p:nvSpPr>
          <p:cNvPr id="13" name="Rectangle 16"/>
          <p:cNvSpPr>
            <a:spLocks noChangeArrowheads="1"/>
          </p:cNvSpPr>
          <p:nvPr/>
        </p:nvSpPr>
        <p:spPr bwMode="auto">
          <a:xfrm>
            <a:off x="204788" y="4897438"/>
            <a:ext cx="8726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t>In an ADT, the </a:t>
            </a:r>
            <a:r>
              <a:rPr lang="en-US">
                <a:solidFill>
                  <a:srgbClr val="6600CC"/>
                </a:solidFill>
              </a:rPr>
              <a:t>data structures</a:t>
            </a:r>
            <a:r>
              <a:rPr lang="en-US"/>
              <a:t> and </a:t>
            </a:r>
            <a:r>
              <a:rPr lang="en-US">
                <a:solidFill>
                  <a:srgbClr val="6600CC"/>
                </a:solidFill>
              </a:rPr>
              <a:t>algorithms</a:t>
            </a:r>
            <a:r>
              <a:rPr lang="en-US"/>
              <a:t> are </a:t>
            </a:r>
            <a:r>
              <a:rPr lang="en-US">
                <a:solidFill>
                  <a:srgbClr val="FF0000"/>
                </a:solidFill>
              </a:rPr>
              <a:t>secret</a:t>
            </a:r>
            <a:r>
              <a:rPr lang="en-US"/>
              <a:t>.</a:t>
            </a:r>
          </a:p>
        </p:txBody>
      </p:sp>
      <p:sp>
        <p:nvSpPr>
          <p:cNvPr id="14" name="Text Box 220"/>
          <p:cNvSpPr txBox="1">
            <a:spLocks noChangeArrowheads="1"/>
          </p:cNvSpPr>
          <p:nvPr/>
        </p:nvSpPr>
        <p:spPr bwMode="auto">
          <a:xfrm>
            <a:off x="2855913" y="2967038"/>
            <a:ext cx="2424112" cy="1717675"/>
          </a:xfrm>
          <a:prstGeom prst="rect">
            <a:avLst/>
          </a:prstGeom>
          <a:solidFill>
            <a:srgbClr val="CCFFCC"/>
          </a:solidFill>
          <a:ln w="9525">
            <a:solidFill>
              <a:schemeClr val="tx1"/>
            </a:solidFill>
            <a:miter lim="800000"/>
            <a:headEnd/>
            <a:tailEnd/>
          </a:ln>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914400" indent="-457200" eaLnBrk="0" hangingPunct="0">
              <a:defRPr sz="2400">
                <a:solidFill>
                  <a:schemeClr val="tx1"/>
                </a:solidFill>
                <a:latin typeface="Comic Sans MS" pitchFamily="66" charset="0"/>
                <a:cs typeface="Times New Roman" pitchFamily="18" charset="0"/>
              </a:defRPr>
            </a:lvl2pPr>
            <a:lvl3pPr marL="1371600" indent="-457200" eaLnBrk="0" hangingPunct="0">
              <a:defRPr sz="2400">
                <a:solidFill>
                  <a:schemeClr val="tx1"/>
                </a:solidFill>
                <a:latin typeface="Comic Sans MS" pitchFamily="66" charset="0"/>
                <a:cs typeface="Times New Roman" pitchFamily="18" charset="0"/>
              </a:defRPr>
            </a:lvl3pPr>
            <a:lvl4pPr marL="1828800" indent="-457200" eaLnBrk="0" hangingPunct="0">
              <a:defRPr sz="2400">
                <a:solidFill>
                  <a:schemeClr val="tx1"/>
                </a:solidFill>
                <a:latin typeface="Comic Sans MS" pitchFamily="66" charset="0"/>
                <a:cs typeface="Times New Roman" pitchFamily="18" charset="0"/>
              </a:defRPr>
            </a:lvl4pPr>
            <a:lvl5pPr marL="2286000" indent="-457200" eaLnBrk="0" hangingPunct="0">
              <a:defRPr sz="2400">
                <a:solidFill>
                  <a:schemeClr val="tx1"/>
                </a:solidFill>
                <a:latin typeface="Comic Sans MS" pitchFamily="66" charset="0"/>
                <a:cs typeface="Times New Roman" pitchFamily="18" charset="0"/>
              </a:defRPr>
            </a:lvl5pPr>
            <a:lvl6pPr marL="2743200" indent="-4572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3200400" indent="-4572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657600" indent="-4572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4114800" indent="-4572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1200"/>
              <a:t>Add Friend Algorithm:</a:t>
            </a:r>
          </a:p>
          <a:p>
            <a:pPr eaLnBrk="1" hangingPunct="1"/>
            <a:endParaRPr lang="en-US" sz="600"/>
          </a:p>
          <a:p>
            <a:pPr eaLnBrk="1" hangingPunct="1"/>
            <a:r>
              <a:rPr lang="en-US" sz="1000"/>
              <a:t>1.  Look up each person’s #s</a:t>
            </a:r>
            <a:endParaRPr lang="en-US" sz="1000">
              <a:solidFill>
                <a:srgbClr val="6600CC"/>
              </a:solidFill>
            </a:endParaRPr>
          </a:p>
          <a:p>
            <a:pPr eaLnBrk="1" hangingPunct="1"/>
            <a:r>
              <a:rPr lang="en-US" sz="1000"/>
              <a:t>2. Stick a</a:t>
            </a:r>
            <a:r>
              <a:rPr lang="en-US" sz="1000">
                <a:solidFill>
                  <a:srgbClr val="6600CC"/>
                </a:solidFill>
              </a:rPr>
              <a:t> *</a:t>
            </a:r>
            <a:r>
              <a:rPr lang="en-US" sz="1000"/>
              <a:t> in grid[n1][n2]</a:t>
            </a:r>
          </a:p>
          <a:p>
            <a:pPr eaLnBrk="1" hangingPunct="1"/>
            <a:r>
              <a:rPr lang="en-US" sz="1000"/>
              <a:t>3. Stick a </a:t>
            </a:r>
            <a:r>
              <a:rPr lang="en-US" sz="1000">
                <a:solidFill>
                  <a:srgbClr val="6600CC"/>
                </a:solidFill>
              </a:rPr>
              <a:t>*</a:t>
            </a:r>
            <a:r>
              <a:rPr lang="en-US" sz="1000"/>
              <a:t> in grid[n2][n1]</a:t>
            </a:r>
          </a:p>
          <a:p>
            <a:pPr eaLnBrk="1" hangingPunct="1">
              <a:buFontTx/>
              <a:buChar char="•"/>
            </a:pPr>
            <a:endParaRPr lang="en-US" sz="1000"/>
          </a:p>
          <a:p>
            <a:pPr eaLnBrk="1" hangingPunct="1"/>
            <a:r>
              <a:rPr lang="en-US" sz="1200"/>
              <a:t>Friend-finding Algorithm </a:t>
            </a:r>
            <a:br>
              <a:rPr lang="en-US" sz="1200"/>
            </a:br>
            <a:endParaRPr lang="en-US" sz="600"/>
          </a:p>
          <a:p>
            <a:pPr eaLnBrk="1" hangingPunct="1"/>
            <a:r>
              <a:rPr lang="en-US" sz="1000"/>
              <a:t>1. Look up each person’s #s</a:t>
            </a:r>
            <a:endParaRPr lang="en-US" sz="1000">
              <a:solidFill>
                <a:srgbClr val="6600CC"/>
              </a:solidFill>
            </a:endParaRPr>
          </a:p>
          <a:p>
            <a:pPr eaLnBrk="1" hangingPunct="1"/>
            <a:r>
              <a:rPr lang="en-US" sz="1000"/>
              <a:t>2. Check grid[n1][n2] and grid[n2][n1]</a:t>
            </a:r>
          </a:p>
          <a:p>
            <a:pPr eaLnBrk="1" hangingPunct="1"/>
            <a:r>
              <a:rPr lang="en-US" sz="1000"/>
              <a:t>3. If we find a </a:t>
            </a:r>
            <a:r>
              <a:rPr lang="en-US" sz="1000">
                <a:solidFill>
                  <a:srgbClr val="6600CC"/>
                </a:solidFill>
              </a:rPr>
              <a:t>*</a:t>
            </a:r>
            <a:r>
              <a:rPr lang="en-US" sz="1000"/>
              <a:t>, they’re buddies!</a:t>
            </a:r>
          </a:p>
        </p:txBody>
      </p:sp>
      <p:sp>
        <p:nvSpPr>
          <p:cNvPr id="15" name="Text Box 223"/>
          <p:cNvSpPr txBox="1">
            <a:spLocks noChangeArrowheads="1"/>
          </p:cNvSpPr>
          <p:nvPr/>
        </p:nvSpPr>
        <p:spPr bwMode="auto">
          <a:xfrm>
            <a:off x="5214938" y="3378200"/>
            <a:ext cx="5508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6000">
                <a:solidFill>
                  <a:srgbClr val="E9FFF1"/>
                </a:solidFill>
              </a:rPr>
              <a:t>+</a:t>
            </a:r>
          </a:p>
        </p:txBody>
      </p:sp>
      <p:sp>
        <p:nvSpPr>
          <p:cNvPr id="16" name="Text Box 220"/>
          <p:cNvSpPr txBox="1">
            <a:spLocks noChangeArrowheads="1"/>
          </p:cNvSpPr>
          <p:nvPr/>
        </p:nvSpPr>
        <p:spPr bwMode="auto">
          <a:xfrm>
            <a:off x="2846388" y="2968625"/>
            <a:ext cx="2827337" cy="1771650"/>
          </a:xfrm>
          <a:prstGeom prst="rect">
            <a:avLst/>
          </a:prstGeom>
          <a:solidFill>
            <a:srgbClr val="004846">
              <a:alpha val="85001"/>
            </a:srgbClr>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endParaRPr lang="en-US" sz="1600"/>
          </a:p>
          <a:p>
            <a:pPr eaLnBrk="1" hangingPunct="1"/>
            <a:endParaRPr lang="en-US" sz="1600"/>
          </a:p>
          <a:p>
            <a:pPr eaLnBrk="1" hangingPunct="1"/>
            <a:endParaRPr lang="en-US" sz="1600"/>
          </a:p>
          <a:p>
            <a:pPr eaLnBrk="1" hangingPunct="1"/>
            <a:endParaRPr lang="en-US" sz="1600"/>
          </a:p>
          <a:p>
            <a:pPr eaLnBrk="1" hangingPunct="1"/>
            <a:endParaRPr lang="en-US" sz="1600"/>
          </a:p>
          <a:p>
            <a:pPr eaLnBrk="1" hangingPunct="1"/>
            <a:endParaRPr lang="en-US" sz="1600"/>
          </a:p>
          <a:p>
            <a:pPr eaLnBrk="1" hangingPunct="1"/>
            <a:endParaRPr lang="en-US" sz="700"/>
          </a:p>
          <a:p>
            <a:pPr eaLnBrk="1" hangingPunct="1"/>
            <a:endParaRPr lang="en-US" sz="700"/>
          </a:p>
        </p:txBody>
      </p:sp>
      <p:sp>
        <p:nvSpPr>
          <p:cNvPr id="17" name="AutoShape 221"/>
          <p:cNvSpPr>
            <a:spLocks noChangeArrowheads="1"/>
          </p:cNvSpPr>
          <p:nvPr/>
        </p:nvSpPr>
        <p:spPr bwMode="auto">
          <a:xfrm>
            <a:off x="3692525" y="1285875"/>
            <a:ext cx="2994025" cy="1568450"/>
          </a:xfrm>
          <a:prstGeom prst="wedgeRoundRectCallout">
            <a:avLst>
              <a:gd name="adj1" fmla="val -37963"/>
              <a:gd name="adj2" fmla="val 79046"/>
              <a:gd name="adj3" fmla="val 16667"/>
            </a:avLst>
          </a:prstGeom>
          <a:solidFill>
            <a:srgbClr val="FFF2E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800" dirty="0">
                <a:solidFill>
                  <a:srgbClr val="0000CC"/>
                </a:solidFill>
              </a:rPr>
              <a:t>I’m a set of </a:t>
            </a:r>
            <a:r>
              <a:rPr lang="en-US" sz="1800" u="sng" dirty="0">
                <a:solidFill>
                  <a:srgbClr val="0000CC"/>
                </a:solidFill>
              </a:rPr>
              <a:t>algorithms</a:t>
            </a:r>
            <a:r>
              <a:rPr lang="en-US" sz="1800" dirty="0">
                <a:solidFill>
                  <a:srgbClr val="0000CC"/>
                </a:solidFill>
              </a:rPr>
              <a:t>.</a:t>
            </a:r>
            <a:br>
              <a:rPr lang="en-US" sz="1800" dirty="0">
                <a:solidFill>
                  <a:srgbClr val="0000CC"/>
                </a:solidFill>
              </a:rPr>
            </a:br>
            <a:endParaRPr lang="en-US" sz="1000" dirty="0">
              <a:solidFill>
                <a:srgbClr val="0000CC"/>
              </a:solidFill>
            </a:endParaRPr>
          </a:p>
          <a:p>
            <a:pPr algn="ctr"/>
            <a:r>
              <a:rPr lang="en-US" sz="1800" dirty="0">
                <a:solidFill>
                  <a:srgbClr val="004846"/>
                </a:solidFill>
              </a:rPr>
              <a:t>No one outside of my ADT needs to know how I work.</a:t>
            </a:r>
          </a:p>
        </p:txBody>
      </p:sp>
      <p:sp>
        <p:nvSpPr>
          <p:cNvPr id="18" name="AutoShape 222"/>
          <p:cNvSpPr>
            <a:spLocks noChangeArrowheads="1"/>
          </p:cNvSpPr>
          <p:nvPr/>
        </p:nvSpPr>
        <p:spPr bwMode="auto">
          <a:xfrm>
            <a:off x="5548313" y="1298575"/>
            <a:ext cx="3362325" cy="1773238"/>
          </a:xfrm>
          <a:prstGeom prst="wedgeRoundRectCallout">
            <a:avLst>
              <a:gd name="adj1" fmla="val 991"/>
              <a:gd name="adj2" fmla="val 72560"/>
              <a:gd name="adj3" fmla="val 16667"/>
            </a:avLst>
          </a:prstGeom>
          <a:solidFill>
            <a:srgbClr val="FFF2E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800" dirty="0">
                <a:solidFill>
                  <a:srgbClr val="0000CC"/>
                </a:solidFill>
              </a:rPr>
              <a:t>I’m an </a:t>
            </a:r>
            <a:r>
              <a:rPr lang="en-US" sz="1800" u="sng" dirty="0">
                <a:solidFill>
                  <a:srgbClr val="0000CC"/>
                </a:solidFill>
              </a:rPr>
              <a:t>interface</a:t>
            </a:r>
            <a:r>
              <a:rPr lang="en-US" sz="1800" dirty="0">
                <a:solidFill>
                  <a:srgbClr val="0000CC"/>
                </a:solidFill>
              </a:rPr>
              <a:t>.</a:t>
            </a:r>
          </a:p>
          <a:p>
            <a:pPr algn="ctr"/>
            <a:endParaRPr lang="en-US" sz="1000" dirty="0">
              <a:solidFill>
                <a:srgbClr val="0000CC"/>
              </a:solidFill>
            </a:endParaRPr>
          </a:p>
          <a:p>
            <a:pPr algn="ctr"/>
            <a:r>
              <a:rPr lang="en-US" sz="1800" dirty="0">
                <a:solidFill>
                  <a:srgbClr val="004846"/>
                </a:solidFill>
              </a:rPr>
              <a:t>If someone wants to use this ADT, they must call these three functions to work with it.</a:t>
            </a:r>
          </a:p>
          <a:p>
            <a:pPr algn="ctr"/>
            <a:endParaRPr lang="en-US" sz="800" dirty="0">
              <a:solidFill>
                <a:srgbClr val="004846"/>
              </a:solidFill>
            </a:endParaRPr>
          </a:p>
        </p:txBody>
      </p:sp>
      <p:pic>
        <p:nvPicPr>
          <p:cNvPr id="19" name="Picture 2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838" y="3327400"/>
            <a:ext cx="1674812" cy="1430338"/>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217"/>
          <p:cNvSpPr>
            <a:spLocks noChangeArrowheads="1"/>
          </p:cNvSpPr>
          <p:nvPr/>
        </p:nvSpPr>
        <p:spPr bwMode="auto">
          <a:xfrm>
            <a:off x="225425" y="2889250"/>
            <a:ext cx="2613025" cy="1898650"/>
          </a:xfrm>
          <a:prstGeom prst="rect">
            <a:avLst/>
          </a:prstGeom>
          <a:solidFill>
            <a:srgbClr val="004846">
              <a:alpha val="83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AutoShape 220"/>
          <p:cNvSpPr>
            <a:spLocks noChangeArrowheads="1"/>
          </p:cNvSpPr>
          <p:nvPr/>
        </p:nvSpPr>
        <p:spPr bwMode="auto">
          <a:xfrm>
            <a:off x="612775" y="1487488"/>
            <a:ext cx="3860800" cy="1433512"/>
          </a:xfrm>
          <a:prstGeom prst="wedgeRoundRectCallout">
            <a:avLst>
              <a:gd name="adj1" fmla="val -39597"/>
              <a:gd name="adj2" fmla="val 76579"/>
              <a:gd name="adj3" fmla="val 16667"/>
            </a:avLst>
          </a:prstGeom>
          <a:solidFill>
            <a:srgbClr val="FFF2E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sz="1800">
                <a:solidFill>
                  <a:srgbClr val="0000CC"/>
                </a:solidFill>
              </a:rPr>
              <a:t>I’m a set of </a:t>
            </a:r>
            <a:r>
              <a:rPr lang="en-US" sz="1800" u="sng">
                <a:solidFill>
                  <a:srgbClr val="0000CC"/>
                </a:solidFill>
              </a:rPr>
              <a:t>data structures</a:t>
            </a:r>
            <a:r>
              <a:rPr lang="en-US" sz="1800">
                <a:solidFill>
                  <a:srgbClr val="0000CC"/>
                </a:solidFill>
              </a:rPr>
              <a:t>.</a:t>
            </a:r>
          </a:p>
          <a:p>
            <a:pPr algn="ctr"/>
            <a:endParaRPr lang="en-US" sz="1000">
              <a:solidFill>
                <a:srgbClr val="0000CC"/>
              </a:solidFill>
            </a:endParaRPr>
          </a:p>
          <a:p>
            <a:pPr algn="ctr"/>
            <a:r>
              <a:rPr lang="en-US" sz="1800">
                <a:solidFill>
                  <a:srgbClr val="0000CC"/>
                </a:solidFill>
              </a:rPr>
              <a:t> </a:t>
            </a:r>
            <a:r>
              <a:rPr lang="en-US" sz="1800">
                <a:solidFill>
                  <a:srgbClr val="004846"/>
                </a:solidFill>
              </a:rPr>
              <a:t>No one outside of my ADT needs to know what I look like!</a:t>
            </a:r>
          </a:p>
        </p:txBody>
      </p:sp>
      <p:sp>
        <p:nvSpPr>
          <p:cNvPr id="22" name="Rectangle 226"/>
          <p:cNvSpPr>
            <a:spLocks noChangeArrowheads="1"/>
          </p:cNvSpPr>
          <p:nvPr/>
        </p:nvSpPr>
        <p:spPr bwMode="auto">
          <a:xfrm>
            <a:off x="1027113" y="5322888"/>
            <a:ext cx="71294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dirty="0"/>
              <a:t>The ADT provides an </a:t>
            </a:r>
            <a:r>
              <a:rPr lang="en-US" dirty="0">
                <a:solidFill>
                  <a:srgbClr val="FF0000"/>
                </a:solidFill>
              </a:rPr>
              <a:t>interface</a:t>
            </a:r>
            <a:r>
              <a:rPr lang="en-US" dirty="0"/>
              <a:t> (a simple set of functions) </a:t>
            </a:r>
            <a:br>
              <a:rPr lang="en-US" dirty="0"/>
            </a:br>
            <a:r>
              <a:rPr lang="en-US" dirty="0"/>
              <a:t>to enable the rest of the program to use the ADT.</a:t>
            </a:r>
          </a:p>
        </p:txBody>
      </p:sp>
    </p:spTree>
    <p:extLst>
      <p:ext uri="{BB962C8B-B14F-4D97-AF65-F5344CB8AC3E}">
        <p14:creationId xmlns:p14="http://schemas.microsoft.com/office/powerpoint/2010/main" val="133146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down)">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ppt_x"/>
                                          </p:val>
                                        </p:tav>
                                        <p:tav tm="100000">
                                          <p:val>
                                            <p:strVal val="#ppt_x"/>
                                          </p:val>
                                        </p:tav>
                                      </p:tavLst>
                                    </p:anim>
                                    <p:anim calcmode="lin" valueType="num">
                                      <p:cBhvr additive="base">
                                        <p:cTn id="3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ppt_x</p:attrName>
                                        </p:attrNameLst>
                                      </p:cBhvr>
                                      <p:tavLst>
                                        <p:tav tm="0">
                                          <p:val>
                                            <p:strVal val="1+#ppt_w/2"/>
                                          </p:val>
                                        </p:tav>
                                        <p:tav tm="100000">
                                          <p:val>
                                            <p:strVal val="#ppt_x"/>
                                          </p:val>
                                        </p:tav>
                                      </p:tavLst>
                                    </p:anim>
                                    <p:anim calcmode="lin" valueType="num">
                                      <p:cBhvr additive="base">
                                        <p:cTn id="4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down)">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10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1" nodeType="clickEffect">
                                  <p:stCondLst>
                                    <p:cond delay="0"/>
                                  </p:stCondLst>
                                  <p:childTnLst>
                                    <p:set>
                                      <p:cBhvr>
                                        <p:cTn id="67" dur="1" fill="hold">
                                          <p:stCondLst>
                                            <p:cond delay="0"/>
                                          </p:stCondLst>
                                        </p:cTn>
                                        <p:tgtEl>
                                          <p:spTgt spid="21"/>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grpId="1" nodeType="clickEffect">
                                  <p:stCondLst>
                                    <p:cond delay="0"/>
                                  </p:stCondLst>
                                  <p:childTnLst>
                                    <p:set>
                                      <p:cBhvr>
                                        <p:cTn id="81" dur="1" fill="hold">
                                          <p:stCondLst>
                                            <p:cond delay="0"/>
                                          </p:stCondLst>
                                        </p:cTn>
                                        <p:tgtEl>
                                          <p:spTgt spid="17"/>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2"/>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wipe(down)">
                                      <p:cBhvr>
                                        <p:cTn id="90" dur="500"/>
                                        <p:tgtEl>
                                          <p:spTgt spid="18"/>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18"/>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P spid="8" grpId="0"/>
      <p:bldP spid="10" grpId="0" animBg="1"/>
      <p:bldP spid="11" grpId="0"/>
      <p:bldP spid="12" grpId="0"/>
      <p:bldP spid="13" grpId="0" build="p"/>
      <p:bldP spid="14" grpId="0" animBg="1"/>
      <p:bldP spid="15" grpId="0"/>
      <p:bldP spid="16" grpId="0" animBg="1"/>
      <p:bldP spid="17" grpId="0" animBg="1"/>
      <p:bldP spid="17" grpId="1" animBg="1"/>
      <p:bldP spid="18" grpId="0" animBg="1"/>
      <p:bldP spid="18" grpId="1" animBg="1"/>
      <p:bldP spid="20" grpId="0" animBg="1"/>
      <p:bldP spid="21" grpId="0" animBg="1"/>
      <p:bldP spid="21" grpId="1" animBg="1"/>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20</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31" name="Rectangle 4"/>
          <p:cNvSpPr>
            <a:spLocks noChangeArrowheads="1"/>
          </p:cNvSpPr>
          <p:nvPr/>
        </p:nvSpPr>
        <p:spPr bwMode="auto">
          <a:xfrm>
            <a:off x="76200" y="-190500"/>
            <a:ext cx="8991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3500"/>
              <a:t>ADTs in </a:t>
            </a:r>
            <a:r>
              <a:rPr lang="en-US" sz="3500">
                <a:solidFill>
                  <a:srgbClr val="6600CC"/>
                </a:solidFill>
              </a:rPr>
              <a:t>C++</a:t>
            </a:r>
            <a:endParaRPr lang="en-US" sz="3500"/>
          </a:p>
        </p:txBody>
      </p:sp>
      <p:sp>
        <p:nvSpPr>
          <p:cNvPr id="32" name="Text Box 9"/>
          <p:cNvSpPr txBox="1">
            <a:spLocks noChangeArrowheads="1"/>
          </p:cNvSpPr>
          <p:nvPr/>
        </p:nvSpPr>
        <p:spPr bwMode="auto">
          <a:xfrm>
            <a:off x="150813" y="728663"/>
            <a:ext cx="88217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a:t>We can use </a:t>
            </a:r>
            <a:r>
              <a:rPr lang="en-US">
                <a:solidFill>
                  <a:srgbClr val="6600CC"/>
                </a:solidFill>
              </a:rPr>
              <a:t>C++ classes</a:t>
            </a:r>
            <a:r>
              <a:rPr lang="en-US"/>
              <a:t> to define ADTs in our C++ programs!</a:t>
            </a:r>
          </a:p>
          <a:p>
            <a:pPr algn="ctr" eaLnBrk="1" hangingPunct="1"/>
            <a:r>
              <a:rPr lang="en-US"/>
              <a:t>Each C++ class can hold </a:t>
            </a:r>
            <a:r>
              <a:rPr lang="en-US">
                <a:solidFill>
                  <a:srgbClr val="6600CC"/>
                </a:solidFill>
              </a:rPr>
              <a:t>algorithms</a:t>
            </a:r>
            <a:r>
              <a:rPr lang="en-US"/>
              <a:t>, </a:t>
            </a:r>
            <a:r>
              <a:rPr lang="en-US">
                <a:solidFill>
                  <a:srgbClr val="6600CC"/>
                </a:solidFill>
              </a:rPr>
              <a:t>data</a:t>
            </a:r>
            <a:r>
              <a:rPr lang="en-US"/>
              <a:t> and </a:t>
            </a:r>
            <a:r>
              <a:rPr lang="en-US">
                <a:solidFill>
                  <a:srgbClr val="6600CC"/>
                </a:solidFill>
              </a:rPr>
              <a:t>interface funcs</a:t>
            </a:r>
            <a:r>
              <a:rPr lang="en-US"/>
              <a:t>.</a:t>
            </a:r>
          </a:p>
        </p:txBody>
      </p:sp>
      <p:sp>
        <p:nvSpPr>
          <p:cNvPr id="33" name="Rectangle 30"/>
          <p:cNvSpPr>
            <a:spLocks noChangeArrowheads="1"/>
          </p:cNvSpPr>
          <p:nvPr/>
        </p:nvSpPr>
        <p:spPr bwMode="auto">
          <a:xfrm>
            <a:off x="176213" y="1633538"/>
            <a:ext cx="4419600" cy="4976812"/>
          </a:xfrm>
          <a:prstGeom prst="rect">
            <a:avLst/>
          </a:prstGeom>
          <a:solidFill>
            <a:srgbClr val="FFFFFF"/>
          </a:solidFill>
          <a:ln w="9525">
            <a:solidFill>
              <a:schemeClr val="tx1"/>
            </a:solidFill>
            <a:miter lim="800000"/>
            <a:headEnd/>
            <a:tailEnd/>
          </a:ln>
        </p:spPr>
        <p:txBody>
          <a:bodyPr wrap="none" anchor="ctr"/>
          <a:lstStyle/>
          <a:p>
            <a:r>
              <a:rPr lang="en-US" sz="1800" dirty="0" err="1"/>
              <a:t>int</a:t>
            </a:r>
            <a:r>
              <a:rPr lang="en-US" sz="1800" dirty="0"/>
              <a:t> main()</a:t>
            </a:r>
          </a:p>
          <a:p>
            <a:r>
              <a:rPr lang="en-US" sz="1800" dirty="0"/>
              <a:t>{</a:t>
            </a:r>
          </a:p>
          <a:p>
            <a:r>
              <a:rPr lang="en-US" sz="1800" dirty="0"/>
              <a:t>   </a:t>
            </a:r>
            <a:r>
              <a:rPr lang="en-US" sz="1800" dirty="0" err="1"/>
              <a:t>FriendFinder</a:t>
            </a:r>
            <a:r>
              <a:rPr lang="en-US" sz="1800" dirty="0"/>
              <a:t> x;</a:t>
            </a:r>
          </a:p>
          <a:p>
            <a:endParaRPr lang="en-US" sz="1800" dirty="0"/>
          </a:p>
          <a:p>
            <a:r>
              <a:rPr lang="en-US" sz="1800" dirty="0"/>
              <a:t>   </a:t>
            </a:r>
            <a:r>
              <a:rPr lang="en-US" sz="1800" dirty="0" err="1"/>
              <a:t>x.</a:t>
            </a:r>
            <a:r>
              <a:rPr lang="en-US" sz="1800" dirty="0" err="1">
                <a:solidFill>
                  <a:srgbClr val="9900FF"/>
                </a:solidFill>
              </a:rPr>
              <a:t>BecomeFriends</a:t>
            </a:r>
            <a:r>
              <a:rPr lang="en-US" sz="1800" dirty="0"/>
              <a:t>(“Carey Nash”,</a:t>
            </a:r>
            <a:br>
              <a:rPr lang="en-US" sz="1800" dirty="0"/>
            </a:br>
            <a:r>
              <a:rPr lang="en-US" sz="1800" dirty="0"/>
              <a:t>                              ”Scott Wilhelm”); </a:t>
            </a:r>
          </a:p>
          <a:p>
            <a:r>
              <a:rPr lang="en-US" sz="1800" dirty="0"/>
              <a:t>   </a:t>
            </a:r>
            <a:r>
              <a:rPr lang="en-US" sz="1800" dirty="0" err="1"/>
              <a:t>x.</a:t>
            </a:r>
            <a:r>
              <a:rPr lang="en-US" sz="1800" dirty="0" err="1">
                <a:solidFill>
                  <a:srgbClr val="9900FF"/>
                </a:solidFill>
              </a:rPr>
              <a:t>BecomeFriends</a:t>
            </a:r>
            <a:r>
              <a:rPr lang="en-US" sz="1800" dirty="0"/>
              <a:t>(“Jenny Oh”,</a:t>
            </a:r>
          </a:p>
          <a:p>
            <a:r>
              <a:rPr lang="en-US" sz="1800" dirty="0"/>
              <a:t>                              ”David Sun”);</a:t>
            </a:r>
          </a:p>
          <a:p>
            <a:r>
              <a:rPr lang="en-US" sz="1800" dirty="0"/>
              <a:t>   …</a:t>
            </a:r>
          </a:p>
          <a:p>
            <a:endParaRPr lang="en-US" sz="1800" dirty="0"/>
          </a:p>
          <a:p>
            <a:r>
              <a:rPr lang="en-US" sz="1800" dirty="0"/>
              <a:t>   string </a:t>
            </a:r>
            <a:r>
              <a:rPr lang="en-US" sz="1800" dirty="0" err="1"/>
              <a:t>userA</a:t>
            </a:r>
            <a:r>
              <a:rPr lang="en-US" sz="1800" dirty="0"/>
              <a:t>, </a:t>
            </a:r>
            <a:r>
              <a:rPr lang="en-US" sz="1800" dirty="0" err="1"/>
              <a:t>userB</a:t>
            </a:r>
            <a:r>
              <a:rPr lang="en-US" sz="1800" dirty="0"/>
              <a:t>;</a:t>
            </a:r>
          </a:p>
          <a:p>
            <a:endParaRPr lang="en-US" sz="1000" dirty="0"/>
          </a:p>
          <a:p>
            <a:r>
              <a:rPr lang="en-US" sz="1800" dirty="0"/>
              <a:t>   </a:t>
            </a:r>
            <a:r>
              <a:rPr lang="en-US" sz="1800" dirty="0" err="1"/>
              <a:t>cin</a:t>
            </a:r>
            <a:r>
              <a:rPr lang="en-US" sz="1800" dirty="0"/>
              <a:t> &gt;&gt; </a:t>
            </a:r>
            <a:r>
              <a:rPr lang="en-US" sz="1800" dirty="0" err="1"/>
              <a:t>userA</a:t>
            </a:r>
            <a:r>
              <a:rPr lang="en-US" sz="1800" dirty="0"/>
              <a:t> &gt;&gt; </a:t>
            </a:r>
            <a:r>
              <a:rPr lang="en-US" sz="1800" dirty="0" err="1"/>
              <a:t>userB</a:t>
            </a:r>
            <a:r>
              <a:rPr lang="en-US" sz="1800" dirty="0"/>
              <a:t>;</a:t>
            </a:r>
          </a:p>
          <a:p>
            <a:r>
              <a:rPr lang="en-US" sz="1800" dirty="0"/>
              <a:t>   if (</a:t>
            </a:r>
            <a:r>
              <a:rPr lang="en-US" sz="1800" dirty="0" err="1"/>
              <a:t>x.</a:t>
            </a:r>
            <a:r>
              <a:rPr lang="en-US" sz="1800" dirty="0" err="1">
                <a:solidFill>
                  <a:srgbClr val="9900FF"/>
                </a:solidFill>
              </a:rPr>
              <a:t>AreTheyFriends</a:t>
            </a:r>
            <a:r>
              <a:rPr lang="en-US" sz="1800" dirty="0"/>
              <a:t>(</a:t>
            </a:r>
            <a:r>
              <a:rPr lang="en-US" sz="1800" dirty="0" err="1"/>
              <a:t>userA</a:t>
            </a:r>
            <a:r>
              <a:rPr lang="en-US" sz="1800" dirty="0"/>
              <a:t>,</a:t>
            </a:r>
            <a:br>
              <a:rPr lang="en-US" sz="1800" dirty="0"/>
            </a:br>
            <a:r>
              <a:rPr lang="en-US" sz="1800" dirty="0"/>
              <a:t>                                    </a:t>
            </a:r>
            <a:r>
              <a:rPr lang="en-US" sz="1800" dirty="0" err="1"/>
              <a:t>userB</a:t>
            </a:r>
            <a:r>
              <a:rPr lang="en-US" sz="1800" dirty="0"/>
              <a:t>) == true)</a:t>
            </a:r>
          </a:p>
          <a:p>
            <a:r>
              <a:rPr lang="en-US" sz="1800" dirty="0"/>
              <a:t>      </a:t>
            </a:r>
            <a:r>
              <a:rPr lang="en-US" sz="1800" dirty="0" err="1"/>
              <a:t>cout</a:t>
            </a:r>
            <a:r>
              <a:rPr lang="en-US" sz="1800" dirty="0"/>
              <a:t> &lt;&lt; </a:t>
            </a:r>
            <a:r>
              <a:rPr lang="en-US" sz="1800" dirty="0" err="1"/>
              <a:t>userA</a:t>
            </a:r>
            <a:r>
              <a:rPr lang="en-US" sz="1800" dirty="0"/>
              <a:t> &lt;&lt; “ is friends with “ </a:t>
            </a:r>
            <a:br>
              <a:rPr lang="en-US" sz="1800" dirty="0"/>
            </a:br>
            <a:r>
              <a:rPr lang="en-US" sz="1800" dirty="0"/>
              <a:t>             &lt;&lt; </a:t>
            </a:r>
            <a:r>
              <a:rPr lang="en-US" sz="1800" dirty="0" err="1"/>
              <a:t>userB</a:t>
            </a:r>
            <a:r>
              <a:rPr lang="en-US" sz="1800" dirty="0"/>
              <a:t>;</a:t>
            </a:r>
          </a:p>
          <a:p>
            <a:r>
              <a:rPr lang="en-US" sz="1800" dirty="0"/>
              <a:t>}</a:t>
            </a:r>
          </a:p>
        </p:txBody>
      </p:sp>
      <p:sp>
        <p:nvSpPr>
          <p:cNvPr id="34" name="Rectangle 31"/>
          <p:cNvSpPr>
            <a:spLocks noChangeArrowheads="1"/>
          </p:cNvSpPr>
          <p:nvPr/>
        </p:nvSpPr>
        <p:spPr bwMode="auto">
          <a:xfrm>
            <a:off x="4500563" y="1651000"/>
            <a:ext cx="4730750" cy="510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dirty="0"/>
              <a:t>Once we’ve defined our class, </a:t>
            </a:r>
            <a:br>
              <a:rPr lang="en-US" dirty="0"/>
            </a:br>
            <a:r>
              <a:rPr lang="en-US" dirty="0"/>
              <a:t>the rest of our program can use</a:t>
            </a:r>
            <a:br>
              <a:rPr lang="en-US" dirty="0"/>
            </a:br>
            <a:r>
              <a:rPr lang="en-US" dirty="0"/>
              <a:t>it trivially.</a:t>
            </a:r>
          </a:p>
          <a:p>
            <a:pPr algn="ctr"/>
            <a:endParaRPr lang="en-US" sz="2100" dirty="0"/>
          </a:p>
          <a:p>
            <a:pPr algn="ctr"/>
            <a:r>
              <a:rPr lang="en-US" sz="2100" dirty="0"/>
              <a:t>All our program needs to do is</a:t>
            </a:r>
            <a:br>
              <a:rPr lang="en-US" sz="2100" dirty="0"/>
            </a:br>
            <a:r>
              <a:rPr lang="en-US" sz="2100" dirty="0"/>
              <a:t>call the functions in our class’s</a:t>
            </a:r>
            <a:br>
              <a:rPr lang="en-US" sz="2100" dirty="0"/>
            </a:br>
            <a:r>
              <a:rPr lang="en-US" sz="2100" dirty="0"/>
              <a:t>public </a:t>
            </a:r>
            <a:r>
              <a:rPr lang="en-US" sz="2100" dirty="0">
                <a:solidFill>
                  <a:srgbClr val="7030A0"/>
                </a:solidFill>
              </a:rPr>
              <a:t>interface</a:t>
            </a:r>
            <a:r>
              <a:rPr lang="en-US" sz="2100" dirty="0"/>
              <a:t>!</a:t>
            </a:r>
          </a:p>
          <a:p>
            <a:pPr algn="ctr"/>
            <a:endParaRPr lang="en-US" sz="2100" dirty="0"/>
          </a:p>
          <a:p>
            <a:pPr algn="ctr"/>
            <a:r>
              <a:rPr lang="en-US" dirty="0"/>
              <a:t>And yet all of its underlying </a:t>
            </a:r>
            <a:r>
              <a:rPr lang="en-US" dirty="0">
                <a:solidFill>
                  <a:schemeClr val="accent2"/>
                </a:solidFill>
              </a:rPr>
              <a:t>data</a:t>
            </a:r>
            <a:r>
              <a:rPr lang="en-US" dirty="0"/>
              <a:t> </a:t>
            </a:r>
            <a:br>
              <a:rPr lang="en-US" dirty="0"/>
            </a:br>
            <a:r>
              <a:rPr lang="en-US" dirty="0">
                <a:solidFill>
                  <a:schemeClr val="accent2"/>
                </a:solidFill>
              </a:rPr>
              <a:t>structures</a:t>
            </a:r>
            <a:r>
              <a:rPr lang="en-US" dirty="0"/>
              <a:t> and </a:t>
            </a:r>
            <a:r>
              <a:rPr lang="en-US" dirty="0">
                <a:solidFill>
                  <a:schemeClr val="accent2"/>
                </a:solidFill>
              </a:rPr>
              <a:t>algorithms</a:t>
            </a:r>
            <a:r>
              <a:rPr lang="en-US" dirty="0"/>
              <a:t> are </a:t>
            </a:r>
            <a:r>
              <a:rPr lang="en-US" dirty="0">
                <a:solidFill>
                  <a:srgbClr val="006666"/>
                </a:solidFill>
              </a:rPr>
              <a:t>hidden</a:t>
            </a:r>
            <a:r>
              <a:rPr lang="en-US" dirty="0"/>
              <a:t>!</a:t>
            </a:r>
          </a:p>
          <a:p>
            <a:pPr algn="ctr"/>
            <a:endParaRPr lang="en-US" sz="1900" dirty="0"/>
          </a:p>
          <a:p>
            <a:pPr algn="ctr"/>
            <a:r>
              <a:rPr lang="en-US" dirty="0"/>
              <a:t>The rest of the program can ignore</a:t>
            </a:r>
            <a:br>
              <a:rPr lang="en-US" dirty="0"/>
            </a:br>
            <a:r>
              <a:rPr lang="en-US" dirty="0"/>
              <a:t>the details of how our class works </a:t>
            </a:r>
            <a:br>
              <a:rPr lang="en-US" dirty="0"/>
            </a:br>
            <a:r>
              <a:rPr lang="en-US" dirty="0"/>
              <a:t>and just use its features!</a:t>
            </a:r>
          </a:p>
          <a:p>
            <a:pPr algn="ctr"/>
            <a:endParaRPr lang="en-US" dirty="0"/>
          </a:p>
          <a:p>
            <a:pPr algn="ctr"/>
            <a:r>
              <a:rPr lang="en-US" dirty="0"/>
              <a:t>This is the </a:t>
            </a:r>
            <a:r>
              <a:rPr lang="en-US" dirty="0">
                <a:solidFill>
                  <a:srgbClr val="006666"/>
                </a:solidFill>
              </a:rPr>
              <a:t>power</a:t>
            </a:r>
            <a:r>
              <a:rPr lang="en-US" dirty="0"/>
              <a:t> of the ADT/class!</a:t>
            </a:r>
          </a:p>
        </p:txBody>
      </p:sp>
      <p:sp>
        <p:nvSpPr>
          <p:cNvPr id="35" name="Text Box 32"/>
          <p:cNvSpPr txBox="1">
            <a:spLocks noChangeArrowheads="1"/>
          </p:cNvSpPr>
          <p:nvPr/>
        </p:nvSpPr>
        <p:spPr bwMode="auto">
          <a:xfrm>
            <a:off x="2057400" y="2822575"/>
            <a:ext cx="274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t> </a:t>
            </a:r>
          </a:p>
        </p:txBody>
      </p:sp>
      <p:sp>
        <p:nvSpPr>
          <p:cNvPr id="36" name="Text Box 33"/>
          <p:cNvSpPr txBox="1">
            <a:spLocks noChangeArrowheads="1"/>
          </p:cNvSpPr>
          <p:nvPr/>
        </p:nvSpPr>
        <p:spPr bwMode="auto">
          <a:xfrm>
            <a:off x="4867275" y="2082800"/>
            <a:ext cx="274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t> </a:t>
            </a:r>
          </a:p>
        </p:txBody>
      </p:sp>
      <p:sp>
        <p:nvSpPr>
          <p:cNvPr id="37" name="Text Box 34"/>
          <p:cNvSpPr txBox="1">
            <a:spLocks noChangeArrowheads="1"/>
          </p:cNvSpPr>
          <p:nvPr/>
        </p:nvSpPr>
        <p:spPr bwMode="auto">
          <a:xfrm>
            <a:off x="5057775" y="3024188"/>
            <a:ext cx="274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t> </a:t>
            </a:r>
          </a:p>
        </p:txBody>
      </p:sp>
      <p:sp>
        <p:nvSpPr>
          <p:cNvPr id="38" name="Text Box 35"/>
          <p:cNvSpPr txBox="1">
            <a:spLocks noChangeArrowheads="1"/>
          </p:cNvSpPr>
          <p:nvPr/>
        </p:nvSpPr>
        <p:spPr bwMode="auto">
          <a:xfrm>
            <a:off x="2959100" y="5114925"/>
            <a:ext cx="274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a:t> </a:t>
            </a:r>
          </a:p>
        </p:txBody>
      </p:sp>
      <p:cxnSp>
        <p:nvCxnSpPr>
          <p:cNvPr id="39" name="AutoShape 36"/>
          <p:cNvCxnSpPr>
            <a:cxnSpLocks noChangeShapeType="1"/>
          </p:cNvCxnSpPr>
          <p:nvPr/>
        </p:nvCxnSpPr>
        <p:spPr bwMode="auto">
          <a:xfrm rot="10800000" flipV="1">
            <a:off x="2195513" y="2311400"/>
            <a:ext cx="2671762" cy="511175"/>
          </a:xfrm>
          <a:prstGeom prst="curvedConnector2">
            <a:avLst/>
          </a:prstGeom>
          <a:noFill/>
          <a:ln w="25400">
            <a:solidFill>
              <a:srgbClr val="800080"/>
            </a:solidFill>
            <a:round/>
            <a:headEnd/>
            <a:tailEnd type="triangle" w="lg" len="lg"/>
          </a:ln>
          <a:extLst>
            <a:ext uri="{909E8E84-426E-40DD-AFC4-6F175D3DCCD1}">
              <a14:hiddenFill xmlns:a14="http://schemas.microsoft.com/office/drawing/2010/main">
                <a:noFill/>
              </a14:hiddenFill>
            </a:ext>
          </a:extLst>
        </p:spPr>
      </p:cxnSp>
      <p:cxnSp>
        <p:nvCxnSpPr>
          <p:cNvPr id="40" name="AutoShape 37"/>
          <p:cNvCxnSpPr>
            <a:cxnSpLocks noChangeShapeType="1"/>
          </p:cNvCxnSpPr>
          <p:nvPr/>
        </p:nvCxnSpPr>
        <p:spPr bwMode="auto">
          <a:xfrm rot="10800000" flipV="1">
            <a:off x="3097213" y="3252788"/>
            <a:ext cx="1960562" cy="1862137"/>
          </a:xfrm>
          <a:prstGeom prst="curvedConnector2">
            <a:avLst/>
          </a:prstGeom>
          <a:noFill/>
          <a:ln w="25400">
            <a:solidFill>
              <a:srgbClr val="800080"/>
            </a:solidFill>
            <a:round/>
            <a:headEnd/>
            <a:tailEnd type="triangle" w="lg" len="lg"/>
          </a:ln>
          <a:extLst>
            <a:ext uri="{909E8E84-426E-40DD-AFC4-6F175D3DCCD1}">
              <a14:hiddenFill xmlns:a14="http://schemas.microsoft.com/office/drawing/2010/main">
                <a:noFill/>
              </a14:hiddenFill>
            </a:ext>
          </a:extLst>
        </p:spPr>
      </p:cxnSp>
      <p:sp>
        <p:nvSpPr>
          <p:cNvPr id="41" name="Rectangle 30"/>
          <p:cNvSpPr>
            <a:spLocks noChangeArrowheads="1"/>
          </p:cNvSpPr>
          <p:nvPr/>
        </p:nvSpPr>
        <p:spPr bwMode="auto">
          <a:xfrm>
            <a:off x="5175250" y="1579563"/>
            <a:ext cx="3921125" cy="4585710"/>
          </a:xfrm>
          <a:prstGeom prst="rect">
            <a:avLst/>
          </a:prstGeom>
          <a:solidFill>
            <a:srgbClr val="CCFF99"/>
          </a:solidFill>
          <a:ln w="9525">
            <a:solidFill>
              <a:schemeClr val="tx1"/>
            </a:solidFill>
            <a:miter lim="800000"/>
            <a:headEnd/>
            <a:tailEnd/>
          </a:ln>
        </p:spPr>
        <p:txBody>
          <a:bodyPr wrap="none" anchor="ctr"/>
          <a:lstStyle/>
          <a:p>
            <a:r>
              <a:rPr lang="en-US" sz="1800" dirty="0"/>
              <a:t>// define a C++ class for friends</a:t>
            </a:r>
          </a:p>
          <a:p>
            <a:r>
              <a:rPr lang="en-US" sz="1800" dirty="0"/>
              <a:t>// (this is really an ADT!)</a:t>
            </a:r>
          </a:p>
          <a:p>
            <a:endParaRPr lang="en-US" sz="1000" dirty="0"/>
          </a:p>
          <a:p>
            <a:r>
              <a:rPr lang="en-US" sz="1800" dirty="0"/>
              <a:t>class </a:t>
            </a:r>
            <a:r>
              <a:rPr lang="en-US" sz="1800" dirty="0" err="1"/>
              <a:t>FriendFinder</a:t>
            </a:r>
            <a:endParaRPr lang="en-US" sz="1800" dirty="0"/>
          </a:p>
          <a:p>
            <a:r>
              <a:rPr lang="en-US" sz="1800" dirty="0"/>
              <a:t>{</a:t>
            </a:r>
          </a:p>
          <a:p>
            <a:r>
              <a:rPr lang="en-US" sz="1800" dirty="0">
                <a:solidFill>
                  <a:srgbClr val="FF0000"/>
                </a:solidFill>
              </a:rPr>
              <a:t>public:</a:t>
            </a:r>
          </a:p>
          <a:p>
            <a:r>
              <a:rPr lang="en-US" sz="1800" dirty="0"/>
              <a:t> </a:t>
            </a:r>
          </a:p>
          <a:p>
            <a:r>
              <a:rPr lang="en-US" sz="1800" dirty="0"/>
              <a:t> </a:t>
            </a:r>
          </a:p>
          <a:p>
            <a:endParaRPr lang="en-US" sz="1800" dirty="0"/>
          </a:p>
          <a:p>
            <a:endParaRPr lang="en-US" sz="1800" dirty="0"/>
          </a:p>
          <a:p>
            <a:r>
              <a:rPr lang="en-US" sz="1800" dirty="0">
                <a:solidFill>
                  <a:srgbClr val="FF0000"/>
                </a:solidFill>
              </a:rPr>
              <a:t>private:</a:t>
            </a:r>
          </a:p>
          <a:p>
            <a:endParaRPr lang="en-US" sz="1800" dirty="0">
              <a:solidFill>
                <a:srgbClr val="6600CC"/>
              </a:solidFill>
            </a:endParaRPr>
          </a:p>
          <a:p>
            <a:r>
              <a:rPr lang="en-US" sz="1800" dirty="0">
                <a:solidFill>
                  <a:srgbClr val="6600CC"/>
                </a:solidFill>
              </a:rPr>
              <a:t>   </a:t>
            </a:r>
          </a:p>
          <a:p>
            <a:r>
              <a:rPr lang="en-US" sz="1800" dirty="0">
                <a:solidFill>
                  <a:srgbClr val="6600CC"/>
                </a:solidFill>
              </a:rPr>
              <a:t>   </a:t>
            </a:r>
          </a:p>
          <a:p>
            <a:endParaRPr lang="en-US" sz="1800" dirty="0">
              <a:solidFill>
                <a:srgbClr val="6600CC"/>
              </a:solidFill>
            </a:endParaRPr>
          </a:p>
          <a:p>
            <a:endParaRPr lang="en-US" sz="1800" dirty="0">
              <a:solidFill>
                <a:srgbClr val="6600CC"/>
              </a:solidFill>
            </a:endParaRPr>
          </a:p>
          <a:p>
            <a:r>
              <a:rPr lang="en-US" sz="1800" dirty="0"/>
              <a:t>};</a:t>
            </a:r>
          </a:p>
        </p:txBody>
      </p:sp>
      <p:sp>
        <p:nvSpPr>
          <p:cNvPr id="42" name="Rectangle 15"/>
          <p:cNvSpPr>
            <a:spLocks noChangeArrowheads="1"/>
          </p:cNvSpPr>
          <p:nvPr/>
        </p:nvSpPr>
        <p:spPr bwMode="auto">
          <a:xfrm>
            <a:off x="5241925" y="3121900"/>
            <a:ext cx="45720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800" dirty="0"/>
              <a:t> </a:t>
            </a:r>
            <a:r>
              <a:rPr lang="en-US" sz="1800" dirty="0">
                <a:solidFill>
                  <a:srgbClr val="6600CC"/>
                </a:solidFill>
              </a:rPr>
              <a:t>// our interface functions go here</a:t>
            </a:r>
          </a:p>
          <a:p>
            <a:r>
              <a:rPr lang="en-US" sz="1800" dirty="0"/>
              <a:t> void </a:t>
            </a:r>
            <a:r>
              <a:rPr lang="en-US" sz="1800" dirty="0" err="1"/>
              <a:t>BecomeFriends</a:t>
            </a:r>
            <a:r>
              <a:rPr lang="en-US" sz="1800" dirty="0"/>
              <a:t>(…);</a:t>
            </a:r>
          </a:p>
          <a:p>
            <a:r>
              <a:rPr lang="en-US" sz="1800" dirty="0"/>
              <a:t> void </a:t>
            </a:r>
            <a:r>
              <a:rPr lang="en-US" sz="1800" dirty="0" err="1"/>
              <a:t>AreTheyFriends</a:t>
            </a:r>
            <a:r>
              <a:rPr lang="en-US" sz="1800" dirty="0"/>
              <a:t>(…);</a:t>
            </a:r>
          </a:p>
          <a:p>
            <a:r>
              <a:rPr lang="en-US" sz="1800" dirty="0"/>
              <a:t>   ...</a:t>
            </a:r>
          </a:p>
        </p:txBody>
      </p:sp>
      <p:sp>
        <p:nvSpPr>
          <p:cNvPr id="43" name="Rectangle 16"/>
          <p:cNvSpPr>
            <a:spLocks noChangeArrowheads="1"/>
          </p:cNvSpPr>
          <p:nvPr/>
        </p:nvSpPr>
        <p:spPr bwMode="auto">
          <a:xfrm>
            <a:off x="5322888" y="4545888"/>
            <a:ext cx="3244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 secret algorithms go here</a:t>
            </a:r>
          </a:p>
          <a:p>
            <a:r>
              <a:rPr lang="en-US" sz="1800" dirty="0">
                <a:solidFill>
                  <a:srgbClr val="6600CC"/>
                </a:solidFill>
              </a:rPr>
              <a:t>…</a:t>
            </a:r>
          </a:p>
        </p:txBody>
      </p:sp>
      <p:sp>
        <p:nvSpPr>
          <p:cNvPr id="44" name="Rectangle 17"/>
          <p:cNvSpPr>
            <a:spLocks noChangeArrowheads="1"/>
          </p:cNvSpPr>
          <p:nvPr/>
        </p:nvSpPr>
        <p:spPr bwMode="auto">
          <a:xfrm>
            <a:off x="5260975" y="5240058"/>
            <a:ext cx="3806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solidFill>
                  <a:srgbClr val="6600CC"/>
                </a:solidFill>
              </a:rPr>
              <a:t>// secret data structures go here</a:t>
            </a:r>
          </a:p>
          <a:p>
            <a:r>
              <a:rPr lang="en-US" sz="1800" dirty="0">
                <a:solidFill>
                  <a:srgbClr val="6600CC"/>
                </a:solidFill>
              </a:rPr>
              <a:t>…</a:t>
            </a:r>
          </a:p>
        </p:txBody>
      </p:sp>
      <p:pic>
        <p:nvPicPr>
          <p:cNvPr id="45" name="Picture 40" descr="BS00365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7788" y="1654175"/>
            <a:ext cx="12160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 name="Group 47"/>
          <p:cNvGrpSpPr>
            <a:grpSpLocks/>
          </p:cNvGrpSpPr>
          <p:nvPr/>
        </p:nvGrpSpPr>
        <p:grpSpPr bwMode="auto">
          <a:xfrm>
            <a:off x="2255838" y="152400"/>
            <a:ext cx="3154362" cy="2111375"/>
            <a:chOff x="1421" y="96"/>
            <a:chExt cx="1987" cy="1330"/>
          </a:xfrm>
        </p:grpSpPr>
        <p:sp>
          <p:nvSpPr>
            <p:cNvPr id="47" name="Rectangle 41"/>
            <p:cNvSpPr>
              <a:spLocks noChangeArrowheads="1"/>
            </p:cNvSpPr>
            <p:nvPr/>
          </p:nvSpPr>
          <p:spPr bwMode="auto">
            <a:xfrm>
              <a:off x="1421" y="96"/>
              <a:ext cx="1987" cy="1330"/>
            </a:xfrm>
            <a:prstGeom prst="rect">
              <a:avLst/>
            </a:prstGeom>
            <a:solidFill>
              <a:schemeClr val="accent1"/>
            </a:solidFill>
            <a:ln w="9525">
              <a:solidFill>
                <a:schemeClr val="tx1"/>
              </a:solidFill>
              <a:miter lim="800000"/>
              <a:headEnd/>
              <a:tailEnd/>
            </a:ln>
          </p:spPr>
          <p:txBody>
            <a:bodyPr wrap="none" anchor="ctr"/>
            <a:lstStyle/>
            <a:p>
              <a:endParaRPr lang="en-US" sz="2400"/>
            </a:p>
          </p:txBody>
        </p:sp>
        <p:grpSp>
          <p:nvGrpSpPr>
            <p:cNvPr id="48" name="Group 42"/>
            <p:cNvGrpSpPr>
              <a:grpSpLocks/>
            </p:cNvGrpSpPr>
            <p:nvPr/>
          </p:nvGrpSpPr>
          <p:grpSpPr bwMode="auto">
            <a:xfrm>
              <a:off x="1445" y="452"/>
              <a:ext cx="1890" cy="928"/>
              <a:chOff x="135" y="1451"/>
              <a:chExt cx="1890" cy="928"/>
            </a:xfrm>
          </p:grpSpPr>
          <p:sp>
            <p:nvSpPr>
              <p:cNvPr id="50" name="Text Box 43"/>
              <p:cNvSpPr txBox="1">
                <a:spLocks noChangeArrowheads="1"/>
              </p:cNvSpPr>
              <p:nvPr/>
            </p:nvSpPr>
            <p:spPr bwMode="auto">
              <a:xfrm>
                <a:off x="135" y="1452"/>
                <a:ext cx="969" cy="757"/>
              </a:xfrm>
              <a:prstGeom prst="rect">
                <a:avLst/>
              </a:prstGeom>
              <a:solidFill>
                <a:srgbClr val="FFFFE1"/>
              </a:solidFill>
              <a:ln w="9525">
                <a:solidFill>
                  <a:schemeClr val="tx1"/>
                </a:solidFill>
                <a:miter lim="800000"/>
                <a:headEnd/>
                <a:tailEnd/>
              </a:ln>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800" u="sng">
                    <a:solidFill>
                      <a:srgbClr val="800000"/>
                    </a:solidFill>
                  </a:rPr>
                  <a:t>User</a:t>
                </a:r>
                <a:r>
                  <a:rPr lang="en-US" sz="800" u="sng"/>
                  <a:t> 	</a:t>
                </a:r>
                <a:r>
                  <a:rPr lang="en-US" sz="800" u="sng">
                    <a:solidFill>
                      <a:srgbClr val="006666"/>
                    </a:solidFill>
                  </a:rPr>
                  <a:t>Number</a:t>
                </a:r>
              </a:p>
              <a:p>
                <a:pPr eaLnBrk="1" hangingPunct="1"/>
                <a:r>
                  <a:rPr lang="en-US" sz="800">
                    <a:solidFill>
                      <a:srgbClr val="800000"/>
                    </a:solidFill>
                  </a:rPr>
                  <a:t>Carey Nash</a:t>
                </a:r>
                <a:r>
                  <a:rPr lang="en-US" sz="800"/>
                  <a:t> 	</a:t>
                </a:r>
                <a:r>
                  <a:rPr lang="en-US" sz="800">
                    <a:solidFill>
                      <a:srgbClr val="006666"/>
                    </a:solidFill>
                  </a:rPr>
                  <a:t>0</a:t>
                </a:r>
              </a:p>
              <a:p>
                <a:pPr eaLnBrk="1" hangingPunct="1"/>
                <a:r>
                  <a:rPr lang="en-US" sz="800">
                    <a:solidFill>
                      <a:srgbClr val="800000"/>
                    </a:solidFill>
                  </a:rPr>
                  <a:t>Scott Wilhelm</a:t>
                </a:r>
                <a:r>
                  <a:rPr lang="en-US" sz="800">
                    <a:solidFill>
                      <a:srgbClr val="006666"/>
                    </a:solidFill>
                  </a:rPr>
                  <a:t>	1</a:t>
                </a:r>
              </a:p>
              <a:p>
                <a:pPr eaLnBrk="1" hangingPunct="1"/>
                <a:r>
                  <a:rPr lang="en-US" sz="800">
                    <a:solidFill>
                      <a:srgbClr val="800000"/>
                    </a:solidFill>
                  </a:rPr>
                  <a:t>David Smallberg</a:t>
                </a:r>
                <a:r>
                  <a:rPr lang="en-US" sz="800">
                    <a:solidFill>
                      <a:srgbClr val="006666"/>
                    </a:solidFill>
                  </a:rPr>
                  <a:t>	2</a:t>
                </a:r>
              </a:p>
              <a:p>
                <a:pPr eaLnBrk="1" hangingPunct="1"/>
                <a:r>
                  <a:rPr lang="en-US" sz="800">
                    <a:solidFill>
                      <a:srgbClr val="800000"/>
                    </a:solidFill>
                  </a:rPr>
                  <a:t>Danny Hsu</a:t>
                </a:r>
                <a:r>
                  <a:rPr lang="en-US" sz="800"/>
                  <a:t> 	</a:t>
                </a:r>
                <a:r>
                  <a:rPr lang="en-US" sz="800">
                    <a:solidFill>
                      <a:srgbClr val="006666"/>
                    </a:solidFill>
                  </a:rPr>
                  <a:t>3</a:t>
                </a:r>
                <a:br>
                  <a:rPr lang="en-US" sz="800"/>
                </a:br>
                <a:r>
                  <a:rPr lang="en-US" sz="800">
                    <a:solidFill>
                      <a:srgbClr val="800000"/>
                    </a:solidFill>
                  </a:rPr>
                  <a:t>Jenny</a:t>
                </a:r>
                <a:r>
                  <a:rPr lang="en-US" sz="800"/>
                  <a:t> </a:t>
                </a:r>
                <a:r>
                  <a:rPr lang="en-US" sz="800">
                    <a:solidFill>
                      <a:srgbClr val="800000"/>
                    </a:solidFill>
                  </a:rPr>
                  <a:t>Oh</a:t>
                </a:r>
                <a:r>
                  <a:rPr lang="en-US" sz="800">
                    <a:solidFill>
                      <a:srgbClr val="006666"/>
                    </a:solidFill>
                  </a:rPr>
                  <a:t>	4</a:t>
                </a:r>
              </a:p>
              <a:p>
                <a:pPr eaLnBrk="1" hangingPunct="1"/>
                <a:r>
                  <a:rPr lang="en-US" sz="800">
                    <a:solidFill>
                      <a:srgbClr val="800000"/>
                    </a:solidFill>
                  </a:rPr>
                  <a:t>Rich</a:t>
                </a:r>
                <a:r>
                  <a:rPr lang="en-US" sz="800"/>
                  <a:t> </a:t>
                </a:r>
                <a:r>
                  <a:rPr lang="en-US" sz="800">
                    <a:solidFill>
                      <a:srgbClr val="800000"/>
                    </a:solidFill>
                  </a:rPr>
                  <a:t>Lim</a:t>
                </a:r>
                <a:r>
                  <a:rPr lang="en-US" sz="800">
                    <a:solidFill>
                      <a:srgbClr val="006666"/>
                    </a:solidFill>
                  </a:rPr>
                  <a:t>	5</a:t>
                </a:r>
              </a:p>
              <a:p>
                <a:pPr eaLnBrk="1" hangingPunct="1"/>
                <a:r>
                  <a:rPr lang="en-US" sz="800">
                    <a:solidFill>
                      <a:srgbClr val="800000"/>
                    </a:solidFill>
                  </a:rPr>
                  <a:t>David</a:t>
                </a:r>
                <a:r>
                  <a:rPr lang="en-US" sz="800"/>
                  <a:t> </a:t>
                </a:r>
                <a:r>
                  <a:rPr lang="en-US" sz="800">
                    <a:solidFill>
                      <a:srgbClr val="800000"/>
                    </a:solidFill>
                  </a:rPr>
                  <a:t>Sun</a:t>
                </a:r>
                <a:r>
                  <a:rPr lang="en-US" sz="800">
                    <a:solidFill>
                      <a:srgbClr val="006666"/>
                    </a:solidFill>
                  </a:rPr>
                  <a:t>	6</a:t>
                </a:r>
              </a:p>
              <a:p>
                <a:pPr eaLnBrk="1" hangingPunct="1"/>
                <a:r>
                  <a:rPr lang="en-US" sz="800">
                    <a:solidFill>
                      <a:srgbClr val="800000"/>
                    </a:solidFill>
                  </a:rPr>
                  <a:t>…</a:t>
                </a:r>
                <a:endParaRPr lang="en-US" sz="800">
                  <a:solidFill>
                    <a:srgbClr val="006666"/>
                  </a:solidFill>
                </a:endParaRPr>
              </a:p>
            </p:txBody>
          </p:sp>
          <p:pic>
            <p:nvPicPr>
              <p:cNvPr id="51" name="Picture 4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0" y="1451"/>
                <a:ext cx="895" cy="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45"/>
              <p:cNvSpPr txBox="1">
                <a:spLocks noChangeArrowheads="1"/>
              </p:cNvSpPr>
              <p:nvPr/>
            </p:nvSpPr>
            <p:spPr bwMode="auto">
              <a:xfrm>
                <a:off x="397" y="2007"/>
                <a:ext cx="1429" cy="372"/>
              </a:xfrm>
              <a:prstGeom prst="rect">
                <a:avLst/>
              </a:prstGeom>
              <a:solidFill>
                <a:srgbClr val="CCFFCC"/>
              </a:solidFill>
              <a:ln w="9525">
                <a:solidFill>
                  <a:schemeClr val="tx1"/>
                </a:solidFill>
                <a:miter lim="800000"/>
                <a:headEnd/>
                <a:tailEnd/>
              </a:ln>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800"/>
                  <a:t>Friend-finding Algorithm:</a:t>
                </a:r>
              </a:p>
              <a:p>
                <a:pPr eaLnBrk="1" hangingPunct="1"/>
                <a:r>
                  <a:rPr lang="en-US" sz="800"/>
                  <a:t>1. Look up their numbers </a:t>
                </a:r>
                <a:r>
                  <a:rPr lang="en-US" sz="800">
                    <a:solidFill>
                      <a:srgbClr val="6600CC"/>
                    </a:solidFill>
                  </a:rPr>
                  <a:t>A</a:t>
                </a:r>
                <a:r>
                  <a:rPr lang="en-US" sz="800"/>
                  <a:t>, </a:t>
                </a:r>
                <a:r>
                  <a:rPr lang="en-US" sz="800">
                    <a:solidFill>
                      <a:srgbClr val="6600CC"/>
                    </a:solidFill>
                  </a:rPr>
                  <a:t>B</a:t>
                </a:r>
              </a:p>
              <a:p>
                <a:pPr eaLnBrk="1" hangingPunct="1"/>
                <a:r>
                  <a:rPr lang="en-US" sz="800"/>
                  <a:t>2. Check (</a:t>
                </a:r>
                <a:r>
                  <a:rPr lang="en-US" sz="800">
                    <a:solidFill>
                      <a:srgbClr val="6600CC"/>
                    </a:solidFill>
                  </a:rPr>
                  <a:t>A</a:t>
                </a:r>
                <a:r>
                  <a:rPr lang="en-US" sz="800"/>
                  <a:t>,</a:t>
                </a:r>
                <a:r>
                  <a:rPr lang="en-US" sz="800">
                    <a:solidFill>
                      <a:srgbClr val="6600CC"/>
                    </a:solidFill>
                  </a:rPr>
                  <a:t>B</a:t>
                </a:r>
                <a:r>
                  <a:rPr lang="en-US" sz="800"/>
                  <a:t>) </a:t>
                </a:r>
                <a:r>
                  <a:rPr lang="en-US" sz="800" i="1"/>
                  <a:t>or</a:t>
                </a:r>
                <a:r>
                  <a:rPr lang="en-US" sz="800"/>
                  <a:t> (</a:t>
                </a:r>
                <a:r>
                  <a:rPr lang="en-US" sz="800">
                    <a:solidFill>
                      <a:srgbClr val="6600CC"/>
                    </a:solidFill>
                  </a:rPr>
                  <a:t>B</a:t>
                </a:r>
                <a:r>
                  <a:rPr lang="en-US" sz="800"/>
                  <a:t>,</a:t>
                </a:r>
                <a:r>
                  <a:rPr lang="en-US" sz="800">
                    <a:solidFill>
                      <a:srgbClr val="6600CC"/>
                    </a:solidFill>
                  </a:rPr>
                  <a:t>A</a:t>
                </a:r>
                <a:r>
                  <a:rPr lang="en-US" sz="800"/>
                  <a:t>) in our array</a:t>
                </a:r>
              </a:p>
              <a:p>
                <a:pPr eaLnBrk="1" hangingPunct="1"/>
                <a:r>
                  <a:rPr lang="en-US" sz="800"/>
                  <a:t>3. If we find a </a:t>
                </a:r>
                <a:r>
                  <a:rPr lang="en-US" sz="800">
                    <a:solidFill>
                      <a:srgbClr val="6600CC"/>
                    </a:solidFill>
                  </a:rPr>
                  <a:t>*</a:t>
                </a:r>
                <a:r>
                  <a:rPr lang="en-US" sz="800"/>
                  <a:t>, they’re buddies!</a:t>
                </a:r>
              </a:p>
            </p:txBody>
          </p:sp>
        </p:grpSp>
        <p:pic>
          <p:nvPicPr>
            <p:cNvPr id="49" name="Picture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 y="146"/>
              <a:ext cx="85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 name="Rectangle 50"/>
          <p:cNvSpPr>
            <a:spLocks noChangeArrowheads="1"/>
          </p:cNvSpPr>
          <p:nvPr/>
        </p:nvSpPr>
        <p:spPr bwMode="auto">
          <a:xfrm>
            <a:off x="2286000" y="609600"/>
            <a:ext cx="3108325" cy="1638300"/>
          </a:xfrm>
          <a:prstGeom prst="rect">
            <a:avLst/>
          </a:prstGeom>
          <a:solidFill>
            <a:schemeClr val="accent1">
              <a:alpha val="7803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2400"/>
          </a:p>
        </p:txBody>
      </p:sp>
    </p:spTree>
    <p:extLst>
      <p:ext uri="{BB962C8B-B14F-4D97-AF65-F5344CB8AC3E}">
        <p14:creationId xmlns:p14="http://schemas.microsoft.com/office/powerpoint/2010/main" val="111552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1+#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wipe(left)">
                                      <p:cBhvr>
                                        <p:cTn id="18" dur="500"/>
                                        <p:tgtEl>
                                          <p:spTgt spid="4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ipe(left)">
                                      <p:cBhvr>
                                        <p:cTn id="23" dur="500"/>
                                        <p:tgtEl>
                                          <p:spTgt spid="4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xit" presetSubtype="2" fill="hold" grpId="1" nodeType="clickEffect">
                                  <p:stCondLst>
                                    <p:cond delay="0"/>
                                  </p:stCondLst>
                                  <p:childTnLst>
                                    <p:anim calcmode="lin" valueType="num">
                                      <p:cBhvr additive="base">
                                        <p:cTn id="27" dur="500"/>
                                        <p:tgtEl>
                                          <p:spTgt spid="41"/>
                                        </p:tgtEl>
                                        <p:attrNameLst>
                                          <p:attrName>ppt_x</p:attrName>
                                        </p:attrNameLst>
                                      </p:cBhvr>
                                      <p:tavLst>
                                        <p:tav tm="0">
                                          <p:val>
                                            <p:strVal val="ppt_x"/>
                                          </p:val>
                                        </p:tav>
                                        <p:tav tm="100000">
                                          <p:val>
                                            <p:strVal val="1+ppt_w/2"/>
                                          </p:val>
                                        </p:tav>
                                      </p:tavLst>
                                    </p:anim>
                                    <p:anim calcmode="lin" valueType="num">
                                      <p:cBhvr additive="base">
                                        <p:cTn id="28" dur="500"/>
                                        <p:tgtEl>
                                          <p:spTgt spid="41"/>
                                        </p:tgtEl>
                                        <p:attrNameLst>
                                          <p:attrName>ppt_y</p:attrName>
                                        </p:attrNameLst>
                                      </p:cBhvr>
                                      <p:tavLst>
                                        <p:tav tm="0">
                                          <p:val>
                                            <p:strVal val="ppt_y"/>
                                          </p:val>
                                        </p:tav>
                                        <p:tav tm="100000">
                                          <p:val>
                                            <p:strVal val="ppt_y"/>
                                          </p:val>
                                        </p:tav>
                                      </p:tavLst>
                                    </p:anim>
                                    <p:set>
                                      <p:cBhvr>
                                        <p:cTn id="29" dur="1" fill="hold">
                                          <p:stCondLst>
                                            <p:cond delay="499"/>
                                          </p:stCondLst>
                                        </p:cTn>
                                        <p:tgtEl>
                                          <p:spTgt spid="41"/>
                                        </p:tgtEl>
                                        <p:attrNameLst>
                                          <p:attrName>style.visibility</p:attrName>
                                        </p:attrNameLst>
                                      </p:cBhvr>
                                      <p:to>
                                        <p:strVal val="hidden"/>
                                      </p:to>
                                    </p:set>
                                  </p:childTnLst>
                                </p:cTn>
                              </p:par>
                              <p:par>
                                <p:cTn id="30" presetID="2" presetClass="exit" presetSubtype="2" fill="hold" grpId="1" nodeType="withEffect">
                                  <p:stCondLst>
                                    <p:cond delay="0"/>
                                  </p:stCondLst>
                                  <p:childTnLst>
                                    <p:anim calcmode="lin" valueType="num">
                                      <p:cBhvr additive="base">
                                        <p:cTn id="31" dur="500"/>
                                        <p:tgtEl>
                                          <p:spTgt spid="42"/>
                                        </p:tgtEl>
                                        <p:attrNameLst>
                                          <p:attrName>ppt_x</p:attrName>
                                        </p:attrNameLst>
                                      </p:cBhvr>
                                      <p:tavLst>
                                        <p:tav tm="0">
                                          <p:val>
                                            <p:strVal val="ppt_x"/>
                                          </p:val>
                                        </p:tav>
                                        <p:tav tm="100000">
                                          <p:val>
                                            <p:strVal val="1+ppt_w/2"/>
                                          </p:val>
                                        </p:tav>
                                      </p:tavLst>
                                    </p:anim>
                                    <p:anim calcmode="lin" valueType="num">
                                      <p:cBhvr additive="base">
                                        <p:cTn id="32" dur="500"/>
                                        <p:tgtEl>
                                          <p:spTgt spid="42"/>
                                        </p:tgtEl>
                                        <p:attrNameLst>
                                          <p:attrName>ppt_y</p:attrName>
                                        </p:attrNameLst>
                                      </p:cBhvr>
                                      <p:tavLst>
                                        <p:tav tm="0">
                                          <p:val>
                                            <p:strVal val="ppt_y"/>
                                          </p:val>
                                        </p:tav>
                                        <p:tav tm="100000">
                                          <p:val>
                                            <p:strVal val="ppt_y"/>
                                          </p:val>
                                        </p:tav>
                                      </p:tavLst>
                                    </p:anim>
                                    <p:set>
                                      <p:cBhvr>
                                        <p:cTn id="33" dur="1" fill="hold">
                                          <p:stCondLst>
                                            <p:cond delay="499"/>
                                          </p:stCondLst>
                                        </p:cTn>
                                        <p:tgtEl>
                                          <p:spTgt spid="42"/>
                                        </p:tgtEl>
                                        <p:attrNameLst>
                                          <p:attrName>style.visibility</p:attrName>
                                        </p:attrNameLst>
                                      </p:cBhvr>
                                      <p:to>
                                        <p:strVal val="hidden"/>
                                      </p:to>
                                    </p:set>
                                  </p:childTnLst>
                                </p:cTn>
                              </p:par>
                              <p:par>
                                <p:cTn id="34" presetID="2" presetClass="exit" presetSubtype="2" fill="hold" grpId="1" nodeType="withEffect">
                                  <p:stCondLst>
                                    <p:cond delay="0"/>
                                  </p:stCondLst>
                                  <p:childTnLst>
                                    <p:anim calcmode="lin" valueType="num">
                                      <p:cBhvr additive="base">
                                        <p:cTn id="35" dur="500"/>
                                        <p:tgtEl>
                                          <p:spTgt spid="43"/>
                                        </p:tgtEl>
                                        <p:attrNameLst>
                                          <p:attrName>ppt_x</p:attrName>
                                        </p:attrNameLst>
                                      </p:cBhvr>
                                      <p:tavLst>
                                        <p:tav tm="0">
                                          <p:val>
                                            <p:strVal val="ppt_x"/>
                                          </p:val>
                                        </p:tav>
                                        <p:tav tm="100000">
                                          <p:val>
                                            <p:strVal val="1+ppt_w/2"/>
                                          </p:val>
                                        </p:tav>
                                      </p:tavLst>
                                    </p:anim>
                                    <p:anim calcmode="lin" valueType="num">
                                      <p:cBhvr additive="base">
                                        <p:cTn id="36" dur="500"/>
                                        <p:tgtEl>
                                          <p:spTgt spid="43"/>
                                        </p:tgtEl>
                                        <p:attrNameLst>
                                          <p:attrName>ppt_y</p:attrName>
                                        </p:attrNameLst>
                                      </p:cBhvr>
                                      <p:tavLst>
                                        <p:tav tm="0">
                                          <p:val>
                                            <p:strVal val="ppt_y"/>
                                          </p:val>
                                        </p:tav>
                                        <p:tav tm="100000">
                                          <p:val>
                                            <p:strVal val="ppt_y"/>
                                          </p:val>
                                        </p:tav>
                                      </p:tavLst>
                                    </p:anim>
                                    <p:set>
                                      <p:cBhvr>
                                        <p:cTn id="37" dur="1" fill="hold">
                                          <p:stCondLst>
                                            <p:cond delay="499"/>
                                          </p:stCondLst>
                                        </p:cTn>
                                        <p:tgtEl>
                                          <p:spTgt spid="43"/>
                                        </p:tgtEl>
                                        <p:attrNameLst>
                                          <p:attrName>style.visibility</p:attrName>
                                        </p:attrNameLst>
                                      </p:cBhvr>
                                      <p:to>
                                        <p:strVal val="hidden"/>
                                      </p:to>
                                    </p:set>
                                  </p:childTnLst>
                                </p:cTn>
                              </p:par>
                              <p:par>
                                <p:cTn id="38" presetID="2" presetClass="exit" presetSubtype="2" fill="hold" grpId="1" nodeType="withEffect">
                                  <p:stCondLst>
                                    <p:cond delay="0"/>
                                  </p:stCondLst>
                                  <p:childTnLst>
                                    <p:anim calcmode="lin" valueType="num">
                                      <p:cBhvr additive="base">
                                        <p:cTn id="39" dur="500"/>
                                        <p:tgtEl>
                                          <p:spTgt spid="44"/>
                                        </p:tgtEl>
                                        <p:attrNameLst>
                                          <p:attrName>ppt_x</p:attrName>
                                        </p:attrNameLst>
                                      </p:cBhvr>
                                      <p:tavLst>
                                        <p:tav tm="0">
                                          <p:val>
                                            <p:strVal val="ppt_x"/>
                                          </p:val>
                                        </p:tav>
                                        <p:tav tm="100000">
                                          <p:val>
                                            <p:strVal val="1+ppt_w/2"/>
                                          </p:val>
                                        </p:tav>
                                      </p:tavLst>
                                    </p:anim>
                                    <p:anim calcmode="lin" valueType="num">
                                      <p:cBhvr additive="base">
                                        <p:cTn id="40" dur="500"/>
                                        <p:tgtEl>
                                          <p:spTgt spid="44"/>
                                        </p:tgtEl>
                                        <p:attrNameLst>
                                          <p:attrName>ppt_y</p:attrName>
                                        </p:attrNameLst>
                                      </p:cBhvr>
                                      <p:tavLst>
                                        <p:tav tm="0">
                                          <p:val>
                                            <p:strVal val="ppt_y"/>
                                          </p:val>
                                        </p:tav>
                                        <p:tav tm="100000">
                                          <p:val>
                                            <p:strVal val="ppt_y"/>
                                          </p:val>
                                        </p:tav>
                                      </p:tavLst>
                                    </p:anim>
                                    <p:set>
                                      <p:cBhvr>
                                        <p:cTn id="41" dur="1" fill="hold">
                                          <p:stCondLst>
                                            <p:cond delay="499"/>
                                          </p:stCondLst>
                                        </p:cTn>
                                        <p:tgtEl>
                                          <p:spTgt spid="44"/>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additive="base">
                                        <p:cTn id="46" dur="500" fill="hold"/>
                                        <p:tgtEl>
                                          <p:spTgt spid="33"/>
                                        </p:tgtEl>
                                        <p:attrNameLst>
                                          <p:attrName>ppt_x</p:attrName>
                                        </p:attrNameLst>
                                      </p:cBhvr>
                                      <p:tavLst>
                                        <p:tav tm="0">
                                          <p:val>
                                            <p:strVal val="0-#ppt_w/2"/>
                                          </p:val>
                                        </p:tav>
                                        <p:tav tm="100000">
                                          <p:val>
                                            <p:strVal val="#ppt_x"/>
                                          </p:val>
                                        </p:tav>
                                      </p:tavLst>
                                    </p:anim>
                                    <p:anim calcmode="lin" valueType="num">
                                      <p:cBhvr additive="base">
                                        <p:cTn id="47"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34">
                                            <p:txEl>
                                              <p:pRg st="0" end="0"/>
                                            </p:txEl>
                                          </p:spTgt>
                                        </p:tgtEl>
                                        <p:attrNameLst>
                                          <p:attrName>style.visibility</p:attrName>
                                        </p:attrNameLst>
                                      </p:cBhvr>
                                      <p:to>
                                        <p:strVal val="visible"/>
                                      </p:to>
                                    </p:set>
                                    <p:anim calcmode="lin" valueType="num">
                                      <p:cBhvr additive="base">
                                        <p:cTn id="52" dur="5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53" dur="500" fill="hold"/>
                                        <p:tgtEl>
                                          <p:spTgt spid="3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wipe(right)">
                                      <p:cBhvr>
                                        <p:cTn id="58" dur="500"/>
                                        <p:tgtEl>
                                          <p:spTgt spid="39"/>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34">
                                            <p:txEl>
                                              <p:pRg st="2" end="2"/>
                                            </p:txEl>
                                          </p:spTgt>
                                        </p:tgtEl>
                                        <p:attrNameLst>
                                          <p:attrName>style.visibility</p:attrName>
                                        </p:attrNameLst>
                                      </p:cBhvr>
                                      <p:to>
                                        <p:strVal val="visible"/>
                                      </p:to>
                                    </p:set>
                                    <p:anim calcmode="lin" valueType="num">
                                      <p:cBhvr additive="base">
                                        <p:cTn id="63" dur="500" fill="hold"/>
                                        <p:tgtEl>
                                          <p:spTgt spid="34">
                                            <p:txEl>
                                              <p:pRg st="2" end="2"/>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3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wipe(right)">
                                      <p:cBhvr>
                                        <p:cTn id="69" dur="500"/>
                                        <p:tgtEl>
                                          <p:spTgt spid="40"/>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2" fill="hold" grpId="0" nodeType="clickEffect">
                                  <p:stCondLst>
                                    <p:cond delay="0"/>
                                  </p:stCondLst>
                                  <p:childTnLst>
                                    <p:set>
                                      <p:cBhvr>
                                        <p:cTn id="73" dur="1" fill="hold">
                                          <p:stCondLst>
                                            <p:cond delay="0"/>
                                          </p:stCondLst>
                                        </p:cTn>
                                        <p:tgtEl>
                                          <p:spTgt spid="34">
                                            <p:txEl>
                                              <p:pRg st="4" end="4"/>
                                            </p:txEl>
                                          </p:spTgt>
                                        </p:tgtEl>
                                        <p:attrNameLst>
                                          <p:attrName>style.visibility</p:attrName>
                                        </p:attrNameLst>
                                      </p:cBhvr>
                                      <p:to>
                                        <p:strVal val="visible"/>
                                      </p:to>
                                    </p:set>
                                    <p:anim calcmode="lin" valueType="num">
                                      <p:cBhvr additive="base">
                                        <p:cTn id="74" dur="500" fill="hold"/>
                                        <p:tgtEl>
                                          <p:spTgt spid="34">
                                            <p:txEl>
                                              <p:pRg st="4" end="4"/>
                                            </p:txEl>
                                          </p:spTgt>
                                        </p:tgtEl>
                                        <p:attrNameLst>
                                          <p:attrName>ppt_x</p:attrName>
                                        </p:attrNameLst>
                                      </p:cBhvr>
                                      <p:tavLst>
                                        <p:tav tm="0">
                                          <p:val>
                                            <p:strVal val="1+#ppt_w/2"/>
                                          </p:val>
                                        </p:tav>
                                        <p:tav tm="100000">
                                          <p:val>
                                            <p:strVal val="#ppt_x"/>
                                          </p:val>
                                        </p:tav>
                                      </p:tavLst>
                                    </p:anim>
                                    <p:anim calcmode="lin" valueType="num">
                                      <p:cBhvr additive="base">
                                        <p:cTn id="75" dur="500" fill="hold"/>
                                        <p:tgtEl>
                                          <p:spTgt spid="3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4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wipe(down)">
                                      <p:cBhvr>
                                        <p:cTn id="84" dur="500"/>
                                        <p:tgtEl>
                                          <p:spTgt spid="4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53"/>
                                        </p:tgtEl>
                                        <p:attrNameLst>
                                          <p:attrName>style.visibility</p:attrName>
                                        </p:attrNameLst>
                                      </p:cBhvr>
                                      <p:to>
                                        <p:strVal val="visible"/>
                                      </p:to>
                                    </p:set>
                                    <p:animEffect transition="in" filter="wipe(down)">
                                      <p:cBhvr>
                                        <p:cTn id="89" dur="500"/>
                                        <p:tgtEl>
                                          <p:spTgt spid="53"/>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2" fill="hold" grpId="0" nodeType="clickEffect">
                                  <p:stCondLst>
                                    <p:cond delay="0"/>
                                  </p:stCondLst>
                                  <p:childTnLst>
                                    <p:set>
                                      <p:cBhvr>
                                        <p:cTn id="93" dur="1" fill="hold">
                                          <p:stCondLst>
                                            <p:cond delay="0"/>
                                          </p:stCondLst>
                                        </p:cTn>
                                        <p:tgtEl>
                                          <p:spTgt spid="34">
                                            <p:txEl>
                                              <p:pRg st="6" end="6"/>
                                            </p:txEl>
                                          </p:spTgt>
                                        </p:tgtEl>
                                        <p:attrNameLst>
                                          <p:attrName>style.visibility</p:attrName>
                                        </p:attrNameLst>
                                      </p:cBhvr>
                                      <p:to>
                                        <p:strVal val="visible"/>
                                      </p:to>
                                    </p:set>
                                    <p:anim calcmode="lin" valueType="num">
                                      <p:cBhvr additive="base">
                                        <p:cTn id="94" dur="500" fill="hold"/>
                                        <p:tgtEl>
                                          <p:spTgt spid="34">
                                            <p:txEl>
                                              <p:pRg st="6" end="6"/>
                                            </p:txEl>
                                          </p:spTgt>
                                        </p:tgtEl>
                                        <p:attrNameLst>
                                          <p:attrName>ppt_x</p:attrName>
                                        </p:attrNameLst>
                                      </p:cBhvr>
                                      <p:tavLst>
                                        <p:tav tm="0">
                                          <p:val>
                                            <p:strVal val="1+#ppt_w/2"/>
                                          </p:val>
                                        </p:tav>
                                        <p:tav tm="100000">
                                          <p:val>
                                            <p:strVal val="#ppt_x"/>
                                          </p:val>
                                        </p:tav>
                                      </p:tavLst>
                                    </p:anim>
                                    <p:anim calcmode="lin" valueType="num">
                                      <p:cBhvr additive="base">
                                        <p:cTn id="95" dur="500" fill="hold"/>
                                        <p:tgtEl>
                                          <p:spTgt spid="3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2" fill="hold" grpId="0" nodeType="clickEffect">
                                  <p:stCondLst>
                                    <p:cond delay="0"/>
                                  </p:stCondLst>
                                  <p:childTnLst>
                                    <p:set>
                                      <p:cBhvr>
                                        <p:cTn id="99" dur="1" fill="hold">
                                          <p:stCondLst>
                                            <p:cond delay="0"/>
                                          </p:stCondLst>
                                        </p:cTn>
                                        <p:tgtEl>
                                          <p:spTgt spid="34">
                                            <p:txEl>
                                              <p:pRg st="8" end="8"/>
                                            </p:txEl>
                                          </p:spTgt>
                                        </p:tgtEl>
                                        <p:attrNameLst>
                                          <p:attrName>style.visibility</p:attrName>
                                        </p:attrNameLst>
                                      </p:cBhvr>
                                      <p:to>
                                        <p:strVal val="visible"/>
                                      </p:to>
                                    </p:set>
                                    <p:anim calcmode="lin" valueType="num">
                                      <p:cBhvr additive="base">
                                        <p:cTn id="100" dur="500" fill="hold"/>
                                        <p:tgtEl>
                                          <p:spTgt spid="34">
                                            <p:txEl>
                                              <p:pRg st="8" end="8"/>
                                            </p:txEl>
                                          </p:spTgt>
                                        </p:tgtEl>
                                        <p:attrNameLst>
                                          <p:attrName>ppt_x</p:attrName>
                                        </p:attrNameLst>
                                      </p:cBhvr>
                                      <p:tavLst>
                                        <p:tav tm="0">
                                          <p:val>
                                            <p:strVal val="1+#ppt_w/2"/>
                                          </p:val>
                                        </p:tav>
                                        <p:tav tm="100000">
                                          <p:val>
                                            <p:strVal val="#ppt_x"/>
                                          </p:val>
                                        </p:tav>
                                      </p:tavLst>
                                    </p:anim>
                                    <p:anim calcmode="lin" valueType="num">
                                      <p:cBhvr additive="base">
                                        <p:cTn id="101" dur="500" fill="hold"/>
                                        <p:tgtEl>
                                          <p:spTgt spid="34">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build="p"/>
      <p:bldP spid="41" grpId="0" animBg="1"/>
      <p:bldP spid="41" grpId="1" animBg="1"/>
      <p:bldP spid="42" grpId="0"/>
      <p:bldP spid="42" grpId="1"/>
      <p:bldP spid="43" grpId="0"/>
      <p:bldP spid="43" grpId="1"/>
      <p:bldP spid="44" grpId="0"/>
      <p:bldP spid="44" grpId="1"/>
      <p:bldP spid="5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21</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Rectangle 5"/>
          <p:cNvSpPr>
            <a:spLocks noChangeArrowheads="1"/>
          </p:cNvSpPr>
          <p:nvPr/>
        </p:nvSpPr>
        <p:spPr bwMode="auto">
          <a:xfrm>
            <a:off x="176213" y="1633538"/>
            <a:ext cx="4419600" cy="4976812"/>
          </a:xfrm>
          <a:prstGeom prst="rect">
            <a:avLst/>
          </a:prstGeom>
          <a:solidFill>
            <a:srgbClr val="FFFFFF"/>
          </a:solidFill>
          <a:ln w="9525">
            <a:solidFill>
              <a:schemeClr val="tx1"/>
            </a:solidFill>
            <a:miter lim="800000"/>
            <a:headEnd/>
            <a:tailEnd/>
          </a:ln>
        </p:spPr>
        <p:txBody>
          <a:bodyPr wrap="none" anchor="ctr"/>
          <a:lstStyle/>
          <a:p>
            <a:r>
              <a:rPr lang="en-US" sz="1800" dirty="0" err="1"/>
              <a:t>int</a:t>
            </a:r>
            <a:r>
              <a:rPr lang="en-US" sz="1800" dirty="0"/>
              <a:t> main()</a:t>
            </a:r>
          </a:p>
          <a:p>
            <a:r>
              <a:rPr lang="en-US" sz="1800" dirty="0"/>
              <a:t>{</a:t>
            </a:r>
          </a:p>
          <a:p>
            <a:r>
              <a:rPr lang="en-US" sz="1800" dirty="0"/>
              <a:t>   </a:t>
            </a:r>
            <a:r>
              <a:rPr lang="en-US" sz="1800" dirty="0" err="1"/>
              <a:t>FriendFinder</a:t>
            </a:r>
            <a:r>
              <a:rPr lang="en-US" sz="1800" dirty="0"/>
              <a:t> x;</a:t>
            </a:r>
          </a:p>
          <a:p>
            <a:endParaRPr lang="en-US" sz="1800" dirty="0"/>
          </a:p>
          <a:p>
            <a:r>
              <a:rPr lang="en-US" sz="1800" dirty="0"/>
              <a:t>   </a:t>
            </a:r>
            <a:r>
              <a:rPr lang="en-US" sz="1800" dirty="0" err="1"/>
              <a:t>x.</a:t>
            </a:r>
            <a:r>
              <a:rPr lang="en-US" sz="1800" dirty="0" err="1">
                <a:solidFill>
                  <a:srgbClr val="9900FF"/>
                </a:solidFill>
              </a:rPr>
              <a:t>BecomeFriends</a:t>
            </a:r>
            <a:r>
              <a:rPr lang="en-US" sz="1800" dirty="0"/>
              <a:t>(“Carey Nash”,</a:t>
            </a:r>
            <a:br>
              <a:rPr lang="en-US" sz="1800" dirty="0"/>
            </a:br>
            <a:r>
              <a:rPr lang="en-US" sz="1800" dirty="0"/>
              <a:t>                              ”Scott Wilhelm”); </a:t>
            </a:r>
          </a:p>
          <a:p>
            <a:r>
              <a:rPr lang="en-US" sz="1800" dirty="0"/>
              <a:t>   </a:t>
            </a:r>
            <a:r>
              <a:rPr lang="en-US" sz="1800" dirty="0" err="1"/>
              <a:t>x.</a:t>
            </a:r>
            <a:r>
              <a:rPr lang="en-US" sz="1800" dirty="0" err="1">
                <a:solidFill>
                  <a:srgbClr val="9900FF"/>
                </a:solidFill>
              </a:rPr>
              <a:t>BecomeFriends</a:t>
            </a:r>
            <a:r>
              <a:rPr lang="en-US" sz="1800" dirty="0"/>
              <a:t>(“Jenny Oh”,</a:t>
            </a:r>
          </a:p>
          <a:p>
            <a:r>
              <a:rPr lang="en-US" sz="1800" dirty="0"/>
              <a:t>                              ”David Sun”);</a:t>
            </a:r>
          </a:p>
          <a:p>
            <a:r>
              <a:rPr lang="en-US" sz="1800" dirty="0"/>
              <a:t>   …</a:t>
            </a:r>
          </a:p>
          <a:p>
            <a:endParaRPr lang="en-US" sz="1800" dirty="0"/>
          </a:p>
          <a:p>
            <a:r>
              <a:rPr lang="en-US" sz="1800" dirty="0"/>
              <a:t>   string </a:t>
            </a:r>
            <a:r>
              <a:rPr lang="en-US" sz="1800" dirty="0" err="1"/>
              <a:t>userA</a:t>
            </a:r>
            <a:r>
              <a:rPr lang="en-US" sz="1800" dirty="0"/>
              <a:t>, </a:t>
            </a:r>
            <a:r>
              <a:rPr lang="en-US" sz="1800" dirty="0" err="1"/>
              <a:t>userB</a:t>
            </a:r>
            <a:r>
              <a:rPr lang="en-US" sz="1800" dirty="0"/>
              <a:t>;</a:t>
            </a:r>
          </a:p>
          <a:p>
            <a:endParaRPr lang="en-US" sz="1000" dirty="0"/>
          </a:p>
          <a:p>
            <a:r>
              <a:rPr lang="en-US" sz="1800" dirty="0"/>
              <a:t>   </a:t>
            </a:r>
            <a:r>
              <a:rPr lang="en-US" sz="1800" dirty="0" err="1"/>
              <a:t>cin</a:t>
            </a:r>
            <a:r>
              <a:rPr lang="en-US" sz="1800" dirty="0"/>
              <a:t> &gt;&gt; </a:t>
            </a:r>
            <a:r>
              <a:rPr lang="en-US" sz="1800" dirty="0" err="1"/>
              <a:t>userA</a:t>
            </a:r>
            <a:r>
              <a:rPr lang="en-US" sz="1800" dirty="0"/>
              <a:t> &gt;&gt; </a:t>
            </a:r>
            <a:r>
              <a:rPr lang="en-US" sz="1800" dirty="0" err="1"/>
              <a:t>userB</a:t>
            </a:r>
            <a:r>
              <a:rPr lang="en-US" sz="1800" dirty="0"/>
              <a:t>;</a:t>
            </a:r>
          </a:p>
          <a:p>
            <a:r>
              <a:rPr lang="en-US" sz="1800" dirty="0"/>
              <a:t>   if (</a:t>
            </a:r>
            <a:r>
              <a:rPr lang="en-US" sz="1800" dirty="0" err="1"/>
              <a:t>x.</a:t>
            </a:r>
            <a:r>
              <a:rPr lang="en-US" sz="1800" dirty="0" err="1">
                <a:solidFill>
                  <a:srgbClr val="9900FF"/>
                </a:solidFill>
              </a:rPr>
              <a:t>AreTheyFriends</a:t>
            </a:r>
            <a:r>
              <a:rPr lang="en-US" sz="1800" dirty="0"/>
              <a:t>(</a:t>
            </a:r>
            <a:r>
              <a:rPr lang="en-US" sz="1800" dirty="0" err="1"/>
              <a:t>userA</a:t>
            </a:r>
            <a:r>
              <a:rPr lang="en-US" sz="1800" dirty="0"/>
              <a:t>,</a:t>
            </a:r>
            <a:br>
              <a:rPr lang="en-US" sz="1800" dirty="0"/>
            </a:br>
            <a:r>
              <a:rPr lang="en-US" sz="1800" dirty="0"/>
              <a:t>                                    </a:t>
            </a:r>
            <a:r>
              <a:rPr lang="en-US" sz="1800" dirty="0" err="1"/>
              <a:t>userB</a:t>
            </a:r>
            <a:r>
              <a:rPr lang="en-US" sz="1800" dirty="0"/>
              <a:t>) == true)</a:t>
            </a:r>
          </a:p>
          <a:p>
            <a:r>
              <a:rPr lang="en-US" sz="1800" dirty="0"/>
              <a:t>      </a:t>
            </a:r>
            <a:r>
              <a:rPr lang="en-US" sz="1800" dirty="0" err="1"/>
              <a:t>cout</a:t>
            </a:r>
            <a:r>
              <a:rPr lang="en-US" sz="1800" dirty="0"/>
              <a:t> &lt;&lt; </a:t>
            </a:r>
            <a:r>
              <a:rPr lang="en-US" sz="1800" dirty="0" err="1"/>
              <a:t>userA</a:t>
            </a:r>
            <a:r>
              <a:rPr lang="en-US" sz="1800" dirty="0"/>
              <a:t> &lt;&lt; “ is friends with “ </a:t>
            </a:r>
            <a:br>
              <a:rPr lang="en-US" sz="1800" dirty="0"/>
            </a:br>
            <a:r>
              <a:rPr lang="en-US" sz="1800" dirty="0"/>
              <a:t>             &lt;&lt; </a:t>
            </a:r>
            <a:r>
              <a:rPr lang="en-US" sz="1800" dirty="0" err="1"/>
              <a:t>userB</a:t>
            </a:r>
            <a:r>
              <a:rPr lang="en-US" sz="1800" dirty="0"/>
              <a:t>;</a:t>
            </a:r>
          </a:p>
          <a:p>
            <a:r>
              <a:rPr lang="en-US" sz="1800" dirty="0"/>
              <a:t>}</a:t>
            </a:r>
          </a:p>
        </p:txBody>
      </p:sp>
      <p:pic>
        <p:nvPicPr>
          <p:cNvPr id="7" name="Picture 40" descr="BS00365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7788" y="1654175"/>
            <a:ext cx="12160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47"/>
          <p:cNvGrpSpPr>
            <a:grpSpLocks/>
          </p:cNvGrpSpPr>
          <p:nvPr/>
        </p:nvGrpSpPr>
        <p:grpSpPr bwMode="auto">
          <a:xfrm>
            <a:off x="2255838" y="152400"/>
            <a:ext cx="3154362" cy="2111375"/>
            <a:chOff x="1421" y="96"/>
            <a:chExt cx="1987" cy="1330"/>
          </a:xfrm>
        </p:grpSpPr>
        <p:sp>
          <p:nvSpPr>
            <p:cNvPr id="9" name="Rectangle 41"/>
            <p:cNvSpPr>
              <a:spLocks noChangeArrowheads="1"/>
            </p:cNvSpPr>
            <p:nvPr/>
          </p:nvSpPr>
          <p:spPr bwMode="auto">
            <a:xfrm>
              <a:off x="1421" y="96"/>
              <a:ext cx="1987" cy="1330"/>
            </a:xfrm>
            <a:prstGeom prst="rect">
              <a:avLst/>
            </a:prstGeom>
            <a:solidFill>
              <a:schemeClr val="accent1"/>
            </a:solidFill>
            <a:ln w="9525">
              <a:solidFill>
                <a:schemeClr val="tx1"/>
              </a:solidFill>
              <a:miter lim="800000"/>
              <a:headEnd/>
              <a:tailEnd/>
            </a:ln>
          </p:spPr>
          <p:txBody>
            <a:bodyPr wrap="none" anchor="ctr"/>
            <a:lstStyle/>
            <a:p>
              <a:endParaRPr lang="en-US" sz="2400"/>
            </a:p>
          </p:txBody>
        </p:sp>
        <p:grpSp>
          <p:nvGrpSpPr>
            <p:cNvPr id="10" name="Group 42"/>
            <p:cNvGrpSpPr>
              <a:grpSpLocks/>
            </p:cNvGrpSpPr>
            <p:nvPr/>
          </p:nvGrpSpPr>
          <p:grpSpPr bwMode="auto">
            <a:xfrm>
              <a:off x="1445" y="452"/>
              <a:ext cx="1890" cy="928"/>
              <a:chOff x="135" y="1451"/>
              <a:chExt cx="1890" cy="928"/>
            </a:xfrm>
          </p:grpSpPr>
          <p:sp>
            <p:nvSpPr>
              <p:cNvPr id="12" name="Text Box 43"/>
              <p:cNvSpPr txBox="1">
                <a:spLocks noChangeArrowheads="1"/>
              </p:cNvSpPr>
              <p:nvPr/>
            </p:nvSpPr>
            <p:spPr bwMode="auto">
              <a:xfrm>
                <a:off x="135" y="1452"/>
                <a:ext cx="969" cy="757"/>
              </a:xfrm>
              <a:prstGeom prst="rect">
                <a:avLst/>
              </a:prstGeom>
              <a:solidFill>
                <a:srgbClr val="FFFFE1"/>
              </a:solidFill>
              <a:ln w="9525">
                <a:solidFill>
                  <a:schemeClr val="tx1"/>
                </a:solidFill>
                <a:miter lim="800000"/>
                <a:headEnd/>
                <a:tailEnd/>
              </a:ln>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800" u="sng">
                    <a:solidFill>
                      <a:srgbClr val="800000"/>
                    </a:solidFill>
                  </a:rPr>
                  <a:t>User</a:t>
                </a:r>
                <a:r>
                  <a:rPr lang="en-US" sz="800" u="sng"/>
                  <a:t> 	</a:t>
                </a:r>
                <a:r>
                  <a:rPr lang="en-US" sz="800" u="sng">
                    <a:solidFill>
                      <a:srgbClr val="006666"/>
                    </a:solidFill>
                  </a:rPr>
                  <a:t>Number</a:t>
                </a:r>
              </a:p>
              <a:p>
                <a:pPr eaLnBrk="1" hangingPunct="1"/>
                <a:r>
                  <a:rPr lang="en-US" sz="800">
                    <a:solidFill>
                      <a:srgbClr val="800000"/>
                    </a:solidFill>
                  </a:rPr>
                  <a:t>Carey Nash</a:t>
                </a:r>
                <a:r>
                  <a:rPr lang="en-US" sz="800"/>
                  <a:t> 	</a:t>
                </a:r>
                <a:r>
                  <a:rPr lang="en-US" sz="800">
                    <a:solidFill>
                      <a:srgbClr val="006666"/>
                    </a:solidFill>
                  </a:rPr>
                  <a:t>0</a:t>
                </a:r>
              </a:p>
              <a:p>
                <a:pPr eaLnBrk="1" hangingPunct="1"/>
                <a:r>
                  <a:rPr lang="en-US" sz="800">
                    <a:solidFill>
                      <a:srgbClr val="800000"/>
                    </a:solidFill>
                  </a:rPr>
                  <a:t>Scott Wilhelm</a:t>
                </a:r>
                <a:r>
                  <a:rPr lang="en-US" sz="800">
                    <a:solidFill>
                      <a:srgbClr val="006666"/>
                    </a:solidFill>
                  </a:rPr>
                  <a:t>	1</a:t>
                </a:r>
              </a:p>
              <a:p>
                <a:pPr eaLnBrk="1" hangingPunct="1"/>
                <a:r>
                  <a:rPr lang="en-US" sz="800">
                    <a:solidFill>
                      <a:srgbClr val="800000"/>
                    </a:solidFill>
                  </a:rPr>
                  <a:t>David Smallberg</a:t>
                </a:r>
                <a:r>
                  <a:rPr lang="en-US" sz="800">
                    <a:solidFill>
                      <a:srgbClr val="006666"/>
                    </a:solidFill>
                  </a:rPr>
                  <a:t>	2</a:t>
                </a:r>
              </a:p>
              <a:p>
                <a:pPr eaLnBrk="1" hangingPunct="1"/>
                <a:r>
                  <a:rPr lang="en-US" sz="800">
                    <a:solidFill>
                      <a:srgbClr val="800000"/>
                    </a:solidFill>
                  </a:rPr>
                  <a:t>Danny Hsu</a:t>
                </a:r>
                <a:r>
                  <a:rPr lang="en-US" sz="800"/>
                  <a:t> 	</a:t>
                </a:r>
                <a:r>
                  <a:rPr lang="en-US" sz="800">
                    <a:solidFill>
                      <a:srgbClr val="006666"/>
                    </a:solidFill>
                  </a:rPr>
                  <a:t>3</a:t>
                </a:r>
                <a:br>
                  <a:rPr lang="en-US" sz="800"/>
                </a:br>
                <a:r>
                  <a:rPr lang="en-US" sz="800">
                    <a:solidFill>
                      <a:srgbClr val="800000"/>
                    </a:solidFill>
                  </a:rPr>
                  <a:t>Jenny</a:t>
                </a:r>
                <a:r>
                  <a:rPr lang="en-US" sz="800"/>
                  <a:t> </a:t>
                </a:r>
                <a:r>
                  <a:rPr lang="en-US" sz="800">
                    <a:solidFill>
                      <a:srgbClr val="800000"/>
                    </a:solidFill>
                  </a:rPr>
                  <a:t>Oh</a:t>
                </a:r>
                <a:r>
                  <a:rPr lang="en-US" sz="800">
                    <a:solidFill>
                      <a:srgbClr val="006666"/>
                    </a:solidFill>
                  </a:rPr>
                  <a:t>	4</a:t>
                </a:r>
              </a:p>
              <a:p>
                <a:pPr eaLnBrk="1" hangingPunct="1"/>
                <a:r>
                  <a:rPr lang="en-US" sz="800">
                    <a:solidFill>
                      <a:srgbClr val="800000"/>
                    </a:solidFill>
                  </a:rPr>
                  <a:t>Rich</a:t>
                </a:r>
                <a:r>
                  <a:rPr lang="en-US" sz="800"/>
                  <a:t> </a:t>
                </a:r>
                <a:r>
                  <a:rPr lang="en-US" sz="800">
                    <a:solidFill>
                      <a:srgbClr val="800000"/>
                    </a:solidFill>
                  </a:rPr>
                  <a:t>Lim</a:t>
                </a:r>
                <a:r>
                  <a:rPr lang="en-US" sz="800">
                    <a:solidFill>
                      <a:srgbClr val="006666"/>
                    </a:solidFill>
                  </a:rPr>
                  <a:t>	5</a:t>
                </a:r>
              </a:p>
              <a:p>
                <a:pPr eaLnBrk="1" hangingPunct="1"/>
                <a:r>
                  <a:rPr lang="en-US" sz="800">
                    <a:solidFill>
                      <a:srgbClr val="800000"/>
                    </a:solidFill>
                  </a:rPr>
                  <a:t>David</a:t>
                </a:r>
                <a:r>
                  <a:rPr lang="en-US" sz="800"/>
                  <a:t> </a:t>
                </a:r>
                <a:r>
                  <a:rPr lang="en-US" sz="800">
                    <a:solidFill>
                      <a:srgbClr val="800000"/>
                    </a:solidFill>
                  </a:rPr>
                  <a:t>Sun</a:t>
                </a:r>
                <a:r>
                  <a:rPr lang="en-US" sz="800">
                    <a:solidFill>
                      <a:srgbClr val="006666"/>
                    </a:solidFill>
                  </a:rPr>
                  <a:t>	6</a:t>
                </a:r>
              </a:p>
              <a:p>
                <a:pPr eaLnBrk="1" hangingPunct="1"/>
                <a:r>
                  <a:rPr lang="en-US" sz="800">
                    <a:solidFill>
                      <a:srgbClr val="800000"/>
                    </a:solidFill>
                  </a:rPr>
                  <a:t>…</a:t>
                </a:r>
                <a:endParaRPr lang="en-US" sz="800">
                  <a:solidFill>
                    <a:srgbClr val="006666"/>
                  </a:solidFill>
                </a:endParaRPr>
              </a:p>
            </p:txBody>
          </p:sp>
          <p:pic>
            <p:nvPicPr>
              <p:cNvPr id="13" name="Picture 4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0" y="1451"/>
                <a:ext cx="895" cy="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45"/>
              <p:cNvSpPr txBox="1">
                <a:spLocks noChangeArrowheads="1"/>
              </p:cNvSpPr>
              <p:nvPr/>
            </p:nvSpPr>
            <p:spPr bwMode="auto">
              <a:xfrm>
                <a:off x="397" y="2007"/>
                <a:ext cx="1429" cy="372"/>
              </a:xfrm>
              <a:prstGeom prst="rect">
                <a:avLst/>
              </a:prstGeom>
              <a:solidFill>
                <a:srgbClr val="CCFFCC"/>
              </a:solidFill>
              <a:ln w="9525">
                <a:solidFill>
                  <a:schemeClr val="tx1"/>
                </a:solidFill>
                <a:miter lim="800000"/>
                <a:headEnd/>
                <a:tailEnd/>
              </a:ln>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800"/>
                  <a:t>Friend-finding Algorithm:</a:t>
                </a:r>
              </a:p>
              <a:p>
                <a:pPr eaLnBrk="1" hangingPunct="1"/>
                <a:r>
                  <a:rPr lang="en-US" sz="800"/>
                  <a:t>1. Look up their numbers </a:t>
                </a:r>
                <a:r>
                  <a:rPr lang="en-US" sz="800">
                    <a:solidFill>
                      <a:srgbClr val="6600CC"/>
                    </a:solidFill>
                  </a:rPr>
                  <a:t>A</a:t>
                </a:r>
                <a:r>
                  <a:rPr lang="en-US" sz="800"/>
                  <a:t>, </a:t>
                </a:r>
                <a:r>
                  <a:rPr lang="en-US" sz="800">
                    <a:solidFill>
                      <a:srgbClr val="6600CC"/>
                    </a:solidFill>
                  </a:rPr>
                  <a:t>B</a:t>
                </a:r>
              </a:p>
              <a:p>
                <a:pPr eaLnBrk="1" hangingPunct="1"/>
                <a:r>
                  <a:rPr lang="en-US" sz="800"/>
                  <a:t>2. Check (</a:t>
                </a:r>
                <a:r>
                  <a:rPr lang="en-US" sz="800">
                    <a:solidFill>
                      <a:srgbClr val="6600CC"/>
                    </a:solidFill>
                  </a:rPr>
                  <a:t>A</a:t>
                </a:r>
                <a:r>
                  <a:rPr lang="en-US" sz="800"/>
                  <a:t>,</a:t>
                </a:r>
                <a:r>
                  <a:rPr lang="en-US" sz="800">
                    <a:solidFill>
                      <a:srgbClr val="6600CC"/>
                    </a:solidFill>
                  </a:rPr>
                  <a:t>B</a:t>
                </a:r>
                <a:r>
                  <a:rPr lang="en-US" sz="800"/>
                  <a:t>) </a:t>
                </a:r>
                <a:r>
                  <a:rPr lang="en-US" sz="800" i="1"/>
                  <a:t>or</a:t>
                </a:r>
                <a:r>
                  <a:rPr lang="en-US" sz="800"/>
                  <a:t> (</a:t>
                </a:r>
                <a:r>
                  <a:rPr lang="en-US" sz="800">
                    <a:solidFill>
                      <a:srgbClr val="6600CC"/>
                    </a:solidFill>
                  </a:rPr>
                  <a:t>B</a:t>
                </a:r>
                <a:r>
                  <a:rPr lang="en-US" sz="800"/>
                  <a:t>,</a:t>
                </a:r>
                <a:r>
                  <a:rPr lang="en-US" sz="800">
                    <a:solidFill>
                      <a:srgbClr val="6600CC"/>
                    </a:solidFill>
                  </a:rPr>
                  <a:t>A</a:t>
                </a:r>
                <a:r>
                  <a:rPr lang="en-US" sz="800"/>
                  <a:t>) in our array</a:t>
                </a:r>
              </a:p>
              <a:p>
                <a:pPr eaLnBrk="1" hangingPunct="1"/>
                <a:r>
                  <a:rPr lang="en-US" sz="800"/>
                  <a:t>3. If we find a </a:t>
                </a:r>
                <a:r>
                  <a:rPr lang="en-US" sz="800">
                    <a:solidFill>
                      <a:srgbClr val="6600CC"/>
                    </a:solidFill>
                  </a:rPr>
                  <a:t>*</a:t>
                </a:r>
                <a:r>
                  <a:rPr lang="en-US" sz="800"/>
                  <a:t>, they’re buddies!</a:t>
                </a:r>
              </a:p>
            </p:txBody>
          </p:sp>
        </p:grpSp>
        <p:pic>
          <p:nvPicPr>
            <p:cNvPr id="11" name="Picture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 y="146"/>
              <a:ext cx="85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Rectangle 50"/>
          <p:cNvSpPr>
            <a:spLocks noChangeArrowheads="1"/>
          </p:cNvSpPr>
          <p:nvPr/>
        </p:nvSpPr>
        <p:spPr bwMode="auto">
          <a:xfrm>
            <a:off x="2286000" y="609600"/>
            <a:ext cx="3108325" cy="1638300"/>
          </a:xfrm>
          <a:prstGeom prst="rect">
            <a:avLst/>
          </a:prstGeom>
          <a:solidFill>
            <a:schemeClr val="accent1">
              <a:alpha val="7803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2400"/>
          </a:p>
        </p:txBody>
      </p:sp>
      <p:sp>
        <p:nvSpPr>
          <p:cNvPr id="16" name="Text Box 51"/>
          <p:cNvSpPr txBox="1">
            <a:spLocks noChangeArrowheads="1"/>
          </p:cNvSpPr>
          <p:nvPr/>
        </p:nvSpPr>
        <p:spPr bwMode="auto">
          <a:xfrm>
            <a:off x="5370513" y="1228725"/>
            <a:ext cx="37115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a:t>We use a similar approach to construct real-life objects!</a:t>
            </a:r>
          </a:p>
        </p:txBody>
      </p:sp>
      <p:sp>
        <p:nvSpPr>
          <p:cNvPr id="17" name="Text Box 52"/>
          <p:cNvSpPr txBox="1">
            <a:spLocks noChangeArrowheads="1"/>
          </p:cNvSpPr>
          <p:nvPr/>
        </p:nvSpPr>
        <p:spPr bwMode="auto">
          <a:xfrm>
            <a:off x="5311775" y="2112963"/>
            <a:ext cx="3711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a:t>Consider your car…</a:t>
            </a:r>
          </a:p>
        </p:txBody>
      </p:sp>
      <p:pic>
        <p:nvPicPr>
          <p:cNvPr id="18" name="Picture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8563" y="2613025"/>
            <a:ext cx="1751012" cy="1174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54"/>
          <p:cNvSpPr txBox="1">
            <a:spLocks noChangeArrowheads="1"/>
          </p:cNvSpPr>
          <p:nvPr/>
        </p:nvSpPr>
        <p:spPr bwMode="auto">
          <a:xfrm>
            <a:off x="4876800" y="3925888"/>
            <a:ext cx="40322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dirty="0"/>
              <a:t>It has an easy-to-use </a:t>
            </a:r>
            <a:r>
              <a:rPr lang="en-US" sz="2000" dirty="0">
                <a:solidFill>
                  <a:srgbClr val="FF0000"/>
                </a:solidFill>
              </a:rPr>
              <a:t>interface</a:t>
            </a:r>
            <a:r>
              <a:rPr lang="en-US" sz="2000" dirty="0"/>
              <a:t> like the steering wheel, brake and accelerator pedals.</a:t>
            </a:r>
          </a:p>
        </p:txBody>
      </p:sp>
      <p:grpSp>
        <p:nvGrpSpPr>
          <p:cNvPr id="20" name="Group 57"/>
          <p:cNvGrpSpPr>
            <a:grpSpLocks/>
          </p:cNvGrpSpPr>
          <p:nvPr/>
        </p:nvGrpSpPr>
        <p:grpSpPr bwMode="auto">
          <a:xfrm>
            <a:off x="4032250" y="5081588"/>
            <a:ext cx="4686300" cy="1311275"/>
            <a:chOff x="2540" y="3201"/>
            <a:chExt cx="2952" cy="826"/>
          </a:xfrm>
        </p:grpSpPr>
        <p:sp>
          <p:nvSpPr>
            <p:cNvPr id="21" name="Text Box 55"/>
            <p:cNvSpPr txBox="1">
              <a:spLocks noChangeArrowheads="1"/>
            </p:cNvSpPr>
            <p:nvPr/>
          </p:nvSpPr>
          <p:spPr bwMode="auto">
            <a:xfrm>
              <a:off x="3326" y="3201"/>
              <a:ext cx="2166"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2000" dirty="0"/>
                <a:t>The </a:t>
              </a:r>
              <a:r>
                <a:rPr lang="en-US" sz="2000" dirty="0">
                  <a:solidFill>
                    <a:srgbClr val="FF0000"/>
                  </a:solidFill>
                </a:rPr>
                <a:t>complicated machinery </a:t>
              </a:r>
              <a:r>
                <a:rPr lang="en-US" sz="2000" dirty="0"/>
                <a:t>is </a:t>
              </a:r>
              <a:r>
                <a:rPr lang="en-US" sz="2000" dirty="0">
                  <a:solidFill>
                    <a:srgbClr val="FF0000"/>
                  </a:solidFill>
                </a:rPr>
                <a:t>hidden</a:t>
              </a:r>
              <a:r>
                <a:rPr lang="en-US" sz="2000" dirty="0"/>
                <a:t> from you – you don’t need to know how it works to use it!</a:t>
              </a:r>
            </a:p>
          </p:txBody>
        </p:sp>
        <p:pic>
          <p:nvPicPr>
            <p:cNvPr id="22" name="Picture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0" y="3286"/>
              <a:ext cx="738" cy="5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8412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22</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Rectangle 3"/>
          <p:cNvSpPr>
            <a:spLocks noChangeArrowheads="1"/>
          </p:cNvSpPr>
          <p:nvPr/>
        </p:nvSpPr>
        <p:spPr bwMode="auto">
          <a:xfrm>
            <a:off x="176213" y="1633538"/>
            <a:ext cx="4419600" cy="4976812"/>
          </a:xfrm>
          <a:prstGeom prst="rect">
            <a:avLst/>
          </a:prstGeom>
          <a:solidFill>
            <a:srgbClr val="FFFFFF"/>
          </a:solidFill>
          <a:ln w="9525">
            <a:solidFill>
              <a:schemeClr val="tx1"/>
            </a:solidFill>
            <a:miter lim="800000"/>
            <a:headEnd/>
            <a:tailEnd/>
          </a:ln>
        </p:spPr>
        <p:txBody>
          <a:bodyPr wrap="none" anchor="ctr"/>
          <a:lstStyle/>
          <a:p>
            <a:r>
              <a:rPr lang="en-US" sz="1800" dirty="0" err="1"/>
              <a:t>int</a:t>
            </a:r>
            <a:r>
              <a:rPr lang="en-US" sz="1800" dirty="0"/>
              <a:t> main()</a:t>
            </a:r>
          </a:p>
          <a:p>
            <a:r>
              <a:rPr lang="en-US" sz="1800" dirty="0"/>
              <a:t>{</a:t>
            </a:r>
          </a:p>
          <a:p>
            <a:r>
              <a:rPr lang="en-US" sz="1800" dirty="0"/>
              <a:t>   </a:t>
            </a:r>
            <a:r>
              <a:rPr lang="en-US" sz="1800" dirty="0" err="1"/>
              <a:t>FriendFinder</a:t>
            </a:r>
            <a:r>
              <a:rPr lang="en-US" sz="1800" dirty="0"/>
              <a:t> x;</a:t>
            </a:r>
          </a:p>
          <a:p>
            <a:endParaRPr lang="en-US" sz="1800" dirty="0"/>
          </a:p>
          <a:p>
            <a:r>
              <a:rPr lang="en-US" sz="1800" dirty="0"/>
              <a:t>   </a:t>
            </a:r>
            <a:r>
              <a:rPr lang="en-US" sz="1800" dirty="0" err="1"/>
              <a:t>x.</a:t>
            </a:r>
            <a:r>
              <a:rPr lang="en-US" sz="1800" dirty="0" err="1">
                <a:solidFill>
                  <a:srgbClr val="9900FF"/>
                </a:solidFill>
              </a:rPr>
              <a:t>BecomeFriends</a:t>
            </a:r>
            <a:r>
              <a:rPr lang="en-US" sz="1800" dirty="0"/>
              <a:t>(“Carey Nash”,</a:t>
            </a:r>
            <a:br>
              <a:rPr lang="en-US" sz="1800" dirty="0"/>
            </a:br>
            <a:r>
              <a:rPr lang="en-US" sz="1800" dirty="0"/>
              <a:t>                              ”Scott Wilhelm”); </a:t>
            </a:r>
          </a:p>
          <a:p>
            <a:r>
              <a:rPr lang="en-US" sz="1800" dirty="0"/>
              <a:t>   </a:t>
            </a:r>
            <a:r>
              <a:rPr lang="en-US" sz="1800" dirty="0" err="1"/>
              <a:t>x.</a:t>
            </a:r>
            <a:r>
              <a:rPr lang="en-US" sz="1800" dirty="0" err="1">
                <a:solidFill>
                  <a:srgbClr val="9900FF"/>
                </a:solidFill>
              </a:rPr>
              <a:t>BecomeFriends</a:t>
            </a:r>
            <a:r>
              <a:rPr lang="en-US" sz="1800" dirty="0"/>
              <a:t>(“Jenny Oh”,</a:t>
            </a:r>
          </a:p>
          <a:p>
            <a:r>
              <a:rPr lang="en-US" sz="1800" dirty="0"/>
              <a:t>                              ”David Sun”);</a:t>
            </a:r>
          </a:p>
          <a:p>
            <a:r>
              <a:rPr lang="en-US" sz="1800" dirty="0"/>
              <a:t>   …</a:t>
            </a:r>
          </a:p>
          <a:p>
            <a:endParaRPr lang="en-US" sz="1800" dirty="0"/>
          </a:p>
          <a:p>
            <a:r>
              <a:rPr lang="en-US" sz="1800" dirty="0"/>
              <a:t>   string </a:t>
            </a:r>
            <a:r>
              <a:rPr lang="en-US" sz="1800" dirty="0" err="1"/>
              <a:t>userA</a:t>
            </a:r>
            <a:r>
              <a:rPr lang="en-US" sz="1800" dirty="0"/>
              <a:t>, </a:t>
            </a:r>
            <a:r>
              <a:rPr lang="en-US" sz="1800" dirty="0" err="1"/>
              <a:t>userB</a:t>
            </a:r>
            <a:r>
              <a:rPr lang="en-US" sz="1800" dirty="0"/>
              <a:t>;</a:t>
            </a:r>
          </a:p>
          <a:p>
            <a:endParaRPr lang="en-US" sz="1000" dirty="0"/>
          </a:p>
          <a:p>
            <a:r>
              <a:rPr lang="en-US" sz="1800" dirty="0"/>
              <a:t>   </a:t>
            </a:r>
            <a:r>
              <a:rPr lang="en-US" sz="1800" dirty="0" err="1"/>
              <a:t>cin</a:t>
            </a:r>
            <a:r>
              <a:rPr lang="en-US" sz="1800" dirty="0"/>
              <a:t> &gt;&gt; </a:t>
            </a:r>
            <a:r>
              <a:rPr lang="en-US" sz="1800" dirty="0" err="1"/>
              <a:t>userA</a:t>
            </a:r>
            <a:r>
              <a:rPr lang="en-US" sz="1800" dirty="0"/>
              <a:t> &gt;&gt; </a:t>
            </a:r>
            <a:r>
              <a:rPr lang="en-US" sz="1800" dirty="0" err="1"/>
              <a:t>userB</a:t>
            </a:r>
            <a:r>
              <a:rPr lang="en-US" sz="1800" dirty="0"/>
              <a:t>;</a:t>
            </a:r>
          </a:p>
          <a:p>
            <a:r>
              <a:rPr lang="en-US" sz="1800" dirty="0"/>
              <a:t>   if (</a:t>
            </a:r>
            <a:r>
              <a:rPr lang="en-US" sz="1800" dirty="0" err="1"/>
              <a:t>x.</a:t>
            </a:r>
            <a:r>
              <a:rPr lang="en-US" sz="1800" dirty="0" err="1">
                <a:solidFill>
                  <a:srgbClr val="9900FF"/>
                </a:solidFill>
              </a:rPr>
              <a:t>AreTheyFriends</a:t>
            </a:r>
            <a:r>
              <a:rPr lang="en-US" sz="1800" dirty="0"/>
              <a:t>(</a:t>
            </a:r>
            <a:r>
              <a:rPr lang="en-US" sz="1800" dirty="0" err="1"/>
              <a:t>userA</a:t>
            </a:r>
            <a:r>
              <a:rPr lang="en-US" sz="1800" dirty="0"/>
              <a:t>,</a:t>
            </a:r>
            <a:br>
              <a:rPr lang="en-US" sz="1800" dirty="0"/>
            </a:br>
            <a:r>
              <a:rPr lang="en-US" sz="1800" dirty="0"/>
              <a:t>                                    </a:t>
            </a:r>
            <a:r>
              <a:rPr lang="en-US" sz="1800" dirty="0" err="1"/>
              <a:t>userB</a:t>
            </a:r>
            <a:r>
              <a:rPr lang="en-US" sz="1800" dirty="0"/>
              <a:t>) == true)</a:t>
            </a:r>
          </a:p>
          <a:p>
            <a:r>
              <a:rPr lang="en-US" sz="1800" dirty="0"/>
              <a:t>      </a:t>
            </a:r>
            <a:r>
              <a:rPr lang="en-US" sz="1800" dirty="0" err="1"/>
              <a:t>cout</a:t>
            </a:r>
            <a:r>
              <a:rPr lang="en-US" sz="1800" dirty="0"/>
              <a:t> &lt;&lt; </a:t>
            </a:r>
            <a:r>
              <a:rPr lang="en-US" sz="1800" dirty="0" err="1"/>
              <a:t>userA</a:t>
            </a:r>
            <a:r>
              <a:rPr lang="en-US" sz="1800" dirty="0"/>
              <a:t> &lt;&lt; “ is friends with “ </a:t>
            </a:r>
            <a:br>
              <a:rPr lang="en-US" sz="1800" dirty="0"/>
            </a:br>
            <a:r>
              <a:rPr lang="en-US" sz="1800" dirty="0"/>
              <a:t>             &lt;&lt; </a:t>
            </a:r>
            <a:r>
              <a:rPr lang="en-US" sz="1800" dirty="0" err="1"/>
              <a:t>userB</a:t>
            </a:r>
            <a:r>
              <a:rPr lang="en-US" sz="1800" dirty="0"/>
              <a:t>;</a:t>
            </a:r>
          </a:p>
          <a:p>
            <a:r>
              <a:rPr lang="en-US" sz="1800" dirty="0"/>
              <a:t>}</a:t>
            </a:r>
          </a:p>
        </p:txBody>
      </p:sp>
      <p:pic>
        <p:nvPicPr>
          <p:cNvPr id="7" name="Picture 8" descr="BS00365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7788" y="1654175"/>
            <a:ext cx="12160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9"/>
          <p:cNvGrpSpPr>
            <a:grpSpLocks/>
          </p:cNvGrpSpPr>
          <p:nvPr/>
        </p:nvGrpSpPr>
        <p:grpSpPr bwMode="auto">
          <a:xfrm>
            <a:off x="2255838" y="152400"/>
            <a:ext cx="3154362" cy="2111375"/>
            <a:chOff x="1421" y="96"/>
            <a:chExt cx="1987" cy="1330"/>
          </a:xfrm>
        </p:grpSpPr>
        <p:sp>
          <p:nvSpPr>
            <p:cNvPr id="9" name="Rectangle 10"/>
            <p:cNvSpPr>
              <a:spLocks noChangeArrowheads="1"/>
            </p:cNvSpPr>
            <p:nvPr/>
          </p:nvSpPr>
          <p:spPr bwMode="auto">
            <a:xfrm>
              <a:off x="1421" y="96"/>
              <a:ext cx="1987" cy="1330"/>
            </a:xfrm>
            <a:prstGeom prst="rect">
              <a:avLst/>
            </a:prstGeom>
            <a:solidFill>
              <a:schemeClr val="accent1"/>
            </a:solidFill>
            <a:ln w="9525">
              <a:solidFill>
                <a:schemeClr val="tx1"/>
              </a:solidFill>
              <a:miter lim="800000"/>
              <a:headEnd/>
              <a:tailEnd/>
            </a:ln>
          </p:spPr>
          <p:txBody>
            <a:bodyPr wrap="none" anchor="ctr"/>
            <a:lstStyle/>
            <a:p>
              <a:endParaRPr lang="en-US" sz="2400"/>
            </a:p>
          </p:txBody>
        </p:sp>
        <p:grpSp>
          <p:nvGrpSpPr>
            <p:cNvPr id="10" name="Group 11"/>
            <p:cNvGrpSpPr>
              <a:grpSpLocks/>
            </p:cNvGrpSpPr>
            <p:nvPr/>
          </p:nvGrpSpPr>
          <p:grpSpPr bwMode="auto">
            <a:xfrm>
              <a:off x="1445" y="452"/>
              <a:ext cx="1890" cy="928"/>
              <a:chOff x="135" y="1451"/>
              <a:chExt cx="1890" cy="928"/>
            </a:xfrm>
          </p:grpSpPr>
          <p:sp>
            <p:nvSpPr>
              <p:cNvPr id="12" name="Text Box 12"/>
              <p:cNvSpPr txBox="1">
                <a:spLocks noChangeArrowheads="1"/>
              </p:cNvSpPr>
              <p:nvPr/>
            </p:nvSpPr>
            <p:spPr bwMode="auto">
              <a:xfrm>
                <a:off x="135" y="1452"/>
                <a:ext cx="969" cy="757"/>
              </a:xfrm>
              <a:prstGeom prst="rect">
                <a:avLst/>
              </a:prstGeom>
              <a:solidFill>
                <a:srgbClr val="FFFFE1"/>
              </a:solidFill>
              <a:ln w="9525">
                <a:solidFill>
                  <a:schemeClr val="tx1"/>
                </a:solidFill>
                <a:miter lim="800000"/>
                <a:headEnd/>
                <a:tailEnd/>
              </a:ln>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800" u="sng">
                    <a:solidFill>
                      <a:srgbClr val="800000"/>
                    </a:solidFill>
                  </a:rPr>
                  <a:t>User</a:t>
                </a:r>
                <a:r>
                  <a:rPr lang="en-US" sz="800" u="sng"/>
                  <a:t> 	</a:t>
                </a:r>
                <a:r>
                  <a:rPr lang="en-US" sz="800" u="sng">
                    <a:solidFill>
                      <a:srgbClr val="006666"/>
                    </a:solidFill>
                  </a:rPr>
                  <a:t>Number</a:t>
                </a:r>
              </a:p>
              <a:p>
                <a:pPr eaLnBrk="1" hangingPunct="1"/>
                <a:r>
                  <a:rPr lang="en-US" sz="800">
                    <a:solidFill>
                      <a:srgbClr val="800000"/>
                    </a:solidFill>
                  </a:rPr>
                  <a:t>Carey Nash</a:t>
                </a:r>
                <a:r>
                  <a:rPr lang="en-US" sz="800"/>
                  <a:t> 	</a:t>
                </a:r>
                <a:r>
                  <a:rPr lang="en-US" sz="800">
                    <a:solidFill>
                      <a:srgbClr val="006666"/>
                    </a:solidFill>
                  </a:rPr>
                  <a:t>0</a:t>
                </a:r>
              </a:p>
              <a:p>
                <a:pPr eaLnBrk="1" hangingPunct="1"/>
                <a:r>
                  <a:rPr lang="en-US" sz="800">
                    <a:solidFill>
                      <a:srgbClr val="800000"/>
                    </a:solidFill>
                  </a:rPr>
                  <a:t>Scott Wilhelm</a:t>
                </a:r>
                <a:r>
                  <a:rPr lang="en-US" sz="800">
                    <a:solidFill>
                      <a:srgbClr val="006666"/>
                    </a:solidFill>
                  </a:rPr>
                  <a:t>	1</a:t>
                </a:r>
              </a:p>
              <a:p>
                <a:pPr eaLnBrk="1" hangingPunct="1"/>
                <a:r>
                  <a:rPr lang="en-US" sz="800">
                    <a:solidFill>
                      <a:srgbClr val="800000"/>
                    </a:solidFill>
                  </a:rPr>
                  <a:t>David Smallberg</a:t>
                </a:r>
                <a:r>
                  <a:rPr lang="en-US" sz="800">
                    <a:solidFill>
                      <a:srgbClr val="006666"/>
                    </a:solidFill>
                  </a:rPr>
                  <a:t>	2</a:t>
                </a:r>
              </a:p>
              <a:p>
                <a:pPr eaLnBrk="1" hangingPunct="1"/>
                <a:r>
                  <a:rPr lang="en-US" sz="800">
                    <a:solidFill>
                      <a:srgbClr val="800000"/>
                    </a:solidFill>
                  </a:rPr>
                  <a:t>Danny Hsu</a:t>
                </a:r>
                <a:r>
                  <a:rPr lang="en-US" sz="800"/>
                  <a:t> 	</a:t>
                </a:r>
                <a:r>
                  <a:rPr lang="en-US" sz="800">
                    <a:solidFill>
                      <a:srgbClr val="006666"/>
                    </a:solidFill>
                  </a:rPr>
                  <a:t>3</a:t>
                </a:r>
                <a:br>
                  <a:rPr lang="en-US" sz="800"/>
                </a:br>
                <a:r>
                  <a:rPr lang="en-US" sz="800">
                    <a:solidFill>
                      <a:srgbClr val="800000"/>
                    </a:solidFill>
                  </a:rPr>
                  <a:t>Jenny</a:t>
                </a:r>
                <a:r>
                  <a:rPr lang="en-US" sz="800"/>
                  <a:t> </a:t>
                </a:r>
                <a:r>
                  <a:rPr lang="en-US" sz="800">
                    <a:solidFill>
                      <a:srgbClr val="800000"/>
                    </a:solidFill>
                  </a:rPr>
                  <a:t>Oh</a:t>
                </a:r>
                <a:r>
                  <a:rPr lang="en-US" sz="800">
                    <a:solidFill>
                      <a:srgbClr val="006666"/>
                    </a:solidFill>
                  </a:rPr>
                  <a:t>	4</a:t>
                </a:r>
              </a:p>
              <a:p>
                <a:pPr eaLnBrk="1" hangingPunct="1"/>
                <a:r>
                  <a:rPr lang="en-US" sz="800">
                    <a:solidFill>
                      <a:srgbClr val="800000"/>
                    </a:solidFill>
                  </a:rPr>
                  <a:t>Rich</a:t>
                </a:r>
                <a:r>
                  <a:rPr lang="en-US" sz="800"/>
                  <a:t> </a:t>
                </a:r>
                <a:r>
                  <a:rPr lang="en-US" sz="800">
                    <a:solidFill>
                      <a:srgbClr val="800000"/>
                    </a:solidFill>
                  </a:rPr>
                  <a:t>Lim</a:t>
                </a:r>
                <a:r>
                  <a:rPr lang="en-US" sz="800">
                    <a:solidFill>
                      <a:srgbClr val="006666"/>
                    </a:solidFill>
                  </a:rPr>
                  <a:t>	5</a:t>
                </a:r>
              </a:p>
              <a:p>
                <a:pPr eaLnBrk="1" hangingPunct="1"/>
                <a:r>
                  <a:rPr lang="en-US" sz="800">
                    <a:solidFill>
                      <a:srgbClr val="800000"/>
                    </a:solidFill>
                  </a:rPr>
                  <a:t>David</a:t>
                </a:r>
                <a:r>
                  <a:rPr lang="en-US" sz="800"/>
                  <a:t> </a:t>
                </a:r>
                <a:r>
                  <a:rPr lang="en-US" sz="800">
                    <a:solidFill>
                      <a:srgbClr val="800000"/>
                    </a:solidFill>
                  </a:rPr>
                  <a:t>Sun</a:t>
                </a:r>
                <a:r>
                  <a:rPr lang="en-US" sz="800">
                    <a:solidFill>
                      <a:srgbClr val="006666"/>
                    </a:solidFill>
                  </a:rPr>
                  <a:t>	6</a:t>
                </a:r>
              </a:p>
              <a:p>
                <a:pPr eaLnBrk="1" hangingPunct="1"/>
                <a:r>
                  <a:rPr lang="en-US" sz="800">
                    <a:solidFill>
                      <a:srgbClr val="800000"/>
                    </a:solidFill>
                  </a:rPr>
                  <a:t>…</a:t>
                </a:r>
                <a:endParaRPr lang="en-US" sz="800">
                  <a:solidFill>
                    <a:srgbClr val="006666"/>
                  </a:solidFill>
                </a:endParaRPr>
              </a:p>
            </p:txBody>
          </p:sp>
          <p:pic>
            <p:nvPicPr>
              <p:cNvPr id="13" name="Picture 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0" y="1451"/>
                <a:ext cx="895" cy="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14"/>
              <p:cNvSpPr txBox="1">
                <a:spLocks noChangeArrowheads="1"/>
              </p:cNvSpPr>
              <p:nvPr/>
            </p:nvSpPr>
            <p:spPr bwMode="auto">
              <a:xfrm>
                <a:off x="397" y="2007"/>
                <a:ext cx="1429" cy="372"/>
              </a:xfrm>
              <a:prstGeom prst="rect">
                <a:avLst/>
              </a:prstGeom>
              <a:solidFill>
                <a:srgbClr val="CCFFCC"/>
              </a:solidFill>
              <a:ln w="9525">
                <a:solidFill>
                  <a:schemeClr val="tx1"/>
                </a:solidFill>
                <a:miter lim="800000"/>
                <a:headEnd/>
                <a:tailEnd/>
              </a:ln>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800"/>
                  <a:t>Friend-finding Algorithm:</a:t>
                </a:r>
              </a:p>
              <a:p>
                <a:pPr eaLnBrk="1" hangingPunct="1"/>
                <a:r>
                  <a:rPr lang="en-US" sz="800"/>
                  <a:t>1. Look up their numbers </a:t>
                </a:r>
                <a:r>
                  <a:rPr lang="en-US" sz="800">
                    <a:solidFill>
                      <a:srgbClr val="6600CC"/>
                    </a:solidFill>
                  </a:rPr>
                  <a:t>A</a:t>
                </a:r>
                <a:r>
                  <a:rPr lang="en-US" sz="800"/>
                  <a:t>, </a:t>
                </a:r>
                <a:r>
                  <a:rPr lang="en-US" sz="800">
                    <a:solidFill>
                      <a:srgbClr val="6600CC"/>
                    </a:solidFill>
                  </a:rPr>
                  <a:t>B</a:t>
                </a:r>
              </a:p>
              <a:p>
                <a:pPr eaLnBrk="1" hangingPunct="1"/>
                <a:r>
                  <a:rPr lang="en-US" sz="800"/>
                  <a:t>2. Check (</a:t>
                </a:r>
                <a:r>
                  <a:rPr lang="en-US" sz="800">
                    <a:solidFill>
                      <a:srgbClr val="6600CC"/>
                    </a:solidFill>
                  </a:rPr>
                  <a:t>A</a:t>
                </a:r>
                <a:r>
                  <a:rPr lang="en-US" sz="800"/>
                  <a:t>,</a:t>
                </a:r>
                <a:r>
                  <a:rPr lang="en-US" sz="800">
                    <a:solidFill>
                      <a:srgbClr val="6600CC"/>
                    </a:solidFill>
                  </a:rPr>
                  <a:t>B</a:t>
                </a:r>
                <a:r>
                  <a:rPr lang="en-US" sz="800"/>
                  <a:t>) </a:t>
                </a:r>
                <a:r>
                  <a:rPr lang="en-US" sz="800" i="1"/>
                  <a:t>or</a:t>
                </a:r>
                <a:r>
                  <a:rPr lang="en-US" sz="800"/>
                  <a:t> (</a:t>
                </a:r>
                <a:r>
                  <a:rPr lang="en-US" sz="800">
                    <a:solidFill>
                      <a:srgbClr val="6600CC"/>
                    </a:solidFill>
                  </a:rPr>
                  <a:t>B</a:t>
                </a:r>
                <a:r>
                  <a:rPr lang="en-US" sz="800"/>
                  <a:t>,</a:t>
                </a:r>
                <a:r>
                  <a:rPr lang="en-US" sz="800">
                    <a:solidFill>
                      <a:srgbClr val="6600CC"/>
                    </a:solidFill>
                  </a:rPr>
                  <a:t>A</a:t>
                </a:r>
                <a:r>
                  <a:rPr lang="en-US" sz="800"/>
                  <a:t>) in our array</a:t>
                </a:r>
              </a:p>
              <a:p>
                <a:pPr eaLnBrk="1" hangingPunct="1"/>
                <a:r>
                  <a:rPr lang="en-US" sz="800"/>
                  <a:t>3. If we find a </a:t>
                </a:r>
                <a:r>
                  <a:rPr lang="en-US" sz="800">
                    <a:solidFill>
                      <a:srgbClr val="6600CC"/>
                    </a:solidFill>
                  </a:rPr>
                  <a:t>*</a:t>
                </a:r>
                <a:r>
                  <a:rPr lang="en-US" sz="800"/>
                  <a:t>, they’re buddies!</a:t>
                </a:r>
              </a:p>
            </p:txBody>
          </p:sp>
        </p:grpSp>
        <p:pic>
          <p:nvPicPr>
            <p:cNvPr id="11"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 y="146"/>
              <a:ext cx="85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Text Box 25"/>
          <p:cNvSpPr txBox="1">
            <a:spLocks noChangeArrowheads="1"/>
          </p:cNvSpPr>
          <p:nvPr/>
        </p:nvSpPr>
        <p:spPr bwMode="auto">
          <a:xfrm>
            <a:off x="5370513" y="1038225"/>
            <a:ext cx="3711575"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900"/>
              <a:t>Now what if I wanted to </a:t>
            </a:r>
            <a:r>
              <a:rPr lang="en-US" sz="1900">
                <a:solidFill>
                  <a:schemeClr val="accent2"/>
                </a:solidFill>
              </a:rPr>
              <a:t>improve</a:t>
            </a:r>
            <a:r>
              <a:rPr lang="en-US" sz="1900"/>
              <a:t> my FriendFinder data structures?</a:t>
            </a:r>
          </a:p>
        </p:txBody>
      </p:sp>
      <p:sp>
        <p:nvSpPr>
          <p:cNvPr id="16" name="Text Box 26"/>
          <p:cNvSpPr txBox="1">
            <a:spLocks noChangeArrowheads="1"/>
          </p:cNvSpPr>
          <p:nvPr/>
        </p:nvSpPr>
        <p:spPr bwMode="auto">
          <a:xfrm>
            <a:off x="4559300" y="2311400"/>
            <a:ext cx="4449763"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900"/>
              <a:t>Let’s say I made a </a:t>
            </a:r>
            <a:r>
              <a:rPr lang="en-US" sz="1900">
                <a:solidFill>
                  <a:srgbClr val="FF0000"/>
                </a:solidFill>
              </a:rPr>
              <a:t>radical change</a:t>
            </a:r>
            <a:r>
              <a:rPr lang="en-US" sz="1900"/>
              <a:t> to our </a:t>
            </a:r>
            <a:r>
              <a:rPr lang="en-US" sz="1900">
                <a:solidFill>
                  <a:srgbClr val="FF0000"/>
                </a:solidFill>
              </a:rPr>
              <a:t>friend network</a:t>
            </a:r>
            <a:r>
              <a:rPr lang="en-US" sz="1900"/>
              <a:t> data structures… </a:t>
            </a:r>
          </a:p>
        </p:txBody>
      </p:sp>
      <p:grpSp>
        <p:nvGrpSpPr>
          <p:cNvPr id="17" name="Group 35"/>
          <p:cNvGrpSpPr>
            <a:grpSpLocks/>
          </p:cNvGrpSpPr>
          <p:nvPr/>
        </p:nvGrpSpPr>
        <p:grpSpPr bwMode="auto">
          <a:xfrm>
            <a:off x="2254250" y="152400"/>
            <a:ext cx="3154363" cy="2111375"/>
            <a:chOff x="2083" y="2846"/>
            <a:chExt cx="1987" cy="1330"/>
          </a:xfrm>
        </p:grpSpPr>
        <p:sp>
          <p:nvSpPr>
            <p:cNvPr id="18" name="Rectangle 29"/>
            <p:cNvSpPr>
              <a:spLocks noChangeArrowheads="1"/>
            </p:cNvSpPr>
            <p:nvPr/>
          </p:nvSpPr>
          <p:spPr bwMode="auto">
            <a:xfrm>
              <a:off x="2083" y="2846"/>
              <a:ext cx="1987" cy="1330"/>
            </a:xfrm>
            <a:prstGeom prst="rect">
              <a:avLst/>
            </a:prstGeom>
            <a:solidFill>
              <a:schemeClr val="accent1"/>
            </a:solidFill>
            <a:ln w="9525">
              <a:solidFill>
                <a:schemeClr val="tx1"/>
              </a:solidFill>
              <a:miter lim="800000"/>
              <a:headEnd/>
              <a:tailEnd/>
            </a:ln>
          </p:spPr>
          <p:txBody>
            <a:bodyPr wrap="none" anchor="ctr"/>
            <a:lstStyle/>
            <a:p>
              <a:endParaRPr lang="en-US" sz="2400"/>
            </a:p>
          </p:txBody>
        </p:sp>
        <p:sp>
          <p:nvSpPr>
            <p:cNvPr id="19" name="Text Box 31"/>
            <p:cNvSpPr txBox="1">
              <a:spLocks noChangeArrowheads="1"/>
            </p:cNvSpPr>
            <p:nvPr/>
          </p:nvSpPr>
          <p:spPr bwMode="auto">
            <a:xfrm>
              <a:off x="2107" y="3203"/>
              <a:ext cx="969" cy="757"/>
            </a:xfrm>
            <a:prstGeom prst="rect">
              <a:avLst/>
            </a:prstGeom>
            <a:solidFill>
              <a:srgbClr val="FFFFE1"/>
            </a:solidFill>
            <a:ln w="9525">
              <a:solidFill>
                <a:schemeClr val="tx1"/>
              </a:solidFill>
              <a:miter lim="800000"/>
              <a:headEnd/>
              <a:tailEnd/>
            </a:ln>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800" u="sng">
                  <a:solidFill>
                    <a:srgbClr val="800000"/>
                  </a:solidFill>
                </a:rPr>
                <a:t>User</a:t>
              </a:r>
              <a:r>
                <a:rPr lang="en-US" sz="800" u="sng"/>
                <a:t> 	</a:t>
              </a:r>
              <a:r>
                <a:rPr lang="en-US" sz="800" u="sng">
                  <a:solidFill>
                    <a:srgbClr val="006666"/>
                  </a:solidFill>
                </a:rPr>
                <a:t>Number</a:t>
              </a:r>
            </a:p>
            <a:p>
              <a:pPr eaLnBrk="1" hangingPunct="1"/>
              <a:r>
                <a:rPr lang="en-US" sz="800">
                  <a:solidFill>
                    <a:srgbClr val="800000"/>
                  </a:solidFill>
                </a:rPr>
                <a:t>Carey Nash</a:t>
              </a:r>
              <a:r>
                <a:rPr lang="en-US" sz="800"/>
                <a:t> 	</a:t>
              </a:r>
              <a:r>
                <a:rPr lang="en-US" sz="800">
                  <a:solidFill>
                    <a:srgbClr val="006666"/>
                  </a:solidFill>
                </a:rPr>
                <a:t>0</a:t>
              </a:r>
            </a:p>
            <a:p>
              <a:pPr eaLnBrk="1" hangingPunct="1"/>
              <a:r>
                <a:rPr lang="en-US" sz="800">
                  <a:solidFill>
                    <a:srgbClr val="800000"/>
                  </a:solidFill>
                </a:rPr>
                <a:t>Scott Wilhelm</a:t>
              </a:r>
              <a:r>
                <a:rPr lang="en-US" sz="800">
                  <a:solidFill>
                    <a:srgbClr val="006666"/>
                  </a:solidFill>
                </a:rPr>
                <a:t>	1</a:t>
              </a:r>
            </a:p>
            <a:p>
              <a:pPr eaLnBrk="1" hangingPunct="1"/>
              <a:r>
                <a:rPr lang="en-US" sz="800">
                  <a:solidFill>
                    <a:srgbClr val="800000"/>
                  </a:solidFill>
                </a:rPr>
                <a:t>David Smallberg</a:t>
              </a:r>
              <a:r>
                <a:rPr lang="en-US" sz="800">
                  <a:solidFill>
                    <a:srgbClr val="006666"/>
                  </a:solidFill>
                </a:rPr>
                <a:t>	2</a:t>
              </a:r>
            </a:p>
            <a:p>
              <a:pPr eaLnBrk="1" hangingPunct="1"/>
              <a:r>
                <a:rPr lang="en-US" sz="800">
                  <a:solidFill>
                    <a:srgbClr val="800000"/>
                  </a:solidFill>
                </a:rPr>
                <a:t>Danny Hsu</a:t>
              </a:r>
              <a:r>
                <a:rPr lang="en-US" sz="800"/>
                <a:t> 	</a:t>
              </a:r>
              <a:r>
                <a:rPr lang="en-US" sz="800">
                  <a:solidFill>
                    <a:srgbClr val="006666"/>
                  </a:solidFill>
                </a:rPr>
                <a:t>3</a:t>
              </a:r>
              <a:br>
                <a:rPr lang="en-US" sz="800"/>
              </a:br>
              <a:r>
                <a:rPr lang="en-US" sz="800">
                  <a:solidFill>
                    <a:srgbClr val="800000"/>
                  </a:solidFill>
                </a:rPr>
                <a:t>Jenny</a:t>
              </a:r>
              <a:r>
                <a:rPr lang="en-US" sz="800"/>
                <a:t> </a:t>
              </a:r>
              <a:r>
                <a:rPr lang="en-US" sz="800">
                  <a:solidFill>
                    <a:srgbClr val="800000"/>
                  </a:solidFill>
                </a:rPr>
                <a:t>Oh</a:t>
              </a:r>
              <a:r>
                <a:rPr lang="en-US" sz="800">
                  <a:solidFill>
                    <a:srgbClr val="006666"/>
                  </a:solidFill>
                </a:rPr>
                <a:t>	4</a:t>
              </a:r>
            </a:p>
            <a:p>
              <a:pPr eaLnBrk="1" hangingPunct="1"/>
              <a:r>
                <a:rPr lang="en-US" sz="800">
                  <a:solidFill>
                    <a:srgbClr val="800000"/>
                  </a:solidFill>
                </a:rPr>
                <a:t>Rich</a:t>
              </a:r>
              <a:r>
                <a:rPr lang="en-US" sz="800"/>
                <a:t> </a:t>
              </a:r>
              <a:r>
                <a:rPr lang="en-US" sz="800">
                  <a:solidFill>
                    <a:srgbClr val="800000"/>
                  </a:solidFill>
                </a:rPr>
                <a:t>Lim</a:t>
              </a:r>
              <a:r>
                <a:rPr lang="en-US" sz="800">
                  <a:solidFill>
                    <a:srgbClr val="006666"/>
                  </a:solidFill>
                </a:rPr>
                <a:t>	5</a:t>
              </a:r>
            </a:p>
            <a:p>
              <a:pPr eaLnBrk="1" hangingPunct="1"/>
              <a:r>
                <a:rPr lang="en-US" sz="800">
                  <a:solidFill>
                    <a:srgbClr val="800000"/>
                  </a:solidFill>
                </a:rPr>
                <a:t>David</a:t>
              </a:r>
              <a:r>
                <a:rPr lang="en-US" sz="800"/>
                <a:t> </a:t>
              </a:r>
              <a:r>
                <a:rPr lang="en-US" sz="800">
                  <a:solidFill>
                    <a:srgbClr val="800000"/>
                  </a:solidFill>
                </a:rPr>
                <a:t>Sun</a:t>
              </a:r>
              <a:r>
                <a:rPr lang="en-US" sz="800">
                  <a:solidFill>
                    <a:srgbClr val="006666"/>
                  </a:solidFill>
                </a:rPr>
                <a:t>	6</a:t>
              </a:r>
            </a:p>
            <a:p>
              <a:pPr eaLnBrk="1" hangingPunct="1"/>
              <a:r>
                <a:rPr lang="en-US" sz="800">
                  <a:solidFill>
                    <a:srgbClr val="800000"/>
                  </a:solidFill>
                </a:rPr>
                <a:t>…</a:t>
              </a:r>
              <a:endParaRPr lang="en-US" sz="800">
                <a:solidFill>
                  <a:srgbClr val="006666"/>
                </a:solidFill>
              </a:endParaRPr>
            </a:p>
          </p:txBody>
        </p:sp>
        <p:pic>
          <p:nvPicPr>
            <p:cNvPr id="2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9" y="2896"/>
              <a:ext cx="85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7"/>
            <p:cNvPicPr>
              <a:picLocks noChangeAspect="1" noChangeArrowheads="1"/>
            </p:cNvPicPr>
            <p:nvPr/>
          </p:nvPicPr>
          <p:blipFill>
            <a:blip r:embed="rId5">
              <a:extLst>
                <a:ext uri="{28A0092B-C50C-407E-A947-70E740481C1C}">
                  <a14:useLocalDpi xmlns:a14="http://schemas.microsoft.com/office/drawing/2010/main" val="0"/>
                </a:ext>
              </a:extLst>
            </a:blip>
            <a:srcRect r="24791" b="11157"/>
            <a:stretch>
              <a:fillRect/>
            </a:stretch>
          </p:blipFill>
          <p:spPr bwMode="auto">
            <a:xfrm>
              <a:off x="3090" y="3193"/>
              <a:ext cx="932"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33"/>
            <p:cNvSpPr txBox="1">
              <a:spLocks noChangeArrowheads="1"/>
            </p:cNvSpPr>
            <p:nvPr/>
          </p:nvSpPr>
          <p:spPr bwMode="auto">
            <a:xfrm>
              <a:off x="2089" y="3703"/>
              <a:ext cx="1429" cy="449"/>
            </a:xfrm>
            <a:prstGeom prst="rect">
              <a:avLst/>
            </a:prstGeom>
            <a:solidFill>
              <a:srgbClr val="CCFFCC"/>
            </a:solidFill>
            <a:ln w="9525">
              <a:solidFill>
                <a:schemeClr val="tx1"/>
              </a:solidFill>
              <a:miter lim="800000"/>
              <a:headEnd/>
              <a:tailEnd/>
            </a:ln>
          </p:spPr>
          <p:txBody>
            <a:bodyPr>
              <a:spAutoFit/>
            </a:bodyPr>
            <a:lstStyle>
              <a:lvl1pPr marL="457200" indent="-457200"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eaLnBrk="1" hangingPunct="1"/>
              <a:r>
                <a:rPr lang="en-US" sz="800"/>
                <a:t>Friend-finding Algorithm:</a:t>
              </a:r>
            </a:p>
            <a:p>
              <a:pPr eaLnBrk="1" hangingPunct="1"/>
              <a:r>
                <a:rPr lang="en-US" sz="800"/>
                <a:t>1. Identify the node in the graph for user </a:t>
              </a:r>
              <a:endParaRPr lang="en-US" sz="800">
                <a:solidFill>
                  <a:srgbClr val="6600CC"/>
                </a:solidFill>
              </a:endParaRPr>
            </a:p>
            <a:p>
              <a:pPr eaLnBrk="1" hangingPunct="1"/>
              <a:r>
                <a:rPr lang="en-US" sz="800"/>
                <a:t>2. Perform a breadth-first search from this node</a:t>
              </a:r>
            </a:p>
            <a:p>
              <a:pPr eaLnBrk="1" hangingPunct="1"/>
              <a:r>
                <a:rPr lang="en-US" sz="800"/>
                <a:t>3. Do not follow more than 2 edges…</a:t>
              </a:r>
            </a:p>
          </p:txBody>
        </p:sp>
      </p:grpSp>
      <p:sp>
        <p:nvSpPr>
          <p:cNvPr id="23" name="Text Box 36"/>
          <p:cNvSpPr txBox="1">
            <a:spLocks noChangeArrowheads="1"/>
          </p:cNvSpPr>
          <p:nvPr/>
        </p:nvSpPr>
        <p:spPr bwMode="auto">
          <a:xfrm>
            <a:off x="4800600" y="3159125"/>
            <a:ext cx="4183063"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900"/>
              <a:t>Would the </a:t>
            </a:r>
            <a:r>
              <a:rPr lang="en-US" sz="1900">
                <a:solidFill>
                  <a:srgbClr val="6600FF"/>
                </a:solidFill>
              </a:rPr>
              <a:t>user</a:t>
            </a:r>
            <a:r>
              <a:rPr lang="en-US" sz="1900"/>
              <a:t> of my class need to </a:t>
            </a:r>
            <a:r>
              <a:rPr lang="en-US" sz="1900">
                <a:solidFill>
                  <a:srgbClr val="6600FF"/>
                </a:solidFill>
              </a:rPr>
              <a:t>change</a:t>
            </a:r>
            <a:r>
              <a:rPr lang="en-US" sz="1900"/>
              <a:t> any part of her program? </a:t>
            </a:r>
          </a:p>
        </p:txBody>
      </p:sp>
      <p:grpSp>
        <p:nvGrpSpPr>
          <p:cNvPr id="24" name="Group 44"/>
          <p:cNvGrpSpPr>
            <a:grpSpLocks/>
          </p:cNvGrpSpPr>
          <p:nvPr/>
        </p:nvGrpSpPr>
        <p:grpSpPr bwMode="auto">
          <a:xfrm>
            <a:off x="3673475" y="3330575"/>
            <a:ext cx="1203325" cy="1974850"/>
            <a:chOff x="2314" y="2098"/>
            <a:chExt cx="758" cy="1244"/>
          </a:xfrm>
        </p:grpSpPr>
        <p:sp>
          <p:nvSpPr>
            <p:cNvPr id="25" name="Line 37"/>
            <p:cNvSpPr>
              <a:spLocks noChangeShapeType="1"/>
            </p:cNvSpPr>
            <p:nvPr/>
          </p:nvSpPr>
          <p:spPr bwMode="auto">
            <a:xfrm flipH="1" flipV="1">
              <a:off x="2462" y="2098"/>
              <a:ext cx="601" cy="124"/>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 name="Line 38"/>
            <p:cNvSpPr>
              <a:spLocks noChangeShapeType="1"/>
            </p:cNvSpPr>
            <p:nvPr/>
          </p:nvSpPr>
          <p:spPr bwMode="auto">
            <a:xfrm flipH="1">
              <a:off x="2314" y="2208"/>
              <a:ext cx="758" cy="658"/>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7" name="Line 39"/>
            <p:cNvSpPr>
              <a:spLocks noChangeShapeType="1"/>
            </p:cNvSpPr>
            <p:nvPr/>
          </p:nvSpPr>
          <p:spPr bwMode="auto">
            <a:xfrm flipH="1">
              <a:off x="2382" y="2208"/>
              <a:ext cx="690" cy="1134"/>
            </a:xfrm>
            <a:prstGeom prst="line">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
        <p:nvSpPr>
          <p:cNvPr id="28" name="Rectangle 40"/>
          <p:cNvSpPr>
            <a:spLocks noChangeArrowheads="1"/>
          </p:cNvSpPr>
          <p:nvPr/>
        </p:nvSpPr>
        <p:spPr bwMode="auto">
          <a:xfrm>
            <a:off x="2257425" y="609600"/>
            <a:ext cx="3108325" cy="1638300"/>
          </a:xfrm>
          <a:prstGeom prst="rect">
            <a:avLst/>
          </a:prstGeom>
          <a:solidFill>
            <a:schemeClr val="accent1">
              <a:alpha val="7803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2400"/>
          </a:p>
        </p:txBody>
      </p:sp>
      <p:sp>
        <p:nvSpPr>
          <p:cNvPr id="29" name="Text Box 42"/>
          <p:cNvSpPr txBox="1">
            <a:spLocks noChangeArrowheads="1"/>
          </p:cNvSpPr>
          <p:nvPr/>
        </p:nvSpPr>
        <p:spPr bwMode="auto">
          <a:xfrm>
            <a:off x="4641418" y="4085650"/>
            <a:ext cx="4440237"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900" dirty="0">
                <a:solidFill>
                  <a:srgbClr val="006666"/>
                </a:solidFill>
              </a:rPr>
              <a:t>No!</a:t>
            </a:r>
            <a:r>
              <a:rPr lang="en-US" sz="1900" dirty="0"/>
              <a:t> Because the rest of the program doesn’t rely on these details - it knows nothing about them!</a:t>
            </a:r>
          </a:p>
        </p:txBody>
      </p:sp>
      <p:sp>
        <p:nvSpPr>
          <p:cNvPr id="30" name="Text Box 43"/>
          <p:cNvSpPr txBox="1">
            <a:spLocks noChangeArrowheads="1"/>
          </p:cNvSpPr>
          <p:nvPr/>
        </p:nvSpPr>
        <p:spPr bwMode="auto">
          <a:xfrm>
            <a:off x="5073650" y="5257800"/>
            <a:ext cx="3711575"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omic Sans MS" pitchFamily="66" charset="0"/>
                <a:cs typeface="Times New Roman" pitchFamily="18" charset="0"/>
              </a:defRPr>
            </a:lvl1pPr>
            <a:lvl2pPr marL="742950" indent="-285750" eaLnBrk="0" hangingPunct="0">
              <a:defRPr sz="2400">
                <a:solidFill>
                  <a:schemeClr val="tx1"/>
                </a:solidFill>
                <a:latin typeface="Comic Sans MS" pitchFamily="66" charset="0"/>
                <a:cs typeface="Times New Roman" pitchFamily="18" charset="0"/>
              </a:defRPr>
            </a:lvl2pPr>
            <a:lvl3pPr marL="1143000" indent="-228600" eaLnBrk="0" hangingPunct="0">
              <a:defRPr sz="2400">
                <a:solidFill>
                  <a:schemeClr val="tx1"/>
                </a:solidFill>
                <a:latin typeface="Comic Sans MS" pitchFamily="66" charset="0"/>
                <a:cs typeface="Times New Roman" pitchFamily="18" charset="0"/>
              </a:defRPr>
            </a:lvl3pPr>
            <a:lvl4pPr marL="1600200" indent="-228600" eaLnBrk="0" hangingPunct="0">
              <a:defRPr sz="2400">
                <a:solidFill>
                  <a:schemeClr val="tx1"/>
                </a:solidFill>
                <a:latin typeface="Comic Sans MS" pitchFamily="66" charset="0"/>
                <a:cs typeface="Times New Roman" pitchFamily="18" charset="0"/>
              </a:defRPr>
            </a:lvl4pPr>
            <a:lvl5pPr marL="2057400" indent="-228600" eaLnBrk="0" hangingPunct="0">
              <a:defRPr sz="2400">
                <a:solidFill>
                  <a:schemeClr val="tx1"/>
                </a:solidFill>
                <a:latin typeface="Comic Sans MS" pitchFamily="66" charset="0"/>
                <a:cs typeface="Times New Roman" pitchFamily="18" charset="0"/>
              </a:defRPr>
            </a:lvl5pPr>
            <a:lvl6pPr marL="25146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6pPr>
            <a:lvl7pPr marL="29718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7pPr>
            <a:lvl8pPr marL="34290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8pPr>
            <a:lvl9pPr marL="3886200" indent="-228600" eaLnBrk="0" fontAlgn="base" hangingPunct="0">
              <a:spcBef>
                <a:spcPct val="0"/>
              </a:spcBef>
              <a:spcAft>
                <a:spcPct val="0"/>
              </a:spcAft>
              <a:defRPr sz="2400">
                <a:solidFill>
                  <a:schemeClr val="tx1"/>
                </a:solidFill>
                <a:latin typeface="Comic Sans MS" pitchFamily="66" charset="0"/>
                <a:cs typeface="Times New Roman" pitchFamily="18" charset="0"/>
              </a:defRPr>
            </a:lvl9pPr>
          </a:lstStyle>
          <a:p>
            <a:pPr algn="ctr" eaLnBrk="1" hangingPunct="1"/>
            <a:r>
              <a:rPr lang="en-US" sz="1900" dirty="0"/>
              <a:t>The same is true for your car! If you </a:t>
            </a:r>
            <a:r>
              <a:rPr lang="en-US" sz="1900" dirty="0">
                <a:solidFill>
                  <a:srgbClr val="6600FF"/>
                </a:solidFill>
              </a:rPr>
              <a:t>replace your engine</a:t>
            </a:r>
            <a:r>
              <a:rPr lang="en-US" sz="1900" dirty="0"/>
              <a:t>, you don’t care – you just use the </a:t>
            </a:r>
            <a:r>
              <a:rPr lang="en-US" sz="1900" dirty="0">
                <a:solidFill>
                  <a:srgbClr val="006666"/>
                </a:solidFill>
              </a:rPr>
              <a:t>steering wheel</a:t>
            </a:r>
            <a:r>
              <a:rPr lang="en-US" sz="1900" dirty="0"/>
              <a:t>, </a:t>
            </a:r>
            <a:r>
              <a:rPr lang="en-US" sz="1900" dirty="0">
                <a:solidFill>
                  <a:srgbClr val="006666"/>
                </a:solidFill>
              </a:rPr>
              <a:t>accelerator</a:t>
            </a:r>
            <a:r>
              <a:rPr lang="en-US" sz="1900" dirty="0"/>
              <a:t> and </a:t>
            </a:r>
            <a:r>
              <a:rPr lang="en-US" sz="1900" dirty="0">
                <a:solidFill>
                  <a:srgbClr val="006666"/>
                </a:solidFill>
              </a:rPr>
              <a:t>brakes</a:t>
            </a:r>
            <a:r>
              <a:rPr lang="en-US" sz="1900" dirty="0"/>
              <a:t> like you did before!</a:t>
            </a:r>
          </a:p>
        </p:txBody>
      </p:sp>
    </p:spTree>
    <p:extLst>
      <p:ext uri="{BB962C8B-B14F-4D97-AF65-F5344CB8AC3E}">
        <p14:creationId xmlns:p14="http://schemas.microsoft.com/office/powerpoint/2010/main" val="159625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right)">
                                      <p:cBhvr>
                                        <p:cTn id="24" dur="5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wipe(down)">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3" grpId="0"/>
      <p:bldP spid="28" grpId="0" animBg="1"/>
      <p:bldP spid="29" grpId="0"/>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143001"/>
            <a:ext cx="8496300" cy="5223926"/>
          </a:xfrm>
        </p:spPr>
        <p:txBody>
          <a:bodyPr/>
          <a:lstStyle/>
          <a:p>
            <a:endParaRPr lang="en-US" dirty="0"/>
          </a:p>
        </p:txBody>
      </p:sp>
      <p:sp>
        <p:nvSpPr>
          <p:cNvPr id="3" name="Title 2"/>
          <p:cNvSpPr>
            <a:spLocks noGrp="1"/>
          </p:cNvSpPr>
          <p:nvPr>
            <p:ph type="title"/>
          </p:nvPr>
        </p:nvSpPr>
        <p:spPr>
          <a:xfrm>
            <a:off x="179512" y="302400"/>
            <a:ext cx="4468688" cy="691277"/>
          </a:xfrm>
        </p:spPr>
        <p:txBody>
          <a:bodyPr/>
          <a:lstStyle/>
          <a:p>
            <a:r>
              <a:rPr lang="en-US" dirty="0"/>
              <a:t>Characteristics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23</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701183800"/>
              </p:ext>
            </p:extLst>
          </p:nvPr>
        </p:nvGraphicFramePr>
        <p:xfrm>
          <a:off x="552449" y="1076007"/>
          <a:ext cx="8267700" cy="4660609"/>
        </p:xfrm>
        <a:graphic>
          <a:graphicData uri="http://schemas.openxmlformats.org/drawingml/2006/table">
            <a:tbl>
              <a:tblPr firstRow="1" bandRow="1">
                <a:tableStyleId>{5C22544A-7EE6-4342-B048-85BDC9FD1C3A}</a:tableStyleId>
              </a:tblPr>
              <a:tblGrid>
                <a:gridCol w="3181351">
                  <a:extLst>
                    <a:ext uri="{9D8B030D-6E8A-4147-A177-3AD203B41FA5}">
                      <a16:colId xmlns:a16="http://schemas.microsoft.com/office/drawing/2014/main" val="2322419749"/>
                    </a:ext>
                  </a:extLst>
                </a:gridCol>
                <a:gridCol w="5086349">
                  <a:extLst>
                    <a:ext uri="{9D8B030D-6E8A-4147-A177-3AD203B41FA5}">
                      <a16:colId xmlns:a16="http://schemas.microsoft.com/office/drawing/2014/main" val="1104104449"/>
                    </a:ext>
                  </a:extLst>
                </a:gridCol>
              </a:tblGrid>
              <a:tr h="555969">
                <a:tc>
                  <a:txBody>
                    <a:bodyPr/>
                    <a:lstStyle/>
                    <a:p>
                      <a:pPr algn="ctr"/>
                      <a:r>
                        <a:rPr lang="en-US" dirty="0"/>
                        <a:t>Characteristic</a:t>
                      </a:r>
                    </a:p>
                  </a:txBody>
                  <a:tcPr/>
                </a:tc>
                <a:tc>
                  <a:txBody>
                    <a:bodyPr/>
                    <a:lstStyle/>
                    <a:p>
                      <a:pPr algn="ctr"/>
                      <a:r>
                        <a:rPr lang="en-US" dirty="0"/>
                        <a:t>Description</a:t>
                      </a:r>
                    </a:p>
                  </a:txBody>
                  <a:tcPr/>
                </a:tc>
                <a:extLst>
                  <a:ext uri="{0D108BD9-81ED-4DB2-BD59-A6C34878D82A}">
                    <a16:rowId xmlns:a16="http://schemas.microsoft.com/office/drawing/2014/main" val="579927233"/>
                  </a:ext>
                </a:extLst>
              </a:tr>
              <a:tr h="714031">
                <a:tc>
                  <a:txBody>
                    <a:bodyPr/>
                    <a:lstStyle/>
                    <a:p>
                      <a:r>
                        <a:rPr lang="en-US" dirty="0"/>
                        <a:t>Linear</a:t>
                      </a:r>
                    </a:p>
                  </a:txBody>
                  <a:tcPr/>
                </a:tc>
                <a:tc>
                  <a:txBody>
                    <a:bodyPr/>
                    <a:lstStyle/>
                    <a:p>
                      <a:r>
                        <a:rPr lang="en-US" dirty="0"/>
                        <a:t>The data items</a:t>
                      </a:r>
                      <a:r>
                        <a:rPr lang="en-US" baseline="0" dirty="0"/>
                        <a:t> are arranged in a linear  sequence. Ex: </a:t>
                      </a:r>
                      <a:r>
                        <a:rPr lang="en-US" b="1" baseline="0" dirty="0"/>
                        <a:t>Array</a:t>
                      </a:r>
                      <a:endParaRPr lang="en-US" b="1" dirty="0"/>
                    </a:p>
                  </a:txBody>
                  <a:tcPr/>
                </a:tc>
                <a:extLst>
                  <a:ext uri="{0D108BD9-81ED-4DB2-BD59-A6C34878D82A}">
                    <a16:rowId xmlns:a16="http://schemas.microsoft.com/office/drawing/2014/main" val="896750444"/>
                  </a:ext>
                </a:extLst>
              </a:tr>
              <a:tr h="555969">
                <a:tc>
                  <a:txBody>
                    <a:bodyPr/>
                    <a:lstStyle/>
                    <a:p>
                      <a:r>
                        <a:rPr lang="en-US" dirty="0"/>
                        <a:t>Non-Linear</a:t>
                      </a:r>
                    </a:p>
                  </a:txBody>
                  <a:tcPr/>
                </a:tc>
                <a:tc>
                  <a:txBody>
                    <a:bodyPr/>
                    <a:lstStyle/>
                    <a:p>
                      <a:r>
                        <a:rPr lang="en-US" dirty="0"/>
                        <a:t>In Non-Linear</a:t>
                      </a:r>
                      <a:r>
                        <a:rPr lang="en-US" baseline="0" dirty="0"/>
                        <a:t> data structures, the data items  are not in sequence. Ex: </a:t>
                      </a:r>
                      <a:r>
                        <a:rPr lang="en-US" b="1" baseline="0" dirty="0"/>
                        <a:t>Tree, Graph</a:t>
                      </a:r>
                      <a:endParaRPr lang="en-US" b="1" dirty="0"/>
                    </a:p>
                  </a:txBody>
                  <a:tcPr/>
                </a:tc>
                <a:extLst>
                  <a:ext uri="{0D108BD9-81ED-4DB2-BD59-A6C34878D82A}">
                    <a16:rowId xmlns:a16="http://schemas.microsoft.com/office/drawing/2014/main" val="3782220422"/>
                  </a:ext>
                </a:extLst>
              </a:tr>
              <a:tr h="555969">
                <a:tc>
                  <a:txBody>
                    <a:bodyPr/>
                    <a:lstStyle/>
                    <a:p>
                      <a:r>
                        <a:rPr lang="en-US" dirty="0"/>
                        <a:t>Homogeneous</a:t>
                      </a:r>
                    </a:p>
                  </a:txBody>
                  <a:tcPr/>
                </a:tc>
                <a:tc>
                  <a:txBody>
                    <a:bodyPr/>
                    <a:lstStyle/>
                    <a:p>
                      <a:r>
                        <a:rPr lang="en-US" dirty="0"/>
                        <a:t>All elements are of same type.</a:t>
                      </a:r>
                      <a:r>
                        <a:rPr lang="en-US" baseline="0" dirty="0"/>
                        <a:t> Ex: </a:t>
                      </a:r>
                      <a:r>
                        <a:rPr lang="en-US" b="1" baseline="0" dirty="0"/>
                        <a:t>Array</a:t>
                      </a:r>
                      <a:endParaRPr lang="en-US" b="1" dirty="0"/>
                    </a:p>
                  </a:txBody>
                  <a:tcPr/>
                </a:tc>
                <a:extLst>
                  <a:ext uri="{0D108BD9-81ED-4DB2-BD59-A6C34878D82A}">
                    <a16:rowId xmlns:a16="http://schemas.microsoft.com/office/drawing/2014/main" val="1272643450"/>
                  </a:ext>
                </a:extLst>
              </a:tr>
              <a:tr h="555969">
                <a:tc>
                  <a:txBody>
                    <a:bodyPr/>
                    <a:lstStyle/>
                    <a:p>
                      <a:r>
                        <a:rPr lang="en-US" dirty="0"/>
                        <a:t>Non-Homogeneous</a:t>
                      </a:r>
                    </a:p>
                  </a:txBody>
                  <a:tcPr/>
                </a:tc>
                <a:tc>
                  <a:txBody>
                    <a:bodyPr/>
                    <a:lstStyle/>
                    <a:p>
                      <a:r>
                        <a:rPr lang="en-US" dirty="0"/>
                        <a:t>Elements may or may not be the same type.</a:t>
                      </a:r>
                      <a:r>
                        <a:rPr lang="en-US" baseline="0" dirty="0"/>
                        <a:t>  Ex: </a:t>
                      </a:r>
                      <a:r>
                        <a:rPr lang="en-US" b="1" baseline="0" dirty="0"/>
                        <a:t>Structure</a:t>
                      </a:r>
                      <a:endParaRPr lang="en-US" b="1" dirty="0"/>
                    </a:p>
                  </a:txBody>
                  <a:tcPr/>
                </a:tc>
                <a:extLst>
                  <a:ext uri="{0D108BD9-81ED-4DB2-BD59-A6C34878D82A}">
                    <a16:rowId xmlns:a16="http://schemas.microsoft.com/office/drawing/2014/main" val="2198136695"/>
                  </a:ext>
                </a:extLst>
              </a:tr>
              <a:tr h="555969">
                <a:tc>
                  <a:txBody>
                    <a:bodyPr/>
                    <a:lstStyle/>
                    <a:p>
                      <a:r>
                        <a:rPr lang="en-US" dirty="0"/>
                        <a:t>Static</a:t>
                      </a:r>
                    </a:p>
                  </a:txBody>
                  <a:tcPr/>
                </a:tc>
                <a:tc>
                  <a:txBody>
                    <a:bodyPr/>
                    <a:lstStyle/>
                    <a:p>
                      <a:r>
                        <a:rPr lang="en-US" dirty="0"/>
                        <a:t>At compile</a:t>
                      </a:r>
                      <a:r>
                        <a:rPr lang="en-US" baseline="0" dirty="0"/>
                        <a:t> time, the size and structure  associated memory location are fixed. Ex</a:t>
                      </a:r>
                      <a:r>
                        <a:rPr lang="en-US" b="1" baseline="0" dirty="0"/>
                        <a:t>: Array</a:t>
                      </a:r>
                      <a:endParaRPr lang="en-US" b="1" dirty="0"/>
                    </a:p>
                  </a:txBody>
                  <a:tcPr/>
                </a:tc>
                <a:extLst>
                  <a:ext uri="{0D108BD9-81ED-4DB2-BD59-A6C34878D82A}">
                    <a16:rowId xmlns:a16="http://schemas.microsoft.com/office/drawing/2014/main" val="2942201086"/>
                  </a:ext>
                </a:extLst>
              </a:tr>
              <a:tr h="555969">
                <a:tc>
                  <a:txBody>
                    <a:bodyPr/>
                    <a:lstStyle/>
                    <a:p>
                      <a:r>
                        <a:rPr lang="en-US" dirty="0"/>
                        <a:t>Dynamic</a:t>
                      </a:r>
                    </a:p>
                  </a:txBody>
                  <a:tcPr/>
                </a:tc>
                <a:tc>
                  <a:txBody>
                    <a:bodyPr/>
                    <a:lstStyle/>
                    <a:p>
                      <a:r>
                        <a:rPr lang="en-US" dirty="0"/>
                        <a:t>Which expands</a:t>
                      </a:r>
                      <a:r>
                        <a:rPr lang="en-US" baseline="0" dirty="0"/>
                        <a:t> and shrinks depending upon   the program need and its execution.             Ex: </a:t>
                      </a:r>
                      <a:r>
                        <a:rPr lang="en-US" b="1" baseline="0" dirty="0"/>
                        <a:t>Linked list created using pointer</a:t>
                      </a:r>
                      <a:endParaRPr lang="en-US" b="1" dirty="0"/>
                    </a:p>
                  </a:txBody>
                  <a:tcPr/>
                </a:tc>
                <a:extLst>
                  <a:ext uri="{0D108BD9-81ED-4DB2-BD59-A6C34878D82A}">
                    <a16:rowId xmlns:a16="http://schemas.microsoft.com/office/drawing/2014/main" val="1134023751"/>
                  </a:ext>
                </a:extLst>
              </a:tr>
            </a:tbl>
          </a:graphicData>
        </a:graphic>
      </p:graphicFrame>
    </p:spTree>
    <p:extLst>
      <p:ext uri="{BB962C8B-B14F-4D97-AF65-F5344CB8AC3E}">
        <p14:creationId xmlns:p14="http://schemas.microsoft.com/office/powerpoint/2010/main" val="1885848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1" y="302400"/>
            <a:ext cx="5916489" cy="691277"/>
          </a:xfrm>
        </p:spPr>
        <p:txBody>
          <a:bodyPr/>
          <a:lstStyle/>
          <a:p>
            <a:r>
              <a:rPr lang="en-US" sz="4000" dirty="0"/>
              <a:t>Types of Data Structure</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24</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graphicFrame>
        <p:nvGraphicFramePr>
          <p:cNvPr id="6" name="Diagram 5"/>
          <p:cNvGraphicFramePr/>
          <p:nvPr>
            <p:extLst>
              <p:ext uri="{D42A27DB-BD31-4B8C-83A1-F6EECF244321}">
                <p14:modId xmlns:p14="http://schemas.microsoft.com/office/powerpoint/2010/main" val="2203855768"/>
              </p:ext>
            </p:extLst>
          </p:nvPr>
        </p:nvGraphicFramePr>
        <p:xfrm>
          <a:off x="304801" y="1397000"/>
          <a:ext cx="8740774" cy="46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3402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5383088" cy="691277"/>
          </a:xfrm>
        </p:spPr>
        <p:txBody>
          <a:bodyPr/>
          <a:lstStyle/>
          <a:p>
            <a:r>
              <a:rPr lang="en-US" sz="4000" dirty="0"/>
              <a:t>Performance Analysis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25</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10" name="Rectangle 3"/>
          <p:cNvSpPr txBox="1">
            <a:spLocks noChangeArrowheads="1"/>
          </p:cNvSpPr>
          <p:nvPr/>
        </p:nvSpPr>
        <p:spPr bwMode="auto">
          <a:xfrm>
            <a:off x="685800" y="1066800"/>
            <a:ext cx="8026400" cy="548369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81000" indent="-381000" algn="l" rtl="0" fontAlgn="base" latinLnBrk="1">
              <a:spcBef>
                <a:spcPct val="20000"/>
              </a:spcBef>
              <a:spcAft>
                <a:spcPct val="0"/>
              </a:spcAft>
              <a:buNone/>
              <a:defRPr kumimoji="1" sz="2400">
                <a:solidFill>
                  <a:schemeClr val="accent6"/>
                </a:solidFill>
                <a:latin typeface="Consolas" pitchFamily="49" charset="0"/>
                <a:ea typeface="+mn-ea"/>
                <a:cs typeface="+mn-cs"/>
              </a:defRPr>
            </a:lvl1pPr>
            <a:lvl2pPr marL="0" indent="-342900" algn="l" rtl="0" fontAlgn="base" latinLnBrk="1">
              <a:spcBef>
                <a:spcPct val="20000"/>
              </a:spcBef>
              <a:spcAft>
                <a:spcPct val="0"/>
              </a:spcAft>
              <a:buSzPct val="80000"/>
              <a:buFont typeface="Wingdings" pitchFamily="2" charset="2"/>
              <a:buChar char="l"/>
              <a:defRPr kumimoji="1" sz="2000">
                <a:solidFill>
                  <a:schemeClr val="tx1"/>
                </a:solidFill>
                <a:latin typeface="Consolas" pitchFamily="49" charset="0"/>
                <a:ea typeface="+mn-ea"/>
              </a:defRPr>
            </a:lvl2pPr>
            <a:lvl3pPr marL="536400" indent="-342900" algn="l" rtl="0" fontAlgn="base" latinLnBrk="1">
              <a:spcBef>
                <a:spcPct val="20000"/>
              </a:spcBef>
              <a:spcAft>
                <a:spcPct val="0"/>
              </a:spcAft>
              <a:buSzPct val="80000"/>
              <a:buFont typeface="Wingdings 2" pitchFamily="18" charset="2"/>
              <a:buChar char=""/>
              <a:defRPr kumimoji="1" sz="1800">
                <a:solidFill>
                  <a:schemeClr val="tx1"/>
                </a:solidFill>
                <a:latin typeface="Consolas" pitchFamily="49" charset="0"/>
                <a:ea typeface="+mn-ea"/>
              </a:defRPr>
            </a:lvl3pPr>
            <a:lvl4pPr marL="1714500" indent="-342900" algn="l" rtl="0" fontAlgn="base" latinLnBrk="1">
              <a:spcBef>
                <a:spcPct val="20000"/>
              </a:spcBef>
              <a:spcAft>
                <a:spcPct val="0"/>
              </a:spcAft>
              <a:buFont typeface="+mj-lt"/>
              <a:buNone/>
              <a:defRPr kumimoji="1" sz="1600">
                <a:solidFill>
                  <a:schemeClr val="tx1"/>
                </a:solidFill>
                <a:latin typeface="Consolas" pitchFamily="49" charset="0"/>
                <a:ea typeface="+mn-ea"/>
              </a:defRPr>
            </a:lvl4pPr>
            <a:lvl5pPr marL="2171700" indent="-342900" algn="l" rtl="0" fontAlgn="base" latinLnBrk="1">
              <a:spcBef>
                <a:spcPct val="20000"/>
              </a:spcBef>
              <a:spcAft>
                <a:spcPct val="0"/>
              </a:spcAft>
              <a:buFont typeface="+mj-lt"/>
              <a:buNone/>
              <a:defRPr kumimoji="1" sz="1600">
                <a:solidFill>
                  <a:schemeClr val="tx1"/>
                </a:solidFill>
                <a:latin typeface="Consolas" pitchFamily="49" charset="0"/>
                <a:ea typeface="+mn-ea"/>
              </a:defRPr>
            </a:lvl5pPr>
            <a:lvl6pPr marL="2552700" indent="-266700" algn="l" rtl="0" fontAlgn="base" latinLnBrk="1">
              <a:spcBef>
                <a:spcPct val="20000"/>
              </a:spcBef>
              <a:spcAft>
                <a:spcPct val="0"/>
              </a:spcAft>
              <a:buChar char="»"/>
              <a:defRPr kumimoji="1" sz="1400">
                <a:solidFill>
                  <a:schemeClr val="tx1"/>
                </a:solidFill>
                <a:latin typeface="+mn-lt"/>
                <a:ea typeface="+mn-ea"/>
              </a:defRPr>
            </a:lvl6pPr>
            <a:lvl7pPr marL="3009900" indent="-266700" algn="l" rtl="0" fontAlgn="base" latinLnBrk="1">
              <a:spcBef>
                <a:spcPct val="20000"/>
              </a:spcBef>
              <a:spcAft>
                <a:spcPct val="0"/>
              </a:spcAft>
              <a:buChar char="»"/>
              <a:defRPr kumimoji="1" sz="1400">
                <a:solidFill>
                  <a:schemeClr val="tx1"/>
                </a:solidFill>
                <a:latin typeface="+mn-lt"/>
                <a:ea typeface="+mn-ea"/>
              </a:defRPr>
            </a:lvl7pPr>
            <a:lvl8pPr marL="3467100" indent="-266700" algn="l" rtl="0" fontAlgn="base" latinLnBrk="1">
              <a:spcBef>
                <a:spcPct val="20000"/>
              </a:spcBef>
              <a:spcAft>
                <a:spcPct val="0"/>
              </a:spcAft>
              <a:buChar char="»"/>
              <a:defRPr kumimoji="1" sz="1400">
                <a:solidFill>
                  <a:schemeClr val="tx1"/>
                </a:solidFill>
                <a:latin typeface="+mn-lt"/>
                <a:ea typeface="+mn-ea"/>
              </a:defRPr>
            </a:lvl8pPr>
            <a:lvl9pPr marL="3924300" indent="-266700" algn="l" rtl="0" fontAlgn="base" latinLnBrk="1">
              <a:spcBef>
                <a:spcPct val="20000"/>
              </a:spcBef>
              <a:spcAft>
                <a:spcPct val="0"/>
              </a:spcAft>
              <a:buChar char="»"/>
              <a:defRPr kumimoji="1" sz="1400">
                <a:solidFill>
                  <a:schemeClr val="tx1"/>
                </a:solidFill>
                <a:latin typeface="+mn-lt"/>
                <a:ea typeface="+mn-ea"/>
              </a:defRPr>
            </a:lvl9pPr>
          </a:lstStyle>
          <a:p>
            <a:pPr marL="381000" marR="0" lvl="0" indent="-381000" algn="l" defTabSz="914400" rtl="0" eaLnBrk="1" fontAlgn="base" latinLnBrk="1" hangingPunct="1">
              <a:lnSpc>
                <a:spcPct val="100000"/>
              </a:lnSpc>
              <a:spcBef>
                <a:spcPct val="20000"/>
              </a:spcBef>
              <a:spcAft>
                <a:spcPct val="0"/>
              </a:spcAft>
              <a:buClrTx/>
              <a:buSzTx/>
              <a:buFontTx/>
              <a:buNone/>
              <a:tabLst/>
              <a:defRPr/>
            </a:pPr>
            <a:r>
              <a:rPr kumimoji="1" lang="en-US" altLang="ko-KR" sz="2000" b="0" i="0" u="none" strike="noStrike" kern="0" cap="none" spc="0" normalizeH="0" baseline="0" noProof="0" dirty="0">
                <a:ln>
                  <a:noFill/>
                </a:ln>
                <a:solidFill>
                  <a:srgbClr val="2D2DB9"/>
                </a:solidFill>
                <a:effectLst/>
                <a:uLnTx/>
                <a:uFillTx/>
                <a:latin typeface="Consolas" pitchFamily="49" charset="0"/>
                <a:ea typeface="굴림"/>
                <a:cs typeface="+mn-cs"/>
              </a:rPr>
              <a:t>Criteria to judge a program</a:t>
            </a: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Does the program meet the original specifications of the task</a:t>
            </a: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Does it work correctly</a:t>
            </a: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Does the program contain documentation that shows how to use it and how it works</a:t>
            </a: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Does the program effectively use functions to create logical units</a:t>
            </a: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Is the program’s code readable</a:t>
            </a: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Does the program efficiently use primary and secondary storage</a:t>
            </a: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Is the program’s running time acceptable for the task</a:t>
            </a:r>
          </a:p>
        </p:txBody>
      </p:sp>
    </p:spTree>
    <p:extLst>
      <p:ext uri="{BB962C8B-B14F-4D97-AF65-F5344CB8AC3E}">
        <p14:creationId xmlns:p14="http://schemas.microsoft.com/office/powerpoint/2010/main" val="737635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1" y="302400"/>
            <a:ext cx="5227513" cy="691277"/>
          </a:xfrm>
        </p:spPr>
        <p:txBody>
          <a:bodyPr/>
          <a:lstStyle/>
          <a:p>
            <a:r>
              <a:rPr lang="en-US" sz="4000" dirty="0"/>
              <a:t>Performance Analysis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26</a:t>
            </a:fld>
            <a:endParaRPr lang="en-US" dirty="0"/>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39" name="Rectangle 3"/>
          <p:cNvSpPr txBox="1">
            <a:spLocks noChangeArrowheads="1"/>
          </p:cNvSpPr>
          <p:nvPr/>
        </p:nvSpPr>
        <p:spPr bwMode="auto">
          <a:xfrm>
            <a:off x="685800" y="1219200"/>
            <a:ext cx="8026400" cy="548369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81000" indent="-381000" algn="l" rtl="0" fontAlgn="base" latinLnBrk="1">
              <a:spcBef>
                <a:spcPct val="20000"/>
              </a:spcBef>
              <a:spcAft>
                <a:spcPct val="0"/>
              </a:spcAft>
              <a:buNone/>
              <a:defRPr kumimoji="1" sz="2400">
                <a:solidFill>
                  <a:schemeClr val="accent6"/>
                </a:solidFill>
                <a:latin typeface="Consolas" pitchFamily="49" charset="0"/>
                <a:ea typeface="+mn-ea"/>
                <a:cs typeface="+mn-cs"/>
              </a:defRPr>
            </a:lvl1pPr>
            <a:lvl2pPr marL="0" indent="-342900" algn="l" rtl="0" fontAlgn="base" latinLnBrk="1">
              <a:spcBef>
                <a:spcPct val="20000"/>
              </a:spcBef>
              <a:spcAft>
                <a:spcPct val="0"/>
              </a:spcAft>
              <a:buSzPct val="80000"/>
              <a:buFont typeface="Wingdings" pitchFamily="2" charset="2"/>
              <a:buChar char="l"/>
              <a:defRPr kumimoji="1" sz="2000">
                <a:solidFill>
                  <a:schemeClr val="tx1"/>
                </a:solidFill>
                <a:latin typeface="Consolas" pitchFamily="49" charset="0"/>
                <a:ea typeface="+mn-ea"/>
              </a:defRPr>
            </a:lvl2pPr>
            <a:lvl3pPr marL="536400" indent="-342900" algn="l" rtl="0" fontAlgn="base" latinLnBrk="1">
              <a:spcBef>
                <a:spcPct val="20000"/>
              </a:spcBef>
              <a:spcAft>
                <a:spcPct val="0"/>
              </a:spcAft>
              <a:buSzPct val="80000"/>
              <a:buFont typeface="Wingdings 2" pitchFamily="18" charset="2"/>
              <a:buChar char=""/>
              <a:defRPr kumimoji="1" sz="1800">
                <a:solidFill>
                  <a:schemeClr val="tx1"/>
                </a:solidFill>
                <a:latin typeface="Consolas" pitchFamily="49" charset="0"/>
                <a:ea typeface="+mn-ea"/>
              </a:defRPr>
            </a:lvl3pPr>
            <a:lvl4pPr marL="1714500" indent="-342900" algn="l" rtl="0" fontAlgn="base" latinLnBrk="1">
              <a:spcBef>
                <a:spcPct val="20000"/>
              </a:spcBef>
              <a:spcAft>
                <a:spcPct val="0"/>
              </a:spcAft>
              <a:buFont typeface="+mj-lt"/>
              <a:buNone/>
              <a:defRPr kumimoji="1" sz="1600">
                <a:solidFill>
                  <a:schemeClr val="tx1"/>
                </a:solidFill>
                <a:latin typeface="Consolas" pitchFamily="49" charset="0"/>
                <a:ea typeface="+mn-ea"/>
              </a:defRPr>
            </a:lvl4pPr>
            <a:lvl5pPr marL="2171700" indent="-342900" algn="l" rtl="0" fontAlgn="base" latinLnBrk="1">
              <a:spcBef>
                <a:spcPct val="20000"/>
              </a:spcBef>
              <a:spcAft>
                <a:spcPct val="0"/>
              </a:spcAft>
              <a:buFont typeface="+mj-lt"/>
              <a:buNone/>
              <a:defRPr kumimoji="1" sz="1600">
                <a:solidFill>
                  <a:schemeClr val="tx1"/>
                </a:solidFill>
                <a:latin typeface="Consolas" pitchFamily="49" charset="0"/>
                <a:ea typeface="+mn-ea"/>
              </a:defRPr>
            </a:lvl5pPr>
            <a:lvl6pPr marL="2552700" indent="-266700" algn="l" rtl="0" fontAlgn="base" latinLnBrk="1">
              <a:spcBef>
                <a:spcPct val="20000"/>
              </a:spcBef>
              <a:spcAft>
                <a:spcPct val="0"/>
              </a:spcAft>
              <a:buChar char="»"/>
              <a:defRPr kumimoji="1" sz="1400">
                <a:solidFill>
                  <a:schemeClr val="tx1"/>
                </a:solidFill>
                <a:latin typeface="+mn-lt"/>
                <a:ea typeface="+mn-ea"/>
              </a:defRPr>
            </a:lvl6pPr>
            <a:lvl7pPr marL="3009900" indent="-266700" algn="l" rtl="0" fontAlgn="base" latinLnBrk="1">
              <a:spcBef>
                <a:spcPct val="20000"/>
              </a:spcBef>
              <a:spcAft>
                <a:spcPct val="0"/>
              </a:spcAft>
              <a:buChar char="»"/>
              <a:defRPr kumimoji="1" sz="1400">
                <a:solidFill>
                  <a:schemeClr val="tx1"/>
                </a:solidFill>
                <a:latin typeface="+mn-lt"/>
                <a:ea typeface="+mn-ea"/>
              </a:defRPr>
            </a:lvl7pPr>
            <a:lvl8pPr marL="3467100" indent="-266700" algn="l" rtl="0" fontAlgn="base" latinLnBrk="1">
              <a:spcBef>
                <a:spcPct val="20000"/>
              </a:spcBef>
              <a:spcAft>
                <a:spcPct val="0"/>
              </a:spcAft>
              <a:buChar char="»"/>
              <a:defRPr kumimoji="1" sz="1400">
                <a:solidFill>
                  <a:schemeClr val="tx1"/>
                </a:solidFill>
                <a:latin typeface="+mn-lt"/>
                <a:ea typeface="+mn-ea"/>
              </a:defRPr>
            </a:lvl8pPr>
            <a:lvl9pPr marL="3924300" indent="-266700" algn="l" rtl="0" fontAlgn="base" latinLnBrk="1">
              <a:spcBef>
                <a:spcPct val="20000"/>
              </a:spcBef>
              <a:spcAft>
                <a:spcPct val="0"/>
              </a:spcAft>
              <a:buChar char="»"/>
              <a:defRPr kumimoji="1" sz="1400">
                <a:solidFill>
                  <a:schemeClr val="tx1"/>
                </a:solidFill>
                <a:latin typeface="+mn-lt"/>
                <a:ea typeface="+mn-ea"/>
              </a:defRPr>
            </a:lvl9pPr>
          </a:lstStyle>
          <a:p>
            <a:pPr marL="381000" marR="0" lvl="0" indent="-381000" algn="l" defTabSz="914400" rtl="0" eaLnBrk="1" fontAlgn="base" latinLnBrk="1" hangingPunct="1">
              <a:lnSpc>
                <a:spcPct val="100000"/>
              </a:lnSpc>
              <a:spcBef>
                <a:spcPct val="50000"/>
              </a:spcBef>
              <a:spcAft>
                <a:spcPct val="0"/>
              </a:spcAft>
              <a:buClrTx/>
              <a:buSzTx/>
              <a:buFontTx/>
              <a:buNone/>
              <a:tabLst/>
              <a:defRPr/>
            </a:pPr>
            <a:r>
              <a:rPr kumimoji="1" lang="en-US" altLang="ko-KR" sz="2000" b="0" i="0" u="none" strike="noStrike" kern="0" cap="none" spc="0" normalizeH="0" baseline="0" noProof="0" dirty="0">
                <a:ln>
                  <a:noFill/>
                </a:ln>
                <a:solidFill>
                  <a:srgbClr val="2D2DB9"/>
                </a:solidFill>
                <a:effectLst/>
                <a:uLnTx/>
                <a:uFillTx/>
                <a:latin typeface="Consolas" pitchFamily="49" charset="0"/>
                <a:ea typeface="굴림"/>
                <a:cs typeface="+mn-cs"/>
              </a:rPr>
              <a:t>Performance analysis</a:t>
            </a: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CC99">
                    <a:lumMod val="75000"/>
                  </a:srgbClr>
                </a:solidFill>
                <a:effectLst/>
                <a:uLnTx/>
                <a:uFillTx/>
                <a:latin typeface="Consolas" pitchFamily="49" charset="0"/>
                <a:ea typeface="굴림"/>
              </a:rPr>
              <a:t>Space complexity</a:t>
            </a: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 </a:t>
            </a:r>
            <a:r>
              <a:rPr kumimoji="1" lang="en-US" sz="1800" b="0" i="0" u="none" strike="noStrike" kern="0" cap="none" spc="0" normalizeH="0" baseline="0" noProof="0" dirty="0">
                <a:ln>
                  <a:noFill/>
                </a:ln>
                <a:solidFill>
                  <a:srgbClr val="000000"/>
                </a:solidFill>
                <a:effectLst/>
                <a:uLnTx/>
                <a:uFillTx/>
                <a:latin typeface="Consolas" pitchFamily="49" charset="0"/>
                <a:ea typeface="굴림"/>
              </a:rPr>
              <a:t>a function describing the amount of memory (space) an algorithm takes in terms of the amount of input to the algorithm</a:t>
            </a:r>
            <a:endParaRPr kumimoji="1" lang="en-US" altLang="ko-KR" sz="1800" b="0" i="0" u="none" strike="noStrike" kern="0" cap="none" spc="0" normalizeH="0" baseline="0" noProof="0" dirty="0">
              <a:ln>
                <a:noFill/>
              </a:ln>
              <a:solidFill>
                <a:srgbClr val="000000"/>
              </a:solidFill>
              <a:effectLst/>
              <a:uLnTx/>
              <a:uFillTx/>
              <a:latin typeface="Consolas" pitchFamily="49" charset="0"/>
              <a:ea typeface="굴림"/>
            </a:endParaRP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CC99">
                    <a:lumMod val="75000"/>
                  </a:srgbClr>
                </a:solidFill>
                <a:effectLst/>
                <a:uLnTx/>
                <a:uFillTx/>
                <a:latin typeface="Consolas" pitchFamily="49" charset="0"/>
                <a:ea typeface="굴림"/>
              </a:rPr>
              <a:t>Time complexity</a:t>
            </a: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 </a:t>
            </a:r>
            <a:r>
              <a:rPr kumimoji="1" lang="en-US" sz="1800" b="0" i="0" u="none" strike="noStrike" kern="0" cap="none" spc="0" normalizeH="0" baseline="0" noProof="0" dirty="0">
                <a:ln>
                  <a:noFill/>
                </a:ln>
                <a:solidFill>
                  <a:srgbClr val="000000"/>
                </a:solidFill>
                <a:effectLst/>
                <a:uLnTx/>
                <a:uFillTx/>
                <a:latin typeface="Consolas" pitchFamily="49" charset="0"/>
                <a:ea typeface="굴림"/>
              </a:rPr>
              <a:t>a function describing the amount of time an algorithm takes in terms of the amount of input to the algorithm</a:t>
            </a:r>
            <a:endParaRPr kumimoji="1" lang="en-US" altLang="ko-KR" sz="1800" b="0" i="0" u="none" strike="noStrike" kern="0" cap="none" spc="0" normalizeH="0" baseline="0" noProof="0" dirty="0">
              <a:ln>
                <a:noFill/>
              </a:ln>
              <a:solidFill>
                <a:srgbClr val="000000"/>
              </a:solidFill>
              <a:effectLst/>
              <a:uLnTx/>
              <a:uFillTx/>
              <a:latin typeface="Consolas" pitchFamily="49" charset="0"/>
              <a:ea typeface="굴림"/>
            </a:endParaRPr>
          </a:p>
          <a:p>
            <a:pPr marL="0" marR="0" lvl="1" indent="-342900" algn="l" defTabSz="914400" rtl="0" eaLnBrk="1" fontAlgn="base" latinLnBrk="1" hangingPunct="1">
              <a:lnSpc>
                <a:spcPct val="100000"/>
              </a:lnSpc>
              <a:spcBef>
                <a:spcPct val="20000"/>
              </a:spcBef>
              <a:spcAft>
                <a:spcPct val="0"/>
              </a:spcAft>
              <a:buClrTx/>
              <a:buSzPct val="80000"/>
              <a:buFont typeface="Wingdings" pitchFamily="2" charset="2"/>
              <a:buChar char="l"/>
              <a:tabLst/>
              <a:defRPr/>
            </a:pPr>
            <a:r>
              <a:rPr kumimoji="1" lang="en-US" altLang="ko-KR" sz="1800" b="0" i="0" u="none" strike="noStrike" kern="0" cap="none" spc="0" normalizeH="0" baseline="0" noProof="0" dirty="0">
                <a:ln>
                  <a:noFill/>
                </a:ln>
                <a:solidFill>
                  <a:srgbClr val="000000"/>
                </a:solidFill>
                <a:effectLst/>
                <a:uLnTx/>
                <a:uFillTx/>
                <a:latin typeface="Consolas" pitchFamily="49" charset="0"/>
                <a:ea typeface="굴림"/>
              </a:rPr>
              <a:t>Best case, average case, and worst case analysis</a:t>
            </a:r>
          </a:p>
          <a:p>
            <a:pPr marL="381000" marR="0" lvl="0" indent="-381000" algn="l" defTabSz="914400" rtl="0" eaLnBrk="1" fontAlgn="base" latinLnBrk="1" hangingPunct="1">
              <a:lnSpc>
                <a:spcPct val="100000"/>
              </a:lnSpc>
              <a:spcBef>
                <a:spcPct val="20000"/>
              </a:spcBef>
              <a:spcAft>
                <a:spcPct val="0"/>
              </a:spcAft>
              <a:buClrTx/>
              <a:buSzTx/>
              <a:buFontTx/>
              <a:buAutoNum type="arabicPeriod" startAt="2"/>
              <a:tabLst/>
              <a:defRPr/>
            </a:pPr>
            <a:endParaRPr kumimoji="1" lang="ko-KR" altLang="en-US" sz="2000" b="0" i="0" u="none" strike="noStrike" kern="0" cap="none" spc="0" normalizeH="0" baseline="0" noProof="0" dirty="0">
              <a:ln>
                <a:noFill/>
              </a:ln>
              <a:solidFill>
                <a:srgbClr val="2D2DB9"/>
              </a:solidFill>
              <a:effectLst/>
              <a:uLnTx/>
              <a:uFillTx/>
              <a:latin typeface="Consolas" pitchFamily="49" charset="0"/>
              <a:ea typeface="굴림"/>
              <a:cs typeface="+mn-cs"/>
            </a:endParaRPr>
          </a:p>
        </p:txBody>
      </p:sp>
      <p:sp>
        <p:nvSpPr>
          <p:cNvPr id="40" name="슬라이드 번호 개체 틀 39"/>
          <p:cNvSpPr txBox="1">
            <a:spLocks/>
          </p:cNvSpPr>
          <p:nvPr/>
        </p:nvSpPr>
        <p:spPr bwMode="auto">
          <a:xfrm>
            <a:off x="3208338" y="6836246"/>
            <a:ext cx="1905000" cy="285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latinLnBrk="1">
              <a:spcBef>
                <a:spcPct val="0"/>
              </a:spcBef>
              <a:spcAft>
                <a:spcPct val="0"/>
              </a:spcAft>
              <a:defRPr kumimoji="0" sz="1400" kern="1200">
                <a:solidFill>
                  <a:schemeClr val="tx1"/>
                </a:solidFill>
                <a:latin typeface="Courier New" pitchFamily="49" charset="0"/>
                <a:ea typeface="굴림" pitchFamily="50" charset="-127"/>
                <a:cs typeface="+mn-cs"/>
              </a:defRPr>
            </a:lvl1pPr>
            <a:lvl2pPr marL="457200" algn="ctr" rtl="0" fontAlgn="base" latinLnBrk="1">
              <a:spcBef>
                <a:spcPct val="0"/>
              </a:spcBef>
              <a:spcAft>
                <a:spcPct val="0"/>
              </a:spcAft>
              <a:defRPr kumimoji="1" sz="2000" kern="1200">
                <a:solidFill>
                  <a:schemeClr val="tx1"/>
                </a:solidFill>
                <a:latin typeface="Times New Roman" pitchFamily="18" charset="0"/>
                <a:ea typeface="굴림" pitchFamily="50" charset="-127"/>
                <a:cs typeface="+mn-cs"/>
              </a:defRPr>
            </a:lvl2pPr>
            <a:lvl3pPr marL="914400" algn="ctr" rtl="0" fontAlgn="base" latinLnBrk="1">
              <a:spcBef>
                <a:spcPct val="0"/>
              </a:spcBef>
              <a:spcAft>
                <a:spcPct val="0"/>
              </a:spcAft>
              <a:defRPr kumimoji="1" sz="2000" kern="1200">
                <a:solidFill>
                  <a:schemeClr val="tx1"/>
                </a:solidFill>
                <a:latin typeface="Times New Roman" pitchFamily="18" charset="0"/>
                <a:ea typeface="굴림" pitchFamily="50" charset="-127"/>
                <a:cs typeface="+mn-cs"/>
              </a:defRPr>
            </a:lvl3pPr>
            <a:lvl4pPr marL="1371600" algn="ctr" rtl="0" fontAlgn="base" latinLnBrk="1">
              <a:spcBef>
                <a:spcPct val="0"/>
              </a:spcBef>
              <a:spcAft>
                <a:spcPct val="0"/>
              </a:spcAft>
              <a:defRPr kumimoji="1" sz="2000" kern="1200">
                <a:solidFill>
                  <a:schemeClr val="tx1"/>
                </a:solidFill>
                <a:latin typeface="Times New Roman" pitchFamily="18" charset="0"/>
                <a:ea typeface="굴림" pitchFamily="50" charset="-127"/>
                <a:cs typeface="+mn-cs"/>
              </a:defRPr>
            </a:lvl4pPr>
            <a:lvl5pPr marL="1828800" algn="ctr" rtl="0" fontAlgn="base" latinLnBrk="1">
              <a:spcBef>
                <a:spcPct val="0"/>
              </a:spcBef>
              <a:spcAft>
                <a:spcPct val="0"/>
              </a:spcAft>
              <a:defRPr kumimoji="1" sz="2000" kern="1200">
                <a:solidFill>
                  <a:schemeClr val="tx1"/>
                </a:solidFill>
                <a:latin typeface="Times New Roman" pitchFamily="18" charset="0"/>
                <a:ea typeface="굴림" pitchFamily="50" charset="-127"/>
                <a:cs typeface="+mn-cs"/>
              </a:defRPr>
            </a:lvl5pPr>
            <a:lvl6pPr marL="2286000" algn="l" defTabSz="914400" rtl="0" eaLnBrk="1" latinLnBrk="1" hangingPunct="1">
              <a:defRPr kumimoji="1" sz="2000" kern="1200">
                <a:solidFill>
                  <a:schemeClr val="tx1"/>
                </a:solidFill>
                <a:latin typeface="Times New Roman" pitchFamily="18" charset="0"/>
                <a:ea typeface="굴림" pitchFamily="50" charset="-127"/>
                <a:cs typeface="+mn-cs"/>
              </a:defRPr>
            </a:lvl6pPr>
            <a:lvl7pPr marL="2743200" algn="l" defTabSz="914400" rtl="0" eaLnBrk="1" latinLnBrk="1" hangingPunct="1">
              <a:defRPr kumimoji="1" sz="2000" kern="1200">
                <a:solidFill>
                  <a:schemeClr val="tx1"/>
                </a:solidFill>
                <a:latin typeface="Times New Roman" pitchFamily="18" charset="0"/>
                <a:ea typeface="굴림" pitchFamily="50" charset="-127"/>
                <a:cs typeface="+mn-cs"/>
              </a:defRPr>
            </a:lvl7pPr>
            <a:lvl8pPr marL="3200400" algn="l" defTabSz="914400" rtl="0" eaLnBrk="1" latinLnBrk="1" hangingPunct="1">
              <a:defRPr kumimoji="1" sz="2000" kern="1200">
                <a:solidFill>
                  <a:schemeClr val="tx1"/>
                </a:solidFill>
                <a:latin typeface="Times New Roman" pitchFamily="18" charset="0"/>
                <a:ea typeface="굴림" pitchFamily="50" charset="-127"/>
                <a:cs typeface="+mn-cs"/>
              </a:defRPr>
            </a:lvl8pPr>
            <a:lvl9pPr marL="3657600" algn="l" defTabSz="914400" rtl="0" eaLnBrk="1" latinLnBrk="1" hangingPunct="1">
              <a:defRPr kumimoji="1" sz="2000" kern="1200">
                <a:solidFill>
                  <a:schemeClr val="tx1"/>
                </a:solidFill>
                <a:latin typeface="Times New Roman" pitchFamily="18" charset="0"/>
                <a:ea typeface="굴림" pitchFamily="50" charset="-127"/>
                <a:cs typeface="+mn-cs"/>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414E31CF-C907-4459-B59A-D6E257421B42}" type="slidenum">
              <a:rPr kumimoji="0" lang="ko-KR" altLang="en-US" sz="1400" b="0" i="0" u="none" strike="noStrike" kern="1200" cap="none" spc="0" normalizeH="0" baseline="0" noProof="0" smtClean="0">
                <a:ln>
                  <a:noFill/>
                </a:ln>
                <a:solidFill>
                  <a:srgbClr val="000000"/>
                </a:solidFill>
                <a:effectLst/>
                <a:uLnTx/>
                <a:uFillTx/>
                <a:latin typeface="Courier New" pitchFamily="49" charset="0"/>
                <a:ea typeface="굴림" pitchFamily="50"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26</a:t>
            </a:fld>
            <a:endParaRPr kumimoji="0" lang="en-US" altLang="ko-KR" sz="1400" b="0" i="0" u="none" strike="noStrike" kern="1200" cap="none" spc="0" normalizeH="0" baseline="0" noProof="0" dirty="0">
              <a:ln>
                <a:noFill/>
              </a:ln>
              <a:solidFill>
                <a:srgbClr val="000000"/>
              </a:solidFill>
              <a:effectLst/>
              <a:uLnTx/>
              <a:uFillTx/>
              <a:latin typeface="Courier New" pitchFamily="49" charset="0"/>
              <a:ea typeface="굴림" pitchFamily="50" charset="-127"/>
              <a:cs typeface="+mn-cs"/>
            </a:endParaRPr>
          </a:p>
        </p:txBody>
      </p:sp>
      <p:sp>
        <p:nvSpPr>
          <p:cNvPr id="41" name="Text Box 6"/>
          <p:cNvSpPr txBox="1">
            <a:spLocks noChangeArrowheads="1"/>
          </p:cNvSpPr>
          <p:nvPr/>
        </p:nvSpPr>
        <p:spPr bwMode="auto">
          <a:xfrm>
            <a:off x="5666695" y="6045748"/>
            <a:ext cx="1174137" cy="283853"/>
          </a:xfrm>
          <a:prstGeom prst="rect">
            <a:avLst/>
          </a:prstGeom>
          <a:noFill/>
          <a:ln w="9525" algn="ctr">
            <a:noFill/>
            <a:miter lim="800000"/>
            <a:headEnd/>
            <a:tailEnd/>
          </a:ln>
          <a:effectLst/>
        </p:spPr>
        <p:txBody>
          <a:bodyPr wrap="none">
            <a:spAutoFit/>
          </a:bodyPr>
          <a:lstStyle/>
          <a:p>
            <a:pPr algn="ctr" eaLnBrk="1" latinLnBrk="1" hangingPunct="1"/>
            <a:r>
              <a:rPr kumimoji="1" lang="en-US" altLang="ko-KR" dirty="0">
                <a:solidFill>
                  <a:srgbClr val="000000"/>
                </a:solidFill>
                <a:latin typeface="Times New Roman" pitchFamily="18" charset="0"/>
                <a:ea typeface="굴림" pitchFamily="50" charset="-127"/>
                <a:cs typeface="Times New Roman" pitchFamily="18" charset="0"/>
              </a:rPr>
              <a:t>Input instance</a:t>
            </a:r>
          </a:p>
        </p:txBody>
      </p:sp>
      <p:sp>
        <p:nvSpPr>
          <p:cNvPr id="42" name="Text Box 7"/>
          <p:cNvSpPr txBox="1">
            <a:spLocks noChangeArrowheads="1"/>
          </p:cNvSpPr>
          <p:nvPr/>
        </p:nvSpPr>
        <p:spPr bwMode="auto">
          <a:xfrm>
            <a:off x="1839888" y="3886200"/>
            <a:ext cx="1143745" cy="283853"/>
          </a:xfrm>
          <a:prstGeom prst="rect">
            <a:avLst/>
          </a:prstGeom>
          <a:noFill/>
          <a:ln w="9525" algn="ctr">
            <a:noFill/>
            <a:miter lim="800000"/>
            <a:headEnd/>
            <a:tailEnd/>
          </a:ln>
          <a:effectLst/>
        </p:spPr>
        <p:txBody>
          <a:bodyPr wrap="none">
            <a:spAutoFit/>
          </a:bodyPr>
          <a:lstStyle/>
          <a:p>
            <a:pPr algn="ctr" eaLnBrk="1" latinLnBrk="1" hangingPunct="1"/>
            <a:r>
              <a:rPr kumimoji="1" lang="en-US" altLang="ko-KR" dirty="0">
                <a:solidFill>
                  <a:srgbClr val="000000"/>
                </a:solidFill>
                <a:latin typeface="Times New Roman" pitchFamily="18" charset="0"/>
                <a:ea typeface="굴림" pitchFamily="50" charset="-127"/>
                <a:cs typeface="Times New Roman" pitchFamily="18" charset="0"/>
              </a:rPr>
              <a:t>Running time</a:t>
            </a:r>
          </a:p>
        </p:txBody>
      </p:sp>
      <p:sp>
        <p:nvSpPr>
          <p:cNvPr id="43" name="Line 4"/>
          <p:cNvSpPr>
            <a:spLocks noChangeShapeType="1"/>
          </p:cNvSpPr>
          <p:nvPr/>
        </p:nvSpPr>
        <p:spPr bwMode="auto">
          <a:xfrm>
            <a:off x="3152192" y="3997227"/>
            <a:ext cx="0" cy="2047301"/>
          </a:xfrm>
          <a:prstGeom prst="line">
            <a:avLst/>
          </a:prstGeom>
          <a:noFill/>
          <a:ln w="9525">
            <a:solidFill>
              <a:srgbClr val="000000"/>
            </a:solidFill>
            <a:round/>
            <a:headEnd type="arrow" w="med" len="med"/>
            <a:tailEnd/>
          </a:ln>
          <a:effectLst/>
        </p:spPr>
        <p:txBody>
          <a:bodyP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44" name="Line 5"/>
          <p:cNvSpPr>
            <a:spLocks noChangeShapeType="1"/>
          </p:cNvSpPr>
          <p:nvPr/>
        </p:nvSpPr>
        <p:spPr bwMode="auto">
          <a:xfrm>
            <a:off x="3152192" y="6044528"/>
            <a:ext cx="2673695" cy="0"/>
          </a:xfrm>
          <a:prstGeom prst="line">
            <a:avLst/>
          </a:prstGeom>
          <a:noFill/>
          <a:ln w="9525">
            <a:solidFill>
              <a:srgbClr val="000000"/>
            </a:solidFill>
            <a:round/>
            <a:headEnd/>
            <a:tailEnd type="arrow" w="med" len="med"/>
          </a:ln>
          <a:effectLst/>
        </p:spPr>
        <p:txBody>
          <a:bodyP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45" name="Rectangle 9"/>
          <p:cNvSpPr>
            <a:spLocks noChangeArrowheads="1"/>
          </p:cNvSpPr>
          <p:nvPr/>
        </p:nvSpPr>
        <p:spPr bwMode="auto">
          <a:xfrm>
            <a:off x="3309331" y="4581863"/>
            <a:ext cx="180000" cy="1462665"/>
          </a:xfrm>
          <a:prstGeom prst="rect">
            <a:avLst/>
          </a:prstGeom>
          <a:solidFill>
            <a:srgbClr val="3333CC"/>
          </a:solidFill>
          <a:ln w="9525" algn="ctr">
            <a:noFill/>
            <a:miter lim="800000"/>
            <a:headEnd/>
            <a:tailEnd/>
          </a:ln>
          <a:effectLst/>
        </p:spPr>
        <p:txBody>
          <a:bodyPr anchor="ct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46" name="Rectangle 10"/>
          <p:cNvSpPr>
            <a:spLocks noChangeArrowheads="1"/>
          </p:cNvSpPr>
          <p:nvPr/>
        </p:nvSpPr>
        <p:spPr bwMode="auto">
          <a:xfrm>
            <a:off x="3613213" y="4192822"/>
            <a:ext cx="180000" cy="1851706"/>
          </a:xfrm>
          <a:prstGeom prst="rect">
            <a:avLst/>
          </a:prstGeom>
          <a:solidFill>
            <a:srgbClr val="3333CC"/>
          </a:solidFill>
          <a:ln w="9525" algn="ctr">
            <a:noFill/>
            <a:miter lim="800000"/>
            <a:headEnd/>
            <a:tailEnd/>
          </a:ln>
          <a:effectLst/>
        </p:spPr>
        <p:txBody>
          <a:bodyPr anchor="ct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47" name="Rectangle 11"/>
          <p:cNvSpPr>
            <a:spLocks noChangeArrowheads="1"/>
          </p:cNvSpPr>
          <p:nvPr/>
        </p:nvSpPr>
        <p:spPr bwMode="auto">
          <a:xfrm>
            <a:off x="3918251" y="4485140"/>
            <a:ext cx="180000" cy="1559388"/>
          </a:xfrm>
          <a:prstGeom prst="rect">
            <a:avLst/>
          </a:prstGeom>
          <a:solidFill>
            <a:srgbClr val="3333CC"/>
          </a:solidFill>
          <a:ln w="9525" algn="ctr">
            <a:noFill/>
            <a:miter lim="800000"/>
            <a:headEnd/>
            <a:tailEnd/>
          </a:ln>
          <a:effectLst/>
        </p:spPr>
        <p:txBody>
          <a:bodyPr anchor="ct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48" name="Rectangle 12"/>
          <p:cNvSpPr>
            <a:spLocks noChangeArrowheads="1"/>
          </p:cNvSpPr>
          <p:nvPr/>
        </p:nvSpPr>
        <p:spPr bwMode="auto">
          <a:xfrm>
            <a:off x="4220976" y="5215935"/>
            <a:ext cx="180000" cy="828593"/>
          </a:xfrm>
          <a:prstGeom prst="rect">
            <a:avLst/>
          </a:prstGeom>
          <a:solidFill>
            <a:srgbClr val="3333CC"/>
          </a:solidFill>
          <a:ln w="9525" algn="ctr">
            <a:noFill/>
            <a:miter lim="800000"/>
            <a:headEnd/>
            <a:tailEnd/>
          </a:ln>
          <a:effectLst/>
        </p:spPr>
        <p:txBody>
          <a:bodyPr anchor="ct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49" name="Rectangle 13"/>
          <p:cNvSpPr>
            <a:spLocks noChangeArrowheads="1"/>
          </p:cNvSpPr>
          <p:nvPr/>
        </p:nvSpPr>
        <p:spPr bwMode="auto">
          <a:xfrm>
            <a:off x="4526014" y="4777458"/>
            <a:ext cx="180000" cy="1267070"/>
          </a:xfrm>
          <a:prstGeom prst="rect">
            <a:avLst/>
          </a:prstGeom>
          <a:solidFill>
            <a:srgbClr val="3333CC"/>
          </a:solidFill>
          <a:ln w="9525" algn="ctr">
            <a:noFill/>
            <a:miter lim="800000"/>
            <a:headEnd/>
            <a:tailEnd/>
          </a:ln>
          <a:effectLst/>
        </p:spPr>
        <p:txBody>
          <a:bodyPr anchor="ct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50" name="Rectangle 14"/>
          <p:cNvSpPr>
            <a:spLocks noChangeArrowheads="1"/>
          </p:cNvSpPr>
          <p:nvPr/>
        </p:nvSpPr>
        <p:spPr bwMode="auto">
          <a:xfrm>
            <a:off x="4829894" y="4971979"/>
            <a:ext cx="180000" cy="1072549"/>
          </a:xfrm>
          <a:prstGeom prst="rect">
            <a:avLst/>
          </a:prstGeom>
          <a:solidFill>
            <a:srgbClr val="3333CC"/>
          </a:solidFill>
          <a:ln w="9525" algn="ctr">
            <a:noFill/>
            <a:miter lim="800000"/>
            <a:headEnd/>
            <a:tailEnd/>
          </a:ln>
          <a:effectLst/>
        </p:spPr>
        <p:txBody>
          <a:bodyPr wrap="none" anchor="ct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51" name="Rectangle 15"/>
          <p:cNvSpPr>
            <a:spLocks noChangeArrowheads="1"/>
          </p:cNvSpPr>
          <p:nvPr/>
        </p:nvSpPr>
        <p:spPr bwMode="auto">
          <a:xfrm>
            <a:off x="5144176" y="4777458"/>
            <a:ext cx="180000" cy="1267070"/>
          </a:xfrm>
          <a:prstGeom prst="rect">
            <a:avLst/>
          </a:prstGeom>
          <a:solidFill>
            <a:srgbClr val="3333CC"/>
          </a:solidFill>
          <a:ln w="9525" algn="ctr">
            <a:noFill/>
            <a:miter lim="800000"/>
            <a:headEnd/>
            <a:tailEnd/>
          </a:ln>
          <a:effectLst/>
        </p:spPr>
        <p:txBody>
          <a:bodyPr anchor="ct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52" name="Text Box 19"/>
          <p:cNvSpPr txBox="1">
            <a:spLocks noChangeArrowheads="1"/>
          </p:cNvSpPr>
          <p:nvPr/>
        </p:nvSpPr>
        <p:spPr bwMode="auto">
          <a:xfrm>
            <a:off x="2561521" y="5473529"/>
            <a:ext cx="536746"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10ms</a:t>
            </a:r>
          </a:p>
        </p:txBody>
      </p:sp>
      <p:sp>
        <p:nvSpPr>
          <p:cNvPr id="53" name="Text Box 20"/>
          <p:cNvSpPr txBox="1">
            <a:spLocks noChangeArrowheads="1"/>
          </p:cNvSpPr>
          <p:nvPr/>
        </p:nvSpPr>
        <p:spPr bwMode="auto">
          <a:xfrm>
            <a:off x="2561521" y="5085542"/>
            <a:ext cx="536746"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20ms</a:t>
            </a:r>
          </a:p>
        </p:txBody>
      </p:sp>
      <p:sp>
        <p:nvSpPr>
          <p:cNvPr id="54" name="Text Box 21"/>
          <p:cNvSpPr txBox="1">
            <a:spLocks noChangeArrowheads="1"/>
          </p:cNvSpPr>
          <p:nvPr/>
        </p:nvSpPr>
        <p:spPr bwMode="auto">
          <a:xfrm>
            <a:off x="2561521" y="4697555"/>
            <a:ext cx="536746"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30ms</a:t>
            </a:r>
          </a:p>
        </p:txBody>
      </p:sp>
      <p:sp>
        <p:nvSpPr>
          <p:cNvPr id="55" name="Text Box 22"/>
          <p:cNvSpPr txBox="1">
            <a:spLocks noChangeArrowheads="1"/>
          </p:cNvSpPr>
          <p:nvPr/>
        </p:nvSpPr>
        <p:spPr bwMode="auto">
          <a:xfrm>
            <a:off x="2561521" y="4310789"/>
            <a:ext cx="536746" cy="281839"/>
          </a:xfrm>
          <a:prstGeom prst="rect">
            <a:avLst/>
          </a:prstGeom>
          <a:noFill/>
          <a:ln w="9525" algn="ctr">
            <a:noFill/>
            <a:miter lim="800000"/>
            <a:headEnd/>
            <a:tailEnd/>
          </a:ln>
          <a:effectLst/>
        </p:spPr>
        <p:txBody>
          <a:bodyPr wrap="none">
            <a:spAutoFit/>
          </a:bodyPr>
          <a:lstStyle/>
          <a:p>
            <a:pPr algn="ctr" eaLnBrk="1" latinLnBrk="1" hangingPunct="1"/>
            <a:r>
              <a:rPr kumimoji="1" lang="en-US" altLang="ko-KR" dirty="0">
                <a:solidFill>
                  <a:srgbClr val="000000"/>
                </a:solidFill>
                <a:latin typeface="Times New Roman" pitchFamily="18" charset="0"/>
                <a:ea typeface="굴림" pitchFamily="50" charset="-127"/>
              </a:rPr>
              <a:t>40ms</a:t>
            </a:r>
          </a:p>
        </p:txBody>
      </p:sp>
      <p:sp>
        <p:nvSpPr>
          <p:cNvPr id="56" name="Line 23"/>
          <p:cNvSpPr>
            <a:spLocks noChangeShapeType="1"/>
          </p:cNvSpPr>
          <p:nvPr/>
        </p:nvSpPr>
        <p:spPr bwMode="auto">
          <a:xfrm>
            <a:off x="3095759" y="5657762"/>
            <a:ext cx="112867" cy="0"/>
          </a:xfrm>
          <a:prstGeom prst="line">
            <a:avLst/>
          </a:prstGeom>
          <a:noFill/>
          <a:ln w="9525">
            <a:solidFill>
              <a:srgbClr val="000000"/>
            </a:solidFill>
            <a:round/>
            <a:headEnd/>
            <a:tailEnd/>
          </a:ln>
          <a:effectLst/>
        </p:spPr>
        <p:txBody>
          <a:bodyP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57" name="Line 24"/>
          <p:cNvSpPr>
            <a:spLocks noChangeShapeType="1"/>
          </p:cNvSpPr>
          <p:nvPr/>
        </p:nvSpPr>
        <p:spPr bwMode="auto">
          <a:xfrm>
            <a:off x="3095759" y="5269775"/>
            <a:ext cx="112867" cy="0"/>
          </a:xfrm>
          <a:prstGeom prst="line">
            <a:avLst/>
          </a:prstGeom>
          <a:noFill/>
          <a:ln w="9525">
            <a:solidFill>
              <a:srgbClr val="000000"/>
            </a:solidFill>
            <a:round/>
            <a:headEnd/>
            <a:tailEnd/>
          </a:ln>
          <a:effectLst/>
        </p:spPr>
        <p:txBody>
          <a:bodyP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58" name="Line 25"/>
          <p:cNvSpPr>
            <a:spLocks noChangeShapeType="1"/>
          </p:cNvSpPr>
          <p:nvPr/>
        </p:nvSpPr>
        <p:spPr bwMode="auto">
          <a:xfrm>
            <a:off x="3095759" y="4883008"/>
            <a:ext cx="112867" cy="0"/>
          </a:xfrm>
          <a:prstGeom prst="line">
            <a:avLst/>
          </a:prstGeom>
          <a:noFill/>
          <a:ln w="9525">
            <a:solidFill>
              <a:srgbClr val="000000"/>
            </a:solidFill>
            <a:round/>
            <a:headEnd/>
            <a:tailEnd/>
          </a:ln>
          <a:effectLst/>
        </p:spPr>
        <p:txBody>
          <a:bodyP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59" name="Line 26"/>
          <p:cNvSpPr>
            <a:spLocks noChangeShapeType="1"/>
          </p:cNvSpPr>
          <p:nvPr/>
        </p:nvSpPr>
        <p:spPr bwMode="auto">
          <a:xfrm>
            <a:off x="3095759" y="4495021"/>
            <a:ext cx="112867" cy="0"/>
          </a:xfrm>
          <a:prstGeom prst="line">
            <a:avLst/>
          </a:prstGeom>
          <a:noFill/>
          <a:ln w="9525">
            <a:solidFill>
              <a:srgbClr val="000000"/>
            </a:solidFill>
            <a:round/>
            <a:headEnd/>
            <a:tailEnd/>
          </a:ln>
          <a:effectLst/>
        </p:spPr>
        <p:txBody>
          <a:bodyPr>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60" name="Text Box 27"/>
          <p:cNvSpPr txBox="1">
            <a:spLocks noChangeArrowheads="1"/>
          </p:cNvSpPr>
          <p:nvPr/>
        </p:nvSpPr>
        <p:spPr bwMode="auto">
          <a:xfrm>
            <a:off x="3236216" y="6007925"/>
            <a:ext cx="235767"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1</a:t>
            </a:r>
          </a:p>
        </p:txBody>
      </p:sp>
      <p:sp>
        <p:nvSpPr>
          <p:cNvPr id="61" name="Text Box 28"/>
          <p:cNvSpPr txBox="1">
            <a:spLocks noChangeArrowheads="1"/>
          </p:cNvSpPr>
          <p:nvPr/>
        </p:nvSpPr>
        <p:spPr bwMode="auto">
          <a:xfrm>
            <a:off x="3557260" y="6007925"/>
            <a:ext cx="235767"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2</a:t>
            </a:r>
          </a:p>
        </p:txBody>
      </p:sp>
      <p:sp>
        <p:nvSpPr>
          <p:cNvPr id="62" name="Text Box 29"/>
          <p:cNvSpPr txBox="1">
            <a:spLocks noChangeArrowheads="1"/>
          </p:cNvSpPr>
          <p:nvPr/>
        </p:nvSpPr>
        <p:spPr bwMode="auto">
          <a:xfrm>
            <a:off x="3879558" y="6007925"/>
            <a:ext cx="235767"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3</a:t>
            </a:r>
          </a:p>
        </p:txBody>
      </p:sp>
      <p:sp>
        <p:nvSpPr>
          <p:cNvPr id="63" name="Text Box 30"/>
          <p:cNvSpPr txBox="1">
            <a:spLocks noChangeArrowheads="1"/>
          </p:cNvSpPr>
          <p:nvPr/>
        </p:nvSpPr>
        <p:spPr bwMode="auto">
          <a:xfrm>
            <a:off x="4203110" y="6007925"/>
            <a:ext cx="235767"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4</a:t>
            </a:r>
          </a:p>
        </p:txBody>
      </p:sp>
      <p:sp>
        <p:nvSpPr>
          <p:cNvPr id="64" name="Text Box 32"/>
          <p:cNvSpPr txBox="1">
            <a:spLocks noChangeArrowheads="1"/>
          </p:cNvSpPr>
          <p:nvPr/>
        </p:nvSpPr>
        <p:spPr bwMode="auto">
          <a:xfrm>
            <a:off x="5171258" y="6007925"/>
            <a:ext cx="235767"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7</a:t>
            </a:r>
          </a:p>
        </p:txBody>
      </p:sp>
      <p:sp>
        <p:nvSpPr>
          <p:cNvPr id="65" name="Text Box 33"/>
          <p:cNvSpPr txBox="1">
            <a:spLocks noChangeArrowheads="1"/>
          </p:cNvSpPr>
          <p:nvPr/>
        </p:nvSpPr>
        <p:spPr bwMode="auto">
          <a:xfrm>
            <a:off x="4847706" y="6007925"/>
            <a:ext cx="235767"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6</a:t>
            </a:r>
          </a:p>
        </p:txBody>
      </p:sp>
      <p:sp>
        <p:nvSpPr>
          <p:cNvPr id="66" name="Text Box 34"/>
          <p:cNvSpPr txBox="1">
            <a:spLocks noChangeArrowheads="1"/>
          </p:cNvSpPr>
          <p:nvPr/>
        </p:nvSpPr>
        <p:spPr bwMode="auto">
          <a:xfrm>
            <a:off x="4525408" y="6007925"/>
            <a:ext cx="235767" cy="281840"/>
          </a:xfrm>
          <a:prstGeom prst="rect">
            <a:avLst/>
          </a:prstGeom>
          <a:noFill/>
          <a:ln w="9525" algn="ctr">
            <a:noFill/>
            <a:miter lim="800000"/>
            <a:headEnd/>
            <a:tailEnd/>
          </a:ln>
          <a:effectLst/>
        </p:spPr>
        <p:txBody>
          <a:bodyPr wrap="none">
            <a:spAutoFit/>
          </a:bodyPr>
          <a:lstStyle/>
          <a:p>
            <a:pPr algn="ctr" eaLnBrk="1" latinLnBrk="1" hangingPunct="1"/>
            <a:r>
              <a:rPr kumimoji="1" lang="en-US" altLang="ko-KR">
                <a:solidFill>
                  <a:srgbClr val="000000"/>
                </a:solidFill>
                <a:latin typeface="Times New Roman" pitchFamily="18" charset="0"/>
                <a:ea typeface="굴림" pitchFamily="50" charset="-127"/>
              </a:rPr>
              <a:t>5</a:t>
            </a:r>
          </a:p>
        </p:txBody>
      </p:sp>
      <p:sp>
        <p:nvSpPr>
          <p:cNvPr id="67" name="Line 35"/>
          <p:cNvSpPr>
            <a:spLocks noChangeShapeType="1"/>
          </p:cNvSpPr>
          <p:nvPr/>
        </p:nvSpPr>
        <p:spPr bwMode="auto">
          <a:xfrm flipV="1">
            <a:off x="3152192" y="5214870"/>
            <a:ext cx="2445453" cy="11591"/>
          </a:xfrm>
          <a:prstGeom prst="line">
            <a:avLst/>
          </a:prstGeom>
          <a:noFill/>
          <a:ln w="28575">
            <a:solidFill>
              <a:srgbClr val="00CC99"/>
            </a:solidFill>
            <a:prstDash val="sysDash"/>
            <a:round/>
            <a:headEnd/>
            <a:tailEnd/>
          </a:ln>
          <a:effectLst/>
        </p:spPr>
        <p:txBody>
          <a:bodyPr wrap="square">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68" name="Text Box 36"/>
          <p:cNvSpPr txBox="1">
            <a:spLocks noChangeArrowheads="1"/>
          </p:cNvSpPr>
          <p:nvPr/>
        </p:nvSpPr>
        <p:spPr bwMode="auto">
          <a:xfrm>
            <a:off x="5728320" y="5048940"/>
            <a:ext cx="1148810" cy="307507"/>
          </a:xfrm>
          <a:prstGeom prst="rect">
            <a:avLst/>
          </a:prstGeom>
          <a:noFill/>
          <a:ln w="9525" algn="ctr">
            <a:noFill/>
            <a:miter lim="800000"/>
            <a:headEnd/>
            <a:tailEnd/>
          </a:ln>
          <a:effectLst/>
        </p:spPr>
        <p:txBody>
          <a:bodyPr wrap="none">
            <a:spAutoFit/>
          </a:bodyPr>
          <a:lstStyle/>
          <a:p>
            <a:pPr algn="ctr" eaLnBrk="1" latinLnBrk="1" hangingPunct="1"/>
            <a:r>
              <a:rPr kumimoji="1" lang="en-US" altLang="ko-KR" sz="2000">
                <a:solidFill>
                  <a:srgbClr val="3333CC"/>
                </a:solidFill>
                <a:latin typeface="Consolas" pitchFamily="49" charset="0"/>
                <a:ea typeface="굴림" pitchFamily="50" charset="-127"/>
                <a:cs typeface="Consolas" pitchFamily="49" charset="0"/>
              </a:rPr>
              <a:t>Best case</a:t>
            </a:r>
          </a:p>
        </p:txBody>
      </p:sp>
      <p:sp>
        <p:nvSpPr>
          <p:cNvPr id="69" name="Line 37"/>
          <p:cNvSpPr>
            <a:spLocks noChangeShapeType="1"/>
          </p:cNvSpPr>
          <p:nvPr/>
        </p:nvSpPr>
        <p:spPr bwMode="auto">
          <a:xfrm flipV="1">
            <a:off x="3152192" y="4188780"/>
            <a:ext cx="2445453" cy="4041"/>
          </a:xfrm>
          <a:prstGeom prst="line">
            <a:avLst/>
          </a:prstGeom>
          <a:noFill/>
          <a:ln w="28575">
            <a:solidFill>
              <a:srgbClr val="00CC99"/>
            </a:solidFill>
            <a:prstDash val="sysDash"/>
            <a:round/>
            <a:headEnd/>
            <a:tailEnd/>
          </a:ln>
          <a:effectLst/>
        </p:spPr>
        <p:txBody>
          <a:bodyPr wrap="square">
            <a:sp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1" lang="ko-KR" altLang="en-US" sz="2000" b="0" i="0" u="none" strike="noStrike" kern="0" cap="none" spc="0" normalizeH="0" baseline="0" noProof="0">
              <a:ln>
                <a:noFill/>
              </a:ln>
              <a:solidFill>
                <a:srgbClr val="000000"/>
              </a:solidFill>
              <a:effectLst/>
              <a:uLnTx/>
              <a:uFillTx/>
              <a:latin typeface="Times New Roman" pitchFamily="18" charset="0"/>
              <a:ea typeface="굴림" pitchFamily="50" charset="-127"/>
            </a:endParaRPr>
          </a:p>
        </p:txBody>
      </p:sp>
      <p:sp>
        <p:nvSpPr>
          <p:cNvPr id="70" name="Text Box 38"/>
          <p:cNvSpPr txBox="1">
            <a:spLocks noChangeArrowheads="1"/>
          </p:cNvSpPr>
          <p:nvPr/>
        </p:nvSpPr>
        <p:spPr bwMode="auto">
          <a:xfrm>
            <a:off x="5756624" y="3997227"/>
            <a:ext cx="1260248" cy="307507"/>
          </a:xfrm>
          <a:prstGeom prst="rect">
            <a:avLst/>
          </a:prstGeom>
          <a:noFill/>
          <a:ln w="9525" algn="ctr">
            <a:noFill/>
            <a:miter lim="800000"/>
            <a:headEnd/>
            <a:tailEnd/>
          </a:ln>
          <a:effectLst/>
        </p:spPr>
        <p:txBody>
          <a:bodyPr wrap="none">
            <a:spAutoFit/>
          </a:bodyPr>
          <a:lstStyle/>
          <a:p>
            <a:pPr algn="ctr" eaLnBrk="1" latinLnBrk="1" hangingPunct="1"/>
            <a:r>
              <a:rPr kumimoji="1" lang="en-US" altLang="ko-KR" sz="2000">
                <a:solidFill>
                  <a:srgbClr val="3333CC"/>
                </a:solidFill>
                <a:latin typeface="Consolas" pitchFamily="49" charset="0"/>
                <a:ea typeface="굴림" pitchFamily="50" charset="-127"/>
                <a:cs typeface="Consolas" pitchFamily="49" charset="0"/>
              </a:rPr>
              <a:t>Worst case</a:t>
            </a:r>
          </a:p>
        </p:txBody>
      </p:sp>
      <p:sp>
        <p:nvSpPr>
          <p:cNvPr id="71" name="Text Box 40"/>
          <p:cNvSpPr txBox="1">
            <a:spLocks noChangeArrowheads="1"/>
          </p:cNvSpPr>
          <p:nvPr/>
        </p:nvSpPr>
        <p:spPr bwMode="auto">
          <a:xfrm>
            <a:off x="5756174" y="4549926"/>
            <a:ext cx="1483121" cy="307507"/>
          </a:xfrm>
          <a:prstGeom prst="rect">
            <a:avLst/>
          </a:prstGeom>
          <a:noFill/>
          <a:ln w="9525" algn="ctr">
            <a:noFill/>
            <a:miter lim="800000"/>
            <a:headEnd/>
            <a:tailEnd/>
          </a:ln>
          <a:effectLst/>
        </p:spPr>
        <p:txBody>
          <a:bodyPr wrap="none">
            <a:spAutoFit/>
          </a:bodyPr>
          <a:lstStyle/>
          <a:p>
            <a:pPr algn="ctr" eaLnBrk="1" latinLnBrk="1" hangingPunct="1"/>
            <a:r>
              <a:rPr kumimoji="1" lang="en-US" altLang="ko-KR" sz="2000" dirty="0">
                <a:solidFill>
                  <a:srgbClr val="3333CC"/>
                </a:solidFill>
                <a:latin typeface="Consolas" pitchFamily="49" charset="0"/>
                <a:ea typeface="굴림" pitchFamily="50" charset="-127"/>
                <a:cs typeface="Consolas" pitchFamily="49" charset="0"/>
              </a:rPr>
              <a:t>Average case</a:t>
            </a:r>
          </a:p>
        </p:txBody>
      </p:sp>
    </p:spTree>
    <p:extLst>
      <p:ext uri="{BB962C8B-B14F-4D97-AF65-F5344CB8AC3E}">
        <p14:creationId xmlns:p14="http://schemas.microsoft.com/office/powerpoint/2010/main" val="119758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animBg="1"/>
      <p:bldP spid="44" grpId="0" animBg="1"/>
      <p:bldP spid="45" grpId="0" animBg="1"/>
      <p:bldP spid="46" grpId="0" animBg="1"/>
      <p:bldP spid="47" grpId="0" animBg="1"/>
      <p:bldP spid="48" grpId="0" animBg="1"/>
      <p:bldP spid="49" grpId="0" animBg="1"/>
      <p:bldP spid="50" grpId="0" animBg="1"/>
      <p:bldP spid="51" grpId="0" animBg="1"/>
      <p:bldP spid="52" grpId="0"/>
      <p:bldP spid="53" grpId="0"/>
      <p:bldP spid="54" grpId="0"/>
      <p:bldP spid="55" grpId="0"/>
      <p:bldP spid="56" grpId="0" animBg="1"/>
      <p:bldP spid="57" grpId="0" animBg="1"/>
      <p:bldP spid="58" grpId="0" animBg="1"/>
      <p:bldP spid="59" grpId="0" animBg="1"/>
      <p:bldP spid="60" grpId="0"/>
      <p:bldP spid="61" grpId="0"/>
      <p:bldP spid="62" grpId="0"/>
      <p:bldP spid="63" grpId="0"/>
      <p:bldP spid="64" grpId="0"/>
      <p:bldP spid="65" grpId="0"/>
      <p:bldP spid="66" grpId="0"/>
      <p:bldP spid="67" grpId="0" animBg="1"/>
      <p:bldP spid="68" grpId="0"/>
      <p:bldP spid="69" grpId="0" animBg="1"/>
      <p:bldP spid="70" grpId="0"/>
      <p:bldP spid="7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441579"/>
            <a:ext cx="8591550" cy="4925347"/>
          </a:xfrm>
        </p:spPr>
        <p:txBody>
          <a:bodyPr/>
          <a:lstStyle/>
          <a:p>
            <a:pPr algn="just"/>
            <a:r>
              <a:rPr lang="en-US" sz="2000" dirty="0">
                <a:latin typeface="Consolas" panose="020B0609020204030204" pitchFamily="49" charset="0"/>
              </a:rPr>
              <a:t>It’s the amount of memory space required by the algorithm, during the course of its execution. Space complexity must be taken seriously for multi-user systems and in               situations where limited memory is available.</a:t>
            </a:r>
          </a:p>
          <a:p>
            <a:endParaRPr lang="en-US" dirty="0">
              <a:latin typeface="Consolas" panose="020B0609020204030204" pitchFamily="49" charset="0"/>
            </a:endParaRPr>
          </a:p>
          <a:p>
            <a:r>
              <a:rPr lang="en-US" sz="2000" dirty="0">
                <a:solidFill>
                  <a:srgbClr val="7030A0"/>
                </a:solidFill>
                <a:latin typeface="Consolas" panose="020B0609020204030204" pitchFamily="49" charset="0"/>
              </a:rPr>
              <a:t>Fixed Space Requirement</a:t>
            </a:r>
          </a:p>
          <a:p>
            <a:pPr lvl="1"/>
            <a:r>
              <a:rPr lang="en-US" altLang="ko-KR" sz="1800" dirty="0">
                <a:latin typeface="Consolas" panose="020B0609020204030204" pitchFamily="49" charset="0"/>
              </a:rPr>
              <a:t>instruction space, space for simple variables, fixed sized structured variables, and constants</a:t>
            </a:r>
          </a:p>
          <a:p>
            <a:pPr lvl="1"/>
            <a:endParaRPr lang="en-US" dirty="0">
              <a:solidFill>
                <a:srgbClr val="7030A0"/>
              </a:solidFill>
              <a:latin typeface="Consolas" panose="020B0609020204030204" pitchFamily="49" charset="0"/>
            </a:endParaRPr>
          </a:p>
          <a:p>
            <a:r>
              <a:rPr lang="en-US" sz="2000" dirty="0">
                <a:solidFill>
                  <a:srgbClr val="7030A0"/>
                </a:solidFill>
                <a:latin typeface="Consolas" panose="020B0609020204030204" pitchFamily="49" charset="0"/>
              </a:rPr>
              <a:t>Variable Space Requirement</a:t>
            </a:r>
          </a:p>
          <a:p>
            <a:pPr lvl="1"/>
            <a:r>
              <a:rPr lang="en-US" altLang="ko-KR" sz="1800" dirty="0">
                <a:latin typeface="Consolas" panose="020B0609020204030204" pitchFamily="49" charset="0"/>
              </a:rPr>
              <a:t>Structured variables whose size depends on the particular instance of the problem </a:t>
            </a:r>
          </a:p>
          <a:p>
            <a:pPr lvl="1"/>
            <a:r>
              <a:rPr lang="en-US" altLang="ko-KR" sz="1800" dirty="0">
                <a:latin typeface="Consolas" panose="020B0609020204030204" pitchFamily="49" charset="0"/>
              </a:rPr>
              <a:t>Recursive algorithm</a:t>
            </a:r>
          </a:p>
          <a:p>
            <a:pPr lvl="1"/>
            <a:endParaRPr lang="en-US" dirty="0">
              <a:solidFill>
                <a:srgbClr val="7030A0"/>
              </a:solidFill>
            </a:endParaRPr>
          </a:p>
        </p:txBody>
      </p:sp>
      <p:sp>
        <p:nvSpPr>
          <p:cNvPr id="3" name="Title 2"/>
          <p:cNvSpPr>
            <a:spLocks noGrp="1"/>
          </p:cNvSpPr>
          <p:nvPr>
            <p:ph type="title"/>
          </p:nvPr>
        </p:nvSpPr>
        <p:spPr/>
        <p:txBody>
          <a:bodyPr/>
          <a:lstStyle/>
          <a:p>
            <a:r>
              <a:rPr lang="en-US" sz="4400" dirty="0"/>
              <a:t>Space Complexity</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27</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Tree>
    <p:extLst>
      <p:ext uri="{BB962C8B-B14F-4D97-AF65-F5344CB8AC3E}">
        <p14:creationId xmlns:p14="http://schemas.microsoft.com/office/powerpoint/2010/main" val="313856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219201"/>
            <a:ext cx="8591550" cy="5147726"/>
          </a:xfrm>
        </p:spPr>
        <p:txBody>
          <a:bodyPr/>
          <a:lstStyle/>
          <a:p>
            <a:r>
              <a:rPr lang="en-US" dirty="0"/>
              <a:t>Fixed Space</a:t>
            </a:r>
          </a:p>
          <a:p>
            <a:endParaRPr lang="en-US" dirty="0"/>
          </a:p>
          <a:p>
            <a:endParaRPr lang="en-US" dirty="0"/>
          </a:p>
          <a:p>
            <a:endParaRPr lang="en-US" dirty="0"/>
          </a:p>
          <a:p>
            <a:endParaRPr lang="en-US" dirty="0"/>
          </a:p>
          <a:p>
            <a:endParaRPr lang="en-US" dirty="0"/>
          </a:p>
          <a:p>
            <a:endParaRPr lang="en-US" dirty="0"/>
          </a:p>
          <a:p>
            <a:r>
              <a:rPr lang="en-US" dirty="0"/>
              <a:t>Variable/ Linear Space:</a:t>
            </a:r>
          </a:p>
          <a:p>
            <a:pPr marL="0" indent="0">
              <a:buNone/>
            </a:pPr>
            <a:r>
              <a:rPr lang="en-US" dirty="0"/>
              <a:t> </a:t>
            </a:r>
          </a:p>
          <a:p>
            <a:endParaRPr lang="en-US" dirty="0"/>
          </a:p>
          <a:p>
            <a:endParaRPr lang="en-US" dirty="0"/>
          </a:p>
          <a:p>
            <a:endParaRPr lang="en-US" dirty="0"/>
          </a:p>
          <a:p>
            <a:endParaRPr lang="en-US" dirty="0"/>
          </a:p>
          <a:p>
            <a:endParaRPr lang="en-US" dirty="0"/>
          </a:p>
          <a:p>
            <a:endParaRPr lang="en-US" dirty="0"/>
          </a:p>
        </p:txBody>
      </p:sp>
      <p:sp>
        <p:nvSpPr>
          <p:cNvPr id="3" name="Title 2"/>
          <p:cNvSpPr>
            <a:spLocks noGrp="1"/>
          </p:cNvSpPr>
          <p:nvPr>
            <p:ph type="title"/>
          </p:nvPr>
        </p:nvSpPr>
        <p:spPr>
          <a:xfrm>
            <a:off x="179512" y="302400"/>
            <a:ext cx="7211888" cy="691277"/>
          </a:xfrm>
        </p:spPr>
        <p:txBody>
          <a:bodyPr/>
          <a:lstStyle/>
          <a:p>
            <a:r>
              <a:rPr lang="en-US" sz="4400" dirty="0"/>
              <a:t>Example: Space Complexity</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28</a:t>
            </a:fld>
            <a:endParaRPr lang="en-US" dirty="0"/>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7" name="TextBox 6"/>
          <p:cNvSpPr txBox="1"/>
          <p:nvPr/>
        </p:nvSpPr>
        <p:spPr>
          <a:xfrm>
            <a:off x="1828800" y="1676400"/>
            <a:ext cx="2501006" cy="1200329"/>
          </a:xfrm>
          <a:prstGeom prst="rect">
            <a:avLst/>
          </a:prstGeom>
          <a:noFill/>
          <a:ln>
            <a:solidFill>
              <a:schemeClr val="accent1"/>
            </a:solidFill>
          </a:ln>
        </p:spPr>
        <p:txBody>
          <a:bodyPr wrap="none" rtlCol="0">
            <a:spAutoFit/>
          </a:bodyPr>
          <a:lstStyle/>
          <a:p>
            <a:r>
              <a:rPr lang="en-US" dirty="0" err="1">
                <a:solidFill>
                  <a:schemeClr val="accent6">
                    <a:lumMod val="75000"/>
                  </a:schemeClr>
                </a:solidFill>
                <a:latin typeface="Consolas" charset="0"/>
                <a:ea typeface="Consolas" charset="0"/>
                <a:cs typeface="Consolas" charset="0"/>
              </a:rPr>
              <a:t>int</a:t>
            </a:r>
            <a:r>
              <a:rPr lang="en-US" dirty="0">
                <a:solidFill>
                  <a:srgbClr val="0070C0"/>
                </a:solidFill>
                <a:latin typeface="Consolas" charset="0"/>
                <a:ea typeface="Consolas" charset="0"/>
                <a:cs typeface="Consolas" charset="0"/>
              </a:rPr>
              <a:t> square (</a:t>
            </a:r>
            <a:r>
              <a:rPr lang="en-US" dirty="0" err="1">
                <a:solidFill>
                  <a:srgbClr val="0070C0"/>
                </a:solidFill>
                <a:latin typeface="Consolas" charset="0"/>
                <a:ea typeface="Consolas" charset="0"/>
                <a:cs typeface="Consolas" charset="0"/>
              </a:rPr>
              <a:t>int</a:t>
            </a:r>
            <a:r>
              <a:rPr lang="en-US" dirty="0">
                <a:solidFill>
                  <a:srgbClr val="0070C0"/>
                </a:solidFill>
                <a:latin typeface="Consolas" charset="0"/>
                <a:ea typeface="Consolas" charset="0"/>
                <a:cs typeface="Consolas" charset="0"/>
              </a:rPr>
              <a:t> </a:t>
            </a:r>
            <a:r>
              <a:rPr lang="en-US" dirty="0">
                <a:solidFill>
                  <a:schemeClr val="accent2">
                    <a:lumMod val="75000"/>
                  </a:schemeClr>
                </a:solidFill>
                <a:latin typeface="Consolas" charset="0"/>
                <a:ea typeface="Consolas" charset="0"/>
                <a:cs typeface="Consolas" charset="0"/>
              </a:rPr>
              <a:t>a</a:t>
            </a:r>
            <a:r>
              <a:rPr lang="en-US" dirty="0">
                <a:solidFill>
                  <a:srgbClr val="0070C0"/>
                </a:solidFill>
                <a:latin typeface="Consolas" charset="0"/>
                <a:ea typeface="Consolas" charset="0"/>
                <a:cs typeface="Consolas" charset="0"/>
              </a:rPr>
              <a:t>)</a:t>
            </a:r>
          </a:p>
          <a:p>
            <a:r>
              <a:rPr lang="en-US" dirty="0">
                <a:solidFill>
                  <a:srgbClr val="0070C0"/>
                </a:solidFill>
                <a:latin typeface="Consolas" charset="0"/>
                <a:ea typeface="Consolas" charset="0"/>
                <a:cs typeface="Consolas" charset="0"/>
              </a:rPr>
              <a:t>{</a:t>
            </a:r>
          </a:p>
          <a:p>
            <a:r>
              <a:rPr lang="en-US" dirty="0">
                <a:solidFill>
                  <a:srgbClr val="0070C0"/>
                </a:solidFill>
                <a:latin typeface="Consolas" charset="0"/>
                <a:ea typeface="Consolas" charset="0"/>
                <a:cs typeface="Consolas" charset="0"/>
              </a:rPr>
              <a:t>	</a:t>
            </a:r>
            <a:r>
              <a:rPr lang="en-US" dirty="0">
                <a:solidFill>
                  <a:schemeClr val="accent6">
                    <a:lumMod val="75000"/>
                  </a:schemeClr>
                </a:solidFill>
                <a:latin typeface="Consolas" charset="0"/>
                <a:ea typeface="Consolas" charset="0"/>
                <a:cs typeface="Consolas" charset="0"/>
              </a:rPr>
              <a:t>return</a:t>
            </a:r>
            <a:r>
              <a:rPr lang="en-US" dirty="0">
                <a:solidFill>
                  <a:srgbClr val="0070C0"/>
                </a:solidFill>
                <a:latin typeface="Consolas" charset="0"/>
                <a:ea typeface="Consolas" charset="0"/>
                <a:cs typeface="Consolas" charset="0"/>
              </a:rPr>
              <a:t> </a:t>
            </a:r>
            <a:r>
              <a:rPr lang="en-US" dirty="0">
                <a:solidFill>
                  <a:schemeClr val="accent2">
                    <a:lumMod val="75000"/>
                  </a:schemeClr>
                </a:solidFill>
                <a:latin typeface="Consolas" charset="0"/>
                <a:ea typeface="Consolas" charset="0"/>
                <a:cs typeface="Consolas" charset="0"/>
              </a:rPr>
              <a:t>a</a:t>
            </a:r>
            <a:r>
              <a:rPr lang="en-US" dirty="0">
                <a:solidFill>
                  <a:srgbClr val="0070C0"/>
                </a:solidFill>
                <a:latin typeface="Consolas" charset="0"/>
                <a:ea typeface="Consolas" charset="0"/>
                <a:cs typeface="Consolas" charset="0"/>
              </a:rPr>
              <a:t>*</a:t>
            </a:r>
            <a:r>
              <a:rPr lang="en-US" dirty="0">
                <a:solidFill>
                  <a:schemeClr val="accent2">
                    <a:lumMod val="75000"/>
                  </a:schemeClr>
                </a:solidFill>
                <a:latin typeface="Consolas" charset="0"/>
                <a:ea typeface="Consolas" charset="0"/>
                <a:cs typeface="Consolas" charset="0"/>
              </a:rPr>
              <a:t>a</a:t>
            </a:r>
            <a:r>
              <a:rPr lang="en-US" dirty="0">
                <a:solidFill>
                  <a:srgbClr val="0070C0"/>
                </a:solidFill>
                <a:latin typeface="Consolas" charset="0"/>
                <a:ea typeface="Consolas" charset="0"/>
                <a:cs typeface="Consolas" charset="0"/>
              </a:rPr>
              <a:t>;</a:t>
            </a:r>
          </a:p>
          <a:p>
            <a:r>
              <a:rPr lang="en-US" dirty="0">
                <a:solidFill>
                  <a:srgbClr val="0070C0"/>
                </a:solidFill>
                <a:latin typeface="Consolas" charset="0"/>
                <a:ea typeface="Consolas" charset="0"/>
                <a:cs typeface="Consolas" charset="0"/>
              </a:rPr>
              <a:t>}</a:t>
            </a:r>
          </a:p>
        </p:txBody>
      </p:sp>
      <p:sp>
        <p:nvSpPr>
          <p:cNvPr id="8" name="TextBox 7"/>
          <p:cNvSpPr txBox="1"/>
          <p:nvPr/>
        </p:nvSpPr>
        <p:spPr>
          <a:xfrm>
            <a:off x="5257800" y="1600200"/>
            <a:ext cx="3477234" cy="1200329"/>
          </a:xfrm>
          <a:prstGeom prst="rect">
            <a:avLst/>
          </a:prstGeom>
          <a:noFill/>
        </p:spPr>
        <p:txBody>
          <a:bodyPr wrap="none" rtlCol="0">
            <a:spAutoFit/>
          </a:bodyPr>
          <a:lstStyle/>
          <a:p>
            <a:r>
              <a:rPr lang="en-US" dirty="0">
                <a:latin typeface="Consolas" panose="020B0609020204030204" pitchFamily="49" charset="0"/>
              </a:rPr>
              <a:t>2 bytes = </a:t>
            </a:r>
            <a:r>
              <a:rPr lang="en-US" dirty="0" err="1">
                <a:latin typeface="Consolas" panose="020B0609020204030204" pitchFamily="49" charset="0"/>
              </a:rPr>
              <a:t>interger</a:t>
            </a:r>
            <a:endParaRPr lang="en-US" dirty="0">
              <a:latin typeface="Consolas" panose="020B0609020204030204" pitchFamily="49" charset="0"/>
            </a:endParaRPr>
          </a:p>
          <a:p>
            <a:r>
              <a:rPr lang="en-US" dirty="0">
                <a:latin typeface="Consolas" panose="020B0609020204030204" pitchFamily="49" charset="0"/>
              </a:rPr>
              <a:t>4 bytes = floating point</a:t>
            </a:r>
          </a:p>
          <a:p>
            <a:r>
              <a:rPr lang="en-US" dirty="0">
                <a:latin typeface="Consolas" panose="020B0609020204030204" pitchFamily="49" charset="0"/>
              </a:rPr>
              <a:t>1 byte = </a:t>
            </a:r>
            <a:r>
              <a:rPr lang="en-US" dirty="0" err="1">
                <a:latin typeface="Consolas" panose="020B0609020204030204" pitchFamily="49" charset="0"/>
              </a:rPr>
              <a:t>charater</a:t>
            </a:r>
            <a:r>
              <a:rPr lang="en-US" dirty="0">
                <a:latin typeface="Consolas" panose="020B0609020204030204" pitchFamily="49" charset="0"/>
              </a:rPr>
              <a:t> value</a:t>
            </a:r>
          </a:p>
          <a:p>
            <a:r>
              <a:rPr lang="en-US" dirty="0">
                <a:latin typeface="Consolas" panose="020B0609020204030204" pitchFamily="49" charset="0"/>
              </a:rPr>
              <a:t>6 or 8 byte = double value</a:t>
            </a:r>
          </a:p>
        </p:txBody>
      </p:sp>
      <p:sp>
        <p:nvSpPr>
          <p:cNvPr id="13" name="TextBox 12"/>
          <p:cNvSpPr txBox="1"/>
          <p:nvPr/>
        </p:nvSpPr>
        <p:spPr>
          <a:xfrm>
            <a:off x="1828800" y="4114800"/>
            <a:ext cx="3350597" cy="2031325"/>
          </a:xfrm>
          <a:prstGeom prst="rect">
            <a:avLst/>
          </a:prstGeom>
          <a:noFill/>
          <a:ln>
            <a:solidFill>
              <a:schemeClr val="accent1"/>
            </a:solidFill>
          </a:ln>
        </p:spPr>
        <p:txBody>
          <a:bodyPr wrap="none" rtlCol="0">
            <a:spAutoFit/>
          </a:bodyPr>
          <a:lstStyle/>
          <a:p>
            <a:r>
              <a:rPr lang="en-US" dirty="0" err="1">
                <a:solidFill>
                  <a:schemeClr val="accent6">
                    <a:lumMod val="75000"/>
                  </a:schemeClr>
                </a:solidFill>
                <a:latin typeface="Consolas" charset="0"/>
                <a:ea typeface="Consolas" charset="0"/>
                <a:cs typeface="Consolas" charset="0"/>
              </a:rPr>
              <a:t>int</a:t>
            </a:r>
            <a:r>
              <a:rPr lang="en-US" dirty="0">
                <a:solidFill>
                  <a:srgbClr val="0070C0"/>
                </a:solidFill>
                <a:latin typeface="Consolas" charset="0"/>
                <a:ea typeface="Consolas" charset="0"/>
                <a:cs typeface="Consolas" charset="0"/>
              </a:rPr>
              <a:t> sun (</a:t>
            </a:r>
            <a:r>
              <a:rPr lang="en-US" dirty="0" err="1">
                <a:solidFill>
                  <a:srgbClr val="0070C0"/>
                </a:solidFill>
                <a:latin typeface="Consolas" charset="0"/>
                <a:ea typeface="Consolas" charset="0"/>
                <a:cs typeface="Consolas" charset="0"/>
              </a:rPr>
              <a:t>int</a:t>
            </a:r>
            <a:r>
              <a:rPr lang="en-US" dirty="0">
                <a:solidFill>
                  <a:srgbClr val="0070C0"/>
                </a:solidFill>
                <a:latin typeface="Consolas" charset="0"/>
                <a:ea typeface="Consolas" charset="0"/>
                <a:cs typeface="Consolas" charset="0"/>
              </a:rPr>
              <a:t> </a:t>
            </a:r>
            <a:r>
              <a:rPr lang="en-US" dirty="0">
                <a:solidFill>
                  <a:schemeClr val="accent2">
                    <a:lumMod val="75000"/>
                  </a:schemeClr>
                </a:solidFill>
                <a:latin typeface="Consolas" charset="0"/>
                <a:ea typeface="Consolas" charset="0"/>
                <a:cs typeface="Consolas" charset="0"/>
              </a:rPr>
              <a:t>A[ ], </a:t>
            </a:r>
            <a:r>
              <a:rPr lang="en-US" dirty="0" err="1">
                <a:solidFill>
                  <a:schemeClr val="accent5">
                    <a:lumMod val="75000"/>
                  </a:schemeClr>
                </a:solidFill>
                <a:latin typeface="Consolas" charset="0"/>
                <a:ea typeface="Consolas" charset="0"/>
                <a:cs typeface="Consolas" charset="0"/>
              </a:rPr>
              <a:t>int</a:t>
            </a:r>
            <a:r>
              <a:rPr lang="en-US" dirty="0">
                <a:solidFill>
                  <a:schemeClr val="accent2">
                    <a:lumMod val="75000"/>
                  </a:schemeClr>
                </a:solidFill>
                <a:latin typeface="Consolas" charset="0"/>
                <a:ea typeface="Consolas" charset="0"/>
                <a:cs typeface="Consolas" charset="0"/>
              </a:rPr>
              <a:t> n</a:t>
            </a:r>
            <a:r>
              <a:rPr lang="en-US" dirty="0">
                <a:solidFill>
                  <a:srgbClr val="0070C0"/>
                </a:solidFill>
                <a:latin typeface="Consolas" charset="0"/>
                <a:ea typeface="Consolas" charset="0"/>
                <a:cs typeface="Consolas" charset="0"/>
              </a:rPr>
              <a:t>)</a:t>
            </a:r>
          </a:p>
          <a:p>
            <a:r>
              <a:rPr lang="en-US" dirty="0">
                <a:solidFill>
                  <a:srgbClr val="0070C0"/>
                </a:solidFill>
                <a:latin typeface="Consolas" charset="0"/>
                <a:ea typeface="Consolas" charset="0"/>
                <a:cs typeface="Consolas" charset="0"/>
              </a:rPr>
              <a:t>{</a:t>
            </a:r>
          </a:p>
          <a:p>
            <a:r>
              <a:rPr lang="en-US" dirty="0">
                <a:solidFill>
                  <a:srgbClr val="0070C0"/>
                </a:solidFill>
                <a:latin typeface="Consolas" charset="0"/>
                <a:ea typeface="Consolas" charset="0"/>
                <a:cs typeface="Consolas" charset="0"/>
              </a:rPr>
              <a:t>    </a:t>
            </a:r>
            <a:r>
              <a:rPr lang="en-US" dirty="0" err="1">
                <a:solidFill>
                  <a:srgbClr val="0070C0"/>
                </a:solidFill>
                <a:latin typeface="Consolas" charset="0"/>
                <a:ea typeface="Consolas" charset="0"/>
                <a:cs typeface="Consolas" charset="0"/>
              </a:rPr>
              <a:t>int</a:t>
            </a:r>
            <a:r>
              <a:rPr lang="en-US" dirty="0">
                <a:solidFill>
                  <a:srgbClr val="0070C0"/>
                </a:solidFill>
                <a:latin typeface="Consolas" charset="0"/>
                <a:ea typeface="Consolas" charset="0"/>
                <a:cs typeface="Consolas" charset="0"/>
              </a:rPr>
              <a:t> </a:t>
            </a:r>
            <a:r>
              <a:rPr lang="en-US" dirty="0">
                <a:solidFill>
                  <a:schemeClr val="accent6">
                    <a:lumMod val="50000"/>
                  </a:schemeClr>
                </a:solidFill>
                <a:latin typeface="Consolas" charset="0"/>
                <a:ea typeface="Consolas" charset="0"/>
                <a:cs typeface="Consolas" charset="0"/>
              </a:rPr>
              <a:t>sum</a:t>
            </a:r>
            <a:r>
              <a:rPr lang="en-US" dirty="0">
                <a:solidFill>
                  <a:srgbClr val="0070C0"/>
                </a:solidFill>
                <a:latin typeface="Consolas" charset="0"/>
                <a:ea typeface="Consolas" charset="0"/>
                <a:cs typeface="Consolas" charset="0"/>
              </a:rPr>
              <a:t> = 0, </a:t>
            </a:r>
            <a:r>
              <a:rPr lang="en-US" dirty="0" err="1">
                <a:solidFill>
                  <a:schemeClr val="accent6">
                    <a:lumMod val="50000"/>
                  </a:schemeClr>
                </a:solidFill>
                <a:latin typeface="Consolas" charset="0"/>
                <a:ea typeface="Consolas" charset="0"/>
                <a:cs typeface="Consolas" charset="0"/>
              </a:rPr>
              <a:t>i</a:t>
            </a:r>
            <a:r>
              <a:rPr lang="en-US" dirty="0">
                <a:solidFill>
                  <a:srgbClr val="0070C0"/>
                </a:solidFill>
                <a:latin typeface="Consolas" charset="0"/>
                <a:ea typeface="Consolas" charset="0"/>
                <a:cs typeface="Consolas" charset="0"/>
              </a:rPr>
              <a:t>;</a:t>
            </a:r>
          </a:p>
          <a:p>
            <a:r>
              <a:rPr lang="en-US" dirty="0">
                <a:solidFill>
                  <a:srgbClr val="0070C0"/>
                </a:solidFill>
                <a:latin typeface="Consolas" charset="0"/>
                <a:ea typeface="Consolas" charset="0"/>
                <a:cs typeface="Consolas" charset="0"/>
              </a:rPr>
              <a:t>    for(</a:t>
            </a:r>
            <a:r>
              <a:rPr lang="en-US" dirty="0" err="1">
                <a:solidFill>
                  <a:schemeClr val="accent6">
                    <a:lumMod val="50000"/>
                  </a:schemeClr>
                </a:solidFill>
                <a:latin typeface="Consolas" charset="0"/>
                <a:ea typeface="Consolas" charset="0"/>
                <a:cs typeface="Consolas" charset="0"/>
              </a:rPr>
              <a:t>i</a:t>
            </a:r>
            <a:r>
              <a:rPr lang="en-US" dirty="0">
                <a:solidFill>
                  <a:srgbClr val="0070C0"/>
                </a:solidFill>
                <a:latin typeface="Consolas" charset="0"/>
                <a:ea typeface="Consolas" charset="0"/>
                <a:cs typeface="Consolas" charset="0"/>
              </a:rPr>
              <a:t>=0; </a:t>
            </a:r>
            <a:r>
              <a:rPr lang="en-US" dirty="0" err="1">
                <a:solidFill>
                  <a:schemeClr val="accent6">
                    <a:lumMod val="50000"/>
                  </a:schemeClr>
                </a:solidFill>
                <a:latin typeface="Consolas" charset="0"/>
                <a:ea typeface="Consolas" charset="0"/>
                <a:cs typeface="Consolas" charset="0"/>
              </a:rPr>
              <a:t>i</a:t>
            </a:r>
            <a:r>
              <a:rPr lang="en-US" dirty="0">
                <a:solidFill>
                  <a:srgbClr val="0070C0"/>
                </a:solidFill>
                <a:latin typeface="Consolas" charset="0"/>
                <a:ea typeface="Consolas" charset="0"/>
                <a:cs typeface="Consolas" charset="0"/>
              </a:rPr>
              <a:t>&lt;</a:t>
            </a:r>
            <a:r>
              <a:rPr lang="en-US" dirty="0">
                <a:solidFill>
                  <a:schemeClr val="accent6">
                    <a:lumMod val="50000"/>
                  </a:schemeClr>
                </a:solidFill>
                <a:latin typeface="Consolas" charset="0"/>
                <a:ea typeface="Consolas" charset="0"/>
                <a:cs typeface="Consolas" charset="0"/>
              </a:rPr>
              <a:t>n</a:t>
            </a:r>
            <a:r>
              <a:rPr lang="en-US" dirty="0">
                <a:solidFill>
                  <a:srgbClr val="0070C0"/>
                </a:solidFill>
                <a:latin typeface="Consolas" charset="0"/>
                <a:ea typeface="Consolas" charset="0"/>
                <a:cs typeface="Consolas" charset="0"/>
              </a:rPr>
              <a:t>; </a:t>
            </a:r>
            <a:r>
              <a:rPr lang="en-US" dirty="0" err="1">
                <a:solidFill>
                  <a:schemeClr val="accent6">
                    <a:lumMod val="50000"/>
                  </a:schemeClr>
                </a:solidFill>
                <a:latin typeface="Consolas" charset="0"/>
                <a:ea typeface="Consolas" charset="0"/>
                <a:cs typeface="Consolas" charset="0"/>
              </a:rPr>
              <a:t>i</a:t>
            </a:r>
            <a:r>
              <a:rPr lang="en-US" dirty="0">
                <a:solidFill>
                  <a:schemeClr val="accent6">
                    <a:lumMod val="50000"/>
                  </a:schemeClr>
                </a:solidFill>
                <a:latin typeface="Consolas" charset="0"/>
                <a:ea typeface="Consolas" charset="0"/>
                <a:cs typeface="Consolas" charset="0"/>
              </a:rPr>
              <a:t>++</a:t>
            </a:r>
            <a:r>
              <a:rPr lang="en-US" dirty="0">
                <a:solidFill>
                  <a:srgbClr val="0070C0"/>
                </a:solidFill>
                <a:latin typeface="Consolas" charset="0"/>
                <a:ea typeface="Consolas" charset="0"/>
                <a:cs typeface="Consolas" charset="0"/>
              </a:rPr>
              <a:t>)</a:t>
            </a:r>
          </a:p>
          <a:p>
            <a:r>
              <a:rPr lang="en-US" dirty="0">
                <a:solidFill>
                  <a:schemeClr val="accent6">
                    <a:lumMod val="50000"/>
                  </a:schemeClr>
                </a:solidFill>
                <a:latin typeface="Consolas" charset="0"/>
                <a:ea typeface="Consolas" charset="0"/>
                <a:cs typeface="Consolas" charset="0"/>
              </a:rPr>
              <a:t>    sum </a:t>
            </a:r>
            <a:r>
              <a:rPr lang="en-US" dirty="0">
                <a:solidFill>
                  <a:srgbClr val="0070C0"/>
                </a:solidFill>
                <a:latin typeface="Consolas" charset="0"/>
                <a:ea typeface="Consolas" charset="0"/>
                <a:cs typeface="Consolas" charset="0"/>
              </a:rPr>
              <a:t>= </a:t>
            </a:r>
            <a:r>
              <a:rPr lang="en-US" dirty="0">
                <a:solidFill>
                  <a:schemeClr val="accent6">
                    <a:lumMod val="50000"/>
                  </a:schemeClr>
                </a:solidFill>
                <a:latin typeface="Consolas" charset="0"/>
                <a:ea typeface="Consolas" charset="0"/>
                <a:cs typeface="Consolas" charset="0"/>
              </a:rPr>
              <a:t>sum</a:t>
            </a:r>
            <a:r>
              <a:rPr lang="en-US" dirty="0">
                <a:solidFill>
                  <a:srgbClr val="0070C0"/>
                </a:solidFill>
                <a:latin typeface="Consolas" charset="0"/>
                <a:ea typeface="Consolas" charset="0"/>
                <a:cs typeface="Consolas" charset="0"/>
              </a:rPr>
              <a:t> + </a:t>
            </a:r>
            <a:r>
              <a:rPr lang="en-US" dirty="0">
                <a:solidFill>
                  <a:schemeClr val="accent6">
                    <a:lumMod val="50000"/>
                  </a:schemeClr>
                </a:solidFill>
                <a:latin typeface="Consolas" charset="0"/>
                <a:ea typeface="Consolas" charset="0"/>
                <a:cs typeface="Consolas" charset="0"/>
              </a:rPr>
              <a:t>A</a:t>
            </a:r>
            <a:r>
              <a:rPr lang="en-US" dirty="0">
                <a:solidFill>
                  <a:srgbClr val="0070C0"/>
                </a:solidFill>
                <a:latin typeface="Consolas" charset="0"/>
                <a:ea typeface="Consolas" charset="0"/>
                <a:cs typeface="Consolas" charset="0"/>
              </a:rPr>
              <a:t>[</a:t>
            </a:r>
            <a:r>
              <a:rPr lang="en-US" dirty="0" err="1">
                <a:solidFill>
                  <a:schemeClr val="accent6">
                    <a:lumMod val="50000"/>
                  </a:schemeClr>
                </a:solidFill>
                <a:latin typeface="Consolas" charset="0"/>
                <a:ea typeface="Consolas" charset="0"/>
                <a:cs typeface="Consolas" charset="0"/>
              </a:rPr>
              <a:t>i</a:t>
            </a:r>
            <a:r>
              <a:rPr lang="en-US" dirty="0">
                <a:solidFill>
                  <a:srgbClr val="0070C0"/>
                </a:solidFill>
                <a:latin typeface="Consolas" charset="0"/>
                <a:ea typeface="Consolas" charset="0"/>
                <a:cs typeface="Consolas" charset="0"/>
              </a:rPr>
              <a:t>];</a:t>
            </a:r>
          </a:p>
          <a:p>
            <a:r>
              <a:rPr lang="en-US" dirty="0">
                <a:solidFill>
                  <a:srgbClr val="0070C0"/>
                </a:solidFill>
                <a:latin typeface="Consolas" charset="0"/>
                <a:ea typeface="Consolas" charset="0"/>
                <a:cs typeface="Consolas" charset="0"/>
              </a:rPr>
              <a:t>    return </a:t>
            </a:r>
            <a:r>
              <a:rPr lang="en-US" dirty="0">
                <a:solidFill>
                  <a:schemeClr val="accent6">
                    <a:lumMod val="50000"/>
                  </a:schemeClr>
                </a:solidFill>
                <a:latin typeface="Consolas" charset="0"/>
                <a:ea typeface="Consolas" charset="0"/>
                <a:cs typeface="Consolas" charset="0"/>
              </a:rPr>
              <a:t>sum</a:t>
            </a:r>
            <a:r>
              <a:rPr lang="en-US" dirty="0">
                <a:solidFill>
                  <a:srgbClr val="0070C0"/>
                </a:solidFill>
                <a:latin typeface="Consolas" charset="0"/>
                <a:ea typeface="Consolas" charset="0"/>
                <a:cs typeface="Consolas" charset="0"/>
              </a:rPr>
              <a:t>; </a:t>
            </a:r>
          </a:p>
          <a:p>
            <a:r>
              <a:rPr lang="en-US" dirty="0">
                <a:solidFill>
                  <a:srgbClr val="0070C0"/>
                </a:solidFill>
                <a:latin typeface="Consolas" charset="0"/>
                <a:ea typeface="Consolas" charset="0"/>
                <a:cs typeface="Consolas" charset="0"/>
              </a:rPr>
              <a:t>}</a:t>
            </a:r>
          </a:p>
        </p:txBody>
      </p:sp>
      <p:cxnSp>
        <p:nvCxnSpPr>
          <p:cNvPr id="9" name="Straight Arrow Connector 8"/>
          <p:cNvCxnSpPr/>
          <p:nvPr/>
        </p:nvCxnSpPr>
        <p:spPr>
          <a:xfrm>
            <a:off x="5179397" y="4343400"/>
            <a:ext cx="611803"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812692" y="4158734"/>
            <a:ext cx="994183" cy="369332"/>
          </a:xfrm>
          <a:prstGeom prst="rect">
            <a:avLst/>
          </a:prstGeom>
          <a:noFill/>
        </p:spPr>
        <p:txBody>
          <a:bodyPr wrap="none" rtlCol="0">
            <a:spAutoFit/>
          </a:bodyPr>
          <a:lstStyle/>
          <a:p>
            <a:r>
              <a:rPr lang="en-US" dirty="0"/>
              <a:t>2*n + 2</a:t>
            </a:r>
          </a:p>
        </p:txBody>
      </p:sp>
      <p:cxnSp>
        <p:nvCxnSpPr>
          <p:cNvPr id="15" name="Straight Arrow Connector 14"/>
          <p:cNvCxnSpPr/>
          <p:nvPr/>
        </p:nvCxnSpPr>
        <p:spPr>
          <a:xfrm>
            <a:off x="5179396" y="4800600"/>
            <a:ext cx="611803"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831778" y="4615934"/>
            <a:ext cx="763351" cy="369332"/>
          </a:xfrm>
          <a:prstGeom prst="rect">
            <a:avLst/>
          </a:prstGeom>
          <a:noFill/>
        </p:spPr>
        <p:txBody>
          <a:bodyPr wrap="none" rtlCol="0">
            <a:spAutoFit/>
          </a:bodyPr>
          <a:lstStyle/>
          <a:p>
            <a:r>
              <a:rPr lang="en-US" dirty="0"/>
              <a:t>2 + 2</a:t>
            </a:r>
          </a:p>
        </p:txBody>
      </p:sp>
      <p:cxnSp>
        <p:nvCxnSpPr>
          <p:cNvPr id="17" name="Straight Arrow Connector 16"/>
          <p:cNvCxnSpPr/>
          <p:nvPr/>
        </p:nvCxnSpPr>
        <p:spPr>
          <a:xfrm>
            <a:off x="5179395" y="5715000"/>
            <a:ext cx="611803"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740193" y="5530334"/>
            <a:ext cx="393056" cy="369332"/>
          </a:xfrm>
          <a:prstGeom prst="rect">
            <a:avLst/>
          </a:prstGeom>
          <a:noFill/>
        </p:spPr>
        <p:txBody>
          <a:bodyPr wrap="none" rtlCol="0">
            <a:spAutoFit/>
          </a:bodyPr>
          <a:lstStyle/>
          <a:p>
            <a:r>
              <a:rPr lang="en-US" dirty="0"/>
              <a:t>2 </a:t>
            </a:r>
          </a:p>
        </p:txBody>
      </p:sp>
      <p:sp>
        <p:nvSpPr>
          <p:cNvPr id="19" name="TextBox 18"/>
          <p:cNvSpPr txBox="1"/>
          <p:nvPr/>
        </p:nvSpPr>
        <p:spPr>
          <a:xfrm>
            <a:off x="6806875" y="5925066"/>
            <a:ext cx="994183" cy="369332"/>
          </a:xfrm>
          <a:prstGeom prst="rect">
            <a:avLst/>
          </a:prstGeom>
          <a:noFill/>
        </p:spPr>
        <p:txBody>
          <a:bodyPr wrap="none" rtlCol="0">
            <a:spAutoFit/>
          </a:bodyPr>
          <a:lstStyle/>
          <a:p>
            <a:r>
              <a:rPr lang="en-US" dirty="0"/>
              <a:t>2*n + 8</a:t>
            </a:r>
          </a:p>
        </p:txBody>
      </p:sp>
    </p:spTree>
    <p:extLst>
      <p:ext uri="{BB962C8B-B14F-4D97-AF65-F5344CB8AC3E}">
        <p14:creationId xmlns:p14="http://schemas.microsoft.com/office/powerpoint/2010/main" val="137928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143001"/>
            <a:ext cx="8496300" cy="5223926"/>
          </a:xfrm>
        </p:spPr>
        <p:txBody>
          <a:bodyPr/>
          <a:lstStyle/>
          <a:p>
            <a:r>
              <a:rPr lang="en-US" dirty="0"/>
              <a:t>The time complexity of an algorithm is the total amount of time required by an algorithm to complete its execution.</a:t>
            </a:r>
          </a:p>
        </p:txBody>
      </p:sp>
      <p:sp>
        <p:nvSpPr>
          <p:cNvPr id="3" name="Title 2"/>
          <p:cNvSpPr>
            <a:spLocks noGrp="1"/>
          </p:cNvSpPr>
          <p:nvPr>
            <p:ph type="title"/>
          </p:nvPr>
        </p:nvSpPr>
        <p:spPr/>
        <p:txBody>
          <a:bodyPr/>
          <a:lstStyle/>
          <a:p>
            <a:r>
              <a:rPr lang="en-US" sz="4400" dirty="0"/>
              <a:t>Time Complexity</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29</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Box 5"/>
          <p:cNvSpPr txBox="1"/>
          <p:nvPr/>
        </p:nvSpPr>
        <p:spPr>
          <a:xfrm>
            <a:off x="2438400" y="1981200"/>
            <a:ext cx="2545825" cy="1200329"/>
          </a:xfrm>
          <a:prstGeom prst="rect">
            <a:avLst/>
          </a:prstGeom>
          <a:noFill/>
          <a:ln>
            <a:solidFill>
              <a:schemeClr val="accent1"/>
            </a:solidFill>
          </a:ln>
        </p:spPr>
        <p:txBody>
          <a:bodyPr wrap="none" rtlCol="0">
            <a:spAutoFit/>
          </a:bodyPr>
          <a:lstStyle/>
          <a:p>
            <a:r>
              <a:rPr lang="en-US" dirty="0" err="1">
                <a:solidFill>
                  <a:schemeClr val="accent6">
                    <a:lumMod val="75000"/>
                  </a:schemeClr>
                </a:solidFill>
              </a:rPr>
              <a:t>int</a:t>
            </a:r>
            <a:r>
              <a:rPr lang="en-US" dirty="0">
                <a:solidFill>
                  <a:srgbClr val="0070C0"/>
                </a:solidFill>
              </a:rPr>
              <a:t> square (</a:t>
            </a:r>
            <a:r>
              <a:rPr lang="en-US" dirty="0" err="1">
                <a:solidFill>
                  <a:srgbClr val="0070C0"/>
                </a:solidFill>
              </a:rPr>
              <a:t>int</a:t>
            </a:r>
            <a:r>
              <a:rPr lang="en-US" dirty="0">
                <a:solidFill>
                  <a:srgbClr val="0070C0"/>
                </a:solidFill>
              </a:rPr>
              <a:t> </a:t>
            </a:r>
            <a:r>
              <a:rPr lang="en-US" dirty="0">
                <a:solidFill>
                  <a:schemeClr val="accent2">
                    <a:lumMod val="75000"/>
                  </a:schemeClr>
                </a:solidFill>
              </a:rPr>
              <a:t>a, </a:t>
            </a:r>
            <a:r>
              <a:rPr lang="en-US" dirty="0" err="1">
                <a:solidFill>
                  <a:srgbClr val="0070C0"/>
                </a:solidFill>
              </a:rPr>
              <a:t>int</a:t>
            </a:r>
            <a:r>
              <a:rPr lang="en-US" dirty="0">
                <a:solidFill>
                  <a:srgbClr val="0070C0"/>
                </a:solidFill>
              </a:rPr>
              <a:t> </a:t>
            </a:r>
            <a:r>
              <a:rPr lang="en-US" dirty="0">
                <a:solidFill>
                  <a:schemeClr val="accent2">
                    <a:lumMod val="75000"/>
                  </a:schemeClr>
                </a:solidFill>
              </a:rPr>
              <a:t>b</a:t>
            </a:r>
            <a:r>
              <a:rPr lang="en-US" dirty="0">
                <a:solidFill>
                  <a:srgbClr val="0070C0"/>
                </a:solidFill>
              </a:rPr>
              <a:t>)</a:t>
            </a:r>
          </a:p>
          <a:p>
            <a:r>
              <a:rPr lang="en-US" dirty="0">
                <a:solidFill>
                  <a:srgbClr val="0070C0"/>
                </a:solidFill>
              </a:rPr>
              <a:t>{</a:t>
            </a:r>
          </a:p>
          <a:p>
            <a:r>
              <a:rPr lang="en-US" dirty="0">
                <a:solidFill>
                  <a:srgbClr val="0070C0"/>
                </a:solidFill>
              </a:rPr>
              <a:t>	</a:t>
            </a:r>
            <a:r>
              <a:rPr lang="en-US" dirty="0">
                <a:solidFill>
                  <a:schemeClr val="accent6">
                    <a:lumMod val="75000"/>
                  </a:schemeClr>
                </a:solidFill>
              </a:rPr>
              <a:t>return</a:t>
            </a:r>
            <a:r>
              <a:rPr lang="en-US" dirty="0">
                <a:solidFill>
                  <a:srgbClr val="0070C0"/>
                </a:solidFill>
              </a:rPr>
              <a:t> </a:t>
            </a:r>
            <a:r>
              <a:rPr lang="en-US" dirty="0" err="1">
                <a:solidFill>
                  <a:schemeClr val="accent2">
                    <a:lumMod val="75000"/>
                  </a:schemeClr>
                </a:solidFill>
              </a:rPr>
              <a:t>a+b</a:t>
            </a:r>
            <a:r>
              <a:rPr lang="en-US" dirty="0">
                <a:solidFill>
                  <a:srgbClr val="0070C0"/>
                </a:solidFill>
              </a:rPr>
              <a:t>;</a:t>
            </a:r>
          </a:p>
          <a:p>
            <a:r>
              <a:rPr lang="en-US" dirty="0">
                <a:solidFill>
                  <a:srgbClr val="0070C0"/>
                </a:solidFill>
              </a:rPr>
              <a:t>}</a:t>
            </a:r>
          </a:p>
        </p:txBody>
      </p:sp>
      <p:sp>
        <p:nvSpPr>
          <p:cNvPr id="7" name="Right Arrow 6"/>
          <p:cNvSpPr/>
          <p:nvPr/>
        </p:nvSpPr>
        <p:spPr>
          <a:xfrm>
            <a:off x="5046829" y="2581364"/>
            <a:ext cx="4572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5566633" y="2510998"/>
            <a:ext cx="2946640" cy="369332"/>
          </a:xfrm>
          <a:prstGeom prst="rect">
            <a:avLst/>
          </a:prstGeom>
          <a:noFill/>
        </p:spPr>
        <p:txBody>
          <a:bodyPr wrap="none" rtlCol="0">
            <a:spAutoFit/>
          </a:bodyPr>
          <a:lstStyle/>
          <a:p>
            <a:r>
              <a:rPr lang="en-US" dirty="0"/>
              <a:t>Constant Time Complexity</a:t>
            </a:r>
          </a:p>
        </p:txBody>
      </p:sp>
      <p:sp>
        <p:nvSpPr>
          <p:cNvPr id="9" name="TextBox 8"/>
          <p:cNvSpPr txBox="1"/>
          <p:nvPr/>
        </p:nvSpPr>
        <p:spPr>
          <a:xfrm>
            <a:off x="323850" y="3754964"/>
            <a:ext cx="3962400" cy="2031325"/>
          </a:xfrm>
          <a:prstGeom prst="rect">
            <a:avLst/>
          </a:prstGeom>
          <a:noFill/>
          <a:ln>
            <a:solidFill>
              <a:schemeClr val="accent1"/>
            </a:solidFill>
          </a:ln>
        </p:spPr>
        <p:txBody>
          <a:bodyPr wrap="square" rtlCol="0">
            <a:spAutoFit/>
          </a:bodyPr>
          <a:lstStyle/>
          <a:p>
            <a:r>
              <a:rPr lang="en-US" dirty="0" err="1">
                <a:solidFill>
                  <a:schemeClr val="accent6">
                    <a:lumMod val="75000"/>
                  </a:schemeClr>
                </a:solidFill>
              </a:rPr>
              <a:t>int</a:t>
            </a:r>
            <a:r>
              <a:rPr lang="en-US" dirty="0">
                <a:solidFill>
                  <a:srgbClr val="0070C0"/>
                </a:solidFill>
              </a:rPr>
              <a:t> </a:t>
            </a:r>
            <a:r>
              <a:rPr lang="en-US" dirty="0" err="1">
                <a:solidFill>
                  <a:srgbClr val="0070C0"/>
                </a:solidFill>
              </a:rPr>
              <a:t>sumofList</a:t>
            </a:r>
            <a:r>
              <a:rPr lang="en-US" dirty="0">
                <a:solidFill>
                  <a:srgbClr val="0070C0"/>
                </a:solidFill>
              </a:rPr>
              <a:t> (</a:t>
            </a:r>
            <a:r>
              <a:rPr lang="en-US" dirty="0" err="1">
                <a:solidFill>
                  <a:srgbClr val="0070C0"/>
                </a:solidFill>
              </a:rPr>
              <a:t>int</a:t>
            </a:r>
            <a:r>
              <a:rPr lang="en-US" dirty="0">
                <a:solidFill>
                  <a:srgbClr val="0070C0"/>
                </a:solidFill>
              </a:rPr>
              <a:t> </a:t>
            </a:r>
            <a:r>
              <a:rPr lang="en-US" dirty="0">
                <a:solidFill>
                  <a:schemeClr val="accent2">
                    <a:lumMod val="75000"/>
                  </a:schemeClr>
                </a:solidFill>
              </a:rPr>
              <a:t>A[ ], </a:t>
            </a:r>
            <a:r>
              <a:rPr lang="en-US" dirty="0" err="1">
                <a:solidFill>
                  <a:srgbClr val="0070C0"/>
                </a:solidFill>
              </a:rPr>
              <a:t>int</a:t>
            </a:r>
            <a:r>
              <a:rPr lang="en-US" dirty="0">
                <a:solidFill>
                  <a:srgbClr val="0070C0"/>
                </a:solidFill>
              </a:rPr>
              <a:t> </a:t>
            </a:r>
            <a:r>
              <a:rPr lang="en-US" dirty="0">
                <a:solidFill>
                  <a:schemeClr val="accent2">
                    <a:lumMod val="75000"/>
                  </a:schemeClr>
                </a:solidFill>
              </a:rPr>
              <a:t>n</a:t>
            </a:r>
            <a:r>
              <a:rPr lang="en-US" dirty="0">
                <a:solidFill>
                  <a:srgbClr val="0070C0"/>
                </a:solidFill>
              </a:rPr>
              <a:t>)</a:t>
            </a:r>
          </a:p>
          <a:p>
            <a:r>
              <a:rPr lang="en-US" dirty="0">
                <a:solidFill>
                  <a:srgbClr val="0070C0"/>
                </a:solidFill>
              </a:rPr>
              <a:t>{</a:t>
            </a:r>
          </a:p>
          <a:p>
            <a:r>
              <a:rPr lang="en-US" dirty="0">
                <a:solidFill>
                  <a:srgbClr val="0070C0"/>
                </a:solidFill>
              </a:rPr>
              <a:t>   </a:t>
            </a:r>
            <a:r>
              <a:rPr lang="en-US" dirty="0" err="1">
                <a:solidFill>
                  <a:srgbClr val="0070C0"/>
                </a:solidFill>
              </a:rPr>
              <a:t>int</a:t>
            </a:r>
            <a:r>
              <a:rPr lang="en-US" dirty="0">
                <a:solidFill>
                  <a:srgbClr val="0070C0"/>
                </a:solidFill>
              </a:rPr>
              <a:t> sum = 0, </a:t>
            </a:r>
            <a:r>
              <a:rPr lang="en-US" dirty="0" err="1">
                <a:solidFill>
                  <a:srgbClr val="0070C0"/>
                </a:solidFill>
              </a:rPr>
              <a:t>i</a:t>
            </a:r>
            <a:r>
              <a:rPr lang="en-US" dirty="0">
                <a:solidFill>
                  <a:srgbClr val="0070C0"/>
                </a:solidFill>
              </a:rPr>
              <a:t>;</a:t>
            </a:r>
          </a:p>
          <a:p>
            <a:r>
              <a:rPr lang="en-US" dirty="0">
                <a:solidFill>
                  <a:srgbClr val="0070C0"/>
                </a:solidFill>
              </a:rPr>
              <a:t>   for (</a:t>
            </a:r>
            <a:r>
              <a:rPr lang="en-US" dirty="0" err="1">
                <a:solidFill>
                  <a:srgbClr val="0070C0"/>
                </a:solidFill>
              </a:rPr>
              <a:t>i</a:t>
            </a:r>
            <a:r>
              <a:rPr lang="en-US" dirty="0">
                <a:solidFill>
                  <a:srgbClr val="0070C0"/>
                </a:solidFill>
              </a:rPr>
              <a:t>=0; </a:t>
            </a:r>
            <a:r>
              <a:rPr lang="en-US" dirty="0" err="1">
                <a:solidFill>
                  <a:srgbClr val="0070C0"/>
                </a:solidFill>
              </a:rPr>
              <a:t>i</a:t>
            </a:r>
            <a:r>
              <a:rPr lang="en-US" dirty="0">
                <a:solidFill>
                  <a:srgbClr val="0070C0"/>
                </a:solidFill>
              </a:rPr>
              <a:t>&lt;n; </a:t>
            </a:r>
            <a:r>
              <a:rPr lang="en-US" dirty="0" err="1">
                <a:solidFill>
                  <a:srgbClr val="0070C0"/>
                </a:solidFill>
              </a:rPr>
              <a:t>i</a:t>
            </a:r>
            <a:r>
              <a:rPr lang="en-US" dirty="0">
                <a:solidFill>
                  <a:srgbClr val="0070C0"/>
                </a:solidFill>
              </a:rPr>
              <a:t>++)</a:t>
            </a:r>
          </a:p>
          <a:p>
            <a:r>
              <a:rPr lang="en-US" dirty="0">
                <a:solidFill>
                  <a:srgbClr val="0070C0"/>
                </a:solidFill>
              </a:rPr>
              <a:t>	sum = sum + A[</a:t>
            </a:r>
            <a:r>
              <a:rPr lang="en-US" dirty="0" err="1">
                <a:solidFill>
                  <a:srgbClr val="0070C0"/>
                </a:solidFill>
              </a:rPr>
              <a:t>i</a:t>
            </a:r>
            <a:r>
              <a:rPr lang="en-US" dirty="0">
                <a:solidFill>
                  <a:srgbClr val="0070C0"/>
                </a:solidFill>
              </a:rPr>
              <a:t>];</a:t>
            </a:r>
          </a:p>
          <a:p>
            <a:r>
              <a:rPr lang="en-US" dirty="0">
                <a:solidFill>
                  <a:srgbClr val="0070C0"/>
                </a:solidFill>
              </a:rPr>
              <a:t>	</a:t>
            </a:r>
            <a:r>
              <a:rPr lang="en-US" dirty="0">
                <a:solidFill>
                  <a:schemeClr val="accent6">
                    <a:lumMod val="75000"/>
                  </a:schemeClr>
                </a:solidFill>
              </a:rPr>
              <a:t>return</a:t>
            </a:r>
            <a:r>
              <a:rPr lang="en-US" dirty="0">
                <a:solidFill>
                  <a:srgbClr val="0070C0"/>
                </a:solidFill>
              </a:rPr>
              <a:t> </a:t>
            </a:r>
            <a:r>
              <a:rPr lang="en-US" dirty="0">
                <a:solidFill>
                  <a:schemeClr val="accent2">
                    <a:lumMod val="75000"/>
                  </a:schemeClr>
                </a:solidFill>
              </a:rPr>
              <a:t>sum;</a:t>
            </a:r>
            <a:endParaRPr lang="en-US" dirty="0">
              <a:solidFill>
                <a:srgbClr val="0070C0"/>
              </a:solidFill>
            </a:endParaRPr>
          </a:p>
          <a:p>
            <a:r>
              <a:rPr lang="en-US" dirty="0">
                <a:solidFill>
                  <a:srgbClr val="0070C0"/>
                </a:solidFill>
              </a:rPr>
              <a:t>}</a:t>
            </a:r>
          </a:p>
        </p:txBody>
      </p:sp>
      <p:graphicFrame>
        <p:nvGraphicFramePr>
          <p:cNvPr id="10" name="Table 9"/>
          <p:cNvGraphicFramePr>
            <a:graphicFrameLocks noGrp="1"/>
          </p:cNvGraphicFramePr>
          <p:nvPr>
            <p:extLst>
              <p:ext uri="{D42A27DB-BD31-4B8C-83A1-F6EECF244321}">
                <p14:modId xmlns:p14="http://schemas.microsoft.com/office/powerpoint/2010/main" val="2241253793"/>
              </p:ext>
            </p:extLst>
          </p:nvPr>
        </p:nvGraphicFramePr>
        <p:xfrm>
          <a:off x="4447386" y="3889280"/>
          <a:ext cx="4426476" cy="1958262"/>
        </p:xfrm>
        <a:graphic>
          <a:graphicData uri="http://schemas.openxmlformats.org/drawingml/2006/table">
            <a:tbl>
              <a:tblPr firstRow="1" bandRow="1">
                <a:tableStyleId>{5C22544A-7EE6-4342-B048-85BDC9FD1C3A}</a:tableStyleId>
              </a:tblPr>
              <a:tblGrid>
                <a:gridCol w="1067674">
                  <a:extLst>
                    <a:ext uri="{9D8B030D-6E8A-4147-A177-3AD203B41FA5}">
                      <a16:colId xmlns:a16="http://schemas.microsoft.com/office/drawing/2014/main" val="3196670184"/>
                    </a:ext>
                  </a:extLst>
                </a:gridCol>
                <a:gridCol w="1883310">
                  <a:extLst>
                    <a:ext uri="{9D8B030D-6E8A-4147-A177-3AD203B41FA5}">
                      <a16:colId xmlns:a16="http://schemas.microsoft.com/office/drawing/2014/main" val="1247513601"/>
                    </a:ext>
                  </a:extLst>
                </a:gridCol>
                <a:gridCol w="1475492">
                  <a:extLst>
                    <a:ext uri="{9D8B030D-6E8A-4147-A177-3AD203B41FA5}">
                      <a16:colId xmlns:a16="http://schemas.microsoft.com/office/drawing/2014/main" val="1894273004"/>
                    </a:ext>
                  </a:extLst>
                </a:gridCol>
              </a:tblGrid>
              <a:tr h="408914">
                <a:tc>
                  <a:txBody>
                    <a:bodyPr/>
                    <a:lstStyle/>
                    <a:p>
                      <a:pPr algn="ctr"/>
                      <a:r>
                        <a:rPr lang="en-US" dirty="0">
                          <a:solidFill>
                            <a:schemeClr val="accent6">
                              <a:lumMod val="60000"/>
                              <a:lumOff val="40000"/>
                            </a:schemeClr>
                          </a:solidFill>
                        </a:rPr>
                        <a:t>Cost</a:t>
                      </a:r>
                    </a:p>
                  </a:txBody>
                  <a:tcPr/>
                </a:tc>
                <a:tc>
                  <a:txBody>
                    <a:bodyPr/>
                    <a:lstStyle/>
                    <a:p>
                      <a:pPr algn="ctr"/>
                      <a:r>
                        <a:rPr lang="en-US" dirty="0">
                          <a:solidFill>
                            <a:schemeClr val="accent6">
                              <a:lumMod val="60000"/>
                              <a:lumOff val="40000"/>
                            </a:schemeClr>
                          </a:solidFill>
                        </a:rPr>
                        <a:t>Repetition</a:t>
                      </a:r>
                    </a:p>
                  </a:txBody>
                  <a:tcPr/>
                </a:tc>
                <a:tc>
                  <a:txBody>
                    <a:bodyPr/>
                    <a:lstStyle/>
                    <a:p>
                      <a:pPr algn="ctr"/>
                      <a:r>
                        <a:rPr lang="en-US" dirty="0">
                          <a:solidFill>
                            <a:schemeClr val="accent6">
                              <a:lumMod val="60000"/>
                              <a:lumOff val="40000"/>
                            </a:schemeClr>
                          </a:solidFill>
                        </a:rPr>
                        <a:t>Total</a:t>
                      </a:r>
                    </a:p>
                  </a:txBody>
                  <a:tcPr/>
                </a:tc>
                <a:extLst>
                  <a:ext uri="{0D108BD9-81ED-4DB2-BD59-A6C34878D82A}">
                    <a16:rowId xmlns:a16="http://schemas.microsoft.com/office/drawing/2014/main" val="3273403567"/>
                  </a:ext>
                </a:extLst>
              </a:tr>
              <a:tr h="273806">
                <a:tc>
                  <a:txBody>
                    <a:bodyPr/>
                    <a:lstStyle/>
                    <a:p>
                      <a:pPr algn="ctr"/>
                      <a:r>
                        <a:rPr lang="en-US" b="1" dirty="0"/>
                        <a:t>1</a:t>
                      </a:r>
                    </a:p>
                  </a:txBody>
                  <a:tcPr/>
                </a:tc>
                <a:tc>
                  <a:txBody>
                    <a:bodyPr/>
                    <a:lstStyle/>
                    <a:p>
                      <a:pPr algn="ctr"/>
                      <a:r>
                        <a:rPr lang="en-US" b="1" dirty="0"/>
                        <a:t>1</a:t>
                      </a:r>
                    </a:p>
                  </a:txBody>
                  <a:tcPr/>
                </a:tc>
                <a:tc>
                  <a:txBody>
                    <a:bodyPr/>
                    <a:lstStyle/>
                    <a:p>
                      <a:pPr algn="ctr"/>
                      <a:r>
                        <a:rPr lang="en-US" b="1" dirty="0"/>
                        <a:t>1</a:t>
                      </a:r>
                    </a:p>
                  </a:txBody>
                  <a:tcPr/>
                </a:tc>
                <a:extLst>
                  <a:ext uri="{0D108BD9-81ED-4DB2-BD59-A6C34878D82A}">
                    <a16:rowId xmlns:a16="http://schemas.microsoft.com/office/drawing/2014/main" val="3206919217"/>
                  </a:ext>
                </a:extLst>
              </a:tr>
              <a:tr h="365246">
                <a:tc>
                  <a:txBody>
                    <a:bodyPr/>
                    <a:lstStyle/>
                    <a:p>
                      <a:pPr algn="ctr"/>
                      <a:r>
                        <a:rPr lang="en-US" b="1" dirty="0"/>
                        <a:t>1</a:t>
                      </a:r>
                    </a:p>
                  </a:txBody>
                  <a:tcPr/>
                </a:tc>
                <a:tc>
                  <a:txBody>
                    <a:bodyPr/>
                    <a:lstStyle/>
                    <a:p>
                      <a:pPr algn="ctr"/>
                      <a:r>
                        <a:rPr lang="en-US" b="1" dirty="0"/>
                        <a:t>n+1</a:t>
                      </a:r>
                    </a:p>
                  </a:txBody>
                  <a:tcPr/>
                </a:tc>
                <a:tc>
                  <a:txBody>
                    <a:bodyPr/>
                    <a:lstStyle/>
                    <a:p>
                      <a:pPr algn="ctr"/>
                      <a:r>
                        <a:rPr lang="en-US" b="1" dirty="0"/>
                        <a:t>n+1</a:t>
                      </a:r>
                    </a:p>
                  </a:txBody>
                  <a:tcPr/>
                </a:tc>
                <a:extLst>
                  <a:ext uri="{0D108BD9-81ED-4DB2-BD59-A6C34878D82A}">
                    <a16:rowId xmlns:a16="http://schemas.microsoft.com/office/drawing/2014/main" val="3744081948"/>
                  </a:ext>
                </a:extLst>
              </a:tr>
              <a:tr h="408914">
                <a:tc>
                  <a:txBody>
                    <a:bodyPr/>
                    <a:lstStyle/>
                    <a:p>
                      <a:pPr algn="ctr"/>
                      <a:r>
                        <a:rPr lang="en-US" b="1" dirty="0"/>
                        <a:t>2</a:t>
                      </a:r>
                    </a:p>
                  </a:txBody>
                  <a:tcPr/>
                </a:tc>
                <a:tc>
                  <a:txBody>
                    <a:bodyPr/>
                    <a:lstStyle/>
                    <a:p>
                      <a:pPr algn="ctr"/>
                      <a:r>
                        <a:rPr lang="en-US" b="1" dirty="0"/>
                        <a:t>n</a:t>
                      </a:r>
                    </a:p>
                  </a:txBody>
                  <a:tcPr/>
                </a:tc>
                <a:tc>
                  <a:txBody>
                    <a:bodyPr/>
                    <a:lstStyle/>
                    <a:p>
                      <a:pPr algn="ctr"/>
                      <a:r>
                        <a:rPr lang="en-US" b="1" dirty="0"/>
                        <a:t>2n</a:t>
                      </a:r>
                    </a:p>
                  </a:txBody>
                  <a:tcPr/>
                </a:tc>
                <a:extLst>
                  <a:ext uri="{0D108BD9-81ED-4DB2-BD59-A6C34878D82A}">
                    <a16:rowId xmlns:a16="http://schemas.microsoft.com/office/drawing/2014/main" val="4132630445"/>
                  </a:ext>
                </a:extLst>
              </a:tr>
              <a:tr h="408914">
                <a:tc>
                  <a:txBody>
                    <a:bodyPr/>
                    <a:lstStyle/>
                    <a:p>
                      <a:pPr algn="ctr"/>
                      <a:r>
                        <a:rPr lang="en-US" b="1" dirty="0"/>
                        <a:t>1</a:t>
                      </a:r>
                    </a:p>
                  </a:txBody>
                  <a:tcPr/>
                </a:tc>
                <a:tc>
                  <a:txBody>
                    <a:bodyPr/>
                    <a:lstStyle/>
                    <a:p>
                      <a:pPr algn="ctr"/>
                      <a:r>
                        <a:rPr lang="en-US" b="1" dirty="0"/>
                        <a:t>1</a:t>
                      </a:r>
                    </a:p>
                  </a:txBody>
                  <a:tcPr/>
                </a:tc>
                <a:tc>
                  <a:txBody>
                    <a:bodyPr/>
                    <a:lstStyle/>
                    <a:p>
                      <a:pPr algn="ctr"/>
                      <a:r>
                        <a:rPr lang="en-US" b="1" dirty="0"/>
                        <a:t>1</a:t>
                      </a:r>
                    </a:p>
                  </a:txBody>
                  <a:tcPr/>
                </a:tc>
                <a:extLst>
                  <a:ext uri="{0D108BD9-81ED-4DB2-BD59-A6C34878D82A}">
                    <a16:rowId xmlns:a16="http://schemas.microsoft.com/office/drawing/2014/main" val="1420024851"/>
                  </a:ext>
                </a:extLst>
              </a:tr>
            </a:tbl>
          </a:graphicData>
        </a:graphic>
      </p:graphicFrame>
      <p:cxnSp>
        <p:nvCxnSpPr>
          <p:cNvPr id="12" name="Straight Arrow Connector 11"/>
          <p:cNvCxnSpPr/>
          <p:nvPr/>
        </p:nvCxnSpPr>
        <p:spPr>
          <a:xfrm flipV="1">
            <a:off x="2282086" y="4495800"/>
            <a:ext cx="2165300" cy="4316"/>
          </a:xfrm>
          <a:prstGeom prst="straightConnector1">
            <a:avLst/>
          </a:prstGeom>
          <a:ln w="28575">
            <a:solidFill>
              <a:srgbClr val="00B050"/>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490263" y="4770626"/>
            <a:ext cx="1795987" cy="0"/>
          </a:xfrm>
          <a:prstGeom prst="straightConnector1">
            <a:avLst/>
          </a:prstGeom>
          <a:ln w="28575">
            <a:solidFill>
              <a:srgbClr val="00B050"/>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280069" y="5105400"/>
            <a:ext cx="1167317" cy="0"/>
          </a:xfrm>
          <a:prstGeom prst="straightConnector1">
            <a:avLst/>
          </a:prstGeom>
          <a:ln w="28575">
            <a:solidFill>
              <a:srgbClr val="00B050"/>
            </a:solidFill>
            <a:headEnd type="none"/>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700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arn(inVertical)">
                                      <p:cBhvr>
                                        <p:cTn id="10" dur="500"/>
                                        <p:tgtEl>
                                          <p:spTgt spid="12"/>
                                        </p:tgtEl>
                                      </p:cBhvr>
                                    </p:animEffect>
                                  </p:childTnLst>
                                </p:cTn>
                              </p:par>
                              <p:par>
                                <p:cTn id="11" presetID="16" presetClass="entr" presetSubtype="21"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arn(inVertical)">
                                      <p:cBhvr>
                                        <p:cTn id="13" dur="500"/>
                                        <p:tgtEl>
                                          <p:spTgt spid="17"/>
                                        </p:tgtEl>
                                      </p:cBhvr>
                                    </p:animEffect>
                                  </p:childTnLst>
                                </p:cTn>
                              </p:par>
                              <p:par>
                                <p:cTn id="14" presetID="16" presetClass="entr" presetSubtype="21"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arn(inVertical)">
                                      <p:cBhvr>
                                        <p:cTn id="1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219201"/>
            <a:ext cx="8496300" cy="5147726"/>
          </a:xfrm>
        </p:spPr>
        <p:txBody>
          <a:bodyPr/>
          <a:lstStyle/>
          <a:p>
            <a:endParaRPr lang="en-US" dirty="0"/>
          </a:p>
        </p:txBody>
      </p:sp>
      <p:sp>
        <p:nvSpPr>
          <p:cNvPr id="3" name="Title 2"/>
          <p:cNvSpPr>
            <a:spLocks noGrp="1"/>
          </p:cNvSpPr>
          <p:nvPr>
            <p:ph type="title"/>
          </p:nvPr>
        </p:nvSpPr>
        <p:spPr>
          <a:xfrm>
            <a:off x="179512" y="302400"/>
            <a:ext cx="6526088" cy="691277"/>
          </a:xfrm>
        </p:spPr>
        <p:txBody>
          <a:bodyPr/>
          <a:lstStyle/>
          <a:p>
            <a:r>
              <a:rPr lang="en-US" sz="3600" dirty="0"/>
              <a:t>Time Complexity: Examples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30</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Rectangle 5"/>
          <p:cNvSpPr>
            <a:spLocks noChangeArrowheads="1"/>
          </p:cNvSpPr>
          <p:nvPr/>
        </p:nvSpPr>
        <p:spPr bwMode="auto">
          <a:xfrm>
            <a:off x="393700" y="1314475"/>
            <a:ext cx="7521276" cy="3416300"/>
          </a:xfrm>
          <a:prstGeom prst="rect">
            <a:avLst/>
          </a:prstGeom>
          <a:solidFill>
            <a:schemeClr val="bg1"/>
          </a:solidFill>
          <a:ln w="9525">
            <a:solidFill>
              <a:schemeClr val="tx1"/>
            </a:solidFill>
            <a:miter lim="800000"/>
            <a:headEnd/>
            <a:tailEnd/>
          </a:ln>
          <a:effectLst/>
        </p:spPr>
        <p:txBody>
          <a:bodyPr wrap="none" anchor="ctr"/>
          <a:lstStyle/>
          <a:p>
            <a:endParaRPr lang="ko-KR" altLang="en-US"/>
          </a:p>
        </p:txBody>
      </p:sp>
      <p:sp>
        <p:nvSpPr>
          <p:cNvPr id="7" name="Line 6"/>
          <p:cNvSpPr>
            <a:spLocks noChangeShapeType="1"/>
          </p:cNvSpPr>
          <p:nvPr/>
        </p:nvSpPr>
        <p:spPr bwMode="auto">
          <a:xfrm>
            <a:off x="4622800" y="1314475"/>
            <a:ext cx="0" cy="3416300"/>
          </a:xfrm>
          <a:prstGeom prst="line">
            <a:avLst/>
          </a:prstGeom>
          <a:noFill/>
          <a:ln w="9525">
            <a:solidFill>
              <a:schemeClr val="tx1"/>
            </a:solidFill>
            <a:round/>
            <a:headEnd/>
            <a:tailEnd/>
          </a:ln>
          <a:effectLst/>
        </p:spPr>
        <p:txBody>
          <a:bodyPr/>
          <a:lstStyle/>
          <a:p>
            <a:endParaRPr lang="ko-KR" altLang="en-US">
              <a:latin typeface="Consolas" pitchFamily="49" charset="0"/>
              <a:cs typeface="Consolas" pitchFamily="49" charset="0"/>
            </a:endParaRPr>
          </a:p>
        </p:txBody>
      </p:sp>
      <p:sp>
        <p:nvSpPr>
          <p:cNvPr id="8" name="Line 7"/>
          <p:cNvSpPr>
            <a:spLocks noChangeShapeType="1"/>
          </p:cNvSpPr>
          <p:nvPr/>
        </p:nvSpPr>
        <p:spPr bwMode="auto">
          <a:xfrm>
            <a:off x="6337300" y="1314475"/>
            <a:ext cx="0" cy="3035300"/>
          </a:xfrm>
          <a:prstGeom prst="line">
            <a:avLst/>
          </a:prstGeom>
          <a:noFill/>
          <a:ln w="9525">
            <a:solidFill>
              <a:schemeClr val="tx1"/>
            </a:solidFill>
            <a:round/>
            <a:headEnd/>
            <a:tailEnd/>
          </a:ln>
          <a:effectLst/>
        </p:spPr>
        <p:txBody>
          <a:bodyPr/>
          <a:lstStyle/>
          <a:p>
            <a:endParaRPr lang="ko-KR" altLang="en-US">
              <a:latin typeface="Consolas" pitchFamily="49" charset="0"/>
              <a:cs typeface="Consolas" pitchFamily="49" charset="0"/>
            </a:endParaRPr>
          </a:p>
        </p:txBody>
      </p:sp>
      <p:sp>
        <p:nvSpPr>
          <p:cNvPr id="9" name="Line 8"/>
          <p:cNvSpPr>
            <a:spLocks noChangeShapeType="1"/>
          </p:cNvSpPr>
          <p:nvPr/>
        </p:nvSpPr>
        <p:spPr bwMode="auto">
          <a:xfrm>
            <a:off x="5461000" y="1314475"/>
            <a:ext cx="0" cy="3035300"/>
          </a:xfrm>
          <a:prstGeom prst="line">
            <a:avLst/>
          </a:prstGeom>
          <a:noFill/>
          <a:ln w="9525">
            <a:solidFill>
              <a:schemeClr val="tx1"/>
            </a:solidFill>
            <a:round/>
            <a:headEnd/>
            <a:tailEnd/>
          </a:ln>
          <a:effectLst/>
        </p:spPr>
        <p:txBody>
          <a:bodyPr/>
          <a:lstStyle/>
          <a:p>
            <a:endParaRPr lang="ko-KR" altLang="en-US">
              <a:latin typeface="Consolas" pitchFamily="49" charset="0"/>
              <a:cs typeface="Consolas" pitchFamily="49" charset="0"/>
            </a:endParaRPr>
          </a:p>
        </p:txBody>
      </p:sp>
      <p:sp>
        <p:nvSpPr>
          <p:cNvPr id="10" name="Text Box 9"/>
          <p:cNvSpPr txBox="1">
            <a:spLocks noChangeArrowheads="1"/>
          </p:cNvSpPr>
          <p:nvPr/>
        </p:nvSpPr>
        <p:spPr bwMode="auto">
          <a:xfrm>
            <a:off x="1231900" y="1377975"/>
            <a:ext cx="1331913" cy="366713"/>
          </a:xfrm>
          <a:prstGeom prst="rect">
            <a:avLst/>
          </a:prstGeom>
          <a:noFill/>
          <a:ln w="9525">
            <a:noFill/>
            <a:miter lim="800000"/>
            <a:headEnd/>
            <a:tailEnd/>
          </a:ln>
          <a:effectLst/>
        </p:spPr>
        <p:txBody>
          <a:bodyPr wrap="none">
            <a:spAutoFit/>
          </a:bodyPr>
          <a:lstStyle/>
          <a:p>
            <a:pPr algn="l"/>
            <a:r>
              <a:rPr lang="en-US" altLang="ko-KR" sz="1800" dirty="0">
                <a:latin typeface="Consolas" pitchFamily="49" charset="0"/>
                <a:cs typeface="Consolas" pitchFamily="49" charset="0"/>
              </a:rPr>
              <a:t>Statement</a:t>
            </a:r>
          </a:p>
        </p:txBody>
      </p:sp>
      <p:sp>
        <p:nvSpPr>
          <p:cNvPr id="11" name="Text Box 10"/>
          <p:cNvSpPr txBox="1">
            <a:spLocks noChangeArrowheads="1"/>
          </p:cNvSpPr>
          <p:nvPr/>
        </p:nvSpPr>
        <p:spPr bwMode="auto">
          <a:xfrm>
            <a:off x="4737100" y="1377975"/>
            <a:ext cx="564578" cy="369332"/>
          </a:xfrm>
          <a:prstGeom prst="rect">
            <a:avLst/>
          </a:prstGeom>
          <a:noFill/>
          <a:ln w="9525">
            <a:noFill/>
            <a:miter lim="800000"/>
            <a:headEnd/>
            <a:tailEnd/>
          </a:ln>
          <a:effectLst/>
        </p:spPr>
        <p:txBody>
          <a:bodyPr wrap="none">
            <a:spAutoFit/>
          </a:bodyPr>
          <a:lstStyle/>
          <a:p>
            <a:pPr algn="l"/>
            <a:r>
              <a:rPr lang="en-US" altLang="ko-KR" sz="1800" dirty="0">
                <a:latin typeface="Consolas" pitchFamily="49" charset="0"/>
                <a:cs typeface="Consolas" pitchFamily="49" charset="0"/>
              </a:rPr>
              <a:t>s/c</a:t>
            </a:r>
          </a:p>
        </p:txBody>
      </p:sp>
      <p:sp>
        <p:nvSpPr>
          <p:cNvPr id="12" name="Text Box 11"/>
          <p:cNvSpPr txBox="1">
            <a:spLocks noChangeArrowheads="1"/>
          </p:cNvSpPr>
          <p:nvPr/>
        </p:nvSpPr>
        <p:spPr bwMode="auto">
          <a:xfrm>
            <a:off x="5527675" y="1392263"/>
            <a:ext cx="817853" cy="369332"/>
          </a:xfrm>
          <a:prstGeom prst="rect">
            <a:avLst/>
          </a:prstGeom>
          <a:noFill/>
          <a:ln w="9525">
            <a:noFill/>
            <a:miter lim="800000"/>
            <a:headEnd/>
            <a:tailEnd/>
          </a:ln>
          <a:effectLst/>
        </p:spPr>
        <p:txBody>
          <a:bodyPr wrap="none">
            <a:spAutoFit/>
          </a:bodyPr>
          <a:lstStyle/>
          <a:p>
            <a:pPr algn="l"/>
            <a:r>
              <a:rPr lang="en-US" altLang="ko-KR" sz="1800">
                <a:latin typeface="Consolas" pitchFamily="49" charset="0"/>
                <a:cs typeface="Consolas" pitchFamily="49" charset="0"/>
              </a:rPr>
              <a:t>Freq.</a:t>
            </a:r>
          </a:p>
        </p:txBody>
      </p:sp>
      <p:sp>
        <p:nvSpPr>
          <p:cNvPr id="13" name="Text Box 12"/>
          <p:cNvSpPr txBox="1">
            <a:spLocks noChangeArrowheads="1"/>
          </p:cNvSpPr>
          <p:nvPr/>
        </p:nvSpPr>
        <p:spPr bwMode="auto">
          <a:xfrm>
            <a:off x="6337300" y="1377975"/>
            <a:ext cx="1577676" cy="369332"/>
          </a:xfrm>
          <a:prstGeom prst="rect">
            <a:avLst/>
          </a:prstGeom>
          <a:noFill/>
          <a:ln w="9525">
            <a:noFill/>
            <a:miter lim="800000"/>
            <a:headEnd/>
            <a:tailEnd/>
          </a:ln>
          <a:effectLst/>
        </p:spPr>
        <p:txBody>
          <a:bodyPr wrap="none">
            <a:spAutoFit/>
          </a:bodyPr>
          <a:lstStyle/>
          <a:p>
            <a:pPr algn="l"/>
            <a:r>
              <a:rPr lang="en-US" altLang="ko-KR" sz="1800">
                <a:latin typeface="Consolas" pitchFamily="49" charset="0"/>
                <a:cs typeface="Consolas" pitchFamily="49" charset="0"/>
              </a:rPr>
              <a:t>Total steps</a:t>
            </a:r>
          </a:p>
        </p:txBody>
      </p:sp>
      <p:sp>
        <p:nvSpPr>
          <p:cNvPr id="14" name="Rectangle 13"/>
          <p:cNvSpPr>
            <a:spLocks noChangeArrowheads="1"/>
          </p:cNvSpPr>
          <p:nvPr/>
        </p:nvSpPr>
        <p:spPr bwMode="auto">
          <a:xfrm>
            <a:off x="469900" y="2995638"/>
            <a:ext cx="2505075" cy="366712"/>
          </a:xfrm>
          <a:prstGeom prst="rect">
            <a:avLst/>
          </a:prstGeom>
          <a:noFill/>
          <a:ln w="9525">
            <a:noFill/>
            <a:miter lim="800000"/>
            <a:headEnd/>
            <a:tailEnd/>
          </a:ln>
          <a:effectLst/>
        </p:spPr>
        <p:txBody>
          <a:bodyPr wrap="none">
            <a:spAutoFit/>
          </a:bodyPr>
          <a:lstStyle/>
          <a:p>
            <a:pPr algn="l"/>
            <a:r>
              <a:rPr lang="en-US" altLang="ko-KR" sz="1800" b="1">
                <a:latin typeface="Courier New" pitchFamily="49" charset="0"/>
              </a:rPr>
              <a:t>for (i=0;i&lt;n;i++)</a:t>
            </a:r>
            <a:endParaRPr lang="ko-KR" altLang="en-US" sz="1800" b="1">
              <a:latin typeface="Courier New" pitchFamily="49" charset="0"/>
            </a:endParaRPr>
          </a:p>
        </p:txBody>
      </p:sp>
      <p:sp>
        <p:nvSpPr>
          <p:cNvPr id="15" name="Rectangle 14"/>
          <p:cNvSpPr>
            <a:spLocks noChangeArrowheads="1"/>
          </p:cNvSpPr>
          <p:nvPr/>
        </p:nvSpPr>
        <p:spPr bwMode="auto">
          <a:xfrm>
            <a:off x="850900" y="3294088"/>
            <a:ext cx="2641600" cy="366712"/>
          </a:xfrm>
          <a:prstGeom prst="rect">
            <a:avLst/>
          </a:prstGeom>
          <a:noFill/>
          <a:ln w="9525">
            <a:noFill/>
            <a:miter lim="800000"/>
            <a:headEnd/>
            <a:tailEnd/>
          </a:ln>
          <a:effectLst/>
        </p:spPr>
        <p:txBody>
          <a:bodyPr wrap="none">
            <a:spAutoFit/>
          </a:bodyPr>
          <a:lstStyle/>
          <a:p>
            <a:pPr algn="l"/>
            <a:r>
              <a:rPr lang="en-US" altLang="ko-KR" sz="1800" b="1">
                <a:latin typeface="Courier New" pitchFamily="49" charset="0"/>
              </a:rPr>
              <a:t>tempsum+= list[i];</a:t>
            </a:r>
            <a:endParaRPr lang="ko-KR" altLang="en-US" sz="1800" b="1">
              <a:latin typeface="Courier New" pitchFamily="49" charset="0"/>
            </a:endParaRPr>
          </a:p>
        </p:txBody>
      </p:sp>
      <p:sp>
        <p:nvSpPr>
          <p:cNvPr id="16" name="Rectangle 15"/>
          <p:cNvSpPr>
            <a:spLocks noChangeArrowheads="1"/>
          </p:cNvSpPr>
          <p:nvPr/>
        </p:nvSpPr>
        <p:spPr bwMode="auto">
          <a:xfrm>
            <a:off x="469900" y="3630638"/>
            <a:ext cx="2232025" cy="366712"/>
          </a:xfrm>
          <a:prstGeom prst="rect">
            <a:avLst/>
          </a:prstGeom>
          <a:noFill/>
          <a:ln w="9525">
            <a:noFill/>
            <a:miter lim="800000"/>
            <a:headEnd/>
            <a:tailEnd/>
          </a:ln>
          <a:effectLst/>
        </p:spPr>
        <p:txBody>
          <a:bodyPr wrap="none">
            <a:spAutoFit/>
          </a:bodyPr>
          <a:lstStyle/>
          <a:p>
            <a:pPr algn="l"/>
            <a:r>
              <a:rPr lang="en-US" altLang="ko-KR" sz="1800" b="1" dirty="0">
                <a:latin typeface="Courier New" pitchFamily="49" charset="0"/>
              </a:rPr>
              <a:t>return </a:t>
            </a:r>
            <a:r>
              <a:rPr lang="en-US" altLang="ko-KR" sz="1800" b="1" dirty="0" err="1">
                <a:latin typeface="Courier New" pitchFamily="49" charset="0"/>
              </a:rPr>
              <a:t>tempsum</a:t>
            </a:r>
            <a:r>
              <a:rPr lang="en-US" altLang="ko-KR" sz="1800" b="1" dirty="0">
                <a:latin typeface="Courier New" pitchFamily="49" charset="0"/>
              </a:rPr>
              <a:t>;</a:t>
            </a:r>
            <a:endParaRPr lang="ko-KR" altLang="en-US" sz="1800" b="1" dirty="0">
              <a:latin typeface="Courier New" pitchFamily="49" charset="0"/>
            </a:endParaRPr>
          </a:p>
        </p:txBody>
      </p:sp>
      <p:sp>
        <p:nvSpPr>
          <p:cNvPr id="17" name="Line 16"/>
          <p:cNvSpPr>
            <a:spLocks noChangeShapeType="1"/>
          </p:cNvSpPr>
          <p:nvPr/>
        </p:nvSpPr>
        <p:spPr bwMode="auto">
          <a:xfrm>
            <a:off x="393700" y="1835175"/>
            <a:ext cx="7521276" cy="0"/>
          </a:xfrm>
          <a:prstGeom prst="line">
            <a:avLst/>
          </a:prstGeom>
          <a:noFill/>
          <a:ln w="9525">
            <a:solidFill>
              <a:schemeClr val="tx1"/>
            </a:solidFill>
            <a:round/>
            <a:headEnd/>
            <a:tailEnd/>
          </a:ln>
          <a:effectLst/>
        </p:spPr>
        <p:txBody>
          <a:bodyPr/>
          <a:lstStyle/>
          <a:p>
            <a:endParaRPr lang="ko-KR" altLang="en-US"/>
          </a:p>
        </p:txBody>
      </p:sp>
      <p:sp>
        <p:nvSpPr>
          <p:cNvPr id="18" name="Rectangle 17"/>
          <p:cNvSpPr>
            <a:spLocks noChangeArrowheads="1"/>
          </p:cNvSpPr>
          <p:nvPr/>
        </p:nvSpPr>
        <p:spPr bwMode="auto">
          <a:xfrm>
            <a:off x="469900" y="2433663"/>
            <a:ext cx="2368550" cy="366712"/>
          </a:xfrm>
          <a:prstGeom prst="rect">
            <a:avLst/>
          </a:prstGeom>
          <a:noFill/>
          <a:ln w="9525">
            <a:noFill/>
            <a:miter lim="800000"/>
            <a:headEnd/>
            <a:tailEnd/>
          </a:ln>
          <a:effectLst/>
        </p:spPr>
        <p:txBody>
          <a:bodyPr wrap="none">
            <a:spAutoFit/>
          </a:bodyPr>
          <a:lstStyle/>
          <a:p>
            <a:pPr algn="l"/>
            <a:r>
              <a:rPr lang="en-US" altLang="ko-KR" sz="1800" b="1" dirty="0">
                <a:latin typeface="Courier New" pitchFamily="49" charset="0"/>
              </a:rPr>
              <a:t>float </a:t>
            </a:r>
            <a:r>
              <a:rPr lang="en-US" altLang="ko-KR" sz="1800" b="1" dirty="0" err="1">
                <a:latin typeface="Courier New" pitchFamily="49" charset="0"/>
              </a:rPr>
              <a:t>tempsum</a:t>
            </a:r>
            <a:r>
              <a:rPr lang="en-US" altLang="ko-KR" sz="1800" b="1" dirty="0">
                <a:latin typeface="Courier New" pitchFamily="49" charset="0"/>
              </a:rPr>
              <a:t>=0;</a:t>
            </a:r>
            <a:endParaRPr lang="ko-KR" altLang="en-US" sz="1800" b="1" dirty="0">
              <a:latin typeface="Courier New" pitchFamily="49" charset="0"/>
            </a:endParaRPr>
          </a:p>
        </p:txBody>
      </p:sp>
      <p:sp>
        <p:nvSpPr>
          <p:cNvPr id="19" name="Rectangle 18"/>
          <p:cNvSpPr>
            <a:spLocks noChangeArrowheads="1"/>
          </p:cNvSpPr>
          <p:nvPr/>
        </p:nvSpPr>
        <p:spPr bwMode="auto">
          <a:xfrm>
            <a:off x="469900" y="2695600"/>
            <a:ext cx="1003300" cy="366713"/>
          </a:xfrm>
          <a:prstGeom prst="rect">
            <a:avLst/>
          </a:prstGeom>
          <a:noFill/>
          <a:ln w="9525">
            <a:noFill/>
            <a:miter lim="800000"/>
            <a:headEnd/>
            <a:tailEnd/>
          </a:ln>
          <a:effectLst/>
        </p:spPr>
        <p:txBody>
          <a:bodyPr wrap="none">
            <a:spAutoFit/>
          </a:bodyPr>
          <a:lstStyle/>
          <a:p>
            <a:pPr algn="l"/>
            <a:r>
              <a:rPr lang="en-US" altLang="ko-KR" sz="1800" b="1" dirty="0" err="1">
                <a:latin typeface="Courier New" pitchFamily="49" charset="0"/>
              </a:rPr>
              <a:t>int</a:t>
            </a:r>
            <a:r>
              <a:rPr lang="en-US" altLang="ko-KR" sz="1800" b="1" dirty="0">
                <a:latin typeface="Courier New" pitchFamily="49" charset="0"/>
              </a:rPr>
              <a:t> </a:t>
            </a:r>
            <a:r>
              <a:rPr lang="en-US" altLang="ko-KR" sz="1800" b="1" dirty="0" err="1">
                <a:latin typeface="Courier New" pitchFamily="49" charset="0"/>
              </a:rPr>
              <a:t>i</a:t>
            </a:r>
            <a:r>
              <a:rPr lang="en-US" altLang="ko-KR" sz="1800" b="1" dirty="0">
                <a:latin typeface="Courier New" pitchFamily="49" charset="0"/>
              </a:rPr>
              <a:t>;</a:t>
            </a:r>
            <a:endParaRPr lang="ko-KR" altLang="en-US" sz="1800" b="1" dirty="0">
              <a:latin typeface="Courier New" pitchFamily="49" charset="0"/>
            </a:endParaRPr>
          </a:p>
        </p:txBody>
      </p:sp>
      <p:sp>
        <p:nvSpPr>
          <p:cNvPr id="20" name="Rectangle 19"/>
          <p:cNvSpPr>
            <a:spLocks noChangeArrowheads="1"/>
          </p:cNvSpPr>
          <p:nvPr/>
        </p:nvSpPr>
        <p:spPr bwMode="auto">
          <a:xfrm>
            <a:off x="393700" y="1873275"/>
            <a:ext cx="4279900" cy="366713"/>
          </a:xfrm>
          <a:prstGeom prst="rect">
            <a:avLst/>
          </a:prstGeom>
          <a:noFill/>
          <a:ln w="9525">
            <a:noFill/>
            <a:miter lim="800000"/>
            <a:headEnd/>
            <a:tailEnd/>
          </a:ln>
          <a:effectLst/>
        </p:spPr>
        <p:txBody>
          <a:bodyPr wrap="none">
            <a:spAutoFit/>
          </a:bodyPr>
          <a:lstStyle/>
          <a:p>
            <a:pPr marL="457200" indent="-457200" algn="l">
              <a:spcBef>
                <a:spcPct val="20000"/>
              </a:spcBef>
            </a:pPr>
            <a:r>
              <a:rPr lang="en-US" altLang="ko-KR" sz="1800" b="1" dirty="0">
                <a:latin typeface="Courier New" pitchFamily="49" charset="0"/>
              </a:rPr>
              <a:t>float sum(float list[], </a:t>
            </a:r>
            <a:r>
              <a:rPr lang="en-US" altLang="ko-KR" sz="1800" b="1" dirty="0" err="1">
                <a:latin typeface="Courier New" pitchFamily="49" charset="0"/>
              </a:rPr>
              <a:t>int</a:t>
            </a:r>
            <a:r>
              <a:rPr lang="en-US" altLang="ko-KR" sz="1800" b="1" dirty="0">
                <a:latin typeface="Courier New" pitchFamily="49" charset="0"/>
              </a:rPr>
              <a:t> n)</a:t>
            </a:r>
          </a:p>
        </p:txBody>
      </p:sp>
      <p:sp>
        <p:nvSpPr>
          <p:cNvPr id="21" name="Text Box 20"/>
          <p:cNvSpPr txBox="1">
            <a:spLocks noChangeArrowheads="1"/>
          </p:cNvSpPr>
          <p:nvPr/>
        </p:nvSpPr>
        <p:spPr bwMode="auto">
          <a:xfrm>
            <a:off x="335707" y="2146325"/>
            <a:ext cx="320675" cy="366713"/>
          </a:xfrm>
          <a:prstGeom prst="rect">
            <a:avLst/>
          </a:prstGeom>
          <a:noFill/>
          <a:ln w="9525">
            <a:noFill/>
            <a:miter lim="800000"/>
            <a:headEnd/>
            <a:tailEnd/>
          </a:ln>
          <a:effectLst/>
        </p:spPr>
        <p:txBody>
          <a:bodyPr wrap="none">
            <a:spAutoFit/>
          </a:bodyPr>
          <a:lstStyle/>
          <a:p>
            <a:pPr algn="l"/>
            <a:r>
              <a:rPr lang="ko-KR" altLang="en-US" sz="1800" b="1">
                <a:latin typeface="Courier New" pitchFamily="49" charset="0"/>
              </a:rPr>
              <a:t>{</a:t>
            </a:r>
          </a:p>
        </p:txBody>
      </p:sp>
      <p:sp>
        <p:nvSpPr>
          <p:cNvPr id="22" name="Text Box 21"/>
          <p:cNvSpPr txBox="1">
            <a:spLocks noChangeArrowheads="1"/>
          </p:cNvSpPr>
          <p:nvPr/>
        </p:nvSpPr>
        <p:spPr bwMode="auto">
          <a:xfrm>
            <a:off x="379398" y="3892575"/>
            <a:ext cx="320675" cy="366713"/>
          </a:xfrm>
          <a:prstGeom prst="rect">
            <a:avLst/>
          </a:prstGeom>
          <a:noFill/>
          <a:ln w="9525">
            <a:noFill/>
            <a:miter lim="800000"/>
            <a:headEnd/>
            <a:tailEnd/>
          </a:ln>
          <a:effectLst/>
        </p:spPr>
        <p:txBody>
          <a:bodyPr wrap="none">
            <a:spAutoFit/>
          </a:bodyPr>
          <a:lstStyle/>
          <a:p>
            <a:pPr algn="l"/>
            <a:r>
              <a:rPr lang="ko-KR" altLang="en-US" sz="1800" b="1">
                <a:latin typeface="Courier New" pitchFamily="49" charset="0"/>
              </a:rPr>
              <a:t>}</a:t>
            </a:r>
          </a:p>
        </p:txBody>
      </p:sp>
      <p:sp>
        <p:nvSpPr>
          <p:cNvPr id="23" name="Text Box 22"/>
          <p:cNvSpPr txBox="1">
            <a:spLocks noChangeArrowheads="1"/>
          </p:cNvSpPr>
          <p:nvPr/>
        </p:nvSpPr>
        <p:spPr bwMode="auto">
          <a:xfrm>
            <a:off x="4891088" y="1873275"/>
            <a:ext cx="311304" cy="369332"/>
          </a:xfrm>
          <a:prstGeom prst="rect">
            <a:avLst/>
          </a:prstGeom>
          <a:noFill/>
          <a:ln w="9525">
            <a:noFill/>
            <a:miter lim="800000"/>
            <a:headEnd/>
            <a:tailEnd/>
          </a:ln>
          <a:effectLst/>
        </p:spPr>
        <p:txBody>
          <a:bodyPr wrap="none">
            <a:spAutoFit/>
          </a:bodyPr>
          <a:lstStyle/>
          <a:p>
            <a:pPr algn="l"/>
            <a:r>
              <a:rPr lang="ko-KR" altLang="en-US" sz="1800">
                <a:latin typeface="Consolas" pitchFamily="49" charset="0"/>
                <a:cs typeface="Consolas" pitchFamily="49" charset="0"/>
              </a:rPr>
              <a:t>0</a:t>
            </a:r>
          </a:p>
        </p:txBody>
      </p:sp>
      <p:sp>
        <p:nvSpPr>
          <p:cNvPr id="24" name="Text Box 24"/>
          <p:cNvSpPr txBox="1">
            <a:spLocks noChangeArrowheads="1"/>
          </p:cNvSpPr>
          <p:nvPr/>
        </p:nvSpPr>
        <p:spPr bwMode="auto">
          <a:xfrm>
            <a:off x="4891088" y="2147913"/>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25" name="Text Box 25"/>
          <p:cNvSpPr txBox="1">
            <a:spLocks noChangeArrowheads="1"/>
          </p:cNvSpPr>
          <p:nvPr/>
        </p:nvSpPr>
        <p:spPr bwMode="auto">
          <a:xfrm>
            <a:off x="4891088" y="2435250"/>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1</a:t>
            </a:r>
          </a:p>
        </p:txBody>
      </p:sp>
      <p:sp>
        <p:nvSpPr>
          <p:cNvPr id="26" name="Text Box 26"/>
          <p:cNvSpPr txBox="1">
            <a:spLocks noChangeArrowheads="1"/>
          </p:cNvSpPr>
          <p:nvPr/>
        </p:nvSpPr>
        <p:spPr bwMode="auto">
          <a:xfrm>
            <a:off x="4891088" y="2695600"/>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27" name="Text Box 27"/>
          <p:cNvSpPr txBox="1">
            <a:spLocks noChangeArrowheads="1"/>
          </p:cNvSpPr>
          <p:nvPr/>
        </p:nvSpPr>
        <p:spPr bwMode="auto">
          <a:xfrm>
            <a:off x="4891088" y="2995638"/>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1</a:t>
            </a:r>
          </a:p>
        </p:txBody>
      </p:sp>
      <p:sp>
        <p:nvSpPr>
          <p:cNvPr id="28" name="Text Box 28"/>
          <p:cNvSpPr txBox="1">
            <a:spLocks noChangeArrowheads="1"/>
          </p:cNvSpPr>
          <p:nvPr/>
        </p:nvSpPr>
        <p:spPr bwMode="auto">
          <a:xfrm>
            <a:off x="4891088" y="3294088"/>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1</a:t>
            </a:r>
          </a:p>
        </p:txBody>
      </p:sp>
      <p:sp>
        <p:nvSpPr>
          <p:cNvPr id="29" name="Text Box 29"/>
          <p:cNvSpPr txBox="1">
            <a:spLocks noChangeArrowheads="1"/>
          </p:cNvSpPr>
          <p:nvPr/>
        </p:nvSpPr>
        <p:spPr bwMode="auto">
          <a:xfrm>
            <a:off x="4891088" y="3632225"/>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1</a:t>
            </a:r>
          </a:p>
        </p:txBody>
      </p:sp>
      <p:sp>
        <p:nvSpPr>
          <p:cNvPr id="30" name="Text Box 30"/>
          <p:cNvSpPr txBox="1">
            <a:spLocks noChangeArrowheads="1"/>
          </p:cNvSpPr>
          <p:nvPr/>
        </p:nvSpPr>
        <p:spPr bwMode="auto">
          <a:xfrm>
            <a:off x="4891088" y="3892575"/>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31" name="Line 46"/>
          <p:cNvSpPr>
            <a:spLocks noChangeShapeType="1"/>
          </p:cNvSpPr>
          <p:nvPr/>
        </p:nvSpPr>
        <p:spPr bwMode="auto">
          <a:xfrm>
            <a:off x="393700" y="4349775"/>
            <a:ext cx="7521276" cy="0"/>
          </a:xfrm>
          <a:prstGeom prst="line">
            <a:avLst/>
          </a:prstGeom>
          <a:noFill/>
          <a:ln w="9525">
            <a:solidFill>
              <a:schemeClr val="tx1"/>
            </a:solidFill>
            <a:round/>
            <a:headEnd/>
            <a:tailEnd/>
          </a:ln>
          <a:effectLst/>
        </p:spPr>
        <p:txBody>
          <a:bodyPr/>
          <a:lstStyle/>
          <a:p>
            <a:endParaRPr lang="ko-KR" altLang="en-US"/>
          </a:p>
        </p:txBody>
      </p:sp>
      <p:sp>
        <p:nvSpPr>
          <p:cNvPr id="32" name="Text Box 47"/>
          <p:cNvSpPr txBox="1">
            <a:spLocks noChangeArrowheads="1"/>
          </p:cNvSpPr>
          <p:nvPr/>
        </p:nvSpPr>
        <p:spPr bwMode="auto">
          <a:xfrm>
            <a:off x="1231900" y="4349775"/>
            <a:ext cx="817853" cy="369332"/>
          </a:xfrm>
          <a:prstGeom prst="rect">
            <a:avLst/>
          </a:prstGeom>
          <a:noFill/>
          <a:ln w="9525">
            <a:noFill/>
            <a:miter lim="800000"/>
            <a:headEnd/>
            <a:tailEnd/>
          </a:ln>
          <a:effectLst/>
        </p:spPr>
        <p:txBody>
          <a:bodyPr wrap="none">
            <a:spAutoFit/>
          </a:bodyPr>
          <a:lstStyle/>
          <a:p>
            <a:pPr algn="l"/>
            <a:r>
              <a:rPr lang="en-US" altLang="ko-KR" sz="1800">
                <a:latin typeface="Consolas" pitchFamily="49" charset="0"/>
                <a:cs typeface="Consolas" pitchFamily="49" charset="0"/>
              </a:rPr>
              <a:t>Total</a:t>
            </a:r>
          </a:p>
        </p:txBody>
      </p:sp>
      <p:sp>
        <p:nvSpPr>
          <p:cNvPr id="33" name="Text Box 23"/>
          <p:cNvSpPr txBox="1">
            <a:spLocks noChangeArrowheads="1"/>
          </p:cNvSpPr>
          <p:nvPr/>
        </p:nvSpPr>
        <p:spPr bwMode="auto">
          <a:xfrm>
            <a:off x="5743575" y="1862163"/>
            <a:ext cx="323850" cy="369332"/>
          </a:xfrm>
          <a:prstGeom prst="rect">
            <a:avLst/>
          </a:prstGeom>
          <a:noFill/>
          <a:ln w="9525">
            <a:noFill/>
            <a:miter lim="800000"/>
            <a:headEnd/>
            <a:tailEnd/>
          </a:ln>
          <a:effectLst/>
        </p:spPr>
        <p:txBody>
          <a:bodyPr>
            <a:spAutoFit/>
          </a:bodyPr>
          <a:lstStyle/>
          <a:p>
            <a:pPr algn="l"/>
            <a:r>
              <a:rPr lang="ko-KR" altLang="en-US" sz="1800" dirty="0">
                <a:latin typeface="Consolas" pitchFamily="49" charset="0"/>
                <a:cs typeface="Consolas" pitchFamily="49" charset="0"/>
              </a:rPr>
              <a:t>0</a:t>
            </a:r>
          </a:p>
        </p:txBody>
      </p:sp>
      <p:sp>
        <p:nvSpPr>
          <p:cNvPr id="34" name="Text Box 31"/>
          <p:cNvSpPr txBox="1">
            <a:spLocks noChangeArrowheads="1"/>
          </p:cNvSpPr>
          <p:nvPr/>
        </p:nvSpPr>
        <p:spPr bwMode="auto">
          <a:xfrm>
            <a:off x="5743575" y="2173313"/>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35" name="Text Box 32"/>
          <p:cNvSpPr txBox="1">
            <a:spLocks noChangeArrowheads="1"/>
          </p:cNvSpPr>
          <p:nvPr/>
        </p:nvSpPr>
        <p:spPr bwMode="auto">
          <a:xfrm>
            <a:off x="5743575" y="2460650"/>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1</a:t>
            </a:r>
          </a:p>
        </p:txBody>
      </p:sp>
      <p:sp>
        <p:nvSpPr>
          <p:cNvPr id="36" name="Text Box 33"/>
          <p:cNvSpPr txBox="1">
            <a:spLocks noChangeArrowheads="1"/>
          </p:cNvSpPr>
          <p:nvPr/>
        </p:nvSpPr>
        <p:spPr bwMode="auto">
          <a:xfrm>
            <a:off x="5743575" y="2721000"/>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37" name="Text Box 34"/>
          <p:cNvSpPr txBox="1">
            <a:spLocks noChangeArrowheads="1"/>
          </p:cNvSpPr>
          <p:nvPr/>
        </p:nvSpPr>
        <p:spPr bwMode="auto">
          <a:xfrm>
            <a:off x="5562600" y="3021038"/>
            <a:ext cx="685800" cy="366712"/>
          </a:xfrm>
          <a:prstGeom prst="rect">
            <a:avLst/>
          </a:prstGeom>
          <a:noFill/>
          <a:ln w="9525">
            <a:noFill/>
            <a:miter lim="800000"/>
            <a:headEnd/>
            <a:tailEnd/>
          </a:ln>
          <a:effectLst/>
        </p:spPr>
        <p:txBody>
          <a:bodyPr>
            <a:spAutoFit/>
          </a:bodyPr>
          <a:lstStyle/>
          <a:p>
            <a:r>
              <a:rPr lang="en-US" altLang="ko-KR" sz="1800" dirty="0">
                <a:latin typeface="Consolas" pitchFamily="49" charset="0"/>
                <a:cs typeface="Consolas" pitchFamily="49" charset="0"/>
              </a:rPr>
              <a:t>n+1</a:t>
            </a:r>
          </a:p>
        </p:txBody>
      </p:sp>
      <p:sp>
        <p:nvSpPr>
          <p:cNvPr id="38" name="Text Box 35"/>
          <p:cNvSpPr txBox="1">
            <a:spLocks noChangeArrowheads="1"/>
          </p:cNvSpPr>
          <p:nvPr/>
        </p:nvSpPr>
        <p:spPr bwMode="auto">
          <a:xfrm>
            <a:off x="5600700" y="3319488"/>
            <a:ext cx="609600" cy="366712"/>
          </a:xfrm>
          <a:prstGeom prst="rect">
            <a:avLst/>
          </a:prstGeom>
          <a:noFill/>
          <a:ln w="9525">
            <a:noFill/>
            <a:miter lim="800000"/>
            <a:headEnd/>
            <a:tailEnd/>
          </a:ln>
          <a:effectLst/>
        </p:spPr>
        <p:txBody>
          <a:bodyPr>
            <a:spAutoFit/>
          </a:bodyPr>
          <a:lstStyle/>
          <a:p>
            <a:r>
              <a:rPr lang="en-US" altLang="ko-KR" sz="1800" dirty="0">
                <a:latin typeface="Consolas" pitchFamily="49" charset="0"/>
                <a:cs typeface="Consolas" pitchFamily="49" charset="0"/>
              </a:rPr>
              <a:t>n</a:t>
            </a:r>
          </a:p>
        </p:txBody>
      </p:sp>
      <p:sp>
        <p:nvSpPr>
          <p:cNvPr id="39" name="Text Box 36"/>
          <p:cNvSpPr txBox="1">
            <a:spLocks noChangeArrowheads="1"/>
          </p:cNvSpPr>
          <p:nvPr/>
        </p:nvSpPr>
        <p:spPr bwMode="auto">
          <a:xfrm>
            <a:off x="5743575" y="3657625"/>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1</a:t>
            </a:r>
          </a:p>
        </p:txBody>
      </p:sp>
      <p:sp>
        <p:nvSpPr>
          <p:cNvPr id="40" name="Text Box 37"/>
          <p:cNvSpPr txBox="1">
            <a:spLocks noChangeArrowheads="1"/>
          </p:cNvSpPr>
          <p:nvPr/>
        </p:nvSpPr>
        <p:spPr bwMode="auto">
          <a:xfrm>
            <a:off x="5743575" y="3917975"/>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41" name="Text Box 38"/>
          <p:cNvSpPr txBox="1">
            <a:spLocks noChangeArrowheads="1"/>
          </p:cNvSpPr>
          <p:nvPr/>
        </p:nvSpPr>
        <p:spPr bwMode="auto">
          <a:xfrm>
            <a:off x="6924675" y="1862163"/>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42" name="Text Box 39"/>
          <p:cNvSpPr txBox="1">
            <a:spLocks noChangeArrowheads="1"/>
          </p:cNvSpPr>
          <p:nvPr/>
        </p:nvSpPr>
        <p:spPr bwMode="auto">
          <a:xfrm>
            <a:off x="6924675" y="2173313"/>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43" name="Text Box 40"/>
          <p:cNvSpPr txBox="1">
            <a:spLocks noChangeArrowheads="1"/>
          </p:cNvSpPr>
          <p:nvPr/>
        </p:nvSpPr>
        <p:spPr bwMode="auto">
          <a:xfrm>
            <a:off x="6924675" y="2460650"/>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1</a:t>
            </a:r>
          </a:p>
        </p:txBody>
      </p:sp>
      <p:sp>
        <p:nvSpPr>
          <p:cNvPr id="44" name="Text Box 41"/>
          <p:cNvSpPr txBox="1">
            <a:spLocks noChangeArrowheads="1"/>
          </p:cNvSpPr>
          <p:nvPr/>
        </p:nvSpPr>
        <p:spPr bwMode="auto">
          <a:xfrm>
            <a:off x="6924675" y="2721000"/>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45" name="Text Box 42"/>
          <p:cNvSpPr txBox="1">
            <a:spLocks noChangeArrowheads="1"/>
          </p:cNvSpPr>
          <p:nvPr/>
        </p:nvSpPr>
        <p:spPr bwMode="auto">
          <a:xfrm>
            <a:off x="6781800" y="3319488"/>
            <a:ext cx="609600" cy="366712"/>
          </a:xfrm>
          <a:prstGeom prst="rect">
            <a:avLst/>
          </a:prstGeom>
          <a:noFill/>
          <a:ln w="9525">
            <a:noFill/>
            <a:miter lim="800000"/>
            <a:headEnd/>
            <a:tailEnd/>
          </a:ln>
          <a:effectLst/>
        </p:spPr>
        <p:txBody>
          <a:bodyPr>
            <a:spAutoFit/>
          </a:bodyPr>
          <a:lstStyle/>
          <a:p>
            <a:pPr algn="l"/>
            <a:r>
              <a:rPr lang="en-US" altLang="ko-KR" sz="1800" dirty="0">
                <a:latin typeface="Consolas" pitchFamily="49" charset="0"/>
                <a:cs typeface="Consolas" pitchFamily="49" charset="0"/>
              </a:rPr>
              <a:t> n</a:t>
            </a:r>
          </a:p>
        </p:txBody>
      </p:sp>
      <p:sp>
        <p:nvSpPr>
          <p:cNvPr id="46" name="Text Box 43"/>
          <p:cNvSpPr txBox="1">
            <a:spLocks noChangeArrowheads="1"/>
          </p:cNvSpPr>
          <p:nvPr/>
        </p:nvSpPr>
        <p:spPr bwMode="auto">
          <a:xfrm>
            <a:off x="6924675" y="3657625"/>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1</a:t>
            </a:r>
          </a:p>
        </p:txBody>
      </p:sp>
      <p:sp>
        <p:nvSpPr>
          <p:cNvPr id="47" name="Text Box 44"/>
          <p:cNvSpPr txBox="1">
            <a:spLocks noChangeArrowheads="1"/>
          </p:cNvSpPr>
          <p:nvPr/>
        </p:nvSpPr>
        <p:spPr bwMode="auto">
          <a:xfrm>
            <a:off x="6924675" y="3917975"/>
            <a:ext cx="323850" cy="369332"/>
          </a:xfrm>
          <a:prstGeom prst="rect">
            <a:avLst/>
          </a:prstGeom>
          <a:noFill/>
          <a:ln w="9525">
            <a:noFill/>
            <a:miter lim="800000"/>
            <a:headEnd/>
            <a:tailEnd/>
          </a:ln>
          <a:effectLst/>
        </p:spPr>
        <p:txBody>
          <a:bodyPr>
            <a:spAutoFit/>
          </a:bodyPr>
          <a:lstStyle/>
          <a:p>
            <a:pPr algn="l"/>
            <a:r>
              <a:rPr lang="ko-KR" altLang="en-US" sz="1800">
                <a:latin typeface="Consolas" pitchFamily="49" charset="0"/>
                <a:cs typeface="Consolas" pitchFamily="49" charset="0"/>
              </a:rPr>
              <a:t>0</a:t>
            </a:r>
          </a:p>
        </p:txBody>
      </p:sp>
      <p:sp>
        <p:nvSpPr>
          <p:cNvPr id="48" name="Text Box 45"/>
          <p:cNvSpPr txBox="1">
            <a:spLocks noChangeArrowheads="1"/>
          </p:cNvSpPr>
          <p:nvPr/>
        </p:nvSpPr>
        <p:spPr bwMode="auto">
          <a:xfrm>
            <a:off x="6743700" y="3054375"/>
            <a:ext cx="685800" cy="366713"/>
          </a:xfrm>
          <a:prstGeom prst="rect">
            <a:avLst/>
          </a:prstGeom>
          <a:noFill/>
          <a:ln w="9525">
            <a:noFill/>
            <a:miter lim="800000"/>
            <a:headEnd/>
            <a:tailEnd/>
          </a:ln>
          <a:effectLst/>
        </p:spPr>
        <p:txBody>
          <a:bodyPr>
            <a:spAutoFit/>
          </a:bodyPr>
          <a:lstStyle/>
          <a:p>
            <a:pPr algn="l"/>
            <a:r>
              <a:rPr lang="en-US" altLang="ko-KR" sz="1800" dirty="0">
                <a:latin typeface="Consolas" pitchFamily="49" charset="0"/>
                <a:cs typeface="Consolas" pitchFamily="49" charset="0"/>
              </a:rPr>
              <a:t>n+1</a:t>
            </a:r>
          </a:p>
        </p:txBody>
      </p:sp>
      <p:sp>
        <p:nvSpPr>
          <p:cNvPr id="49" name="Text Box 48"/>
          <p:cNvSpPr txBox="1">
            <a:spLocks noChangeArrowheads="1"/>
          </p:cNvSpPr>
          <p:nvPr/>
        </p:nvSpPr>
        <p:spPr bwMode="auto">
          <a:xfrm>
            <a:off x="6565900" y="4349775"/>
            <a:ext cx="692150" cy="366713"/>
          </a:xfrm>
          <a:prstGeom prst="rect">
            <a:avLst/>
          </a:prstGeom>
          <a:noFill/>
          <a:ln w="9525">
            <a:noFill/>
            <a:miter lim="800000"/>
            <a:headEnd/>
            <a:tailEnd/>
          </a:ln>
          <a:effectLst/>
        </p:spPr>
        <p:txBody>
          <a:bodyPr wrap="none">
            <a:spAutoFit/>
          </a:bodyPr>
          <a:lstStyle/>
          <a:p>
            <a:pPr algn="l"/>
            <a:r>
              <a:rPr lang="en-US" altLang="ko-KR" sz="1800">
                <a:latin typeface="Consolas" pitchFamily="49" charset="0"/>
                <a:cs typeface="Consolas" pitchFamily="49" charset="0"/>
              </a:rPr>
              <a:t>2n+3</a:t>
            </a:r>
          </a:p>
        </p:txBody>
      </p:sp>
      <p:sp>
        <p:nvSpPr>
          <p:cNvPr id="50" name="직사각형 66"/>
          <p:cNvSpPr/>
          <p:nvPr/>
        </p:nvSpPr>
        <p:spPr bwMode="auto">
          <a:xfrm>
            <a:off x="5527675" y="1876562"/>
            <a:ext cx="682625" cy="2448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2000" b="0" i="0" u="none" strike="noStrike" cap="none" normalizeH="0" baseline="0">
              <a:ln>
                <a:noFill/>
              </a:ln>
              <a:solidFill>
                <a:schemeClr val="tx1"/>
              </a:solidFill>
              <a:effectLst/>
              <a:latin typeface="Times New Roman" pitchFamily="18" charset="0"/>
              <a:ea typeface="굴림" pitchFamily="50" charset="-127"/>
            </a:endParaRPr>
          </a:p>
        </p:txBody>
      </p:sp>
      <p:sp>
        <p:nvSpPr>
          <p:cNvPr id="51" name="직사각형 67"/>
          <p:cNvSpPr/>
          <p:nvPr/>
        </p:nvSpPr>
        <p:spPr bwMode="auto">
          <a:xfrm>
            <a:off x="6401752" y="1888768"/>
            <a:ext cx="1455430" cy="2448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2000" b="0" i="0" u="none" strike="noStrike" cap="none" normalizeH="0" baseline="0">
              <a:ln>
                <a:noFill/>
              </a:ln>
              <a:solidFill>
                <a:schemeClr val="tx1"/>
              </a:solidFill>
              <a:effectLst/>
              <a:latin typeface="Times New Roman" pitchFamily="18" charset="0"/>
              <a:ea typeface="굴림" pitchFamily="50" charset="-127"/>
            </a:endParaRPr>
          </a:p>
        </p:txBody>
      </p:sp>
      <p:sp>
        <p:nvSpPr>
          <p:cNvPr id="52" name="직사각형 68"/>
          <p:cNvSpPr/>
          <p:nvPr/>
        </p:nvSpPr>
        <p:spPr bwMode="auto">
          <a:xfrm>
            <a:off x="6184260" y="4417082"/>
            <a:ext cx="1455430" cy="288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2000" b="0" i="0" u="none" strike="noStrike" cap="none" normalizeH="0" baseline="0">
              <a:ln>
                <a:noFill/>
              </a:ln>
              <a:solidFill>
                <a:schemeClr val="tx1"/>
              </a:solidFill>
              <a:effectLst/>
              <a:latin typeface="Times New Roman" pitchFamily="18" charset="0"/>
              <a:ea typeface="굴림" pitchFamily="50" charset="-127"/>
            </a:endParaRPr>
          </a:p>
        </p:txBody>
      </p:sp>
    </p:spTree>
    <p:extLst>
      <p:ext uri="{BB962C8B-B14F-4D97-AF65-F5344CB8AC3E}">
        <p14:creationId xmlns:p14="http://schemas.microsoft.com/office/powerpoint/2010/main" val="1289077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3149" y="296735"/>
            <a:ext cx="5931451" cy="691277"/>
          </a:xfrm>
        </p:spPr>
        <p:txBody>
          <a:bodyPr/>
          <a:lstStyle/>
          <a:p>
            <a:r>
              <a:rPr lang="en-US" sz="3600" dirty="0"/>
              <a:t>Time Complexity: Examples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31</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27" name="Rectangle 3"/>
          <p:cNvSpPr txBox="1">
            <a:spLocks noChangeArrowheads="1"/>
          </p:cNvSpPr>
          <p:nvPr/>
        </p:nvSpPr>
        <p:spPr bwMode="auto">
          <a:xfrm>
            <a:off x="685800" y="1342554"/>
            <a:ext cx="8026400" cy="548369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81000" indent="-381000" algn="l" rtl="0" fontAlgn="base" latinLnBrk="1">
              <a:spcBef>
                <a:spcPct val="20000"/>
              </a:spcBef>
              <a:spcAft>
                <a:spcPct val="0"/>
              </a:spcAft>
              <a:buNone/>
              <a:defRPr kumimoji="1" sz="2400">
                <a:solidFill>
                  <a:schemeClr val="accent6"/>
                </a:solidFill>
                <a:latin typeface="Consolas" pitchFamily="49" charset="0"/>
                <a:ea typeface="+mn-ea"/>
                <a:cs typeface="+mn-cs"/>
              </a:defRPr>
            </a:lvl1pPr>
            <a:lvl2pPr marL="0" indent="-342900" algn="l" rtl="0" fontAlgn="base" latinLnBrk="1">
              <a:spcBef>
                <a:spcPct val="20000"/>
              </a:spcBef>
              <a:spcAft>
                <a:spcPct val="0"/>
              </a:spcAft>
              <a:buSzPct val="80000"/>
              <a:buFont typeface="Wingdings" pitchFamily="2" charset="2"/>
              <a:buChar char="l"/>
              <a:defRPr kumimoji="1" sz="2000">
                <a:solidFill>
                  <a:schemeClr val="tx1"/>
                </a:solidFill>
                <a:latin typeface="Consolas" pitchFamily="49" charset="0"/>
                <a:ea typeface="+mn-ea"/>
              </a:defRPr>
            </a:lvl2pPr>
            <a:lvl3pPr marL="536400" indent="-342900" algn="l" rtl="0" fontAlgn="base" latinLnBrk="1">
              <a:spcBef>
                <a:spcPct val="20000"/>
              </a:spcBef>
              <a:spcAft>
                <a:spcPct val="0"/>
              </a:spcAft>
              <a:buSzPct val="80000"/>
              <a:buFont typeface="Wingdings 2" pitchFamily="18" charset="2"/>
              <a:buChar char=""/>
              <a:defRPr kumimoji="1" sz="1800">
                <a:solidFill>
                  <a:schemeClr val="tx1"/>
                </a:solidFill>
                <a:latin typeface="Consolas" pitchFamily="49" charset="0"/>
                <a:ea typeface="+mn-ea"/>
              </a:defRPr>
            </a:lvl3pPr>
            <a:lvl4pPr marL="1714500" indent="-342900" algn="l" rtl="0" fontAlgn="base" latinLnBrk="1">
              <a:spcBef>
                <a:spcPct val="20000"/>
              </a:spcBef>
              <a:spcAft>
                <a:spcPct val="0"/>
              </a:spcAft>
              <a:buFont typeface="+mj-lt"/>
              <a:buNone/>
              <a:defRPr kumimoji="1" sz="1600">
                <a:solidFill>
                  <a:schemeClr val="tx1"/>
                </a:solidFill>
                <a:latin typeface="Consolas" pitchFamily="49" charset="0"/>
                <a:ea typeface="+mn-ea"/>
              </a:defRPr>
            </a:lvl4pPr>
            <a:lvl5pPr marL="2171700" indent="-342900" algn="l" rtl="0" fontAlgn="base" latinLnBrk="1">
              <a:spcBef>
                <a:spcPct val="20000"/>
              </a:spcBef>
              <a:spcAft>
                <a:spcPct val="0"/>
              </a:spcAft>
              <a:buFont typeface="+mj-lt"/>
              <a:buNone/>
              <a:defRPr kumimoji="1" sz="1600">
                <a:solidFill>
                  <a:schemeClr val="tx1"/>
                </a:solidFill>
                <a:latin typeface="Consolas" pitchFamily="49" charset="0"/>
                <a:ea typeface="+mn-ea"/>
              </a:defRPr>
            </a:lvl5pPr>
            <a:lvl6pPr marL="2552700" indent="-266700" algn="l" rtl="0" fontAlgn="base" latinLnBrk="1">
              <a:spcBef>
                <a:spcPct val="20000"/>
              </a:spcBef>
              <a:spcAft>
                <a:spcPct val="0"/>
              </a:spcAft>
              <a:buChar char="»"/>
              <a:defRPr kumimoji="1" sz="1400">
                <a:solidFill>
                  <a:schemeClr val="tx1"/>
                </a:solidFill>
                <a:latin typeface="+mn-lt"/>
                <a:ea typeface="+mn-ea"/>
              </a:defRPr>
            </a:lvl6pPr>
            <a:lvl7pPr marL="3009900" indent="-266700" algn="l" rtl="0" fontAlgn="base" latinLnBrk="1">
              <a:spcBef>
                <a:spcPct val="20000"/>
              </a:spcBef>
              <a:spcAft>
                <a:spcPct val="0"/>
              </a:spcAft>
              <a:buChar char="»"/>
              <a:defRPr kumimoji="1" sz="1400">
                <a:solidFill>
                  <a:schemeClr val="tx1"/>
                </a:solidFill>
                <a:latin typeface="+mn-lt"/>
                <a:ea typeface="+mn-ea"/>
              </a:defRPr>
            </a:lvl7pPr>
            <a:lvl8pPr marL="3467100" indent="-266700" algn="l" rtl="0" fontAlgn="base" latinLnBrk="1">
              <a:spcBef>
                <a:spcPct val="20000"/>
              </a:spcBef>
              <a:spcAft>
                <a:spcPct val="0"/>
              </a:spcAft>
              <a:buChar char="»"/>
              <a:defRPr kumimoji="1" sz="1400">
                <a:solidFill>
                  <a:schemeClr val="tx1"/>
                </a:solidFill>
                <a:latin typeface="+mn-lt"/>
                <a:ea typeface="+mn-ea"/>
              </a:defRPr>
            </a:lvl8pPr>
            <a:lvl9pPr marL="3924300" indent="-266700" algn="l" rtl="0" fontAlgn="base" latinLnBrk="1">
              <a:spcBef>
                <a:spcPct val="20000"/>
              </a:spcBef>
              <a:spcAft>
                <a:spcPct val="0"/>
              </a:spcAft>
              <a:buChar char="»"/>
              <a:defRPr kumimoji="1" sz="1400">
                <a:solidFill>
                  <a:schemeClr val="tx1"/>
                </a:solidFill>
                <a:latin typeface="+mn-lt"/>
                <a:ea typeface="+mn-ea"/>
              </a:defRPr>
            </a:lvl9pPr>
          </a:lstStyle>
          <a:p>
            <a:pPr marL="381000" marR="0" lvl="0" indent="-381000" algn="l" defTabSz="914400" rtl="0" eaLnBrk="1" fontAlgn="base" latinLnBrk="1" hangingPunct="1">
              <a:lnSpc>
                <a:spcPct val="100000"/>
              </a:lnSpc>
              <a:spcBef>
                <a:spcPct val="20000"/>
              </a:spcBef>
              <a:spcAft>
                <a:spcPct val="0"/>
              </a:spcAft>
              <a:buClrTx/>
              <a:buSzTx/>
              <a:buFontTx/>
              <a:buNone/>
              <a:tabLst/>
              <a:defRPr/>
            </a:pPr>
            <a:r>
              <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rPr>
              <a:t>Example 1</a:t>
            </a:r>
          </a:p>
          <a:p>
            <a:pPr marL="381000" marR="0" lvl="0" indent="-381000" algn="l" defTabSz="914400" rtl="0" eaLnBrk="1" fontAlgn="base" latinLnBrk="1" hangingPunct="1">
              <a:lnSpc>
                <a:spcPct val="100000"/>
              </a:lnSpc>
              <a:spcBef>
                <a:spcPct val="20000"/>
              </a:spcBef>
              <a:spcAft>
                <a:spcPct val="0"/>
              </a:spcAft>
              <a:buClrTx/>
              <a:buSzTx/>
              <a:buFontTx/>
              <a:buAutoNum type="arabicPeriod" startAt="3"/>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AutoNum type="arabicPeriod" startAt="3"/>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AutoNum type="arabicPeriod" startAt="3"/>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AutoNum type="arabicPeriod" startAt="3"/>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None/>
              <a:tabLst/>
              <a:defRPr/>
            </a:pPr>
            <a:r>
              <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rPr>
              <a:t>Example 2</a:t>
            </a:r>
          </a:p>
          <a:p>
            <a:pPr marL="381000" marR="0" lvl="0" indent="-381000" algn="l" defTabSz="914400" rtl="0" eaLnBrk="1" fontAlgn="base" latinLnBrk="1" hangingPunct="1">
              <a:lnSpc>
                <a:spcPct val="100000"/>
              </a:lnSpc>
              <a:spcBef>
                <a:spcPct val="20000"/>
              </a:spcBef>
              <a:spcAft>
                <a:spcPct val="0"/>
              </a:spcAft>
              <a:buClrTx/>
              <a:buSzTx/>
              <a:buFontTx/>
              <a:buAutoNum type="arabicPeriod" startAt="3"/>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AutoNum type="arabicPeriod" startAt="3"/>
              <a:tabLst/>
              <a:defRPr/>
            </a:pPr>
            <a:endParaRPr kumimoji="1" lang="en-US" altLang="ko-KR" sz="2400" b="0" i="0" u="none" strike="noStrike" kern="0" cap="none" spc="0" normalizeH="0" baseline="0" noProof="0" dirty="0">
              <a:ln>
                <a:noFill/>
              </a:ln>
              <a:solidFill>
                <a:srgbClr val="2D2DB9"/>
              </a:solidFill>
              <a:effectLst/>
              <a:uLnTx/>
              <a:uFillTx/>
              <a:latin typeface="Consolas" pitchFamily="49" charset="0"/>
              <a:ea typeface="굴림"/>
              <a:cs typeface="+mn-cs"/>
            </a:endParaRPr>
          </a:p>
        </p:txBody>
      </p:sp>
      <p:sp>
        <p:nvSpPr>
          <p:cNvPr id="28" name="Rectangle 54"/>
          <p:cNvSpPr>
            <a:spLocks noChangeArrowheads="1"/>
          </p:cNvSpPr>
          <p:nvPr/>
        </p:nvSpPr>
        <p:spPr bwMode="auto">
          <a:xfrm>
            <a:off x="976313" y="1774602"/>
            <a:ext cx="4572000" cy="1465262"/>
          </a:xfrm>
          <a:prstGeom prst="rect">
            <a:avLst/>
          </a:prstGeom>
          <a:noFill/>
          <a:ln w="9525" algn="ctr">
            <a:noFill/>
            <a:miter lim="800000"/>
            <a:headEnd/>
            <a:tailEnd/>
          </a:ln>
          <a:effectLst/>
        </p:spPr>
        <p:txBody>
          <a:bodyPr>
            <a:spAutoFit/>
          </a:bodyPr>
          <a:lstStyle/>
          <a:p>
            <a:pPr lvl="1" eaLnBrk="1" latinLnBrk="1" hangingPunct="1"/>
            <a:r>
              <a:rPr kumimoji="1" lang="en-US" altLang="ko-KR" b="1" dirty="0">
                <a:solidFill>
                  <a:srgbClr val="000000"/>
                </a:solidFill>
                <a:latin typeface="Courier New" pitchFamily="49" charset="0"/>
                <a:ea typeface="굴림" pitchFamily="50" charset="-127"/>
              </a:rPr>
              <a:t>void Ex1(</a:t>
            </a:r>
            <a:r>
              <a:rPr kumimoji="1" lang="en-US" altLang="ko-KR" b="1" dirty="0" err="1">
                <a:solidFill>
                  <a:srgbClr val="000000"/>
                </a:solidFill>
                <a:latin typeface="Courier New" pitchFamily="49" charset="0"/>
                <a:ea typeface="굴림" pitchFamily="50" charset="-127"/>
              </a:rPr>
              <a:t>int</a:t>
            </a:r>
            <a:r>
              <a:rPr kumimoji="1" lang="en-US" altLang="ko-KR" b="1" dirty="0">
                <a:solidFill>
                  <a:srgbClr val="000000"/>
                </a:solidFill>
                <a:latin typeface="Courier New" pitchFamily="49" charset="0"/>
                <a:ea typeface="굴림" pitchFamily="50" charset="-127"/>
              </a:rPr>
              <a:t> n) {</a:t>
            </a:r>
          </a:p>
          <a:p>
            <a:pPr lvl="2" eaLnBrk="1" latinLnBrk="1" hangingPunct="1"/>
            <a:r>
              <a:rPr kumimoji="1" lang="en-US" altLang="ko-KR" b="1" dirty="0" err="1">
                <a:solidFill>
                  <a:srgbClr val="000000"/>
                </a:solidFill>
                <a:latin typeface="Courier New" pitchFamily="49" charset="0"/>
                <a:ea typeface="굴림" pitchFamily="50" charset="-127"/>
              </a:rPr>
              <a:t>int</a:t>
            </a:r>
            <a:r>
              <a:rPr kumimoji="1" lang="en-US" altLang="ko-KR" b="1" dirty="0">
                <a:solidFill>
                  <a:srgbClr val="000000"/>
                </a:solidFill>
                <a:latin typeface="Courier New" pitchFamily="49" charset="0"/>
                <a:ea typeface="굴림" pitchFamily="50" charset="-127"/>
              </a:rPr>
              <a:t> a, </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for (</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=0;i&lt;</a:t>
            </a:r>
            <a:r>
              <a:rPr kumimoji="1" lang="en-US" altLang="ko-KR" b="1" dirty="0" err="1">
                <a:solidFill>
                  <a:srgbClr val="000000"/>
                </a:solidFill>
                <a:latin typeface="Courier New" pitchFamily="49" charset="0"/>
                <a:ea typeface="굴림" pitchFamily="50" charset="-127"/>
              </a:rPr>
              <a:t>n;i</a:t>
            </a:r>
            <a:r>
              <a:rPr kumimoji="1" lang="en-US" altLang="ko-KR" b="1" dirty="0">
                <a:solidFill>
                  <a:srgbClr val="000000"/>
                </a:solidFill>
                <a:latin typeface="Courier New" pitchFamily="49" charset="0"/>
                <a:ea typeface="굴림" pitchFamily="50" charset="-127"/>
              </a:rPr>
              <a:t>++) </a:t>
            </a:r>
          </a:p>
          <a:p>
            <a:pPr lvl="2" eaLnBrk="1" latinLnBrk="1" hangingPunct="1"/>
            <a:r>
              <a:rPr kumimoji="1" lang="en-US" altLang="ko-KR" b="1" dirty="0">
                <a:solidFill>
                  <a:srgbClr val="000000"/>
                </a:solidFill>
                <a:latin typeface="Courier New" pitchFamily="49" charset="0"/>
                <a:ea typeface="굴림" pitchFamily="50" charset="-127"/>
              </a:rPr>
              <a:t>	a=</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a:t>
            </a:r>
          </a:p>
        </p:txBody>
      </p:sp>
      <p:sp>
        <p:nvSpPr>
          <p:cNvPr id="29" name="Rectangle 56"/>
          <p:cNvSpPr>
            <a:spLocks noChangeArrowheads="1"/>
          </p:cNvSpPr>
          <p:nvPr/>
        </p:nvSpPr>
        <p:spPr bwMode="auto">
          <a:xfrm>
            <a:off x="976313" y="4032027"/>
            <a:ext cx="4572000" cy="1465262"/>
          </a:xfrm>
          <a:prstGeom prst="rect">
            <a:avLst/>
          </a:prstGeom>
          <a:noFill/>
          <a:ln w="9525" algn="ctr">
            <a:noFill/>
            <a:miter lim="800000"/>
            <a:headEnd/>
            <a:tailEnd/>
          </a:ln>
          <a:effectLst/>
        </p:spPr>
        <p:txBody>
          <a:bodyPr>
            <a:spAutoFit/>
          </a:bodyPr>
          <a:lstStyle/>
          <a:p>
            <a:pPr lvl="1" eaLnBrk="1" latinLnBrk="1" hangingPunct="1"/>
            <a:r>
              <a:rPr kumimoji="1" lang="en-US" altLang="ko-KR" b="1" dirty="0">
                <a:solidFill>
                  <a:srgbClr val="000000"/>
                </a:solidFill>
                <a:latin typeface="Courier New" pitchFamily="49" charset="0"/>
                <a:ea typeface="굴림" pitchFamily="50" charset="-127"/>
              </a:rPr>
              <a:t>void Ex2(</a:t>
            </a:r>
            <a:r>
              <a:rPr kumimoji="1" lang="en-US" altLang="ko-KR" b="1" dirty="0" err="1">
                <a:solidFill>
                  <a:srgbClr val="000000"/>
                </a:solidFill>
                <a:latin typeface="Courier New" pitchFamily="49" charset="0"/>
                <a:ea typeface="굴림" pitchFamily="50" charset="-127"/>
              </a:rPr>
              <a:t>int</a:t>
            </a:r>
            <a:r>
              <a:rPr kumimoji="1" lang="en-US" altLang="ko-KR" b="1" dirty="0">
                <a:solidFill>
                  <a:srgbClr val="000000"/>
                </a:solidFill>
                <a:latin typeface="Courier New" pitchFamily="49" charset="0"/>
                <a:ea typeface="굴림" pitchFamily="50" charset="-127"/>
              </a:rPr>
              <a:t> n) {</a:t>
            </a:r>
          </a:p>
          <a:p>
            <a:pPr lvl="2" eaLnBrk="1" latinLnBrk="1" hangingPunct="1"/>
            <a:r>
              <a:rPr kumimoji="1" lang="en-US" altLang="ko-KR" b="1" dirty="0" err="1">
                <a:solidFill>
                  <a:srgbClr val="000000"/>
                </a:solidFill>
                <a:latin typeface="Courier New" pitchFamily="49" charset="0"/>
                <a:ea typeface="굴림" pitchFamily="50" charset="-127"/>
              </a:rPr>
              <a:t>int</a:t>
            </a:r>
            <a:r>
              <a:rPr kumimoji="1" lang="en-US" altLang="ko-KR" b="1" dirty="0">
                <a:solidFill>
                  <a:srgbClr val="000000"/>
                </a:solidFill>
                <a:latin typeface="Courier New" pitchFamily="49" charset="0"/>
                <a:ea typeface="굴림" pitchFamily="50" charset="-127"/>
              </a:rPr>
              <a:t> a, </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for (</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=0;i&lt;</a:t>
            </a:r>
            <a:r>
              <a:rPr kumimoji="1" lang="en-US" altLang="ko-KR" b="1" dirty="0" err="1">
                <a:solidFill>
                  <a:srgbClr val="000000"/>
                </a:solidFill>
                <a:latin typeface="Courier New" pitchFamily="49" charset="0"/>
                <a:ea typeface="굴림" pitchFamily="50" charset="-127"/>
              </a:rPr>
              <a:t>n;i</a:t>
            </a:r>
            <a:r>
              <a:rPr kumimoji="1" lang="en-US" altLang="ko-KR" b="1" dirty="0">
                <a:solidFill>
                  <a:srgbClr val="000000"/>
                </a:solidFill>
                <a:latin typeface="Courier New" pitchFamily="49" charset="0"/>
                <a:ea typeface="굴림" pitchFamily="50" charset="-127"/>
              </a:rPr>
              <a:t>+=2) </a:t>
            </a:r>
          </a:p>
          <a:p>
            <a:pPr lvl="2" eaLnBrk="1" latinLnBrk="1" hangingPunct="1"/>
            <a:r>
              <a:rPr kumimoji="1" lang="en-US" altLang="ko-KR" b="1" dirty="0">
                <a:solidFill>
                  <a:srgbClr val="000000"/>
                </a:solidFill>
                <a:latin typeface="Courier New" pitchFamily="49" charset="0"/>
                <a:ea typeface="굴림" pitchFamily="50" charset="-127"/>
              </a:rPr>
              <a:t>	a=</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a:t>
            </a:r>
          </a:p>
        </p:txBody>
      </p:sp>
      <p:sp>
        <p:nvSpPr>
          <p:cNvPr id="30" name="TextBox 29"/>
          <p:cNvSpPr txBox="1"/>
          <p:nvPr/>
        </p:nvSpPr>
        <p:spPr>
          <a:xfrm>
            <a:off x="4584578" y="2325167"/>
            <a:ext cx="614272" cy="400110"/>
          </a:xfrm>
          <a:prstGeom prst="rect">
            <a:avLst/>
          </a:prstGeom>
          <a:noFill/>
        </p:spPr>
        <p:txBody>
          <a:bodyPr wrap="none" rtlCol="0">
            <a:spAutoFit/>
          </a:bodyPr>
          <a:lstStyle/>
          <a:p>
            <a:pPr algn="ctr" eaLnBrk="1" latinLnBrk="1" hangingPunct="1"/>
            <a:r>
              <a:rPr kumimoji="1" lang="en-US" sz="2000" i="1" dirty="0">
                <a:solidFill>
                  <a:srgbClr val="FF0000"/>
                </a:solidFill>
                <a:latin typeface="Times New Roman" pitchFamily="18" charset="0"/>
                <a:ea typeface="굴림" pitchFamily="50" charset="-127"/>
              </a:rPr>
              <a:t>n+</a:t>
            </a:r>
            <a:r>
              <a:rPr kumimoji="1" lang="en-US" sz="2000" dirty="0">
                <a:solidFill>
                  <a:srgbClr val="FF0000"/>
                </a:solidFill>
                <a:latin typeface="Times New Roman" pitchFamily="18" charset="0"/>
                <a:ea typeface="굴림" pitchFamily="50" charset="-127"/>
              </a:rPr>
              <a:t>1</a:t>
            </a:r>
          </a:p>
        </p:txBody>
      </p:sp>
      <p:sp>
        <p:nvSpPr>
          <p:cNvPr id="31" name="TextBox 30"/>
          <p:cNvSpPr txBox="1"/>
          <p:nvPr/>
        </p:nvSpPr>
        <p:spPr>
          <a:xfrm>
            <a:off x="4584578" y="2543211"/>
            <a:ext cx="312906" cy="400110"/>
          </a:xfrm>
          <a:prstGeom prst="rect">
            <a:avLst/>
          </a:prstGeom>
          <a:noFill/>
        </p:spPr>
        <p:txBody>
          <a:bodyPr wrap="none" rtlCol="0">
            <a:spAutoFit/>
          </a:bodyPr>
          <a:lstStyle/>
          <a:p>
            <a:pPr algn="ctr" eaLnBrk="1" latinLnBrk="1" hangingPunct="1"/>
            <a:r>
              <a:rPr kumimoji="1" lang="en-US" sz="2000" i="1" dirty="0">
                <a:solidFill>
                  <a:srgbClr val="FF0000"/>
                </a:solidFill>
                <a:latin typeface="Times New Roman" pitchFamily="18" charset="0"/>
                <a:ea typeface="굴림" pitchFamily="50" charset="-127"/>
              </a:rPr>
              <a:t>n</a:t>
            </a:r>
          </a:p>
        </p:txBody>
      </p:sp>
      <p:sp>
        <p:nvSpPr>
          <p:cNvPr id="32" name="TextBox 31"/>
          <p:cNvSpPr txBox="1"/>
          <p:nvPr/>
        </p:nvSpPr>
        <p:spPr>
          <a:xfrm>
            <a:off x="5584304" y="2303636"/>
            <a:ext cx="1058302"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sym typeface="Wingdings" pitchFamily="2" charset="2"/>
              </a:rPr>
              <a:t> </a:t>
            </a:r>
            <a:r>
              <a:rPr kumimoji="1" lang="en-US" sz="2000" dirty="0">
                <a:solidFill>
                  <a:srgbClr val="FF0000"/>
                </a:solidFill>
                <a:latin typeface="Times New Roman" pitchFamily="18" charset="0"/>
                <a:ea typeface="굴림" pitchFamily="50" charset="-127"/>
              </a:rPr>
              <a:t>2</a:t>
            </a:r>
            <a:r>
              <a:rPr kumimoji="1" lang="en-US" sz="2000" i="1" dirty="0">
                <a:solidFill>
                  <a:srgbClr val="FF0000"/>
                </a:solidFill>
                <a:latin typeface="Times New Roman" pitchFamily="18" charset="0"/>
                <a:ea typeface="굴림" pitchFamily="50" charset="-127"/>
              </a:rPr>
              <a:t>n+</a:t>
            </a:r>
            <a:r>
              <a:rPr kumimoji="1" lang="en-US" sz="2000" dirty="0">
                <a:solidFill>
                  <a:srgbClr val="FF0000"/>
                </a:solidFill>
                <a:latin typeface="Times New Roman" pitchFamily="18" charset="0"/>
                <a:ea typeface="굴림" pitchFamily="50" charset="-127"/>
              </a:rPr>
              <a:t>1</a:t>
            </a:r>
          </a:p>
        </p:txBody>
      </p:sp>
      <p:sp>
        <p:nvSpPr>
          <p:cNvPr id="33" name="TextBox 32"/>
          <p:cNvSpPr txBox="1"/>
          <p:nvPr/>
        </p:nvSpPr>
        <p:spPr>
          <a:xfrm>
            <a:off x="6642607" y="2303636"/>
            <a:ext cx="518091"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sym typeface="Symbol"/>
              </a:rPr>
              <a:t> </a:t>
            </a:r>
            <a:r>
              <a:rPr kumimoji="1" lang="en-US" sz="2000" i="1" dirty="0">
                <a:solidFill>
                  <a:srgbClr val="FF0000"/>
                </a:solidFill>
                <a:latin typeface="Times New Roman" pitchFamily="18" charset="0"/>
                <a:ea typeface="굴림" pitchFamily="50" charset="-127"/>
              </a:rPr>
              <a:t>n</a:t>
            </a:r>
            <a:endParaRPr kumimoji="1" lang="en-US" sz="2000" dirty="0">
              <a:solidFill>
                <a:srgbClr val="FF0000"/>
              </a:solidFill>
              <a:latin typeface="Times New Roman" pitchFamily="18" charset="0"/>
              <a:ea typeface="굴림" pitchFamily="50" charset="-127"/>
            </a:endParaRPr>
          </a:p>
        </p:txBody>
      </p:sp>
      <p:sp>
        <p:nvSpPr>
          <p:cNvPr id="34" name="TextBox 33"/>
          <p:cNvSpPr txBox="1"/>
          <p:nvPr/>
        </p:nvSpPr>
        <p:spPr>
          <a:xfrm>
            <a:off x="4584578" y="4567822"/>
            <a:ext cx="813043" cy="400110"/>
          </a:xfrm>
          <a:prstGeom prst="rect">
            <a:avLst/>
          </a:prstGeom>
          <a:noFill/>
        </p:spPr>
        <p:txBody>
          <a:bodyPr wrap="none" rtlCol="0">
            <a:spAutoFit/>
          </a:bodyPr>
          <a:lstStyle/>
          <a:p>
            <a:pPr algn="ctr" eaLnBrk="1" latinLnBrk="1" hangingPunct="1"/>
            <a:r>
              <a:rPr kumimoji="1" lang="en-US" sz="2000" i="1" dirty="0">
                <a:solidFill>
                  <a:srgbClr val="FF0000"/>
                </a:solidFill>
                <a:latin typeface="Times New Roman" pitchFamily="18" charset="0"/>
                <a:ea typeface="굴림" pitchFamily="50" charset="-127"/>
              </a:rPr>
              <a:t>n/</a:t>
            </a:r>
            <a:r>
              <a:rPr kumimoji="1" lang="en-US" sz="2000" dirty="0">
                <a:solidFill>
                  <a:srgbClr val="FF0000"/>
                </a:solidFill>
                <a:latin typeface="Times New Roman" pitchFamily="18" charset="0"/>
                <a:ea typeface="굴림" pitchFamily="50" charset="-127"/>
              </a:rPr>
              <a:t>2</a:t>
            </a:r>
            <a:r>
              <a:rPr kumimoji="1" lang="en-US" sz="2000" i="1" dirty="0">
                <a:solidFill>
                  <a:srgbClr val="FF0000"/>
                </a:solidFill>
                <a:latin typeface="Times New Roman" pitchFamily="18" charset="0"/>
                <a:ea typeface="굴림" pitchFamily="50" charset="-127"/>
              </a:rPr>
              <a:t>+</a:t>
            </a:r>
            <a:r>
              <a:rPr kumimoji="1" lang="en-US" sz="2000" dirty="0">
                <a:solidFill>
                  <a:srgbClr val="FF0000"/>
                </a:solidFill>
                <a:latin typeface="Times New Roman" pitchFamily="18" charset="0"/>
                <a:ea typeface="굴림" pitchFamily="50" charset="-127"/>
              </a:rPr>
              <a:t>1</a:t>
            </a:r>
          </a:p>
        </p:txBody>
      </p:sp>
      <p:sp>
        <p:nvSpPr>
          <p:cNvPr id="35" name="TextBox 34"/>
          <p:cNvSpPr txBox="1"/>
          <p:nvPr/>
        </p:nvSpPr>
        <p:spPr>
          <a:xfrm>
            <a:off x="4584578" y="4783846"/>
            <a:ext cx="511680" cy="400110"/>
          </a:xfrm>
          <a:prstGeom prst="rect">
            <a:avLst/>
          </a:prstGeom>
          <a:noFill/>
        </p:spPr>
        <p:txBody>
          <a:bodyPr wrap="none" rtlCol="0">
            <a:spAutoFit/>
          </a:bodyPr>
          <a:lstStyle/>
          <a:p>
            <a:pPr algn="ctr" eaLnBrk="1" latinLnBrk="1" hangingPunct="1"/>
            <a:r>
              <a:rPr kumimoji="1" lang="en-US" sz="2000" i="1" dirty="0">
                <a:solidFill>
                  <a:srgbClr val="FF0000"/>
                </a:solidFill>
                <a:latin typeface="Times New Roman" pitchFamily="18" charset="0"/>
                <a:ea typeface="굴림" pitchFamily="50" charset="-127"/>
              </a:rPr>
              <a:t>n/</a:t>
            </a:r>
            <a:r>
              <a:rPr kumimoji="1" lang="en-US" sz="2000" dirty="0">
                <a:solidFill>
                  <a:srgbClr val="FF0000"/>
                </a:solidFill>
                <a:latin typeface="Times New Roman" pitchFamily="18" charset="0"/>
                <a:ea typeface="굴림" pitchFamily="50" charset="-127"/>
              </a:rPr>
              <a:t>2</a:t>
            </a:r>
          </a:p>
        </p:txBody>
      </p:sp>
      <p:sp>
        <p:nvSpPr>
          <p:cNvPr id="36" name="TextBox 35"/>
          <p:cNvSpPr txBox="1"/>
          <p:nvPr/>
        </p:nvSpPr>
        <p:spPr>
          <a:xfrm>
            <a:off x="5584304" y="4516373"/>
            <a:ext cx="930062"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sym typeface="Wingdings" pitchFamily="2" charset="2"/>
              </a:rPr>
              <a:t> </a:t>
            </a:r>
            <a:r>
              <a:rPr kumimoji="1" lang="en-US" sz="2000" i="1" dirty="0">
                <a:solidFill>
                  <a:srgbClr val="FF0000"/>
                </a:solidFill>
                <a:latin typeface="Times New Roman" pitchFamily="18" charset="0"/>
                <a:ea typeface="굴림" pitchFamily="50" charset="-127"/>
              </a:rPr>
              <a:t>n+</a:t>
            </a:r>
            <a:r>
              <a:rPr kumimoji="1" lang="en-US" sz="2000" dirty="0">
                <a:solidFill>
                  <a:srgbClr val="FF0000"/>
                </a:solidFill>
                <a:latin typeface="Times New Roman" pitchFamily="18" charset="0"/>
                <a:ea typeface="굴림" pitchFamily="50" charset="-127"/>
              </a:rPr>
              <a:t>1</a:t>
            </a:r>
          </a:p>
        </p:txBody>
      </p:sp>
      <p:sp>
        <p:nvSpPr>
          <p:cNvPr id="37" name="TextBox 36"/>
          <p:cNvSpPr txBox="1"/>
          <p:nvPr/>
        </p:nvSpPr>
        <p:spPr>
          <a:xfrm>
            <a:off x="6642607" y="4516373"/>
            <a:ext cx="518091"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sym typeface="Symbol"/>
              </a:rPr>
              <a:t> </a:t>
            </a:r>
            <a:r>
              <a:rPr kumimoji="1" lang="en-US" sz="2000" i="1" dirty="0">
                <a:solidFill>
                  <a:srgbClr val="FF0000"/>
                </a:solidFill>
                <a:latin typeface="Times New Roman" pitchFamily="18" charset="0"/>
                <a:ea typeface="굴림" pitchFamily="50" charset="-127"/>
              </a:rPr>
              <a:t>n</a:t>
            </a:r>
            <a:endParaRPr kumimoji="1" lang="en-US" sz="2000" dirty="0">
              <a:solidFill>
                <a:srgbClr val="FF0000"/>
              </a:solidFill>
              <a:latin typeface="Times New Roman" pitchFamily="18" charset="0"/>
              <a:ea typeface="굴림" pitchFamily="50" charset="-127"/>
            </a:endParaRPr>
          </a:p>
        </p:txBody>
      </p:sp>
    </p:spTree>
    <p:extLst>
      <p:ext uri="{BB962C8B-B14F-4D97-AF65-F5344CB8AC3E}">
        <p14:creationId xmlns:p14="http://schemas.microsoft.com/office/powerpoint/2010/main" val="241517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P spid="35" grpId="0"/>
      <p:bldP spid="36" grpId="0"/>
      <p:bldP spid="3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302400"/>
            <a:ext cx="5992688" cy="691277"/>
          </a:xfrm>
        </p:spPr>
        <p:txBody>
          <a:bodyPr/>
          <a:lstStyle/>
          <a:p>
            <a:r>
              <a:rPr lang="en-US" sz="3600" dirty="0"/>
              <a:t>Time Complexity: Examples</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32</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18" name="Rectangle 3"/>
          <p:cNvSpPr txBox="1">
            <a:spLocks noChangeArrowheads="1"/>
          </p:cNvSpPr>
          <p:nvPr/>
        </p:nvSpPr>
        <p:spPr bwMode="auto">
          <a:xfrm>
            <a:off x="609600" y="1143000"/>
            <a:ext cx="8026400" cy="548369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81000" indent="-381000" algn="l" rtl="0" fontAlgn="base" latinLnBrk="1">
              <a:spcBef>
                <a:spcPct val="20000"/>
              </a:spcBef>
              <a:spcAft>
                <a:spcPct val="0"/>
              </a:spcAft>
              <a:buNone/>
              <a:defRPr kumimoji="1" sz="2400">
                <a:solidFill>
                  <a:schemeClr val="accent6"/>
                </a:solidFill>
                <a:latin typeface="Consolas" pitchFamily="49" charset="0"/>
                <a:ea typeface="+mn-ea"/>
                <a:cs typeface="+mn-cs"/>
              </a:defRPr>
            </a:lvl1pPr>
            <a:lvl2pPr marL="0" indent="-342900" algn="l" rtl="0" fontAlgn="base" latinLnBrk="1">
              <a:spcBef>
                <a:spcPct val="20000"/>
              </a:spcBef>
              <a:spcAft>
                <a:spcPct val="0"/>
              </a:spcAft>
              <a:buSzPct val="80000"/>
              <a:buFont typeface="Wingdings" pitchFamily="2" charset="2"/>
              <a:buChar char="l"/>
              <a:defRPr kumimoji="1" sz="2000">
                <a:solidFill>
                  <a:schemeClr val="tx1"/>
                </a:solidFill>
                <a:latin typeface="Consolas" pitchFamily="49" charset="0"/>
                <a:ea typeface="+mn-ea"/>
              </a:defRPr>
            </a:lvl2pPr>
            <a:lvl3pPr marL="536400" indent="-342900" algn="l" rtl="0" fontAlgn="base" latinLnBrk="1">
              <a:spcBef>
                <a:spcPct val="20000"/>
              </a:spcBef>
              <a:spcAft>
                <a:spcPct val="0"/>
              </a:spcAft>
              <a:buSzPct val="80000"/>
              <a:buFont typeface="Wingdings 2" pitchFamily="18" charset="2"/>
              <a:buChar char=""/>
              <a:defRPr kumimoji="1" sz="1800">
                <a:solidFill>
                  <a:schemeClr val="tx1"/>
                </a:solidFill>
                <a:latin typeface="Consolas" pitchFamily="49" charset="0"/>
                <a:ea typeface="+mn-ea"/>
              </a:defRPr>
            </a:lvl3pPr>
            <a:lvl4pPr marL="1714500" indent="-342900" algn="l" rtl="0" fontAlgn="base" latinLnBrk="1">
              <a:spcBef>
                <a:spcPct val="20000"/>
              </a:spcBef>
              <a:spcAft>
                <a:spcPct val="0"/>
              </a:spcAft>
              <a:buFont typeface="+mj-lt"/>
              <a:buNone/>
              <a:defRPr kumimoji="1" sz="1600">
                <a:solidFill>
                  <a:schemeClr val="tx1"/>
                </a:solidFill>
                <a:latin typeface="Consolas" pitchFamily="49" charset="0"/>
                <a:ea typeface="+mn-ea"/>
              </a:defRPr>
            </a:lvl4pPr>
            <a:lvl5pPr marL="2171700" indent="-342900" algn="l" rtl="0" fontAlgn="base" latinLnBrk="1">
              <a:spcBef>
                <a:spcPct val="20000"/>
              </a:spcBef>
              <a:spcAft>
                <a:spcPct val="0"/>
              </a:spcAft>
              <a:buFont typeface="+mj-lt"/>
              <a:buNone/>
              <a:defRPr kumimoji="1" sz="1600">
                <a:solidFill>
                  <a:schemeClr val="tx1"/>
                </a:solidFill>
                <a:latin typeface="Consolas" pitchFamily="49" charset="0"/>
                <a:ea typeface="+mn-ea"/>
              </a:defRPr>
            </a:lvl5pPr>
            <a:lvl6pPr marL="2552700" indent="-266700" algn="l" rtl="0" fontAlgn="base" latinLnBrk="1">
              <a:spcBef>
                <a:spcPct val="20000"/>
              </a:spcBef>
              <a:spcAft>
                <a:spcPct val="0"/>
              </a:spcAft>
              <a:buChar char="»"/>
              <a:defRPr kumimoji="1" sz="1400">
                <a:solidFill>
                  <a:schemeClr val="tx1"/>
                </a:solidFill>
                <a:latin typeface="+mn-lt"/>
                <a:ea typeface="+mn-ea"/>
              </a:defRPr>
            </a:lvl6pPr>
            <a:lvl7pPr marL="3009900" indent="-266700" algn="l" rtl="0" fontAlgn="base" latinLnBrk="1">
              <a:spcBef>
                <a:spcPct val="20000"/>
              </a:spcBef>
              <a:spcAft>
                <a:spcPct val="0"/>
              </a:spcAft>
              <a:buChar char="»"/>
              <a:defRPr kumimoji="1" sz="1400">
                <a:solidFill>
                  <a:schemeClr val="tx1"/>
                </a:solidFill>
                <a:latin typeface="+mn-lt"/>
                <a:ea typeface="+mn-ea"/>
              </a:defRPr>
            </a:lvl7pPr>
            <a:lvl8pPr marL="3467100" indent="-266700" algn="l" rtl="0" fontAlgn="base" latinLnBrk="1">
              <a:spcBef>
                <a:spcPct val="20000"/>
              </a:spcBef>
              <a:spcAft>
                <a:spcPct val="0"/>
              </a:spcAft>
              <a:buChar char="»"/>
              <a:defRPr kumimoji="1" sz="1400">
                <a:solidFill>
                  <a:schemeClr val="tx1"/>
                </a:solidFill>
                <a:latin typeface="+mn-lt"/>
                <a:ea typeface="+mn-ea"/>
              </a:defRPr>
            </a:lvl8pPr>
            <a:lvl9pPr marL="3924300" indent="-266700" algn="l" rtl="0" fontAlgn="base" latinLnBrk="1">
              <a:spcBef>
                <a:spcPct val="20000"/>
              </a:spcBef>
              <a:spcAft>
                <a:spcPct val="0"/>
              </a:spcAft>
              <a:buChar char="»"/>
              <a:defRPr kumimoji="1" sz="1400">
                <a:solidFill>
                  <a:schemeClr val="tx1"/>
                </a:solidFill>
                <a:latin typeface="+mn-lt"/>
                <a:ea typeface="+mn-ea"/>
              </a:defRPr>
            </a:lvl9pPr>
          </a:lstStyle>
          <a:p>
            <a:pPr marL="381000" marR="0" lvl="0" indent="-381000" algn="l" defTabSz="914400" rtl="0" eaLnBrk="1" fontAlgn="base" latinLnBrk="1" hangingPunct="1">
              <a:lnSpc>
                <a:spcPct val="100000"/>
              </a:lnSpc>
              <a:spcBef>
                <a:spcPct val="20000"/>
              </a:spcBef>
              <a:spcAft>
                <a:spcPct val="0"/>
              </a:spcAft>
              <a:buClrTx/>
              <a:buSzTx/>
              <a:buFontTx/>
              <a:buNone/>
              <a:tabLst/>
              <a:defRPr/>
            </a:pPr>
            <a:r>
              <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rPr>
              <a:t>Example 3</a:t>
            </a:r>
          </a:p>
          <a:p>
            <a:pPr marL="381000" marR="0" lvl="0" indent="-381000" algn="l" defTabSz="914400" rtl="0" eaLnBrk="1" fontAlgn="base" latinLnBrk="1" hangingPunct="1">
              <a:lnSpc>
                <a:spcPct val="100000"/>
              </a:lnSpc>
              <a:spcBef>
                <a:spcPct val="20000"/>
              </a:spcBef>
              <a:spcAft>
                <a:spcPct val="0"/>
              </a:spcAft>
              <a:buClrTx/>
              <a:buSzTx/>
              <a:buFontTx/>
              <a:buAutoNum type="arabicPeriod" startAt="5"/>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AutoNum type="arabicPeriod" startAt="5"/>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AutoNum type="arabicPeriod" startAt="5"/>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AutoNum type="arabicPeriod" startAt="5"/>
              <a:tabLst/>
              <a:defRPr/>
            </a:pPr>
            <a:endPar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endParaRPr>
          </a:p>
          <a:p>
            <a:pPr marL="381000" marR="0" lvl="0" indent="-381000" algn="l" defTabSz="914400" rtl="0" eaLnBrk="1" fontAlgn="base" latinLnBrk="1" hangingPunct="1">
              <a:lnSpc>
                <a:spcPct val="100000"/>
              </a:lnSpc>
              <a:spcBef>
                <a:spcPct val="20000"/>
              </a:spcBef>
              <a:spcAft>
                <a:spcPct val="0"/>
              </a:spcAft>
              <a:buClrTx/>
              <a:buSzTx/>
              <a:buFontTx/>
              <a:buNone/>
              <a:tabLst/>
              <a:defRPr/>
            </a:pPr>
            <a:r>
              <a:rPr kumimoji="1" lang="en-US" altLang="ko-KR" sz="2400" b="0" i="0" u="none" strike="noStrike" kern="0" cap="none" spc="0" normalizeH="0" baseline="0" noProof="0">
                <a:ln>
                  <a:noFill/>
                </a:ln>
                <a:solidFill>
                  <a:srgbClr val="2D2DB9"/>
                </a:solidFill>
                <a:effectLst/>
                <a:uLnTx/>
                <a:uFillTx/>
                <a:latin typeface="Consolas" pitchFamily="49" charset="0"/>
                <a:ea typeface="굴림"/>
                <a:cs typeface="+mn-cs"/>
              </a:rPr>
              <a:t>Example 4</a:t>
            </a:r>
          </a:p>
          <a:p>
            <a:pPr marL="381000" marR="0" lvl="0" indent="-381000" algn="l" defTabSz="914400" rtl="0" eaLnBrk="1" fontAlgn="base" latinLnBrk="1" hangingPunct="1">
              <a:lnSpc>
                <a:spcPct val="100000"/>
              </a:lnSpc>
              <a:spcBef>
                <a:spcPct val="20000"/>
              </a:spcBef>
              <a:spcAft>
                <a:spcPct val="0"/>
              </a:spcAft>
              <a:buClrTx/>
              <a:buSzTx/>
              <a:buFontTx/>
              <a:buAutoNum type="arabicPeriod" startAt="5"/>
              <a:tabLst/>
              <a:defRPr/>
            </a:pPr>
            <a:endParaRPr kumimoji="1" lang="en-US" altLang="ko-KR" sz="2400" b="0" i="0" u="none" strike="noStrike" kern="0" cap="none" spc="0" normalizeH="0" baseline="0" noProof="0" dirty="0">
              <a:ln>
                <a:noFill/>
              </a:ln>
              <a:solidFill>
                <a:srgbClr val="2D2DB9"/>
              </a:solidFill>
              <a:effectLst/>
              <a:uLnTx/>
              <a:uFillTx/>
              <a:latin typeface="Consolas" pitchFamily="49" charset="0"/>
              <a:ea typeface="굴림"/>
              <a:cs typeface="+mn-cs"/>
            </a:endParaRPr>
          </a:p>
        </p:txBody>
      </p:sp>
      <p:sp>
        <p:nvSpPr>
          <p:cNvPr id="19" name="Rectangle 4"/>
          <p:cNvSpPr>
            <a:spLocks noChangeArrowheads="1"/>
          </p:cNvSpPr>
          <p:nvPr/>
        </p:nvSpPr>
        <p:spPr bwMode="auto">
          <a:xfrm>
            <a:off x="971550" y="1575048"/>
            <a:ext cx="5616575" cy="1465263"/>
          </a:xfrm>
          <a:prstGeom prst="rect">
            <a:avLst/>
          </a:prstGeom>
          <a:noFill/>
          <a:ln w="9525" algn="ctr">
            <a:noFill/>
            <a:miter lim="800000"/>
            <a:headEnd/>
            <a:tailEnd/>
          </a:ln>
          <a:effectLst/>
        </p:spPr>
        <p:txBody>
          <a:bodyPr>
            <a:spAutoFit/>
          </a:bodyPr>
          <a:lstStyle/>
          <a:p>
            <a:pPr lvl="1" eaLnBrk="1" latinLnBrk="1" hangingPunct="1"/>
            <a:r>
              <a:rPr kumimoji="1" lang="en-US" altLang="ko-KR" b="1" dirty="0">
                <a:solidFill>
                  <a:srgbClr val="000000"/>
                </a:solidFill>
                <a:latin typeface="Courier New" pitchFamily="49" charset="0"/>
                <a:ea typeface="굴림" pitchFamily="50" charset="-127"/>
              </a:rPr>
              <a:t>void Ex3(</a:t>
            </a:r>
            <a:r>
              <a:rPr kumimoji="1" lang="en-US" altLang="ko-KR" b="1" dirty="0" err="1">
                <a:solidFill>
                  <a:srgbClr val="000000"/>
                </a:solidFill>
                <a:latin typeface="Courier New" pitchFamily="49" charset="0"/>
                <a:ea typeface="굴림" pitchFamily="50" charset="-127"/>
              </a:rPr>
              <a:t>int</a:t>
            </a:r>
            <a:r>
              <a:rPr kumimoji="1" lang="en-US" altLang="ko-KR" b="1" dirty="0">
                <a:solidFill>
                  <a:srgbClr val="000000"/>
                </a:solidFill>
                <a:latin typeface="Courier New" pitchFamily="49" charset="0"/>
                <a:ea typeface="굴림" pitchFamily="50" charset="-127"/>
              </a:rPr>
              <a:t> n) {</a:t>
            </a:r>
          </a:p>
          <a:p>
            <a:pPr lvl="2" eaLnBrk="1" latinLnBrk="1" hangingPunct="1"/>
            <a:r>
              <a:rPr kumimoji="1" lang="en-US" altLang="ko-KR" b="1" dirty="0" err="1">
                <a:solidFill>
                  <a:srgbClr val="000000"/>
                </a:solidFill>
                <a:latin typeface="Courier New" pitchFamily="49" charset="0"/>
                <a:ea typeface="굴림" pitchFamily="50" charset="-127"/>
              </a:rPr>
              <a:t>int</a:t>
            </a:r>
            <a:r>
              <a:rPr kumimoji="1" lang="en-US" altLang="ko-KR" b="1" dirty="0">
                <a:solidFill>
                  <a:srgbClr val="000000"/>
                </a:solidFill>
                <a:latin typeface="Courier New" pitchFamily="49" charset="0"/>
                <a:ea typeface="굴림" pitchFamily="50" charset="-127"/>
              </a:rPr>
              <a:t> a, </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for (</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=0;i&lt;n*</a:t>
            </a:r>
            <a:r>
              <a:rPr kumimoji="1" lang="en-US" altLang="ko-KR" b="1" dirty="0" err="1">
                <a:solidFill>
                  <a:srgbClr val="000000"/>
                </a:solidFill>
                <a:latin typeface="Courier New" pitchFamily="49" charset="0"/>
                <a:ea typeface="굴림" pitchFamily="50" charset="-127"/>
              </a:rPr>
              <a:t>n;i</a:t>
            </a:r>
            <a:r>
              <a:rPr kumimoji="1" lang="en-US" altLang="ko-KR" b="1" dirty="0">
                <a:solidFill>
                  <a:srgbClr val="000000"/>
                </a:solidFill>
                <a:latin typeface="Courier New" pitchFamily="49" charset="0"/>
                <a:ea typeface="굴림" pitchFamily="50" charset="-127"/>
              </a:rPr>
              <a:t>++) </a:t>
            </a:r>
          </a:p>
          <a:p>
            <a:pPr lvl="2" eaLnBrk="1" latinLnBrk="1" hangingPunct="1"/>
            <a:r>
              <a:rPr kumimoji="1" lang="en-US" altLang="ko-KR" b="1" dirty="0">
                <a:solidFill>
                  <a:srgbClr val="000000"/>
                </a:solidFill>
                <a:latin typeface="Courier New" pitchFamily="49" charset="0"/>
                <a:ea typeface="굴림" pitchFamily="50" charset="-127"/>
              </a:rPr>
              <a:t>	a=</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a:t>
            </a:r>
          </a:p>
        </p:txBody>
      </p:sp>
      <p:sp>
        <p:nvSpPr>
          <p:cNvPr id="20" name="Rectangle 5"/>
          <p:cNvSpPr>
            <a:spLocks noChangeArrowheads="1"/>
          </p:cNvSpPr>
          <p:nvPr/>
        </p:nvSpPr>
        <p:spPr bwMode="auto">
          <a:xfrm>
            <a:off x="971550" y="3676675"/>
            <a:ext cx="5761038" cy="1739900"/>
          </a:xfrm>
          <a:prstGeom prst="rect">
            <a:avLst/>
          </a:prstGeom>
          <a:noFill/>
          <a:ln w="9525" algn="ctr">
            <a:noFill/>
            <a:miter lim="800000"/>
            <a:headEnd/>
            <a:tailEnd/>
          </a:ln>
          <a:effectLst/>
        </p:spPr>
        <p:txBody>
          <a:bodyPr>
            <a:spAutoFit/>
          </a:bodyPr>
          <a:lstStyle/>
          <a:p>
            <a:pPr lvl="1" eaLnBrk="1" latinLnBrk="1" hangingPunct="1"/>
            <a:r>
              <a:rPr kumimoji="1" lang="en-US" altLang="ko-KR" b="1" dirty="0">
                <a:solidFill>
                  <a:srgbClr val="000000"/>
                </a:solidFill>
                <a:latin typeface="Courier New" pitchFamily="49" charset="0"/>
                <a:ea typeface="굴림" pitchFamily="50" charset="-127"/>
              </a:rPr>
              <a:t>void Ex4(</a:t>
            </a:r>
            <a:r>
              <a:rPr kumimoji="1" lang="en-US" altLang="ko-KR" b="1" dirty="0" err="1">
                <a:solidFill>
                  <a:srgbClr val="000000"/>
                </a:solidFill>
                <a:latin typeface="Courier New" pitchFamily="49" charset="0"/>
                <a:ea typeface="굴림" pitchFamily="50" charset="-127"/>
              </a:rPr>
              <a:t>int</a:t>
            </a:r>
            <a:r>
              <a:rPr kumimoji="1" lang="en-US" altLang="ko-KR" b="1" dirty="0">
                <a:solidFill>
                  <a:srgbClr val="000000"/>
                </a:solidFill>
                <a:latin typeface="Courier New" pitchFamily="49" charset="0"/>
                <a:ea typeface="굴림" pitchFamily="50" charset="-127"/>
              </a:rPr>
              <a:t> n) {</a:t>
            </a:r>
          </a:p>
          <a:p>
            <a:pPr lvl="2" eaLnBrk="1" latinLnBrk="1" hangingPunct="1"/>
            <a:r>
              <a:rPr kumimoji="1" lang="en-US" altLang="ko-KR" b="1" dirty="0" err="1">
                <a:solidFill>
                  <a:srgbClr val="000000"/>
                </a:solidFill>
                <a:latin typeface="Courier New" pitchFamily="49" charset="0"/>
                <a:ea typeface="굴림" pitchFamily="50" charset="-127"/>
              </a:rPr>
              <a:t>int</a:t>
            </a:r>
            <a:r>
              <a:rPr kumimoji="1" lang="en-US" altLang="ko-KR" b="1" dirty="0">
                <a:solidFill>
                  <a:srgbClr val="000000"/>
                </a:solidFill>
                <a:latin typeface="Courier New" pitchFamily="49" charset="0"/>
                <a:ea typeface="굴림" pitchFamily="50" charset="-127"/>
              </a:rPr>
              <a:t> a, </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 j;</a:t>
            </a:r>
          </a:p>
          <a:p>
            <a:pPr lvl="2" eaLnBrk="1" latinLnBrk="1" hangingPunct="1"/>
            <a:r>
              <a:rPr kumimoji="1" lang="en-US" altLang="ko-KR" b="1" dirty="0">
                <a:solidFill>
                  <a:srgbClr val="000000"/>
                </a:solidFill>
                <a:latin typeface="Courier New" pitchFamily="49" charset="0"/>
                <a:ea typeface="굴림" pitchFamily="50" charset="-127"/>
              </a:rPr>
              <a:t>for (</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=0;i&lt;</a:t>
            </a:r>
            <a:r>
              <a:rPr kumimoji="1" lang="en-US" altLang="ko-KR" b="1" dirty="0" err="1">
                <a:solidFill>
                  <a:srgbClr val="000000"/>
                </a:solidFill>
                <a:latin typeface="Courier New" pitchFamily="49" charset="0"/>
                <a:ea typeface="굴림" pitchFamily="50" charset="-127"/>
              </a:rPr>
              <a:t>n;i</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	 for (j=0;j&lt;</a:t>
            </a:r>
            <a:r>
              <a:rPr kumimoji="1" lang="en-US" altLang="ko-KR" b="1" dirty="0" err="1">
                <a:solidFill>
                  <a:srgbClr val="000000"/>
                </a:solidFill>
                <a:latin typeface="Courier New" pitchFamily="49" charset="0"/>
                <a:ea typeface="굴림" pitchFamily="50" charset="-127"/>
              </a:rPr>
              <a:t>i;j</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		a=</a:t>
            </a:r>
            <a:r>
              <a:rPr kumimoji="1" lang="en-US" altLang="ko-KR" b="1" dirty="0" err="1">
                <a:solidFill>
                  <a:srgbClr val="000000"/>
                </a:solidFill>
                <a:latin typeface="Courier New" pitchFamily="49" charset="0"/>
                <a:ea typeface="굴림" pitchFamily="50" charset="-127"/>
              </a:rPr>
              <a:t>i</a:t>
            </a:r>
            <a:r>
              <a:rPr kumimoji="1" lang="en-US" altLang="ko-KR" b="1" dirty="0">
                <a:solidFill>
                  <a:srgbClr val="000000"/>
                </a:solidFill>
                <a:latin typeface="Courier New" pitchFamily="49" charset="0"/>
                <a:ea typeface="굴림" pitchFamily="50" charset="-127"/>
              </a:rPr>
              <a:t>;</a:t>
            </a:r>
          </a:p>
          <a:p>
            <a:pPr lvl="2" eaLnBrk="1" latinLnBrk="1" hangingPunct="1"/>
            <a:r>
              <a:rPr kumimoji="1" lang="en-US" altLang="ko-KR" b="1" dirty="0">
                <a:solidFill>
                  <a:srgbClr val="000000"/>
                </a:solidFill>
                <a:latin typeface="Courier New" pitchFamily="49" charset="0"/>
                <a:ea typeface="굴림" pitchFamily="50" charset="-127"/>
              </a:rPr>
              <a:t>}</a:t>
            </a:r>
          </a:p>
        </p:txBody>
      </p:sp>
      <p:sp>
        <p:nvSpPr>
          <p:cNvPr id="21" name="TextBox 20"/>
          <p:cNvSpPr txBox="1"/>
          <p:nvPr/>
        </p:nvSpPr>
        <p:spPr>
          <a:xfrm>
            <a:off x="5439314" y="2125738"/>
            <a:ext cx="699229" cy="400110"/>
          </a:xfrm>
          <a:prstGeom prst="rect">
            <a:avLst/>
          </a:prstGeom>
          <a:noFill/>
        </p:spPr>
        <p:txBody>
          <a:bodyPr wrap="none" rtlCol="0">
            <a:spAutoFit/>
          </a:bodyPr>
          <a:lstStyle/>
          <a:p>
            <a:pPr algn="ctr" eaLnBrk="1" latinLnBrk="1" hangingPunct="1"/>
            <a:r>
              <a:rPr kumimoji="1" lang="en-US" sz="2000" i="1" dirty="0">
                <a:solidFill>
                  <a:srgbClr val="FF0000"/>
                </a:solidFill>
                <a:latin typeface="Times New Roman" pitchFamily="18" charset="0"/>
                <a:ea typeface="굴림" pitchFamily="50" charset="-127"/>
              </a:rPr>
              <a:t>n</a:t>
            </a:r>
            <a:r>
              <a:rPr kumimoji="1" lang="en-US" sz="2000" baseline="30000" dirty="0">
                <a:solidFill>
                  <a:srgbClr val="FF0000"/>
                </a:solidFill>
                <a:latin typeface="Times New Roman" pitchFamily="18" charset="0"/>
                <a:ea typeface="굴림" pitchFamily="50" charset="-127"/>
              </a:rPr>
              <a:t>2</a:t>
            </a:r>
            <a:r>
              <a:rPr kumimoji="1" lang="en-US" sz="2000" i="1" dirty="0">
                <a:solidFill>
                  <a:srgbClr val="FF0000"/>
                </a:solidFill>
                <a:latin typeface="Times New Roman" pitchFamily="18" charset="0"/>
                <a:ea typeface="굴림" pitchFamily="50" charset="-127"/>
              </a:rPr>
              <a:t>+</a:t>
            </a:r>
            <a:r>
              <a:rPr kumimoji="1" lang="en-US" sz="2000" dirty="0">
                <a:solidFill>
                  <a:srgbClr val="FF0000"/>
                </a:solidFill>
                <a:latin typeface="Times New Roman" pitchFamily="18" charset="0"/>
                <a:ea typeface="굴림" pitchFamily="50" charset="-127"/>
              </a:rPr>
              <a:t>1</a:t>
            </a:r>
          </a:p>
        </p:txBody>
      </p:sp>
      <p:sp>
        <p:nvSpPr>
          <p:cNvPr id="22" name="TextBox 21"/>
          <p:cNvSpPr txBox="1"/>
          <p:nvPr/>
        </p:nvSpPr>
        <p:spPr>
          <a:xfrm>
            <a:off x="5439312" y="2378072"/>
            <a:ext cx="397866" cy="400110"/>
          </a:xfrm>
          <a:prstGeom prst="rect">
            <a:avLst/>
          </a:prstGeom>
          <a:noFill/>
        </p:spPr>
        <p:txBody>
          <a:bodyPr wrap="none" rtlCol="0">
            <a:spAutoFit/>
          </a:bodyPr>
          <a:lstStyle/>
          <a:p>
            <a:pPr algn="ctr" eaLnBrk="1" latinLnBrk="1" hangingPunct="1"/>
            <a:r>
              <a:rPr kumimoji="1" lang="en-US" sz="2000" i="1" dirty="0">
                <a:solidFill>
                  <a:srgbClr val="FF0000"/>
                </a:solidFill>
                <a:latin typeface="Times New Roman" pitchFamily="18" charset="0"/>
                <a:ea typeface="굴림" pitchFamily="50" charset="-127"/>
              </a:rPr>
              <a:t>n</a:t>
            </a:r>
            <a:r>
              <a:rPr kumimoji="1" lang="en-US" sz="2000" baseline="30000" dirty="0">
                <a:solidFill>
                  <a:srgbClr val="FF0000"/>
                </a:solidFill>
                <a:latin typeface="Times New Roman" pitchFamily="18" charset="0"/>
                <a:ea typeface="굴림" pitchFamily="50" charset="-127"/>
              </a:rPr>
              <a:t>2</a:t>
            </a:r>
            <a:endParaRPr kumimoji="1" lang="en-US" sz="2000" i="1" dirty="0">
              <a:solidFill>
                <a:srgbClr val="FF0000"/>
              </a:solidFill>
              <a:latin typeface="Times New Roman" pitchFamily="18" charset="0"/>
              <a:ea typeface="굴림" pitchFamily="50" charset="-127"/>
            </a:endParaRPr>
          </a:p>
        </p:txBody>
      </p:sp>
      <p:sp>
        <p:nvSpPr>
          <p:cNvPr id="23" name="TextBox 22"/>
          <p:cNvSpPr txBox="1"/>
          <p:nvPr/>
        </p:nvSpPr>
        <p:spPr>
          <a:xfrm>
            <a:off x="6417398" y="2104207"/>
            <a:ext cx="1186543"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sym typeface="Wingdings" pitchFamily="2" charset="2"/>
              </a:rPr>
              <a:t> 2</a:t>
            </a:r>
            <a:r>
              <a:rPr kumimoji="1" lang="en-US" sz="2000" i="1" dirty="0">
                <a:solidFill>
                  <a:srgbClr val="FF0000"/>
                </a:solidFill>
                <a:latin typeface="Times New Roman" pitchFamily="18" charset="0"/>
                <a:ea typeface="굴림" pitchFamily="50" charset="-127"/>
              </a:rPr>
              <a:t>n</a:t>
            </a:r>
            <a:r>
              <a:rPr kumimoji="1" lang="en-US" sz="2000" baseline="30000" dirty="0">
                <a:solidFill>
                  <a:srgbClr val="FF0000"/>
                </a:solidFill>
                <a:latin typeface="Times New Roman" pitchFamily="18" charset="0"/>
                <a:ea typeface="굴림" pitchFamily="50" charset="-127"/>
              </a:rPr>
              <a:t>2 </a:t>
            </a:r>
            <a:r>
              <a:rPr kumimoji="1" lang="en-US" sz="2000" i="1" dirty="0">
                <a:solidFill>
                  <a:srgbClr val="FF0000"/>
                </a:solidFill>
                <a:latin typeface="Times New Roman" pitchFamily="18" charset="0"/>
                <a:ea typeface="굴림" pitchFamily="50" charset="-127"/>
              </a:rPr>
              <a:t>+</a:t>
            </a:r>
            <a:r>
              <a:rPr kumimoji="1" lang="en-US" sz="2000" dirty="0">
                <a:solidFill>
                  <a:srgbClr val="FF0000"/>
                </a:solidFill>
                <a:latin typeface="Times New Roman" pitchFamily="18" charset="0"/>
                <a:ea typeface="굴림" pitchFamily="50" charset="-127"/>
              </a:rPr>
              <a:t>1</a:t>
            </a:r>
          </a:p>
        </p:txBody>
      </p:sp>
      <p:sp>
        <p:nvSpPr>
          <p:cNvPr id="24" name="TextBox 23"/>
          <p:cNvSpPr txBox="1"/>
          <p:nvPr/>
        </p:nvSpPr>
        <p:spPr>
          <a:xfrm>
            <a:off x="7497342" y="2104207"/>
            <a:ext cx="603050"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sym typeface="Symbol"/>
              </a:rPr>
              <a:t> </a:t>
            </a:r>
            <a:r>
              <a:rPr kumimoji="1" lang="en-US" sz="2000" i="1" dirty="0">
                <a:solidFill>
                  <a:srgbClr val="FF0000"/>
                </a:solidFill>
                <a:latin typeface="Times New Roman" pitchFamily="18" charset="0"/>
                <a:ea typeface="굴림" pitchFamily="50" charset="-127"/>
              </a:rPr>
              <a:t>n</a:t>
            </a:r>
            <a:r>
              <a:rPr kumimoji="1" lang="en-US" sz="2000" baseline="30000" dirty="0">
                <a:solidFill>
                  <a:srgbClr val="FF0000"/>
                </a:solidFill>
                <a:latin typeface="Times New Roman" pitchFamily="18" charset="0"/>
                <a:ea typeface="굴림" pitchFamily="50" charset="-127"/>
              </a:rPr>
              <a:t>2</a:t>
            </a:r>
            <a:endParaRPr kumimoji="1" lang="en-US" sz="2000" dirty="0">
              <a:solidFill>
                <a:srgbClr val="FF0000"/>
              </a:solidFill>
              <a:latin typeface="Times New Roman" pitchFamily="18" charset="0"/>
              <a:ea typeface="굴림" pitchFamily="50" charset="-127"/>
            </a:endParaRPr>
          </a:p>
        </p:txBody>
      </p:sp>
      <p:sp>
        <p:nvSpPr>
          <p:cNvPr id="25" name="TextBox 24"/>
          <p:cNvSpPr txBox="1"/>
          <p:nvPr/>
        </p:nvSpPr>
        <p:spPr>
          <a:xfrm>
            <a:off x="5488286" y="4212947"/>
            <a:ext cx="585417" cy="400110"/>
          </a:xfrm>
          <a:prstGeom prst="rect">
            <a:avLst/>
          </a:prstGeom>
          <a:noFill/>
        </p:spPr>
        <p:txBody>
          <a:bodyPr wrap="none" rtlCol="0">
            <a:spAutoFit/>
          </a:bodyPr>
          <a:lstStyle/>
          <a:p>
            <a:pPr algn="ctr" eaLnBrk="1" latinLnBrk="1" hangingPunct="1"/>
            <a:r>
              <a:rPr kumimoji="1" lang="en-US" sz="2000" i="1" dirty="0">
                <a:solidFill>
                  <a:srgbClr val="FF0000"/>
                </a:solidFill>
                <a:latin typeface="Times New Roman" pitchFamily="18" charset="0"/>
                <a:ea typeface="굴림" pitchFamily="50" charset="-127"/>
              </a:rPr>
              <a:t>n</a:t>
            </a:r>
            <a:r>
              <a:rPr kumimoji="1" lang="en-US" sz="2000" dirty="0">
                <a:solidFill>
                  <a:srgbClr val="FF0000"/>
                </a:solidFill>
                <a:latin typeface="Times New Roman" pitchFamily="18" charset="0"/>
                <a:ea typeface="굴림" pitchFamily="50" charset="-127"/>
              </a:rPr>
              <a:t>+1</a:t>
            </a:r>
          </a:p>
        </p:txBody>
      </p:sp>
      <p:sp>
        <p:nvSpPr>
          <p:cNvPr id="26" name="TextBox 25"/>
          <p:cNvSpPr txBox="1"/>
          <p:nvPr/>
        </p:nvSpPr>
        <p:spPr>
          <a:xfrm>
            <a:off x="5412891" y="4512409"/>
            <a:ext cx="2550699"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rPr>
              <a:t>1</a:t>
            </a:r>
            <a:r>
              <a:rPr kumimoji="1" lang="en-US" sz="2000" i="1" dirty="0">
                <a:solidFill>
                  <a:srgbClr val="FF0000"/>
                </a:solidFill>
                <a:latin typeface="Times New Roman" pitchFamily="18" charset="0"/>
                <a:ea typeface="굴림" pitchFamily="50" charset="-127"/>
              </a:rPr>
              <a:t>+</a:t>
            </a:r>
            <a:r>
              <a:rPr kumimoji="1" lang="en-US" sz="2000" dirty="0">
                <a:solidFill>
                  <a:srgbClr val="FF0000"/>
                </a:solidFill>
                <a:latin typeface="Times New Roman" pitchFamily="18" charset="0"/>
                <a:ea typeface="굴림" pitchFamily="50" charset="-127"/>
              </a:rPr>
              <a:t>2+…+ </a:t>
            </a:r>
            <a:r>
              <a:rPr kumimoji="1" lang="en-US" sz="2000" i="1" dirty="0">
                <a:solidFill>
                  <a:srgbClr val="FF0000"/>
                </a:solidFill>
                <a:latin typeface="Times New Roman" pitchFamily="18" charset="0"/>
                <a:ea typeface="굴림" pitchFamily="50" charset="-127"/>
              </a:rPr>
              <a:t>n = n</a:t>
            </a:r>
            <a:r>
              <a:rPr kumimoji="1" lang="en-US" sz="2000" dirty="0">
                <a:solidFill>
                  <a:srgbClr val="FF0000"/>
                </a:solidFill>
                <a:latin typeface="Times New Roman" pitchFamily="18" charset="0"/>
                <a:ea typeface="굴림" pitchFamily="50" charset="-127"/>
              </a:rPr>
              <a:t>(</a:t>
            </a:r>
            <a:r>
              <a:rPr kumimoji="1" lang="en-US" sz="2000" i="1" dirty="0">
                <a:solidFill>
                  <a:srgbClr val="FF0000"/>
                </a:solidFill>
                <a:latin typeface="Times New Roman" pitchFamily="18" charset="0"/>
                <a:ea typeface="굴림" pitchFamily="50" charset="-127"/>
              </a:rPr>
              <a:t>n</a:t>
            </a:r>
            <a:r>
              <a:rPr kumimoji="1" lang="en-US" sz="2000" dirty="0">
                <a:solidFill>
                  <a:srgbClr val="FF0000"/>
                </a:solidFill>
                <a:latin typeface="Times New Roman" pitchFamily="18" charset="0"/>
                <a:ea typeface="굴림" pitchFamily="50" charset="-127"/>
              </a:rPr>
              <a:t>+1)/2</a:t>
            </a:r>
          </a:p>
        </p:txBody>
      </p:sp>
      <p:sp>
        <p:nvSpPr>
          <p:cNvPr id="27" name="TextBox 26"/>
          <p:cNvSpPr txBox="1"/>
          <p:nvPr/>
        </p:nvSpPr>
        <p:spPr>
          <a:xfrm>
            <a:off x="5429263" y="5128543"/>
            <a:ext cx="1879041"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sym typeface="Wingdings" pitchFamily="2" charset="2"/>
              </a:rPr>
              <a:t> </a:t>
            </a:r>
            <a:r>
              <a:rPr kumimoji="1" lang="en-US" sz="2000" i="1" dirty="0">
                <a:solidFill>
                  <a:srgbClr val="FF0000"/>
                </a:solidFill>
                <a:latin typeface="Times New Roman" pitchFamily="18" charset="0"/>
                <a:ea typeface="굴림" pitchFamily="50" charset="-127"/>
              </a:rPr>
              <a:t>n</a:t>
            </a:r>
            <a:r>
              <a:rPr kumimoji="1" lang="en-US" sz="2000" baseline="30000" dirty="0">
                <a:solidFill>
                  <a:srgbClr val="FF0000"/>
                </a:solidFill>
                <a:latin typeface="Times New Roman" pitchFamily="18" charset="0"/>
                <a:ea typeface="굴림" pitchFamily="50" charset="-127"/>
              </a:rPr>
              <a:t>2 </a:t>
            </a:r>
            <a:r>
              <a:rPr kumimoji="1" lang="en-US" sz="2000" i="1" dirty="0">
                <a:solidFill>
                  <a:srgbClr val="FF0000"/>
                </a:solidFill>
                <a:latin typeface="Times New Roman" pitchFamily="18" charset="0"/>
                <a:ea typeface="굴림" pitchFamily="50" charset="-127"/>
              </a:rPr>
              <a:t>+ </a:t>
            </a:r>
            <a:r>
              <a:rPr kumimoji="1" lang="en-US" sz="2000" dirty="0">
                <a:solidFill>
                  <a:srgbClr val="FF0000"/>
                </a:solidFill>
                <a:latin typeface="Times New Roman" pitchFamily="18" charset="0"/>
                <a:ea typeface="굴림" pitchFamily="50" charset="-127"/>
              </a:rPr>
              <a:t>2</a:t>
            </a:r>
            <a:r>
              <a:rPr kumimoji="1" lang="en-US" sz="2000" i="1" dirty="0">
                <a:solidFill>
                  <a:srgbClr val="FF0000"/>
                </a:solidFill>
                <a:latin typeface="Times New Roman" pitchFamily="18" charset="0"/>
                <a:ea typeface="굴림" pitchFamily="50" charset="-127"/>
              </a:rPr>
              <a:t>n + </a:t>
            </a:r>
            <a:r>
              <a:rPr kumimoji="1" lang="en-US" sz="2000" dirty="0">
                <a:solidFill>
                  <a:srgbClr val="FF0000"/>
                </a:solidFill>
                <a:latin typeface="Times New Roman" pitchFamily="18" charset="0"/>
                <a:ea typeface="굴림" pitchFamily="50" charset="-127"/>
              </a:rPr>
              <a:t>2/2</a:t>
            </a:r>
          </a:p>
        </p:txBody>
      </p:sp>
      <p:sp>
        <p:nvSpPr>
          <p:cNvPr id="28" name="TextBox 27"/>
          <p:cNvSpPr txBox="1"/>
          <p:nvPr/>
        </p:nvSpPr>
        <p:spPr>
          <a:xfrm>
            <a:off x="7236296" y="5103440"/>
            <a:ext cx="646331"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sym typeface="Symbol"/>
              </a:rPr>
              <a:t> </a:t>
            </a:r>
            <a:r>
              <a:rPr kumimoji="1" lang="en-US" sz="2000" i="1" dirty="0">
                <a:solidFill>
                  <a:srgbClr val="FF0000"/>
                </a:solidFill>
                <a:latin typeface="Times New Roman" pitchFamily="18" charset="0"/>
                <a:ea typeface="굴림" pitchFamily="50" charset="-127"/>
              </a:rPr>
              <a:t>n</a:t>
            </a:r>
            <a:r>
              <a:rPr kumimoji="1" lang="en-US" sz="2000" baseline="30000" dirty="0">
                <a:solidFill>
                  <a:srgbClr val="FF0000"/>
                </a:solidFill>
                <a:latin typeface="Times New Roman" pitchFamily="18" charset="0"/>
                <a:ea typeface="굴림" pitchFamily="50" charset="-127"/>
              </a:rPr>
              <a:t>2 </a:t>
            </a:r>
            <a:endParaRPr kumimoji="1" lang="en-US" sz="2000" dirty="0">
              <a:solidFill>
                <a:srgbClr val="FF0000"/>
              </a:solidFill>
              <a:latin typeface="Times New Roman" pitchFamily="18" charset="0"/>
              <a:ea typeface="굴림" pitchFamily="50" charset="-127"/>
            </a:endParaRPr>
          </a:p>
        </p:txBody>
      </p:sp>
      <p:sp>
        <p:nvSpPr>
          <p:cNvPr id="29" name="TextBox 28"/>
          <p:cNvSpPr txBox="1"/>
          <p:nvPr/>
        </p:nvSpPr>
        <p:spPr>
          <a:xfrm>
            <a:off x="5180418" y="4800441"/>
            <a:ext cx="2959465" cy="400110"/>
          </a:xfrm>
          <a:prstGeom prst="rect">
            <a:avLst/>
          </a:prstGeom>
          <a:noFill/>
        </p:spPr>
        <p:txBody>
          <a:bodyPr wrap="none" rtlCol="0">
            <a:spAutoFit/>
          </a:bodyPr>
          <a:lstStyle/>
          <a:p>
            <a:pPr algn="ctr" eaLnBrk="1" latinLnBrk="1" hangingPunct="1"/>
            <a:r>
              <a:rPr kumimoji="1" lang="en-US" sz="2000" dirty="0">
                <a:solidFill>
                  <a:srgbClr val="FF0000"/>
                </a:solidFill>
                <a:latin typeface="Times New Roman" pitchFamily="18" charset="0"/>
                <a:ea typeface="굴림" pitchFamily="50" charset="-127"/>
              </a:rPr>
              <a:t>0</a:t>
            </a:r>
            <a:r>
              <a:rPr kumimoji="1" lang="en-US" sz="2000" i="1" dirty="0">
                <a:solidFill>
                  <a:srgbClr val="FF0000"/>
                </a:solidFill>
                <a:latin typeface="Times New Roman" pitchFamily="18" charset="0"/>
                <a:ea typeface="굴림" pitchFamily="50" charset="-127"/>
              </a:rPr>
              <a:t>+</a:t>
            </a:r>
            <a:r>
              <a:rPr kumimoji="1" lang="en-US" sz="2000" dirty="0">
                <a:solidFill>
                  <a:srgbClr val="FF0000"/>
                </a:solidFill>
                <a:latin typeface="Times New Roman" pitchFamily="18" charset="0"/>
                <a:ea typeface="굴림" pitchFamily="50" charset="-127"/>
              </a:rPr>
              <a:t>1+…+ (</a:t>
            </a:r>
            <a:r>
              <a:rPr kumimoji="1" lang="en-US" sz="2000" i="1" dirty="0">
                <a:solidFill>
                  <a:srgbClr val="FF0000"/>
                </a:solidFill>
                <a:latin typeface="Times New Roman" pitchFamily="18" charset="0"/>
                <a:ea typeface="굴림" pitchFamily="50" charset="-127"/>
              </a:rPr>
              <a:t>n-</a:t>
            </a:r>
            <a:r>
              <a:rPr kumimoji="1" lang="en-US" sz="2000" dirty="0">
                <a:solidFill>
                  <a:srgbClr val="FF0000"/>
                </a:solidFill>
                <a:latin typeface="Times New Roman" pitchFamily="18" charset="0"/>
                <a:ea typeface="굴림" pitchFamily="50" charset="-127"/>
              </a:rPr>
              <a:t>1)</a:t>
            </a:r>
            <a:r>
              <a:rPr kumimoji="1" lang="en-US" sz="2000" i="1" dirty="0">
                <a:solidFill>
                  <a:srgbClr val="FF0000"/>
                </a:solidFill>
                <a:latin typeface="Times New Roman" pitchFamily="18" charset="0"/>
                <a:ea typeface="굴림" pitchFamily="50" charset="-127"/>
              </a:rPr>
              <a:t> =</a:t>
            </a:r>
            <a:r>
              <a:rPr kumimoji="1" lang="en-US" sz="2000" dirty="0">
                <a:solidFill>
                  <a:srgbClr val="FF0000"/>
                </a:solidFill>
                <a:latin typeface="Times New Roman" pitchFamily="18" charset="0"/>
                <a:ea typeface="굴림" pitchFamily="50" charset="-127"/>
              </a:rPr>
              <a:t> </a:t>
            </a:r>
            <a:r>
              <a:rPr kumimoji="1" lang="en-US" sz="2000" i="1" dirty="0">
                <a:solidFill>
                  <a:srgbClr val="FF0000"/>
                </a:solidFill>
                <a:latin typeface="Times New Roman" pitchFamily="18" charset="0"/>
                <a:ea typeface="굴림" pitchFamily="50" charset="-127"/>
              </a:rPr>
              <a:t>n(n-1)</a:t>
            </a:r>
            <a:r>
              <a:rPr kumimoji="1" lang="en-US" sz="2000" dirty="0">
                <a:solidFill>
                  <a:srgbClr val="FF0000"/>
                </a:solidFill>
                <a:latin typeface="Times New Roman" pitchFamily="18" charset="0"/>
                <a:ea typeface="굴림" pitchFamily="50" charset="-127"/>
              </a:rPr>
              <a:t>/2</a:t>
            </a:r>
          </a:p>
        </p:txBody>
      </p:sp>
    </p:spTree>
    <p:extLst>
      <p:ext uri="{BB962C8B-B14F-4D97-AF65-F5344CB8AC3E}">
        <p14:creationId xmlns:p14="http://schemas.microsoft.com/office/powerpoint/2010/main" val="51519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26" grpId="0"/>
      <p:bldP spid="27" grpId="0"/>
      <p:bldP spid="28" grpId="0"/>
      <p:bldP spid="2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219201"/>
            <a:ext cx="8496300" cy="5147726"/>
          </a:xfrm>
        </p:spPr>
        <p:txBody>
          <a:bodyPr/>
          <a:lstStyle/>
          <a:p>
            <a:r>
              <a:rPr lang="en-US" sz="2000" dirty="0">
                <a:latin typeface="Consolas" charset="0"/>
                <a:ea typeface="Consolas" charset="0"/>
                <a:cs typeface="Consolas" charset="0"/>
              </a:rPr>
              <a:t>Asymptotic Notation</a:t>
            </a:r>
          </a:p>
          <a:p>
            <a:pPr lvl="1" algn="just"/>
            <a:r>
              <a:rPr lang="en-US" sz="1800" dirty="0">
                <a:latin typeface="Consolas" charset="0"/>
                <a:ea typeface="Consolas" charset="0"/>
                <a:cs typeface="Consolas" charset="0"/>
              </a:rPr>
              <a:t>To determine the practicality of algorithm</a:t>
            </a:r>
          </a:p>
          <a:p>
            <a:pPr lvl="1" algn="just"/>
            <a:r>
              <a:rPr lang="en-US" sz="1800" dirty="0">
                <a:latin typeface="Consolas" charset="0"/>
                <a:ea typeface="Consolas" charset="0"/>
                <a:cs typeface="Consolas" charset="0"/>
              </a:rPr>
              <a:t>To compare the time complexities of two programs that       performs the same function.</a:t>
            </a:r>
          </a:p>
          <a:p>
            <a:pPr lvl="1" algn="just"/>
            <a:r>
              <a:rPr lang="en-US" sz="1800" dirty="0">
                <a:latin typeface="Consolas" charset="0"/>
                <a:ea typeface="Consolas" charset="0"/>
                <a:cs typeface="Consolas" charset="0"/>
              </a:rPr>
              <a:t>To predict run time on large instance</a:t>
            </a:r>
          </a:p>
        </p:txBody>
      </p:sp>
      <p:sp>
        <p:nvSpPr>
          <p:cNvPr id="3" name="Title 2"/>
          <p:cNvSpPr>
            <a:spLocks noGrp="1"/>
          </p:cNvSpPr>
          <p:nvPr>
            <p:ph type="title"/>
          </p:nvPr>
        </p:nvSpPr>
        <p:spPr>
          <a:xfrm>
            <a:off x="179512" y="302400"/>
            <a:ext cx="4697288" cy="691277"/>
          </a:xfrm>
        </p:spPr>
        <p:txBody>
          <a:bodyPr/>
          <a:lstStyle/>
          <a:p>
            <a:r>
              <a:rPr lang="en-US" sz="4400" dirty="0"/>
              <a:t>Time Complexity</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33</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Tree>
    <p:extLst>
      <p:ext uri="{BB962C8B-B14F-4D97-AF65-F5344CB8AC3E}">
        <p14:creationId xmlns:p14="http://schemas.microsoft.com/office/powerpoint/2010/main" val="2909391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algn="just"/>
            <a:r>
              <a:rPr lang="en-US" dirty="0">
                <a:latin typeface="Consolas" charset="0"/>
                <a:ea typeface="Consolas" charset="0"/>
                <a:cs typeface="Consolas" charset="0"/>
              </a:rPr>
              <a:t>Big O(oh):</a:t>
            </a:r>
          </a:p>
          <a:p>
            <a:pPr lvl="1" algn="just"/>
            <a:r>
              <a:rPr lang="en-US" dirty="0">
                <a:solidFill>
                  <a:srgbClr val="0070C0"/>
                </a:solidFill>
                <a:latin typeface="Consolas" charset="0"/>
                <a:ea typeface="Consolas" charset="0"/>
                <a:cs typeface="Consolas" charset="0"/>
              </a:rPr>
              <a:t>Is the set of functions that grow slower than or at the same rate as expression. It indicates the maximum required by an algorithm for   all input values. It represents the worst case of an algorithm's     time complexity.</a:t>
            </a:r>
          </a:p>
          <a:p>
            <a:pPr lvl="1" algn="just"/>
            <a:endParaRPr lang="en-US" dirty="0">
              <a:latin typeface="Consolas" charset="0"/>
              <a:ea typeface="Consolas" charset="0"/>
              <a:cs typeface="Consolas" charset="0"/>
            </a:endParaRPr>
          </a:p>
          <a:p>
            <a:pPr algn="just"/>
            <a:r>
              <a:rPr lang="en-US" dirty="0">
                <a:latin typeface="Consolas" charset="0"/>
                <a:ea typeface="Consolas" charset="0"/>
                <a:cs typeface="Consolas" charset="0"/>
              </a:rPr>
              <a:t>Big Ω(Omega): </a:t>
            </a:r>
          </a:p>
          <a:p>
            <a:pPr lvl="1" algn="just"/>
            <a:r>
              <a:rPr lang="en-US" dirty="0">
                <a:solidFill>
                  <a:srgbClr val="0070C0"/>
                </a:solidFill>
                <a:latin typeface="Consolas" charset="0"/>
                <a:ea typeface="Consolas" charset="0"/>
                <a:cs typeface="Consolas" charset="0"/>
              </a:rPr>
              <a:t>is the set of functions that grow faster than or at the same rate as expression. It indicates the minimum time required by an algorithm  for all input values. It represents the best case of an algorithm's time complexity.</a:t>
            </a:r>
          </a:p>
          <a:p>
            <a:pPr lvl="1" algn="just"/>
            <a:endParaRPr lang="en-US" dirty="0">
              <a:latin typeface="Consolas" charset="0"/>
              <a:ea typeface="Consolas" charset="0"/>
              <a:cs typeface="Consolas" charset="0"/>
            </a:endParaRPr>
          </a:p>
          <a:p>
            <a:pPr algn="just"/>
            <a:r>
              <a:rPr lang="en-US" dirty="0">
                <a:latin typeface="Consolas" charset="0"/>
                <a:ea typeface="Consolas" charset="0"/>
                <a:cs typeface="Consolas" charset="0"/>
              </a:rPr>
              <a:t>Big Θ(Theta):</a:t>
            </a:r>
          </a:p>
          <a:p>
            <a:pPr lvl="1" algn="just"/>
            <a:r>
              <a:rPr lang="en-US" dirty="0">
                <a:solidFill>
                  <a:srgbClr val="0070C0"/>
                </a:solidFill>
                <a:latin typeface="Consolas" charset="0"/>
                <a:ea typeface="Consolas" charset="0"/>
                <a:cs typeface="Consolas" charset="0"/>
              </a:rPr>
              <a:t>Consist of all the functions that lie in both O(expression) and     Omega(expression). It indicates the average bound of an algorithm.  It represents the average case of an algorithm's time complexity.</a:t>
            </a:r>
          </a:p>
        </p:txBody>
      </p:sp>
      <p:sp>
        <p:nvSpPr>
          <p:cNvPr id="3" name="Title 2"/>
          <p:cNvSpPr>
            <a:spLocks noGrp="1"/>
          </p:cNvSpPr>
          <p:nvPr>
            <p:ph type="title"/>
          </p:nvPr>
        </p:nvSpPr>
        <p:spPr>
          <a:xfrm>
            <a:off x="179512" y="302400"/>
            <a:ext cx="5230688" cy="691277"/>
          </a:xfrm>
        </p:spPr>
        <p:txBody>
          <a:bodyPr/>
          <a:lstStyle/>
          <a:p>
            <a:r>
              <a:rPr lang="en-US" sz="4000" dirty="0"/>
              <a:t>Asymptotic Notation</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34</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Tree>
    <p:extLst>
      <p:ext uri="{BB962C8B-B14F-4D97-AF65-F5344CB8AC3E}">
        <p14:creationId xmlns:p14="http://schemas.microsoft.com/office/powerpoint/2010/main" val="4188113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066800" y="2504507"/>
            <a:ext cx="4038600" cy="2929285"/>
          </a:xfrm>
          <a:prstGeom prst="rect">
            <a:avLst/>
          </a:prstGeom>
        </p:spPr>
      </p:pic>
      <p:sp>
        <p:nvSpPr>
          <p:cNvPr id="2" name="Text Placeholder 1"/>
          <p:cNvSpPr>
            <a:spLocks noGrp="1"/>
          </p:cNvSpPr>
          <p:nvPr>
            <p:ph type="body" sz="quarter" idx="10"/>
          </p:nvPr>
        </p:nvSpPr>
        <p:spPr>
          <a:xfrm>
            <a:off x="323850" y="1219201"/>
            <a:ext cx="8496300" cy="5147726"/>
          </a:xfrm>
        </p:spPr>
        <p:txBody>
          <a:bodyPr/>
          <a:lstStyle/>
          <a:p>
            <a:r>
              <a:rPr lang="en-US" dirty="0">
                <a:latin typeface="Consolas" panose="020B0609020204030204" pitchFamily="49" charset="0"/>
              </a:rPr>
              <a:t>Time Complexity</a:t>
            </a:r>
          </a:p>
        </p:txBody>
      </p:sp>
      <p:sp>
        <p:nvSpPr>
          <p:cNvPr id="3" name="Title 2"/>
          <p:cNvSpPr>
            <a:spLocks noGrp="1"/>
          </p:cNvSpPr>
          <p:nvPr>
            <p:ph type="title"/>
          </p:nvPr>
        </p:nvSpPr>
        <p:spPr>
          <a:xfrm>
            <a:off x="179512" y="302400"/>
            <a:ext cx="2106488" cy="691277"/>
          </a:xfrm>
        </p:spPr>
        <p:txBody>
          <a:bodyPr/>
          <a:lstStyle/>
          <a:p>
            <a:r>
              <a:rPr lang="en-US" dirty="0"/>
              <a:t>Big Oh</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35</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11" name="직사각형 1"/>
          <p:cNvSpPr/>
          <p:nvPr/>
        </p:nvSpPr>
        <p:spPr>
          <a:xfrm>
            <a:off x="6064288" y="2611434"/>
            <a:ext cx="1598515" cy="400110"/>
          </a:xfrm>
          <a:prstGeom prst="rect">
            <a:avLst/>
          </a:prstGeom>
        </p:spPr>
        <p:txBody>
          <a:bodyPr wrap="none">
            <a:spAutoFit/>
          </a:bodyPr>
          <a:lstStyle/>
          <a:p>
            <a:pPr eaLnBrk="1" latinLnBrk="1" hangingPunct="1"/>
            <a:r>
              <a:rPr kumimoji="1" lang="en-US" altLang="ko-KR" sz="2000" dirty="0">
                <a:solidFill>
                  <a:srgbClr val="000000"/>
                </a:solidFill>
                <a:latin typeface="Times New Roman" pitchFamily="18" charset="0"/>
                <a:ea typeface="견명조" charset="-127"/>
              </a:rPr>
              <a:t>3</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 + 2 = O(</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a:t>
            </a:r>
            <a:endParaRPr kumimoji="1" lang="en-US" sz="2000" dirty="0">
              <a:solidFill>
                <a:srgbClr val="000000"/>
              </a:solidFill>
              <a:latin typeface="Times New Roman" pitchFamily="18" charset="0"/>
              <a:ea typeface="굴림" pitchFamily="50" charset="-127"/>
            </a:endParaRPr>
          </a:p>
        </p:txBody>
      </p:sp>
      <p:sp>
        <p:nvSpPr>
          <p:cNvPr id="12" name="직사각형 2"/>
          <p:cNvSpPr/>
          <p:nvPr/>
        </p:nvSpPr>
        <p:spPr>
          <a:xfrm>
            <a:off x="6064288" y="3087156"/>
            <a:ext cx="1598515" cy="400110"/>
          </a:xfrm>
          <a:prstGeom prst="rect">
            <a:avLst/>
          </a:prstGeom>
        </p:spPr>
        <p:txBody>
          <a:bodyPr wrap="none">
            <a:spAutoFit/>
          </a:bodyPr>
          <a:lstStyle/>
          <a:p>
            <a:pPr eaLnBrk="1" latinLnBrk="1" hangingPunct="1"/>
            <a:r>
              <a:rPr kumimoji="1" lang="en-US" altLang="ko-KR" sz="2000" dirty="0">
                <a:solidFill>
                  <a:srgbClr val="000000"/>
                </a:solidFill>
                <a:latin typeface="Times New Roman" pitchFamily="18" charset="0"/>
                <a:ea typeface="신명조" charset="-127"/>
              </a:rPr>
              <a:t>3</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+ 3 = </a:t>
            </a:r>
            <a:r>
              <a:rPr kumimoji="1" lang="en-US" altLang="ko-KR" sz="2000" dirty="0">
                <a:solidFill>
                  <a:srgbClr val="000000"/>
                </a:solidFill>
                <a:latin typeface="Times New Roman" pitchFamily="18" charset="0"/>
                <a:ea typeface="견명조" charset="-127"/>
              </a:rPr>
              <a:t>O</a:t>
            </a:r>
            <a:r>
              <a:rPr kumimoji="1" lang="en-US" altLang="ko-KR" sz="2000" dirty="0">
                <a:solidFill>
                  <a:srgbClr val="000000"/>
                </a:solidFill>
                <a:latin typeface="Times New Roman" pitchFamily="18" charset="0"/>
                <a:ea typeface="신명조" charset="-127"/>
              </a:rPr>
              <a:t>(</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a:t>
            </a:r>
            <a:endParaRPr kumimoji="1" lang="en-US" sz="2000" dirty="0">
              <a:solidFill>
                <a:srgbClr val="000000"/>
              </a:solidFill>
              <a:latin typeface="Times New Roman" pitchFamily="18" charset="0"/>
              <a:ea typeface="굴림" pitchFamily="50" charset="-127"/>
            </a:endParaRPr>
          </a:p>
        </p:txBody>
      </p:sp>
      <p:sp>
        <p:nvSpPr>
          <p:cNvPr id="13" name="직사각형 3"/>
          <p:cNvSpPr/>
          <p:nvPr/>
        </p:nvSpPr>
        <p:spPr>
          <a:xfrm>
            <a:off x="6064288" y="3562878"/>
            <a:ext cx="2489784" cy="400110"/>
          </a:xfrm>
          <a:prstGeom prst="rect">
            <a:avLst/>
          </a:prstGeom>
        </p:spPr>
        <p:txBody>
          <a:bodyPr wrap="none">
            <a:spAutoFit/>
          </a:bodyPr>
          <a:lstStyle/>
          <a:p>
            <a:pPr eaLnBrk="1" latinLnBrk="1" hangingPunct="1"/>
            <a:r>
              <a:rPr kumimoji="1" lang="en-US" altLang="ko-KR" sz="2000" dirty="0">
                <a:solidFill>
                  <a:srgbClr val="000000"/>
                </a:solidFill>
                <a:latin typeface="Times New Roman" pitchFamily="18" charset="0"/>
                <a:ea typeface="신명조" charset="-127"/>
              </a:rPr>
              <a:t>10</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견명조" charset="-127"/>
              </a:rPr>
              <a:t>2</a:t>
            </a:r>
            <a:r>
              <a:rPr kumimoji="1" lang="en-US" altLang="ko-KR" sz="2000" dirty="0">
                <a:solidFill>
                  <a:srgbClr val="000000"/>
                </a:solidFill>
                <a:latin typeface="Times New Roman" pitchFamily="18" charset="0"/>
                <a:ea typeface="신명조" charset="-127"/>
              </a:rPr>
              <a:t> + 4</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+ 2 = </a:t>
            </a:r>
            <a:r>
              <a:rPr kumimoji="1" lang="en-US" altLang="ko-KR" sz="2000" dirty="0">
                <a:solidFill>
                  <a:srgbClr val="000000"/>
                </a:solidFill>
                <a:latin typeface="Times New Roman" pitchFamily="18" charset="0"/>
                <a:ea typeface="견명조" charset="-127"/>
              </a:rPr>
              <a:t>O</a:t>
            </a:r>
            <a:r>
              <a:rPr kumimoji="1" lang="en-US" altLang="ko-KR" sz="2000" dirty="0">
                <a:solidFill>
                  <a:srgbClr val="000000"/>
                </a:solidFill>
                <a:latin typeface="Times New Roman" pitchFamily="18" charset="0"/>
                <a:ea typeface="신명조" charset="-127"/>
              </a:rPr>
              <a:t>(</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견명조" charset="-127"/>
              </a:rPr>
              <a:t>2</a:t>
            </a:r>
            <a:r>
              <a:rPr kumimoji="1" lang="en-US" altLang="ko-KR" sz="2000" dirty="0">
                <a:solidFill>
                  <a:srgbClr val="000000"/>
                </a:solidFill>
                <a:latin typeface="Times New Roman" pitchFamily="18" charset="0"/>
                <a:ea typeface="신명조" charset="-127"/>
              </a:rPr>
              <a:t>),</a:t>
            </a:r>
            <a:endParaRPr kumimoji="1" lang="en-US" sz="2000" dirty="0">
              <a:solidFill>
                <a:srgbClr val="000000"/>
              </a:solidFill>
              <a:latin typeface="Times New Roman" pitchFamily="18" charset="0"/>
              <a:ea typeface="굴림" pitchFamily="50" charset="-127"/>
            </a:endParaRPr>
          </a:p>
        </p:txBody>
      </p:sp>
      <p:sp>
        <p:nvSpPr>
          <p:cNvPr id="14" name="직사각형 4"/>
          <p:cNvSpPr/>
          <p:nvPr/>
        </p:nvSpPr>
        <p:spPr>
          <a:xfrm>
            <a:off x="6107647" y="4038600"/>
            <a:ext cx="2045753" cy="400110"/>
          </a:xfrm>
          <a:prstGeom prst="rect">
            <a:avLst/>
          </a:prstGeom>
        </p:spPr>
        <p:txBody>
          <a:bodyPr wrap="none">
            <a:spAutoFit/>
          </a:bodyPr>
          <a:lstStyle/>
          <a:p>
            <a:pPr eaLnBrk="1" latinLnBrk="1" hangingPunct="1"/>
            <a:r>
              <a:rPr kumimoji="1" lang="en-US" altLang="ko-KR" sz="2000" dirty="0">
                <a:solidFill>
                  <a:srgbClr val="000000"/>
                </a:solidFill>
                <a:latin typeface="Times New Roman" pitchFamily="18" charset="0"/>
                <a:ea typeface="신명조" charset="-127"/>
              </a:rPr>
              <a:t>6</a:t>
            </a:r>
            <a:r>
              <a:rPr kumimoji="1" lang="en-US" altLang="ko-KR" sz="2000" dirty="0">
                <a:solidFill>
                  <a:srgbClr val="000000"/>
                </a:solidFill>
                <a:latin typeface="Times New Roman" pitchFamily="18" charset="0"/>
                <a:ea typeface="신명조" charset="-127"/>
                <a:sym typeface="Symbol"/>
              </a:rPr>
              <a:t>  </a:t>
            </a:r>
            <a:r>
              <a:rPr kumimoji="1" lang="en-US" altLang="ko-KR" sz="2000" dirty="0">
                <a:solidFill>
                  <a:srgbClr val="000000"/>
                </a:solidFill>
                <a:latin typeface="Times New Roman" pitchFamily="18" charset="0"/>
                <a:ea typeface="신명조" charset="-127"/>
              </a:rPr>
              <a:t>2</a:t>
            </a:r>
            <a:r>
              <a:rPr kumimoji="1" lang="en-US" altLang="ko-KR" sz="2000" i="1" baseline="30000"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견명조" charset="-127"/>
              </a:rPr>
              <a:t>2</a:t>
            </a:r>
            <a:r>
              <a:rPr kumimoji="1" lang="en-US" altLang="ko-KR" sz="2000" dirty="0">
                <a:solidFill>
                  <a:srgbClr val="000000"/>
                </a:solidFill>
                <a:latin typeface="Times New Roman" pitchFamily="18" charset="0"/>
                <a:ea typeface="신명조" charset="-127"/>
              </a:rPr>
              <a:t> = </a:t>
            </a:r>
            <a:r>
              <a:rPr kumimoji="1" lang="en-US" altLang="ko-KR" sz="2000" dirty="0">
                <a:solidFill>
                  <a:srgbClr val="000000"/>
                </a:solidFill>
                <a:latin typeface="Times New Roman" pitchFamily="18" charset="0"/>
                <a:ea typeface="견명조" charset="-127"/>
              </a:rPr>
              <a:t>O</a:t>
            </a:r>
            <a:r>
              <a:rPr kumimoji="1" lang="en-US" altLang="ko-KR" sz="2000" dirty="0">
                <a:solidFill>
                  <a:srgbClr val="000000"/>
                </a:solidFill>
                <a:latin typeface="Times New Roman" pitchFamily="18" charset="0"/>
                <a:ea typeface="신명조" charset="-127"/>
              </a:rPr>
              <a:t>(2</a:t>
            </a:r>
            <a:r>
              <a:rPr kumimoji="1" lang="en-US" altLang="ko-KR" sz="2000" i="1" baseline="30000"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a:t>
            </a:r>
            <a:endParaRPr kumimoji="1" lang="en-US" sz="2000" dirty="0">
              <a:solidFill>
                <a:srgbClr val="000000"/>
              </a:solidFill>
              <a:latin typeface="Times New Roman" pitchFamily="18" charset="0"/>
              <a:ea typeface="굴림" pitchFamily="50" charset="-127"/>
            </a:endParaRPr>
          </a:p>
        </p:txBody>
      </p:sp>
      <p:sp>
        <p:nvSpPr>
          <p:cNvPr id="15" name="직사각형 5"/>
          <p:cNvSpPr/>
          <p:nvPr/>
        </p:nvSpPr>
        <p:spPr>
          <a:xfrm>
            <a:off x="6107647" y="4514322"/>
            <a:ext cx="2337499" cy="400110"/>
          </a:xfrm>
          <a:prstGeom prst="rect">
            <a:avLst/>
          </a:prstGeom>
        </p:spPr>
        <p:txBody>
          <a:bodyPr wrap="none">
            <a:spAutoFit/>
          </a:bodyPr>
          <a:lstStyle/>
          <a:p>
            <a:pPr marL="0" lvl="1" eaLnBrk="1" latinLnBrk="1" hangingPunct="1"/>
            <a:r>
              <a:rPr kumimoji="1" lang="en-US" altLang="ko-KR" sz="2000" dirty="0">
                <a:solidFill>
                  <a:srgbClr val="000000"/>
                </a:solidFill>
                <a:latin typeface="Times New Roman" pitchFamily="18" charset="0"/>
                <a:ea typeface="신명조" charset="-127"/>
              </a:rPr>
              <a:t>10</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신명조" charset="-127"/>
              </a:rPr>
              <a:t>2</a:t>
            </a:r>
            <a:r>
              <a:rPr kumimoji="1" lang="en-US" altLang="ko-KR" sz="2000" dirty="0">
                <a:solidFill>
                  <a:srgbClr val="000000"/>
                </a:solidFill>
                <a:latin typeface="Times New Roman" pitchFamily="18" charset="0"/>
                <a:ea typeface="신명조" charset="-127"/>
              </a:rPr>
              <a:t> + 4</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+ 2 ≠ O(</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a:t>
            </a:r>
          </a:p>
        </p:txBody>
      </p:sp>
      <p:sp>
        <p:nvSpPr>
          <p:cNvPr id="17" name="직사각형 22"/>
          <p:cNvSpPr/>
          <p:nvPr/>
        </p:nvSpPr>
        <p:spPr bwMode="auto">
          <a:xfrm>
            <a:off x="698698" y="1524137"/>
            <a:ext cx="7454702" cy="611575"/>
          </a:xfrm>
          <a:prstGeom prst="rect">
            <a:avLst/>
          </a:prstGeom>
          <a:solidFill>
            <a:srgbClr val="BFE7FB"/>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2000" b="0" i="0" u="none" strike="noStrike" cap="none" normalizeH="0" baseline="0">
              <a:ln>
                <a:noFill/>
              </a:ln>
              <a:solidFill>
                <a:schemeClr val="tx1"/>
              </a:solidFill>
              <a:effectLst/>
              <a:latin typeface="Times New Roman" pitchFamily="18" charset="0"/>
              <a:ea typeface="굴림" pitchFamily="50" charset="-127"/>
            </a:endParaRPr>
          </a:p>
        </p:txBody>
      </p:sp>
      <p:sp>
        <p:nvSpPr>
          <p:cNvPr id="18" name="Rectangle 5"/>
          <p:cNvSpPr>
            <a:spLocks noChangeArrowheads="1"/>
          </p:cNvSpPr>
          <p:nvPr/>
        </p:nvSpPr>
        <p:spPr bwMode="auto">
          <a:xfrm>
            <a:off x="552449" y="1655726"/>
            <a:ext cx="8033449" cy="400110"/>
          </a:xfrm>
          <a:prstGeom prst="rect">
            <a:avLst/>
          </a:prstGeom>
          <a:noFill/>
          <a:ln w="9525">
            <a:noFill/>
            <a:miter lim="800000"/>
            <a:headEnd/>
            <a:tailEnd/>
          </a:ln>
          <a:effectLst/>
        </p:spPr>
        <p:txBody>
          <a:bodyPr wrap="square">
            <a:spAutoFit/>
          </a:bodyPr>
          <a:lstStyle/>
          <a:p>
            <a:pPr indent="609600" algn="just"/>
            <a:r>
              <a:rPr lang="en-US" altLang="ko-KR" sz="2000" i="1" dirty="0">
                <a:ea typeface="견명조" charset="-127"/>
              </a:rPr>
              <a:t>f</a:t>
            </a:r>
            <a:r>
              <a:rPr lang="en-US" altLang="ko-KR" sz="2000" dirty="0">
                <a:ea typeface="견명조" charset="-127"/>
              </a:rPr>
              <a:t>(</a:t>
            </a:r>
            <a:r>
              <a:rPr lang="en-US" altLang="ko-KR" sz="2000" i="1" dirty="0">
                <a:ea typeface="견명조" charset="-127"/>
              </a:rPr>
              <a:t>n</a:t>
            </a:r>
            <a:r>
              <a:rPr lang="en-US" altLang="ko-KR" sz="2000" dirty="0">
                <a:ea typeface="견명조" charset="-127"/>
              </a:rPr>
              <a:t>)</a:t>
            </a:r>
            <a:r>
              <a:rPr lang="en-US" altLang="ko-KR" sz="2000" i="1" dirty="0">
                <a:ea typeface="견명조" charset="-127"/>
              </a:rPr>
              <a:t> </a:t>
            </a:r>
            <a:r>
              <a:rPr lang="en-US" altLang="ko-KR" sz="2000" dirty="0">
                <a:ea typeface="견명조" charset="-127"/>
                <a:sym typeface="Symbol" pitchFamily="18" charset="2"/>
              </a:rPr>
              <a:t> O</a:t>
            </a:r>
            <a:r>
              <a:rPr lang="en-US" altLang="ko-KR" sz="2000" dirty="0">
                <a:ea typeface="견명조" charset="-127"/>
              </a:rPr>
              <a:t>(</a:t>
            </a:r>
            <a:r>
              <a:rPr lang="en-US" altLang="ko-KR" sz="2000" i="1" dirty="0">
                <a:ea typeface="견명조" charset="-127"/>
              </a:rPr>
              <a:t>g</a:t>
            </a:r>
            <a:r>
              <a:rPr lang="en-US" altLang="ko-KR" sz="2000" dirty="0">
                <a:ea typeface="견명조" charset="-127"/>
              </a:rPr>
              <a:t>(</a:t>
            </a:r>
            <a:r>
              <a:rPr lang="en-US" altLang="ko-KR" sz="2000" i="1" dirty="0">
                <a:ea typeface="견명조" charset="-127"/>
              </a:rPr>
              <a:t>n</a:t>
            </a:r>
            <a:r>
              <a:rPr lang="en-US" altLang="ko-KR" sz="2000" dirty="0">
                <a:ea typeface="견명조" charset="-127"/>
              </a:rPr>
              <a:t>))</a:t>
            </a:r>
            <a:r>
              <a:rPr lang="en-US" altLang="ko-KR" sz="2000" i="1" dirty="0">
                <a:ea typeface="견명조" charset="-127"/>
              </a:rPr>
              <a:t> </a:t>
            </a:r>
            <a:r>
              <a:rPr lang="en-US" altLang="ko-KR" sz="2000" b="1" dirty="0" err="1">
                <a:ea typeface="견명조" charset="-127"/>
              </a:rPr>
              <a:t>iff</a:t>
            </a:r>
            <a:r>
              <a:rPr lang="en-US" altLang="ko-KR" sz="2000" dirty="0">
                <a:ea typeface="견명조" charset="-127"/>
              </a:rPr>
              <a:t> </a:t>
            </a:r>
            <a:r>
              <a:rPr lang="en-US" altLang="ko-KR" sz="2000" i="1" dirty="0">
                <a:ea typeface="견명조" charset="-127"/>
                <a:sym typeface="Symbol" pitchFamily="18" charset="2"/>
              </a:rPr>
              <a:t></a:t>
            </a:r>
            <a:r>
              <a:rPr lang="en-US" altLang="ko-KR" sz="2000" i="1" dirty="0">
                <a:ea typeface="견명조" charset="-127"/>
              </a:rPr>
              <a:t>c,n</a:t>
            </a:r>
            <a:r>
              <a:rPr lang="en-US" altLang="ko-KR" sz="2000" baseline="-30000" dirty="0">
                <a:ea typeface="견명조" charset="-127"/>
                <a:sym typeface="Symbol" pitchFamily="18" charset="2"/>
              </a:rPr>
              <a:t>0</a:t>
            </a:r>
            <a:r>
              <a:rPr lang="en-US" altLang="ko-KR" sz="2000" i="1" dirty="0">
                <a:ea typeface="견명조" charset="-127"/>
                <a:sym typeface="Symbol" pitchFamily="18" charset="2"/>
              </a:rPr>
              <a:t> </a:t>
            </a:r>
            <a:r>
              <a:rPr lang="en-US" altLang="ko-KR" sz="2000" dirty="0">
                <a:ea typeface="견명조" charset="-127"/>
                <a:sym typeface="Symbol" pitchFamily="18" charset="2"/>
              </a:rPr>
              <a:t></a:t>
            </a:r>
            <a:r>
              <a:rPr lang="en-US" altLang="ko-KR" sz="2000" i="1" dirty="0">
                <a:ea typeface="견명조" charset="-127"/>
                <a:sym typeface="Symbol" pitchFamily="18" charset="2"/>
              </a:rPr>
              <a:t> </a:t>
            </a:r>
            <a:r>
              <a:rPr lang="en-US" altLang="ko-KR" sz="2000" dirty="0">
                <a:ea typeface="견명조" charset="-127"/>
                <a:sym typeface="Symbol" pitchFamily="18" charset="2"/>
              </a:rPr>
              <a:t>0</a:t>
            </a:r>
            <a:r>
              <a:rPr lang="en-US" altLang="ko-KR" sz="2000" i="1" dirty="0">
                <a:ea typeface="견명조" charset="-127"/>
                <a:sym typeface="Symbol" pitchFamily="18" charset="2"/>
              </a:rPr>
              <a:t>, </a:t>
            </a:r>
            <a:r>
              <a:rPr lang="en-US" altLang="ko-KR" sz="2000" dirty="0" err="1">
                <a:ea typeface="견명조" charset="-127"/>
                <a:sym typeface="Symbol" pitchFamily="18" charset="2"/>
              </a:rPr>
              <a:t>s.t.</a:t>
            </a:r>
            <a:r>
              <a:rPr lang="en-US" altLang="ko-KR" sz="2000" i="1" dirty="0">
                <a:ea typeface="견명조" charset="-127"/>
                <a:sym typeface="Symbol" pitchFamily="18" charset="2"/>
              </a:rPr>
              <a:t> f</a:t>
            </a:r>
            <a:r>
              <a:rPr lang="en-US" altLang="ko-KR" sz="2000" dirty="0">
                <a:ea typeface="견명조" charset="-127"/>
                <a:sym typeface="Symbol" pitchFamily="18" charset="2"/>
              </a:rPr>
              <a:t>(</a:t>
            </a:r>
            <a:r>
              <a:rPr lang="en-US" altLang="ko-KR" sz="2000" i="1" dirty="0">
                <a:ea typeface="견명조" charset="-127"/>
                <a:sym typeface="Symbol" pitchFamily="18" charset="2"/>
              </a:rPr>
              <a:t>n</a:t>
            </a:r>
            <a:r>
              <a:rPr lang="en-US" altLang="ko-KR" sz="2000" dirty="0">
                <a:ea typeface="견명조" charset="-127"/>
                <a:sym typeface="Symbol" pitchFamily="18" charset="2"/>
              </a:rPr>
              <a:t>)</a:t>
            </a:r>
            <a:r>
              <a:rPr lang="en-US" altLang="ko-KR" sz="2000" i="1" dirty="0">
                <a:ea typeface="견명조" charset="-127"/>
                <a:sym typeface="Symbol" pitchFamily="18" charset="2"/>
              </a:rPr>
              <a:t> </a:t>
            </a:r>
            <a:r>
              <a:rPr lang="en-US" altLang="ko-KR" sz="2000" dirty="0">
                <a:ea typeface="견명조" charset="-127"/>
                <a:sym typeface="Symbol" pitchFamily="18" charset="2"/>
              </a:rPr>
              <a:t>≤</a:t>
            </a:r>
            <a:r>
              <a:rPr lang="en-US" altLang="ko-KR" sz="2000" i="1" dirty="0">
                <a:ea typeface="견명조" charset="-127"/>
                <a:sym typeface="Symbol" pitchFamily="18" charset="2"/>
              </a:rPr>
              <a:t>  </a:t>
            </a:r>
            <a:r>
              <a:rPr lang="en-US" altLang="ko-KR" sz="2000" i="1" dirty="0" err="1">
                <a:ea typeface="견명조" charset="-127"/>
                <a:sym typeface="Symbol" pitchFamily="18" charset="2"/>
              </a:rPr>
              <a:t>cg</a:t>
            </a:r>
            <a:r>
              <a:rPr lang="en-US" altLang="ko-KR" sz="2000" dirty="0">
                <a:ea typeface="견명조" charset="-127"/>
                <a:sym typeface="Symbol" pitchFamily="18" charset="2"/>
              </a:rPr>
              <a:t>(</a:t>
            </a:r>
            <a:r>
              <a:rPr lang="en-US" altLang="ko-KR" sz="2000" i="1" dirty="0">
                <a:ea typeface="견명조" charset="-127"/>
                <a:sym typeface="Symbol" pitchFamily="18" charset="2"/>
              </a:rPr>
              <a:t>n</a:t>
            </a:r>
            <a:r>
              <a:rPr lang="en-US" altLang="ko-KR" sz="2000" dirty="0">
                <a:ea typeface="견명조" charset="-127"/>
                <a:sym typeface="Symbol" pitchFamily="18" charset="2"/>
              </a:rPr>
              <a:t>)</a:t>
            </a:r>
            <a:r>
              <a:rPr lang="en-US" altLang="ko-KR" sz="2000" i="1" dirty="0">
                <a:ea typeface="견명조" charset="-127"/>
                <a:sym typeface="Symbol" pitchFamily="18" charset="2"/>
              </a:rPr>
              <a:t> </a:t>
            </a:r>
            <a:r>
              <a:rPr lang="en-US" altLang="ko-KR" sz="2000" dirty="0">
                <a:ea typeface="견명조" charset="-127"/>
                <a:sym typeface="Symbol" pitchFamily="18" charset="2"/>
              </a:rPr>
              <a:t></a:t>
            </a:r>
            <a:r>
              <a:rPr lang="en-US" altLang="ko-KR" sz="2000" i="1" dirty="0">
                <a:ea typeface="견명조" charset="-127"/>
              </a:rPr>
              <a:t>n, n </a:t>
            </a:r>
            <a:r>
              <a:rPr lang="en-US" altLang="ko-KR" sz="2000" dirty="0">
                <a:ea typeface="견명조" charset="-127"/>
                <a:sym typeface="Symbol" pitchFamily="18" charset="2"/>
              </a:rPr>
              <a:t> </a:t>
            </a:r>
            <a:r>
              <a:rPr lang="en-US" altLang="ko-KR" sz="2000" i="1" dirty="0">
                <a:ea typeface="견명조" charset="-127"/>
                <a:sym typeface="Symbol" pitchFamily="18" charset="2"/>
              </a:rPr>
              <a:t> </a:t>
            </a:r>
            <a:r>
              <a:rPr lang="en-US" altLang="ko-KR" sz="2000" i="1" dirty="0">
                <a:ea typeface="견명조" charset="-127"/>
              </a:rPr>
              <a:t>n</a:t>
            </a:r>
            <a:r>
              <a:rPr lang="en-US" altLang="ko-KR" sz="2000" baseline="-30000" dirty="0">
                <a:ea typeface="견명조" charset="-127"/>
                <a:sym typeface="Symbol" pitchFamily="18" charset="2"/>
              </a:rPr>
              <a:t>0</a:t>
            </a:r>
            <a:endParaRPr lang="en-US" altLang="ko-KR" sz="2000" dirty="0">
              <a:ea typeface="견명조" charset="-127"/>
              <a:sym typeface="Symbol" pitchFamily="18" charset="2"/>
            </a:endParaRPr>
          </a:p>
        </p:txBody>
      </p:sp>
    </p:spTree>
    <p:extLst>
      <p:ext uri="{BB962C8B-B14F-4D97-AF65-F5344CB8AC3E}">
        <p14:creationId xmlns:p14="http://schemas.microsoft.com/office/powerpoint/2010/main" val="7932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219201"/>
            <a:ext cx="8496300" cy="5147726"/>
          </a:xfrm>
        </p:spPr>
        <p:txBody>
          <a:bodyPr/>
          <a:lstStyle/>
          <a:p>
            <a:r>
              <a:rPr lang="en-US" dirty="0"/>
              <a:t>Time Complexity</a:t>
            </a:r>
          </a:p>
        </p:txBody>
      </p:sp>
      <p:sp>
        <p:nvSpPr>
          <p:cNvPr id="3" name="Title 2"/>
          <p:cNvSpPr>
            <a:spLocks noGrp="1"/>
          </p:cNvSpPr>
          <p:nvPr>
            <p:ph type="title"/>
          </p:nvPr>
        </p:nvSpPr>
        <p:spPr>
          <a:xfrm>
            <a:off x="179512" y="302400"/>
            <a:ext cx="3249488" cy="691277"/>
          </a:xfrm>
        </p:spPr>
        <p:txBody>
          <a:bodyPr/>
          <a:lstStyle/>
          <a:p>
            <a:r>
              <a:rPr lang="en-US" sz="4400" dirty="0"/>
              <a:t>Big Omega</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36</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직사각형 7"/>
          <p:cNvSpPr/>
          <p:nvPr/>
        </p:nvSpPr>
        <p:spPr bwMode="auto">
          <a:xfrm>
            <a:off x="613792" y="1682400"/>
            <a:ext cx="7990656" cy="756000"/>
          </a:xfrm>
          <a:prstGeom prst="rect">
            <a:avLst/>
          </a:prstGeom>
          <a:solidFill>
            <a:srgbClr val="BFE7FB"/>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2000" b="0" i="0" u="none" strike="noStrike" cap="none" normalizeH="0" baseline="0">
              <a:ln>
                <a:noFill/>
              </a:ln>
              <a:solidFill>
                <a:schemeClr val="tx1"/>
              </a:solidFill>
              <a:effectLst/>
              <a:latin typeface="Times New Roman" pitchFamily="18" charset="0"/>
              <a:ea typeface="굴림" pitchFamily="50" charset="-127"/>
            </a:endParaRPr>
          </a:p>
        </p:txBody>
      </p:sp>
      <p:sp>
        <p:nvSpPr>
          <p:cNvPr id="7" name="Rectangle 4"/>
          <p:cNvSpPr>
            <a:spLocks noChangeArrowheads="1"/>
          </p:cNvSpPr>
          <p:nvPr/>
        </p:nvSpPr>
        <p:spPr bwMode="auto">
          <a:xfrm>
            <a:off x="914400" y="1861440"/>
            <a:ext cx="7543800" cy="457200"/>
          </a:xfrm>
          <a:prstGeom prst="rect">
            <a:avLst/>
          </a:prstGeom>
          <a:noFill/>
          <a:ln w="9525">
            <a:noFill/>
            <a:miter lim="800000"/>
            <a:headEnd/>
            <a:tailEnd/>
          </a:ln>
          <a:effectLst/>
        </p:spPr>
        <p:txBody>
          <a:bodyPr>
            <a:spAutoFit/>
          </a:bodyPr>
          <a:lstStyle/>
          <a:p>
            <a:pPr algn="just"/>
            <a:r>
              <a:rPr lang="en-US" altLang="ko-KR" sz="2400" i="1" dirty="0">
                <a:ea typeface="견명조" charset="-127"/>
              </a:rPr>
              <a:t>f</a:t>
            </a:r>
            <a:r>
              <a:rPr lang="en-US" altLang="ko-KR" sz="2400" dirty="0">
                <a:ea typeface="견명조" charset="-127"/>
              </a:rPr>
              <a:t>(</a:t>
            </a:r>
            <a:r>
              <a:rPr lang="en-US" altLang="ko-KR" sz="2400" i="1" dirty="0">
                <a:ea typeface="견명조" charset="-127"/>
              </a:rPr>
              <a:t>n</a:t>
            </a:r>
            <a:r>
              <a:rPr lang="en-US" altLang="ko-KR" sz="2400" dirty="0">
                <a:ea typeface="견명조" charset="-127"/>
              </a:rPr>
              <a:t>) </a:t>
            </a:r>
            <a:r>
              <a:rPr lang="en-US" altLang="ko-KR" sz="2400" dirty="0">
                <a:ea typeface="견명조" charset="-127"/>
                <a:sym typeface="Symbol" pitchFamily="18" charset="2"/>
              </a:rPr>
              <a:t></a:t>
            </a:r>
            <a:r>
              <a:rPr lang="en-US" altLang="ko-KR" sz="2400" dirty="0">
                <a:ea typeface="견명조" charset="-127"/>
              </a:rPr>
              <a:t>(</a:t>
            </a:r>
            <a:r>
              <a:rPr lang="en-US" altLang="ko-KR" sz="2400" i="1" dirty="0">
                <a:ea typeface="견명조" charset="-127"/>
              </a:rPr>
              <a:t>g</a:t>
            </a:r>
            <a:r>
              <a:rPr lang="en-US" altLang="ko-KR" sz="2400" dirty="0">
                <a:ea typeface="견명조" charset="-127"/>
              </a:rPr>
              <a:t>(</a:t>
            </a:r>
            <a:r>
              <a:rPr lang="en-US" altLang="ko-KR" sz="2400" i="1" dirty="0">
                <a:ea typeface="견명조" charset="-127"/>
              </a:rPr>
              <a:t>n</a:t>
            </a:r>
            <a:r>
              <a:rPr lang="en-US" altLang="ko-KR" sz="2400" dirty="0">
                <a:ea typeface="견명조" charset="-127"/>
              </a:rPr>
              <a:t>))</a:t>
            </a:r>
            <a:r>
              <a:rPr lang="en-US" altLang="ko-KR" sz="2400" i="1" dirty="0">
                <a:ea typeface="견명조" charset="-127"/>
              </a:rPr>
              <a:t> </a:t>
            </a:r>
            <a:r>
              <a:rPr lang="en-US" altLang="ko-KR" sz="2400" b="1" dirty="0" err="1">
                <a:ea typeface="견명조" charset="-127"/>
              </a:rPr>
              <a:t>iff</a:t>
            </a:r>
            <a:r>
              <a:rPr lang="en-US" altLang="ko-KR" sz="2400" i="1" dirty="0">
                <a:ea typeface="견명조" charset="-127"/>
              </a:rPr>
              <a:t> </a:t>
            </a:r>
            <a:r>
              <a:rPr lang="en-US" altLang="ko-KR" sz="2400" dirty="0">
                <a:ea typeface="견명조" charset="-127"/>
                <a:sym typeface="Symbol" pitchFamily="18" charset="2"/>
              </a:rPr>
              <a:t></a:t>
            </a:r>
            <a:r>
              <a:rPr lang="en-US" altLang="ko-KR" sz="2400" i="1" dirty="0">
                <a:ea typeface="견명조" charset="-127"/>
              </a:rPr>
              <a:t>c,n</a:t>
            </a:r>
            <a:r>
              <a:rPr lang="en-US" altLang="ko-KR" sz="2400" i="1" baseline="-30000" dirty="0">
                <a:ea typeface="견명조" charset="-127"/>
                <a:sym typeface="Symbol" pitchFamily="18" charset="2"/>
              </a:rPr>
              <a:t>0</a:t>
            </a:r>
            <a:r>
              <a:rPr lang="en-US" altLang="ko-KR" sz="2400" i="1" dirty="0">
                <a:ea typeface="견명조" charset="-127"/>
                <a:sym typeface="Symbol" pitchFamily="18" charset="2"/>
              </a:rPr>
              <a:t> </a:t>
            </a:r>
            <a:r>
              <a:rPr lang="en-US" altLang="ko-KR" sz="2400" dirty="0">
                <a:ea typeface="견명조" charset="-127"/>
                <a:sym typeface="Symbol" pitchFamily="18" charset="2"/>
              </a:rPr>
              <a:t> 0</a:t>
            </a:r>
            <a:r>
              <a:rPr lang="en-US" altLang="ko-KR" sz="2400" i="1" dirty="0">
                <a:ea typeface="견명조" charset="-127"/>
                <a:sym typeface="Symbol" pitchFamily="18" charset="2"/>
              </a:rPr>
              <a:t>, </a:t>
            </a:r>
            <a:r>
              <a:rPr lang="en-US" altLang="ko-KR" sz="2400" dirty="0" err="1">
                <a:ea typeface="견명조" charset="-127"/>
                <a:sym typeface="Symbol" pitchFamily="18" charset="2"/>
              </a:rPr>
              <a:t>s.t.</a:t>
            </a:r>
            <a:r>
              <a:rPr lang="en-US" altLang="ko-KR" sz="2400" i="1" dirty="0">
                <a:ea typeface="견명조" charset="-127"/>
                <a:sym typeface="Symbol" pitchFamily="18" charset="2"/>
              </a:rPr>
              <a:t> f</a:t>
            </a:r>
            <a:r>
              <a:rPr lang="en-US" altLang="ko-KR" sz="2400" dirty="0">
                <a:ea typeface="견명조" charset="-127"/>
                <a:sym typeface="Symbol" pitchFamily="18" charset="2"/>
              </a:rPr>
              <a:t>(</a:t>
            </a:r>
            <a:r>
              <a:rPr lang="en-US" altLang="ko-KR" sz="2400" i="1" dirty="0">
                <a:ea typeface="견명조" charset="-127"/>
                <a:sym typeface="Symbol" pitchFamily="18" charset="2"/>
              </a:rPr>
              <a:t>n</a:t>
            </a:r>
            <a:r>
              <a:rPr lang="en-US" altLang="ko-KR" sz="2400" dirty="0">
                <a:ea typeface="견명조" charset="-127"/>
                <a:sym typeface="Symbol" pitchFamily="18" charset="2"/>
              </a:rPr>
              <a:t>) </a:t>
            </a:r>
            <a:r>
              <a:rPr lang="en-US" altLang="ko-KR" sz="2400" dirty="0">
                <a:ea typeface="견명조" charset="-127"/>
              </a:rPr>
              <a:t> </a:t>
            </a:r>
            <a:r>
              <a:rPr lang="en-US" altLang="ko-KR" sz="2400" i="1" dirty="0" err="1">
                <a:ea typeface="견명조" charset="-127"/>
              </a:rPr>
              <a:t>c</a:t>
            </a:r>
            <a:r>
              <a:rPr lang="en-US" altLang="ko-KR" sz="2400" i="1" dirty="0" err="1">
                <a:ea typeface="견명조" charset="-127"/>
                <a:sym typeface="Symbol" pitchFamily="18" charset="2"/>
              </a:rPr>
              <a:t></a:t>
            </a:r>
            <a:r>
              <a:rPr lang="en-US" altLang="ko-KR" sz="2400" i="1" dirty="0" err="1">
                <a:ea typeface="견명조" charset="-127"/>
              </a:rPr>
              <a:t>g</a:t>
            </a:r>
            <a:r>
              <a:rPr lang="en-US" altLang="ko-KR" sz="2400" dirty="0">
                <a:ea typeface="견명조" charset="-127"/>
              </a:rPr>
              <a:t>(</a:t>
            </a:r>
            <a:r>
              <a:rPr lang="en-US" altLang="ko-KR" sz="2400" i="1" dirty="0">
                <a:ea typeface="견명조" charset="-127"/>
              </a:rPr>
              <a:t>n</a:t>
            </a:r>
            <a:r>
              <a:rPr lang="en-US" altLang="ko-KR" sz="2400" dirty="0">
                <a:ea typeface="견명조" charset="-127"/>
              </a:rPr>
              <a:t>)</a:t>
            </a:r>
            <a:r>
              <a:rPr lang="en-US" altLang="ko-KR" sz="2400" i="1" dirty="0">
                <a:ea typeface="견명조" charset="-127"/>
              </a:rPr>
              <a:t> </a:t>
            </a:r>
            <a:r>
              <a:rPr lang="en-US" altLang="ko-KR" sz="2400" dirty="0">
                <a:ea typeface="견명조" charset="-127"/>
                <a:sym typeface="Symbol" pitchFamily="18" charset="2"/>
              </a:rPr>
              <a:t></a:t>
            </a:r>
            <a:r>
              <a:rPr lang="en-US" altLang="ko-KR" sz="2400" i="1" dirty="0">
                <a:ea typeface="견명조" charset="-127"/>
              </a:rPr>
              <a:t>n, n</a:t>
            </a:r>
            <a:r>
              <a:rPr lang="en-US" altLang="ko-KR" sz="2400" i="1" dirty="0">
                <a:ea typeface="견명조" charset="-127"/>
                <a:sym typeface="Symbol" pitchFamily="18" charset="2"/>
              </a:rPr>
              <a:t></a:t>
            </a:r>
            <a:r>
              <a:rPr lang="en-US" altLang="ko-KR" sz="2400" i="1" dirty="0">
                <a:ea typeface="견명조" charset="-127"/>
              </a:rPr>
              <a:t>n</a:t>
            </a:r>
            <a:r>
              <a:rPr lang="en-US" altLang="ko-KR" sz="2400" i="1" baseline="-30000" dirty="0">
                <a:ea typeface="견명조" charset="-127"/>
                <a:sym typeface="Symbol" pitchFamily="18" charset="2"/>
              </a:rPr>
              <a:t>0</a:t>
            </a:r>
            <a:r>
              <a:rPr lang="en-US" altLang="ko-KR" sz="2400" dirty="0">
                <a:sym typeface="Symbol" pitchFamily="18" charset="2"/>
              </a:rPr>
              <a:t> </a:t>
            </a:r>
            <a:endParaRPr lang="en-US" altLang="ko-KR" sz="2400" i="1" dirty="0">
              <a:ea typeface="견명조" charset="-127"/>
              <a:sym typeface="Symbol" pitchFamily="18" charset="2"/>
            </a:endParaRPr>
          </a:p>
        </p:txBody>
      </p:sp>
      <p:pic>
        <p:nvPicPr>
          <p:cNvPr id="8" name="Picture 7"/>
          <p:cNvPicPr>
            <a:picLocks noChangeAspect="1"/>
          </p:cNvPicPr>
          <p:nvPr/>
        </p:nvPicPr>
        <p:blipFill>
          <a:blip r:embed="rId2"/>
          <a:stretch>
            <a:fillRect/>
          </a:stretch>
        </p:blipFill>
        <p:spPr>
          <a:xfrm>
            <a:off x="934233" y="2666012"/>
            <a:ext cx="3974551" cy="3008933"/>
          </a:xfrm>
          <a:prstGeom prst="rect">
            <a:avLst/>
          </a:prstGeom>
        </p:spPr>
      </p:pic>
      <p:sp>
        <p:nvSpPr>
          <p:cNvPr id="25" name="직사각형 1"/>
          <p:cNvSpPr/>
          <p:nvPr/>
        </p:nvSpPr>
        <p:spPr>
          <a:xfrm>
            <a:off x="6291366" y="3048838"/>
            <a:ext cx="1609735" cy="400110"/>
          </a:xfrm>
          <a:prstGeom prst="rect">
            <a:avLst/>
          </a:prstGeom>
        </p:spPr>
        <p:txBody>
          <a:bodyPr wrap="none">
            <a:spAutoFit/>
          </a:bodyPr>
          <a:lstStyle/>
          <a:p>
            <a:pPr algn="ctr" eaLnBrk="1" latinLnBrk="1" hangingPunct="1"/>
            <a:r>
              <a:rPr kumimoji="1" lang="en-US" altLang="ko-KR" sz="2000" dirty="0">
                <a:solidFill>
                  <a:srgbClr val="000000"/>
                </a:solidFill>
                <a:latin typeface="Times New Roman" pitchFamily="18" charset="0"/>
                <a:ea typeface="견명조" charset="-127"/>
              </a:rPr>
              <a:t>3</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 + 2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견명조" charset="-127"/>
              </a:rPr>
              <a:t>(</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a:t>
            </a:r>
            <a:endParaRPr kumimoji="1" lang="en-US" sz="2000" dirty="0">
              <a:solidFill>
                <a:srgbClr val="000000"/>
              </a:solidFill>
              <a:latin typeface="Times New Roman" pitchFamily="18" charset="0"/>
              <a:ea typeface="굴림" pitchFamily="50" charset="-127"/>
            </a:endParaRPr>
          </a:p>
        </p:txBody>
      </p:sp>
      <p:sp>
        <p:nvSpPr>
          <p:cNvPr id="26" name="직사각형 2"/>
          <p:cNvSpPr/>
          <p:nvPr/>
        </p:nvSpPr>
        <p:spPr>
          <a:xfrm>
            <a:off x="6291366" y="3509675"/>
            <a:ext cx="1609735" cy="400110"/>
          </a:xfrm>
          <a:prstGeom prst="rect">
            <a:avLst/>
          </a:prstGeom>
        </p:spPr>
        <p:txBody>
          <a:bodyPr wrap="none">
            <a:spAutoFit/>
          </a:bodyPr>
          <a:lstStyle/>
          <a:p>
            <a:pPr algn="ctr" eaLnBrk="1" latinLnBrk="1" hangingPunct="1"/>
            <a:r>
              <a:rPr kumimoji="1" lang="en-US" altLang="ko-KR" sz="2000" dirty="0">
                <a:solidFill>
                  <a:srgbClr val="000000"/>
                </a:solidFill>
                <a:latin typeface="Times New Roman" pitchFamily="18" charset="0"/>
                <a:ea typeface="견명조" charset="-127"/>
              </a:rPr>
              <a:t>3</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 + 3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견명조" charset="-127"/>
              </a:rPr>
              <a:t>(</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a:t>
            </a:r>
            <a:endParaRPr kumimoji="1" lang="en-US" sz="2000" dirty="0">
              <a:solidFill>
                <a:srgbClr val="000000"/>
              </a:solidFill>
              <a:latin typeface="Times New Roman" pitchFamily="18" charset="0"/>
              <a:ea typeface="굴림" pitchFamily="50" charset="-127"/>
            </a:endParaRPr>
          </a:p>
        </p:txBody>
      </p:sp>
      <p:sp>
        <p:nvSpPr>
          <p:cNvPr id="27" name="직사각형 3"/>
          <p:cNvSpPr/>
          <p:nvPr/>
        </p:nvSpPr>
        <p:spPr>
          <a:xfrm>
            <a:off x="6291366" y="3970512"/>
            <a:ext cx="1866216" cy="400110"/>
          </a:xfrm>
          <a:prstGeom prst="rect">
            <a:avLst/>
          </a:prstGeom>
        </p:spPr>
        <p:txBody>
          <a:bodyPr wrap="none">
            <a:spAutoFit/>
          </a:bodyPr>
          <a:lstStyle/>
          <a:p>
            <a:pPr algn="ctr" eaLnBrk="1" latinLnBrk="1" hangingPunct="1"/>
            <a:r>
              <a:rPr kumimoji="1" lang="en-US" altLang="ko-KR" sz="2000" dirty="0">
                <a:solidFill>
                  <a:srgbClr val="000000"/>
                </a:solidFill>
                <a:latin typeface="Times New Roman" pitchFamily="18" charset="0"/>
                <a:ea typeface="견명조" charset="-127"/>
              </a:rPr>
              <a:t>100</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 + 6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견명조" charset="-127"/>
              </a:rPr>
              <a:t>(</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a:t>
            </a:r>
            <a:endParaRPr kumimoji="1" lang="en-US" sz="2000" dirty="0">
              <a:solidFill>
                <a:srgbClr val="000000"/>
              </a:solidFill>
              <a:latin typeface="Times New Roman" pitchFamily="18" charset="0"/>
              <a:ea typeface="굴림" pitchFamily="50" charset="-127"/>
            </a:endParaRPr>
          </a:p>
        </p:txBody>
      </p:sp>
      <p:sp>
        <p:nvSpPr>
          <p:cNvPr id="28" name="직사각형 4"/>
          <p:cNvSpPr/>
          <p:nvPr/>
        </p:nvSpPr>
        <p:spPr>
          <a:xfrm>
            <a:off x="6291366" y="4431349"/>
            <a:ext cx="2180404" cy="400110"/>
          </a:xfrm>
          <a:prstGeom prst="rect">
            <a:avLst/>
          </a:prstGeom>
        </p:spPr>
        <p:txBody>
          <a:bodyPr wrap="none">
            <a:spAutoFit/>
          </a:bodyPr>
          <a:lstStyle/>
          <a:p>
            <a:pPr algn="ctr" eaLnBrk="1" latinLnBrk="1" hangingPunct="1"/>
            <a:r>
              <a:rPr kumimoji="1" lang="en-US" altLang="ko-KR" sz="2000" dirty="0">
                <a:solidFill>
                  <a:srgbClr val="000000"/>
                </a:solidFill>
                <a:latin typeface="Times New Roman" pitchFamily="18" charset="0"/>
                <a:ea typeface="신명조" charset="-127"/>
              </a:rPr>
              <a:t>10</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견명조" charset="-127"/>
              </a:rPr>
              <a:t>2</a:t>
            </a:r>
            <a:r>
              <a:rPr kumimoji="1" lang="en-US" altLang="ko-KR" sz="2000" dirty="0">
                <a:solidFill>
                  <a:srgbClr val="000000"/>
                </a:solidFill>
                <a:latin typeface="Times New Roman" pitchFamily="18" charset="0"/>
                <a:ea typeface="신명조" charset="-127"/>
              </a:rPr>
              <a:t>+4</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+2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신명조" charset="-127"/>
              </a:rPr>
              <a:t>(</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견명조" charset="-127"/>
              </a:rPr>
              <a:t>2</a:t>
            </a:r>
            <a:r>
              <a:rPr kumimoji="1" lang="en-US" altLang="ko-KR" sz="2000" dirty="0">
                <a:solidFill>
                  <a:srgbClr val="000000"/>
                </a:solidFill>
                <a:latin typeface="Times New Roman" pitchFamily="18" charset="0"/>
                <a:ea typeface="신명조" charset="-127"/>
              </a:rPr>
              <a:t>)</a:t>
            </a:r>
            <a:endParaRPr kumimoji="1" lang="en-US" sz="2000" dirty="0">
              <a:solidFill>
                <a:srgbClr val="000000"/>
              </a:solidFill>
              <a:latin typeface="Times New Roman" pitchFamily="18" charset="0"/>
              <a:ea typeface="굴림" pitchFamily="50" charset="-127"/>
            </a:endParaRPr>
          </a:p>
        </p:txBody>
      </p:sp>
      <p:sp>
        <p:nvSpPr>
          <p:cNvPr id="29" name="직사각형 5"/>
          <p:cNvSpPr/>
          <p:nvPr/>
        </p:nvSpPr>
        <p:spPr>
          <a:xfrm>
            <a:off x="6329838" y="4892187"/>
            <a:ext cx="1928733" cy="400110"/>
          </a:xfrm>
          <a:prstGeom prst="rect">
            <a:avLst/>
          </a:prstGeom>
        </p:spPr>
        <p:txBody>
          <a:bodyPr wrap="none">
            <a:spAutoFit/>
          </a:bodyPr>
          <a:lstStyle/>
          <a:p>
            <a:pPr algn="ctr" eaLnBrk="1" latinLnBrk="1" hangingPunct="1"/>
            <a:r>
              <a:rPr kumimoji="1" lang="en-US" altLang="ko-KR" sz="2000" dirty="0">
                <a:solidFill>
                  <a:srgbClr val="000000"/>
                </a:solidFill>
                <a:latin typeface="Times New Roman" pitchFamily="18" charset="0"/>
                <a:ea typeface="신명조" charset="-127"/>
              </a:rPr>
              <a:t>6</a:t>
            </a:r>
            <a:r>
              <a:rPr kumimoji="1" lang="en-US" altLang="ko-KR" sz="2000" dirty="0">
                <a:solidFill>
                  <a:srgbClr val="000000"/>
                </a:solidFill>
                <a:latin typeface="Times New Roman" pitchFamily="18" charset="0"/>
                <a:ea typeface="신명조" charset="-127"/>
                <a:sym typeface="Symbol"/>
              </a:rPr>
              <a:t></a:t>
            </a:r>
            <a:r>
              <a:rPr kumimoji="1" lang="en-US" altLang="ko-KR" sz="2000" dirty="0">
                <a:solidFill>
                  <a:srgbClr val="000000"/>
                </a:solidFill>
                <a:latin typeface="Times New Roman" pitchFamily="18" charset="0"/>
                <a:ea typeface="신명조" charset="-127"/>
              </a:rPr>
              <a:t>2</a:t>
            </a:r>
            <a:r>
              <a:rPr kumimoji="1" lang="en-US" altLang="ko-KR" sz="2000" i="1" baseline="30000"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견명조" charset="-127"/>
              </a:rPr>
              <a:t>2</a:t>
            </a:r>
            <a:r>
              <a:rPr kumimoji="1" lang="en-US" altLang="ko-KR" sz="2000" dirty="0">
                <a:solidFill>
                  <a:srgbClr val="000000"/>
                </a:solidFill>
                <a:latin typeface="Times New Roman" pitchFamily="18" charset="0"/>
                <a:ea typeface="신명조" charset="-127"/>
              </a:rPr>
              <a:t>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신명조" charset="-127"/>
              </a:rPr>
              <a:t>(2</a:t>
            </a:r>
            <a:r>
              <a:rPr kumimoji="1" lang="en-US" altLang="ko-KR" sz="2000" i="1" baseline="30000"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a:t>
            </a:r>
            <a:endParaRPr kumimoji="1" lang="en-US" sz="2000" dirty="0">
              <a:solidFill>
                <a:srgbClr val="000000"/>
              </a:solidFill>
              <a:latin typeface="Times New Roman" pitchFamily="18" charset="0"/>
              <a:ea typeface="굴림" pitchFamily="50" charset="-127"/>
            </a:endParaRPr>
          </a:p>
        </p:txBody>
      </p:sp>
    </p:spTree>
    <p:extLst>
      <p:ext uri="{BB962C8B-B14F-4D97-AF65-F5344CB8AC3E}">
        <p14:creationId xmlns:p14="http://schemas.microsoft.com/office/powerpoint/2010/main" val="54998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219201"/>
            <a:ext cx="8496300" cy="5147726"/>
          </a:xfrm>
        </p:spPr>
        <p:txBody>
          <a:bodyPr/>
          <a:lstStyle/>
          <a:p>
            <a:r>
              <a:rPr lang="en-US" dirty="0">
                <a:latin typeface="Consolas" panose="020B0609020204030204" pitchFamily="49" charset="0"/>
              </a:rPr>
              <a:t>Time Complexity</a:t>
            </a:r>
          </a:p>
        </p:txBody>
      </p:sp>
      <p:sp>
        <p:nvSpPr>
          <p:cNvPr id="3" name="Title 2"/>
          <p:cNvSpPr>
            <a:spLocks noGrp="1"/>
          </p:cNvSpPr>
          <p:nvPr>
            <p:ph type="title"/>
          </p:nvPr>
        </p:nvSpPr>
        <p:spPr>
          <a:xfrm>
            <a:off x="179512" y="302400"/>
            <a:ext cx="2716088" cy="691277"/>
          </a:xfrm>
        </p:spPr>
        <p:txBody>
          <a:bodyPr/>
          <a:lstStyle/>
          <a:p>
            <a:r>
              <a:rPr lang="en-US" sz="4400" dirty="0"/>
              <a:t>Big Theta</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37</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직사각형 24"/>
          <p:cNvSpPr/>
          <p:nvPr/>
        </p:nvSpPr>
        <p:spPr bwMode="auto">
          <a:xfrm>
            <a:off x="352425" y="1866729"/>
            <a:ext cx="8439150" cy="762243"/>
          </a:xfrm>
          <a:prstGeom prst="rect">
            <a:avLst/>
          </a:prstGeom>
          <a:solidFill>
            <a:srgbClr val="BFE7FB"/>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2000" b="0" i="0" u="none" strike="noStrike" cap="none" normalizeH="0" baseline="0">
              <a:ln>
                <a:noFill/>
              </a:ln>
              <a:solidFill>
                <a:schemeClr val="tx1"/>
              </a:solidFill>
              <a:effectLst/>
              <a:latin typeface="Times New Roman" pitchFamily="18" charset="0"/>
              <a:ea typeface="굴림" pitchFamily="50" charset="-127"/>
            </a:endParaRPr>
          </a:p>
        </p:txBody>
      </p:sp>
      <p:sp>
        <p:nvSpPr>
          <p:cNvPr id="7" name="Rectangle 19"/>
          <p:cNvSpPr>
            <a:spLocks noChangeArrowheads="1"/>
          </p:cNvSpPr>
          <p:nvPr/>
        </p:nvSpPr>
        <p:spPr bwMode="auto">
          <a:xfrm>
            <a:off x="321762" y="2023480"/>
            <a:ext cx="8368729" cy="400110"/>
          </a:xfrm>
          <a:prstGeom prst="rect">
            <a:avLst/>
          </a:prstGeom>
          <a:noFill/>
          <a:ln w="9525">
            <a:noFill/>
            <a:miter lim="800000"/>
            <a:headEnd/>
            <a:tailEnd/>
          </a:ln>
          <a:effectLst/>
        </p:spPr>
        <p:txBody>
          <a:bodyPr wrap="square">
            <a:spAutoFit/>
          </a:bodyPr>
          <a:lstStyle/>
          <a:p>
            <a:pPr algn="l"/>
            <a:r>
              <a:rPr lang="en-US" altLang="ko-KR" sz="2000" i="1" dirty="0"/>
              <a:t>f</a:t>
            </a:r>
            <a:r>
              <a:rPr lang="en-US" altLang="ko-KR" sz="2000" dirty="0"/>
              <a:t>(</a:t>
            </a:r>
            <a:r>
              <a:rPr lang="en-US" altLang="ko-KR" sz="2000" i="1" dirty="0"/>
              <a:t>n</a:t>
            </a:r>
            <a:r>
              <a:rPr lang="en-US" altLang="ko-KR" sz="2000" dirty="0"/>
              <a:t>)</a:t>
            </a:r>
            <a:r>
              <a:rPr lang="en-US" altLang="ko-KR" sz="2000" i="1" dirty="0"/>
              <a:t>=</a:t>
            </a:r>
            <a:r>
              <a:rPr lang="en-US" altLang="ko-KR" sz="2000" dirty="0">
                <a:sym typeface="Symbol" pitchFamily="18" charset="2"/>
              </a:rPr>
              <a:t></a:t>
            </a:r>
            <a:r>
              <a:rPr lang="en-US" altLang="ko-KR" sz="2000" dirty="0"/>
              <a:t>(</a:t>
            </a:r>
            <a:r>
              <a:rPr lang="en-US" altLang="ko-KR" sz="2000" i="1" dirty="0"/>
              <a:t>g</a:t>
            </a:r>
            <a:r>
              <a:rPr lang="en-US" altLang="ko-KR" sz="2000" dirty="0"/>
              <a:t>(</a:t>
            </a:r>
            <a:r>
              <a:rPr lang="en-US" altLang="ko-KR" sz="2000" i="1" dirty="0"/>
              <a:t>n</a:t>
            </a:r>
            <a:r>
              <a:rPr lang="en-US" altLang="ko-KR" sz="2000" dirty="0"/>
              <a:t>)) </a:t>
            </a:r>
            <a:r>
              <a:rPr lang="en-US" altLang="ko-KR" sz="2000" b="1" dirty="0" err="1"/>
              <a:t>iff</a:t>
            </a:r>
            <a:r>
              <a:rPr lang="en-US" altLang="ko-KR" sz="2000" dirty="0"/>
              <a:t> </a:t>
            </a:r>
            <a:r>
              <a:rPr lang="en-US" altLang="ko-KR" sz="2000" i="1" dirty="0">
                <a:sym typeface="Symbol" pitchFamily="18" charset="2"/>
              </a:rPr>
              <a:t></a:t>
            </a:r>
            <a:r>
              <a:rPr lang="en-US" altLang="ko-KR" sz="2000" i="1" dirty="0"/>
              <a:t>c</a:t>
            </a:r>
            <a:r>
              <a:rPr lang="en-US" altLang="ko-KR" sz="2000" baseline="-25000" dirty="0">
                <a:sym typeface="Symbol" pitchFamily="18" charset="2"/>
              </a:rPr>
              <a:t>1</a:t>
            </a:r>
            <a:r>
              <a:rPr lang="en-US" altLang="ko-KR" sz="2000" i="1" dirty="0">
                <a:sym typeface="Symbol" pitchFamily="18" charset="2"/>
              </a:rPr>
              <a:t>, c</a:t>
            </a:r>
            <a:r>
              <a:rPr lang="en-US" altLang="ko-KR" sz="2000" baseline="-25000" dirty="0">
                <a:sym typeface="Symbol" pitchFamily="18" charset="2"/>
              </a:rPr>
              <a:t>2</a:t>
            </a:r>
            <a:r>
              <a:rPr lang="en-US" altLang="ko-KR" sz="2000" i="1" dirty="0">
                <a:sym typeface="Symbol" pitchFamily="18" charset="2"/>
              </a:rPr>
              <a:t>, n</a:t>
            </a:r>
            <a:r>
              <a:rPr lang="en-US" altLang="ko-KR" sz="2000" baseline="-25000" dirty="0">
                <a:sym typeface="Symbol" pitchFamily="18" charset="2"/>
              </a:rPr>
              <a:t>0</a:t>
            </a:r>
            <a:r>
              <a:rPr lang="en-US" altLang="ko-KR" sz="2000" i="1" dirty="0">
                <a:sym typeface="Symbol" pitchFamily="18" charset="2"/>
              </a:rPr>
              <a:t> </a:t>
            </a:r>
            <a:r>
              <a:rPr lang="en-US" altLang="ko-KR" sz="2000" dirty="0">
                <a:sym typeface="Symbol" pitchFamily="18" charset="2"/>
              </a:rPr>
              <a:t></a:t>
            </a:r>
            <a:r>
              <a:rPr lang="en-US" altLang="ko-KR" sz="2000" i="1" dirty="0">
                <a:sym typeface="Symbol" pitchFamily="18" charset="2"/>
              </a:rPr>
              <a:t> </a:t>
            </a:r>
            <a:r>
              <a:rPr lang="en-US" altLang="ko-KR" sz="2000" dirty="0">
                <a:sym typeface="Symbol" pitchFamily="18" charset="2"/>
              </a:rPr>
              <a:t>0</a:t>
            </a:r>
            <a:r>
              <a:rPr lang="en-US" altLang="ko-KR" sz="2000" i="1" dirty="0">
                <a:sym typeface="Symbol" pitchFamily="18" charset="2"/>
              </a:rPr>
              <a:t>, </a:t>
            </a:r>
            <a:r>
              <a:rPr lang="en-US" altLang="ko-KR" sz="2000" dirty="0" err="1">
                <a:sym typeface="Symbol" pitchFamily="18" charset="2"/>
              </a:rPr>
              <a:t>s.t.</a:t>
            </a:r>
            <a:r>
              <a:rPr lang="en-US" altLang="ko-KR" sz="2000" i="1" dirty="0">
                <a:sym typeface="Symbol" pitchFamily="18" charset="2"/>
              </a:rPr>
              <a:t> </a:t>
            </a:r>
            <a:r>
              <a:rPr lang="en-US" altLang="ko-KR" sz="2000" dirty="0">
                <a:sym typeface="Symbol" pitchFamily="18" charset="2"/>
              </a:rPr>
              <a:t>0</a:t>
            </a:r>
            <a:r>
              <a:rPr lang="en-US" altLang="ko-KR" sz="2000" i="1" dirty="0">
                <a:sym typeface="Symbol" pitchFamily="18" charset="2"/>
              </a:rPr>
              <a:t> </a:t>
            </a:r>
            <a:r>
              <a:rPr lang="en-US" altLang="ko-KR" sz="1600" dirty="0">
                <a:sym typeface="Symbol" pitchFamily="18" charset="2"/>
              </a:rPr>
              <a:t>≤ </a:t>
            </a:r>
            <a:r>
              <a:rPr lang="en-US" altLang="ko-KR" sz="2000" i="1" dirty="0">
                <a:sym typeface="Symbol" pitchFamily="18" charset="2"/>
              </a:rPr>
              <a:t>c</a:t>
            </a:r>
            <a:r>
              <a:rPr lang="en-US" altLang="ko-KR" sz="2000" baseline="-25000" dirty="0">
                <a:sym typeface="Symbol" pitchFamily="18" charset="2"/>
              </a:rPr>
              <a:t>1</a:t>
            </a:r>
            <a:r>
              <a:rPr lang="en-US" altLang="ko-KR" sz="2000" i="1" dirty="0">
                <a:sym typeface="Symbol" pitchFamily="18" charset="2"/>
              </a:rPr>
              <a:t>g</a:t>
            </a:r>
            <a:r>
              <a:rPr lang="en-US" altLang="ko-KR" sz="2000" dirty="0">
                <a:sym typeface="Symbol" pitchFamily="18" charset="2"/>
              </a:rPr>
              <a:t>(</a:t>
            </a:r>
            <a:r>
              <a:rPr lang="en-US" altLang="ko-KR" sz="2000" i="1" dirty="0">
                <a:sym typeface="Symbol" pitchFamily="18" charset="2"/>
              </a:rPr>
              <a:t>n</a:t>
            </a:r>
            <a:r>
              <a:rPr lang="en-US" altLang="ko-KR" sz="2000" dirty="0">
                <a:sym typeface="Symbol" pitchFamily="18" charset="2"/>
              </a:rPr>
              <a:t>) ≤ </a:t>
            </a:r>
            <a:r>
              <a:rPr lang="en-US" altLang="ko-KR" sz="2000" i="1" dirty="0">
                <a:sym typeface="Symbol" pitchFamily="18" charset="2"/>
              </a:rPr>
              <a:t>f</a:t>
            </a:r>
            <a:r>
              <a:rPr lang="en-US" altLang="ko-KR" sz="2000" dirty="0">
                <a:sym typeface="Symbol" pitchFamily="18" charset="2"/>
              </a:rPr>
              <a:t>(</a:t>
            </a:r>
            <a:r>
              <a:rPr lang="en-US" altLang="ko-KR" sz="2000" i="1" dirty="0">
                <a:sym typeface="Symbol" pitchFamily="18" charset="2"/>
              </a:rPr>
              <a:t>n</a:t>
            </a:r>
            <a:r>
              <a:rPr lang="en-US" altLang="ko-KR" sz="2000" dirty="0">
                <a:sym typeface="Symbol" pitchFamily="18" charset="2"/>
              </a:rPr>
              <a:t>) ≤ </a:t>
            </a:r>
            <a:r>
              <a:rPr lang="en-US" altLang="ko-KR" sz="2000" i="1" dirty="0">
                <a:sym typeface="Symbol" pitchFamily="18" charset="2"/>
              </a:rPr>
              <a:t>c</a:t>
            </a:r>
            <a:r>
              <a:rPr lang="en-US" altLang="ko-KR" sz="2000" baseline="-25000" dirty="0">
                <a:sym typeface="Symbol" pitchFamily="18" charset="2"/>
              </a:rPr>
              <a:t>2</a:t>
            </a:r>
            <a:r>
              <a:rPr lang="en-US" altLang="ko-KR" sz="2000" i="1" dirty="0">
                <a:sym typeface="Symbol" pitchFamily="18" charset="2"/>
              </a:rPr>
              <a:t>g</a:t>
            </a:r>
            <a:r>
              <a:rPr lang="en-US" altLang="ko-KR" sz="2000" dirty="0">
                <a:sym typeface="Symbol" pitchFamily="18" charset="2"/>
              </a:rPr>
              <a:t>(</a:t>
            </a:r>
            <a:r>
              <a:rPr lang="en-US" altLang="ko-KR" sz="2000" i="1" dirty="0">
                <a:sym typeface="Symbol" pitchFamily="18" charset="2"/>
              </a:rPr>
              <a:t>n</a:t>
            </a:r>
            <a:r>
              <a:rPr lang="en-US" altLang="ko-KR" sz="2000" dirty="0">
                <a:sym typeface="Symbol" pitchFamily="18" charset="2"/>
              </a:rPr>
              <a:t>)</a:t>
            </a:r>
            <a:r>
              <a:rPr lang="en-US" altLang="ko-KR" sz="2000" i="1" dirty="0">
                <a:sym typeface="Symbol" pitchFamily="18" charset="2"/>
              </a:rPr>
              <a:t> </a:t>
            </a:r>
            <a:r>
              <a:rPr lang="en-US" altLang="ko-KR" sz="2000" dirty="0">
                <a:sym typeface="Symbol" pitchFamily="18" charset="2"/>
              </a:rPr>
              <a:t></a:t>
            </a:r>
            <a:r>
              <a:rPr lang="en-US" altLang="ko-KR" sz="2000" i="1" dirty="0"/>
              <a:t>n, n </a:t>
            </a:r>
            <a:r>
              <a:rPr lang="en-US" altLang="ko-KR" sz="2000" i="1" dirty="0">
                <a:sym typeface="Symbol" pitchFamily="18" charset="2"/>
              </a:rPr>
              <a:t> </a:t>
            </a:r>
            <a:r>
              <a:rPr lang="en-US" altLang="ko-KR" sz="2000" i="1" dirty="0"/>
              <a:t>n</a:t>
            </a:r>
            <a:r>
              <a:rPr lang="en-US" altLang="ko-KR" sz="2000" baseline="-25000" dirty="0">
                <a:sym typeface="Symbol" pitchFamily="18" charset="2"/>
              </a:rPr>
              <a:t>0 </a:t>
            </a:r>
          </a:p>
        </p:txBody>
      </p:sp>
      <p:pic>
        <p:nvPicPr>
          <p:cNvPr id="8" name="Picture 7"/>
          <p:cNvPicPr>
            <a:picLocks noChangeAspect="1"/>
          </p:cNvPicPr>
          <p:nvPr/>
        </p:nvPicPr>
        <p:blipFill>
          <a:blip r:embed="rId2"/>
          <a:stretch>
            <a:fillRect/>
          </a:stretch>
        </p:blipFill>
        <p:spPr>
          <a:xfrm>
            <a:off x="990600" y="2975581"/>
            <a:ext cx="4061239" cy="2891820"/>
          </a:xfrm>
          <a:prstGeom prst="rect">
            <a:avLst/>
          </a:prstGeom>
        </p:spPr>
      </p:pic>
      <p:sp>
        <p:nvSpPr>
          <p:cNvPr id="19" name="직사각형 1"/>
          <p:cNvSpPr/>
          <p:nvPr/>
        </p:nvSpPr>
        <p:spPr>
          <a:xfrm>
            <a:off x="5718589" y="3057975"/>
            <a:ext cx="1603323" cy="400110"/>
          </a:xfrm>
          <a:prstGeom prst="rect">
            <a:avLst/>
          </a:prstGeom>
        </p:spPr>
        <p:txBody>
          <a:bodyPr wrap="none">
            <a:spAutoFit/>
          </a:bodyPr>
          <a:lstStyle/>
          <a:p>
            <a:pPr algn="ctr" eaLnBrk="1" latinLnBrk="1" hangingPunct="1"/>
            <a:r>
              <a:rPr kumimoji="1" lang="en-US" altLang="ko-KR" sz="2000" dirty="0">
                <a:solidFill>
                  <a:srgbClr val="000000"/>
                </a:solidFill>
                <a:latin typeface="Times New Roman" pitchFamily="18" charset="0"/>
                <a:ea typeface="견명조" charset="-127"/>
              </a:rPr>
              <a:t>3</a:t>
            </a:r>
            <a:r>
              <a:rPr kumimoji="1" lang="en-US" altLang="ko-KR" sz="2000" i="1" dirty="0">
                <a:solidFill>
                  <a:srgbClr val="000000"/>
                </a:solidFill>
                <a:latin typeface="Times New Roman" pitchFamily="18" charset="0"/>
                <a:ea typeface="견명조" charset="-127"/>
              </a:rPr>
              <a:t>n </a:t>
            </a:r>
            <a:r>
              <a:rPr kumimoji="1" lang="en-US" altLang="ko-KR" sz="2000" dirty="0">
                <a:solidFill>
                  <a:srgbClr val="000000"/>
                </a:solidFill>
                <a:latin typeface="Times New Roman" pitchFamily="18" charset="0"/>
                <a:ea typeface="견명조" charset="-127"/>
              </a:rPr>
              <a:t>+ 2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견명조" charset="-127"/>
              </a:rPr>
              <a:t>(</a:t>
            </a:r>
            <a:r>
              <a:rPr kumimoji="1" lang="en-US" altLang="ko-KR" sz="2000" i="1" dirty="0">
                <a:solidFill>
                  <a:srgbClr val="000000"/>
                </a:solidFill>
                <a:latin typeface="Times New Roman" pitchFamily="18" charset="0"/>
                <a:ea typeface="견명조" charset="-127"/>
              </a:rPr>
              <a:t>n</a:t>
            </a:r>
            <a:r>
              <a:rPr kumimoji="1" lang="en-US" altLang="ko-KR" sz="2000" dirty="0">
                <a:solidFill>
                  <a:srgbClr val="000000"/>
                </a:solidFill>
                <a:latin typeface="Times New Roman" pitchFamily="18" charset="0"/>
                <a:ea typeface="견명조" charset="-127"/>
              </a:rPr>
              <a:t>)</a:t>
            </a:r>
            <a:endParaRPr kumimoji="1" lang="en-US" sz="2000" dirty="0">
              <a:solidFill>
                <a:srgbClr val="000000"/>
              </a:solidFill>
              <a:latin typeface="Times New Roman" pitchFamily="18" charset="0"/>
              <a:ea typeface="굴림" pitchFamily="50" charset="-127"/>
            </a:endParaRPr>
          </a:p>
        </p:txBody>
      </p:sp>
      <p:sp>
        <p:nvSpPr>
          <p:cNvPr id="20" name="직사각형 2"/>
          <p:cNvSpPr/>
          <p:nvPr/>
        </p:nvSpPr>
        <p:spPr>
          <a:xfrm>
            <a:off x="5718589" y="3593240"/>
            <a:ext cx="2494593" cy="400110"/>
          </a:xfrm>
          <a:prstGeom prst="rect">
            <a:avLst/>
          </a:prstGeom>
        </p:spPr>
        <p:txBody>
          <a:bodyPr wrap="none">
            <a:spAutoFit/>
          </a:bodyPr>
          <a:lstStyle/>
          <a:p>
            <a:pPr marL="0" lvl="1" algn="ctr" eaLnBrk="1" latinLnBrk="1" hangingPunct="1"/>
            <a:r>
              <a:rPr kumimoji="1" lang="en-US" altLang="ko-KR" sz="2000" dirty="0">
                <a:solidFill>
                  <a:srgbClr val="000000"/>
                </a:solidFill>
                <a:latin typeface="Times New Roman" pitchFamily="18" charset="0"/>
                <a:ea typeface="신명조" charset="-127"/>
              </a:rPr>
              <a:t>10</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신명조" charset="-127"/>
              </a:rPr>
              <a:t>2</a:t>
            </a:r>
            <a:r>
              <a:rPr kumimoji="1" lang="en-US" altLang="ko-KR" sz="2000" dirty="0">
                <a:solidFill>
                  <a:srgbClr val="000000"/>
                </a:solidFill>
                <a:latin typeface="Times New Roman" pitchFamily="18" charset="0"/>
                <a:ea typeface="신명조" charset="-127"/>
              </a:rPr>
              <a:t> + 4</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+ 2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신명조" charset="-127"/>
              </a:rPr>
              <a:t>(</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신명조" charset="-127"/>
              </a:rPr>
              <a:t>2</a:t>
            </a:r>
            <a:r>
              <a:rPr kumimoji="1" lang="en-US" altLang="ko-KR" sz="2000" dirty="0">
                <a:solidFill>
                  <a:srgbClr val="000000"/>
                </a:solidFill>
                <a:latin typeface="Times New Roman" pitchFamily="18" charset="0"/>
                <a:ea typeface="신명조" charset="-127"/>
              </a:rPr>
              <a:t>)</a:t>
            </a:r>
            <a:r>
              <a:rPr kumimoji="1" lang="en-US" altLang="ko-KR" sz="2000" dirty="0">
                <a:solidFill>
                  <a:srgbClr val="000000"/>
                </a:solidFill>
                <a:latin typeface="Times New Roman" pitchFamily="18" charset="0"/>
                <a:ea typeface="견명조" charset="-127"/>
              </a:rPr>
              <a:t> </a:t>
            </a:r>
          </a:p>
        </p:txBody>
      </p:sp>
      <p:sp>
        <p:nvSpPr>
          <p:cNvPr id="21" name="직사각형 3"/>
          <p:cNvSpPr/>
          <p:nvPr/>
        </p:nvSpPr>
        <p:spPr>
          <a:xfrm>
            <a:off x="5718589" y="4128505"/>
            <a:ext cx="1922321" cy="400110"/>
          </a:xfrm>
          <a:prstGeom prst="rect">
            <a:avLst/>
          </a:prstGeom>
        </p:spPr>
        <p:txBody>
          <a:bodyPr wrap="none">
            <a:spAutoFit/>
          </a:bodyPr>
          <a:lstStyle/>
          <a:p>
            <a:pPr marL="0" lvl="1" algn="just" eaLnBrk="1" latinLnBrk="1" hangingPunct="1"/>
            <a:r>
              <a:rPr kumimoji="1" lang="en-US" altLang="ko-KR" sz="2000" dirty="0">
                <a:solidFill>
                  <a:srgbClr val="000000"/>
                </a:solidFill>
                <a:latin typeface="Times New Roman" pitchFamily="18" charset="0"/>
                <a:ea typeface="신명조" charset="-127"/>
              </a:rPr>
              <a:t>6</a:t>
            </a:r>
            <a:r>
              <a:rPr kumimoji="1" lang="en-US" altLang="ko-KR" sz="2000" dirty="0">
                <a:solidFill>
                  <a:srgbClr val="000000"/>
                </a:solidFill>
                <a:latin typeface="Times New Roman" pitchFamily="18" charset="0"/>
                <a:ea typeface="굴림" pitchFamily="50" charset="-127"/>
                <a:sym typeface="Symbol"/>
              </a:rPr>
              <a:t></a:t>
            </a:r>
            <a:r>
              <a:rPr kumimoji="1" lang="en-US" altLang="ko-KR" sz="2000" dirty="0">
                <a:solidFill>
                  <a:srgbClr val="000000"/>
                </a:solidFill>
                <a:latin typeface="Times New Roman" pitchFamily="18" charset="0"/>
                <a:ea typeface="신명조" charset="-127"/>
              </a:rPr>
              <a:t>2</a:t>
            </a:r>
            <a:r>
              <a:rPr kumimoji="1" lang="en-US" altLang="ko-KR" sz="2000" i="1" baseline="30000"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a:t>
            </a:r>
            <a:r>
              <a:rPr kumimoji="1" lang="en-US" altLang="ko-KR" sz="2000" i="1" dirty="0">
                <a:solidFill>
                  <a:srgbClr val="000000"/>
                </a:solidFill>
                <a:latin typeface="Times New Roman" pitchFamily="18" charset="0"/>
                <a:ea typeface="신명조" charset="-127"/>
              </a:rPr>
              <a:t>n</a:t>
            </a:r>
            <a:r>
              <a:rPr kumimoji="1" lang="en-US" altLang="ko-KR" sz="2000" baseline="30000" dirty="0">
                <a:solidFill>
                  <a:srgbClr val="000000"/>
                </a:solidFill>
                <a:latin typeface="Times New Roman" pitchFamily="18" charset="0"/>
                <a:ea typeface="신명조" charset="-127"/>
              </a:rPr>
              <a:t>2</a:t>
            </a:r>
            <a:r>
              <a:rPr kumimoji="1" lang="en-US" altLang="ko-KR" sz="2000" dirty="0">
                <a:solidFill>
                  <a:srgbClr val="000000"/>
                </a:solidFill>
                <a:latin typeface="Times New Roman" pitchFamily="18" charset="0"/>
                <a:ea typeface="신명조" charset="-127"/>
              </a:rPr>
              <a:t>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신명조" charset="-127"/>
              </a:rPr>
              <a:t>(2</a:t>
            </a:r>
            <a:r>
              <a:rPr kumimoji="1" lang="en-US" altLang="ko-KR" sz="2000" i="1" baseline="30000"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a:t>
            </a:r>
            <a:endParaRPr kumimoji="1" lang="en-US" altLang="ko-KR" sz="2000" dirty="0">
              <a:solidFill>
                <a:srgbClr val="000000"/>
              </a:solidFill>
              <a:latin typeface="바탕" pitchFamily="18" charset="-127"/>
              <a:ea typeface="굴림" pitchFamily="50" charset="-127"/>
              <a:cs typeface="Times New Roman" pitchFamily="18" charset="0"/>
            </a:endParaRPr>
          </a:p>
        </p:txBody>
      </p:sp>
      <p:sp>
        <p:nvSpPr>
          <p:cNvPr id="22" name="직사각형 4"/>
          <p:cNvSpPr/>
          <p:nvPr/>
        </p:nvSpPr>
        <p:spPr>
          <a:xfrm>
            <a:off x="5718589" y="4663770"/>
            <a:ext cx="2719013" cy="400110"/>
          </a:xfrm>
          <a:prstGeom prst="rect">
            <a:avLst/>
          </a:prstGeom>
        </p:spPr>
        <p:txBody>
          <a:bodyPr wrap="none">
            <a:spAutoFit/>
          </a:bodyPr>
          <a:lstStyle/>
          <a:p>
            <a:pPr marL="0" lvl="1" eaLnBrk="1" latinLnBrk="1" hangingPunct="1"/>
            <a:r>
              <a:rPr kumimoji="1" lang="en-US" altLang="ko-KR" sz="2000" dirty="0">
                <a:solidFill>
                  <a:srgbClr val="000000"/>
                </a:solidFill>
                <a:latin typeface="Times New Roman" pitchFamily="18" charset="0"/>
                <a:ea typeface="신명조" charset="-127"/>
              </a:rPr>
              <a:t>10</a:t>
            </a:r>
            <a:r>
              <a:rPr kumimoji="1" lang="en-US" altLang="ko-KR" sz="2000" dirty="0">
                <a:solidFill>
                  <a:srgbClr val="000000"/>
                </a:solidFill>
                <a:latin typeface="Times New Roman" pitchFamily="18" charset="0"/>
                <a:ea typeface="신명조" charset="-127"/>
                <a:sym typeface="Symbol"/>
              </a:rPr>
              <a:t></a:t>
            </a:r>
            <a:r>
              <a:rPr kumimoji="1" lang="en-US" altLang="ko-KR" sz="2000" dirty="0">
                <a:solidFill>
                  <a:srgbClr val="000000"/>
                </a:solidFill>
                <a:latin typeface="Times New Roman" pitchFamily="18" charset="0"/>
                <a:ea typeface="신명조" charset="-127"/>
              </a:rPr>
              <a:t>log </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+ 4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신명조" charset="-127"/>
              </a:rPr>
              <a:t>(log </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a:t>
            </a:r>
            <a:r>
              <a:rPr kumimoji="1" lang="en-US" altLang="ko-KR" sz="2000" dirty="0">
                <a:solidFill>
                  <a:srgbClr val="000000"/>
                </a:solidFill>
                <a:latin typeface="Times New Roman" pitchFamily="18" charset="0"/>
                <a:ea typeface="굴림" pitchFamily="50" charset="-127"/>
              </a:rPr>
              <a:t> </a:t>
            </a:r>
          </a:p>
        </p:txBody>
      </p:sp>
      <p:sp>
        <p:nvSpPr>
          <p:cNvPr id="23" name="직사각형 5"/>
          <p:cNvSpPr/>
          <p:nvPr/>
        </p:nvSpPr>
        <p:spPr>
          <a:xfrm>
            <a:off x="5718589" y="5199034"/>
            <a:ext cx="2760692" cy="400110"/>
          </a:xfrm>
          <a:prstGeom prst="rect">
            <a:avLst/>
          </a:prstGeom>
        </p:spPr>
        <p:txBody>
          <a:bodyPr wrap="none">
            <a:spAutoFit/>
          </a:bodyPr>
          <a:lstStyle/>
          <a:p>
            <a:pPr marL="0" lvl="1" algn="just" eaLnBrk="1" latinLnBrk="1" hangingPunct="1"/>
            <a:r>
              <a:rPr kumimoji="1" lang="en-US" altLang="ko-KR" sz="2000" dirty="0">
                <a:solidFill>
                  <a:srgbClr val="000000"/>
                </a:solidFill>
                <a:latin typeface="Times New Roman" pitchFamily="18" charset="0"/>
                <a:ea typeface="신명조" charset="-127"/>
              </a:rPr>
              <a:t>2</a:t>
            </a:r>
            <a:r>
              <a:rPr kumimoji="1" lang="en-US" altLang="ko-KR" sz="2000" dirty="0">
                <a:solidFill>
                  <a:srgbClr val="000000"/>
                </a:solidFill>
                <a:latin typeface="Times New Roman" pitchFamily="18" charset="0"/>
                <a:ea typeface="굴림" pitchFamily="50" charset="-127"/>
                <a:sym typeface="Symbol"/>
              </a:rPr>
              <a:t></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sym typeface="Symbol"/>
              </a:rPr>
              <a:t></a:t>
            </a:r>
            <a:r>
              <a:rPr kumimoji="1" lang="en-US" altLang="ko-KR" sz="2000" i="1" dirty="0">
                <a:solidFill>
                  <a:srgbClr val="000000"/>
                </a:solidFill>
                <a:latin typeface="Times New Roman" pitchFamily="18" charset="0"/>
                <a:ea typeface="신명조" charset="-127"/>
              </a:rPr>
              <a:t>m</a:t>
            </a:r>
            <a:r>
              <a:rPr kumimoji="1" lang="en-US" altLang="ko-KR" sz="2000" dirty="0">
                <a:solidFill>
                  <a:srgbClr val="000000"/>
                </a:solidFill>
                <a:latin typeface="Times New Roman" pitchFamily="18" charset="0"/>
                <a:ea typeface="신명조" charset="-127"/>
              </a:rPr>
              <a:t> + 2</a:t>
            </a:r>
            <a:r>
              <a:rPr kumimoji="1" lang="en-US" altLang="ko-KR" sz="2000" dirty="0">
                <a:solidFill>
                  <a:srgbClr val="000000"/>
                </a:solidFill>
                <a:latin typeface="Times New Roman" pitchFamily="18" charset="0"/>
                <a:ea typeface="신명조" charset="-127"/>
                <a:sym typeface="Symbol"/>
              </a:rPr>
              <a:t></a:t>
            </a:r>
            <a:r>
              <a:rPr kumimoji="1" lang="en-US" altLang="ko-KR" sz="2000" i="1" dirty="0">
                <a:solidFill>
                  <a:srgbClr val="000000"/>
                </a:solidFill>
                <a:latin typeface="Times New Roman" pitchFamily="18" charset="0"/>
                <a:ea typeface="신명조" charset="-127"/>
              </a:rPr>
              <a:t>n</a:t>
            </a:r>
            <a:r>
              <a:rPr kumimoji="1" lang="en-US" altLang="ko-KR" sz="2000" dirty="0">
                <a:solidFill>
                  <a:srgbClr val="000000"/>
                </a:solidFill>
                <a:latin typeface="Times New Roman" pitchFamily="18" charset="0"/>
                <a:ea typeface="신명조" charset="-127"/>
              </a:rPr>
              <a:t> + 1 = </a:t>
            </a:r>
            <a:r>
              <a:rPr kumimoji="1" lang="en-US" altLang="ko-KR" sz="2000" dirty="0">
                <a:solidFill>
                  <a:srgbClr val="000000"/>
                </a:solidFill>
                <a:latin typeface="Times New Roman" pitchFamily="18" charset="0"/>
                <a:ea typeface="견명조" charset="-127"/>
                <a:sym typeface="Symbol" pitchFamily="18" charset="2"/>
              </a:rPr>
              <a:t></a:t>
            </a:r>
            <a:r>
              <a:rPr kumimoji="1" lang="en-US" altLang="ko-KR" sz="2000" dirty="0">
                <a:solidFill>
                  <a:srgbClr val="000000"/>
                </a:solidFill>
                <a:latin typeface="Times New Roman" pitchFamily="18" charset="0"/>
                <a:ea typeface="신명조" charset="-127"/>
              </a:rPr>
              <a:t>(</a:t>
            </a:r>
            <a:r>
              <a:rPr kumimoji="1" lang="en-US" altLang="ko-KR" sz="2000" i="1" dirty="0" err="1">
                <a:solidFill>
                  <a:srgbClr val="000000"/>
                </a:solidFill>
                <a:latin typeface="Times New Roman" pitchFamily="18" charset="0"/>
                <a:ea typeface="신명조" charset="-127"/>
              </a:rPr>
              <a:t>n</a:t>
            </a:r>
            <a:r>
              <a:rPr kumimoji="1" lang="en-US" altLang="ko-KR" sz="2000" dirty="0" err="1">
                <a:solidFill>
                  <a:srgbClr val="000000"/>
                </a:solidFill>
                <a:latin typeface="Times New Roman" pitchFamily="18" charset="0"/>
                <a:ea typeface="신명조" charset="-127"/>
                <a:sym typeface="Symbol"/>
              </a:rPr>
              <a:t></a:t>
            </a:r>
            <a:r>
              <a:rPr kumimoji="1" lang="en-US" altLang="ko-KR" sz="2000" i="1" dirty="0" err="1">
                <a:solidFill>
                  <a:srgbClr val="000000"/>
                </a:solidFill>
                <a:latin typeface="Times New Roman" pitchFamily="18" charset="0"/>
                <a:ea typeface="신명조" charset="-127"/>
              </a:rPr>
              <a:t>m</a:t>
            </a:r>
            <a:r>
              <a:rPr kumimoji="1" lang="en-US" altLang="ko-KR" sz="2000" dirty="0">
                <a:solidFill>
                  <a:srgbClr val="000000"/>
                </a:solidFill>
                <a:latin typeface="Times New Roman" pitchFamily="18" charset="0"/>
                <a:ea typeface="신명조" charset="-127"/>
              </a:rPr>
              <a:t>)</a:t>
            </a:r>
          </a:p>
        </p:txBody>
      </p:sp>
    </p:spTree>
    <p:extLst>
      <p:ext uri="{BB962C8B-B14F-4D97-AF65-F5344CB8AC3E}">
        <p14:creationId xmlns:p14="http://schemas.microsoft.com/office/powerpoint/2010/main" val="197161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dirty="0"/>
          </a:p>
        </p:txBody>
      </p:sp>
      <p:sp>
        <p:nvSpPr>
          <p:cNvPr id="3" name="Title 2"/>
          <p:cNvSpPr>
            <a:spLocks noGrp="1"/>
          </p:cNvSpPr>
          <p:nvPr>
            <p:ph type="title"/>
          </p:nvPr>
        </p:nvSpPr>
        <p:spPr/>
        <p:txBody>
          <a:bodyPr/>
          <a:lstStyle/>
          <a:p>
            <a:r>
              <a:rPr lang="en-US" sz="4400" dirty="0"/>
              <a:t>Time Complexity </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38</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pic>
        <p:nvPicPr>
          <p:cNvPr id="8" name="Picture 4" descr="summary"/>
          <p:cNvPicPr>
            <a:picLocks noChangeAspect="1" noChangeArrowheads="1"/>
          </p:cNvPicPr>
          <p:nvPr/>
        </p:nvPicPr>
        <p:blipFill>
          <a:blip r:embed="rId2"/>
          <a:srcRect/>
          <a:stretch>
            <a:fillRect/>
          </a:stretch>
        </p:blipFill>
        <p:spPr bwMode="auto">
          <a:xfrm>
            <a:off x="2686051" y="1988175"/>
            <a:ext cx="4404908" cy="3955426"/>
          </a:xfrm>
          <a:prstGeom prst="rect">
            <a:avLst/>
          </a:prstGeom>
          <a:noFill/>
        </p:spPr>
      </p:pic>
      <p:sp>
        <p:nvSpPr>
          <p:cNvPr id="9" name="TextBox 8"/>
          <p:cNvSpPr txBox="1"/>
          <p:nvPr/>
        </p:nvSpPr>
        <p:spPr>
          <a:xfrm>
            <a:off x="690822" y="1467675"/>
            <a:ext cx="2300630" cy="400110"/>
          </a:xfrm>
          <a:prstGeom prst="rect">
            <a:avLst/>
          </a:prstGeom>
          <a:noFill/>
        </p:spPr>
        <p:txBody>
          <a:bodyPr wrap="none" rtlCol="0">
            <a:spAutoFit/>
          </a:bodyPr>
          <a:lstStyle/>
          <a:p>
            <a:r>
              <a:rPr lang="en-US" sz="2000" dirty="0">
                <a:latin typeface="Consolas" panose="020B0609020204030204" pitchFamily="49" charset="0"/>
              </a:rPr>
              <a:t>Time complexity</a:t>
            </a:r>
          </a:p>
        </p:txBody>
      </p:sp>
    </p:spTree>
    <p:extLst>
      <p:ext uri="{BB962C8B-B14F-4D97-AF65-F5344CB8AC3E}">
        <p14:creationId xmlns:p14="http://schemas.microsoft.com/office/powerpoint/2010/main" val="2234023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23850" y="1295401"/>
            <a:ext cx="8496300" cy="5071526"/>
          </a:xfrm>
        </p:spPr>
        <p:txBody>
          <a:bodyPr/>
          <a:lstStyle/>
          <a:p>
            <a:r>
              <a:rPr lang="en-US" sz="2000" dirty="0">
                <a:latin typeface="Consolas" panose="020B0609020204030204" pitchFamily="49" charset="0"/>
              </a:rPr>
              <a:t>Recursion</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r>
              <a:rPr lang="en-US" dirty="0">
                <a:latin typeface="Consolas" panose="020B0609020204030204" pitchFamily="49" charset="0"/>
              </a:rPr>
              <a:t>Suppose</a:t>
            </a:r>
          </a:p>
        </p:txBody>
      </p:sp>
      <p:sp>
        <p:nvSpPr>
          <p:cNvPr id="3" name="Title 2"/>
          <p:cNvSpPr>
            <a:spLocks noGrp="1"/>
          </p:cNvSpPr>
          <p:nvPr>
            <p:ph type="title"/>
          </p:nvPr>
        </p:nvSpPr>
        <p:spPr>
          <a:xfrm>
            <a:off x="179512" y="302400"/>
            <a:ext cx="5383088" cy="691277"/>
          </a:xfrm>
        </p:spPr>
        <p:txBody>
          <a:bodyPr/>
          <a:lstStyle/>
          <a:p>
            <a:r>
              <a:rPr lang="en-US" sz="4400" dirty="0"/>
              <a:t>Recursive Algorithm</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39</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TextBox 5"/>
          <p:cNvSpPr txBox="1"/>
          <p:nvPr/>
        </p:nvSpPr>
        <p:spPr>
          <a:xfrm>
            <a:off x="2367087" y="1828800"/>
            <a:ext cx="5611688" cy="369332"/>
          </a:xfrm>
          <a:prstGeom prst="rect">
            <a:avLst/>
          </a:prstGeom>
          <a:noFill/>
        </p:spPr>
        <p:txBody>
          <a:bodyPr wrap="square" rtlCol="0">
            <a:spAutoFit/>
          </a:bodyPr>
          <a:lstStyle/>
          <a:p>
            <a:endParaRPr lang="en-US" dirty="0"/>
          </a:p>
        </p:txBody>
      </p:sp>
      <p:sp>
        <p:nvSpPr>
          <p:cNvPr id="7" name="TextBox 6"/>
          <p:cNvSpPr txBox="1"/>
          <p:nvPr/>
        </p:nvSpPr>
        <p:spPr>
          <a:xfrm>
            <a:off x="2209800" y="1721872"/>
            <a:ext cx="4616970" cy="369332"/>
          </a:xfrm>
          <a:prstGeom prst="rect">
            <a:avLst/>
          </a:prstGeom>
          <a:noFill/>
        </p:spPr>
        <p:txBody>
          <a:bodyPr wrap="none" rtlCol="0">
            <a:spAutoFit/>
          </a:bodyPr>
          <a:lstStyle/>
          <a:p>
            <a:r>
              <a:rPr lang="en-US" dirty="0">
                <a:solidFill>
                  <a:schemeClr val="accent1">
                    <a:lumMod val="75000"/>
                  </a:schemeClr>
                </a:solidFill>
                <a:latin typeface="Consolas" panose="020B0609020204030204" pitchFamily="49" charset="0"/>
              </a:rPr>
              <a:t>Instead of solving the hard problem</a:t>
            </a:r>
          </a:p>
        </p:txBody>
      </p:sp>
      <p:sp>
        <p:nvSpPr>
          <p:cNvPr id="8" name="TextBox 7"/>
          <p:cNvSpPr txBox="1"/>
          <p:nvPr/>
        </p:nvSpPr>
        <p:spPr>
          <a:xfrm>
            <a:off x="990600" y="2091147"/>
            <a:ext cx="7656263" cy="369332"/>
          </a:xfrm>
          <a:prstGeom prst="rect">
            <a:avLst/>
          </a:prstGeom>
          <a:noFill/>
        </p:spPr>
        <p:txBody>
          <a:bodyPr wrap="none" rtlCol="0">
            <a:spAutoFit/>
          </a:bodyPr>
          <a:lstStyle/>
          <a:p>
            <a:r>
              <a:rPr lang="en-US" dirty="0">
                <a:solidFill>
                  <a:schemeClr val="accent2"/>
                </a:solidFill>
                <a:latin typeface="Consolas" panose="020B0609020204030204" pitchFamily="49" charset="0"/>
              </a:rPr>
              <a:t>Turn it into a slightly easier version of the same problem </a:t>
            </a:r>
          </a:p>
        </p:txBody>
      </p:sp>
      <p:sp>
        <p:nvSpPr>
          <p:cNvPr id="9" name="TextBox 8"/>
          <p:cNvSpPr txBox="1"/>
          <p:nvPr/>
        </p:nvSpPr>
        <p:spPr>
          <a:xfrm>
            <a:off x="1028178" y="3236392"/>
            <a:ext cx="1957587" cy="369332"/>
          </a:xfrm>
          <a:prstGeom prst="rect">
            <a:avLst/>
          </a:prstGeom>
          <a:noFill/>
        </p:spPr>
        <p:txBody>
          <a:bodyPr wrap="none" rtlCol="0">
            <a:spAutoFit/>
          </a:bodyPr>
          <a:lstStyle/>
          <a:p>
            <a:r>
              <a:rPr lang="en-US" dirty="0">
                <a:latin typeface="Consolas" panose="020B0609020204030204" pitchFamily="49" charset="0"/>
              </a:rPr>
              <a:t>5! = 5*4*3*2*1</a:t>
            </a:r>
          </a:p>
        </p:txBody>
      </p:sp>
      <p:sp>
        <p:nvSpPr>
          <p:cNvPr id="10" name="TextBox 9"/>
          <p:cNvSpPr txBox="1"/>
          <p:nvPr/>
        </p:nvSpPr>
        <p:spPr>
          <a:xfrm>
            <a:off x="1028178" y="3620705"/>
            <a:ext cx="1704313" cy="369332"/>
          </a:xfrm>
          <a:prstGeom prst="rect">
            <a:avLst/>
          </a:prstGeom>
          <a:noFill/>
        </p:spPr>
        <p:txBody>
          <a:bodyPr wrap="none" rtlCol="0">
            <a:spAutoFit/>
          </a:bodyPr>
          <a:lstStyle/>
          <a:p>
            <a:r>
              <a:rPr lang="en-US" dirty="0">
                <a:latin typeface="Consolas" panose="020B0609020204030204" pitchFamily="49" charset="0"/>
              </a:rPr>
              <a:t>4! = 4*3*2*1</a:t>
            </a:r>
          </a:p>
        </p:txBody>
      </p:sp>
      <p:sp>
        <p:nvSpPr>
          <p:cNvPr id="11" name="TextBox 10"/>
          <p:cNvSpPr txBox="1"/>
          <p:nvPr/>
        </p:nvSpPr>
        <p:spPr>
          <a:xfrm>
            <a:off x="1024003" y="4107095"/>
            <a:ext cx="1451038" cy="369332"/>
          </a:xfrm>
          <a:prstGeom prst="rect">
            <a:avLst/>
          </a:prstGeom>
          <a:noFill/>
        </p:spPr>
        <p:txBody>
          <a:bodyPr wrap="none" rtlCol="0">
            <a:spAutoFit/>
          </a:bodyPr>
          <a:lstStyle/>
          <a:p>
            <a:r>
              <a:rPr lang="en-US" dirty="0">
                <a:latin typeface="Consolas" panose="020B0609020204030204" pitchFamily="49" charset="0"/>
              </a:rPr>
              <a:t>3! = 3*2*1</a:t>
            </a:r>
          </a:p>
        </p:txBody>
      </p:sp>
      <p:sp>
        <p:nvSpPr>
          <p:cNvPr id="12" name="TextBox 11"/>
          <p:cNvSpPr txBox="1"/>
          <p:nvPr/>
        </p:nvSpPr>
        <p:spPr>
          <a:xfrm>
            <a:off x="1048011" y="4547446"/>
            <a:ext cx="1830950" cy="369332"/>
          </a:xfrm>
          <a:prstGeom prst="rect">
            <a:avLst/>
          </a:prstGeom>
          <a:noFill/>
        </p:spPr>
        <p:txBody>
          <a:bodyPr wrap="none" rtlCol="0">
            <a:spAutoFit/>
          </a:bodyPr>
          <a:lstStyle/>
          <a:p>
            <a:r>
              <a:rPr lang="en-US" dirty="0">
                <a:latin typeface="Consolas" panose="020B0609020204030204" pitchFamily="49" charset="0"/>
              </a:rPr>
              <a:t>n! = n*(n-1)!</a:t>
            </a:r>
          </a:p>
        </p:txBody>
      </p:sp>
      <p:sp>
        <p:nvSpPr>
          <p:cNvPr id="13" name="TextBox 12"/>
          <p:cNvSpPr txBox="1"/>
          <p:nvPr/>
        </p:nvSpPr>
        <p:spPr>
          <a:xfrm>
            <a:off x="4267200" y="3251373"/>
            <a:ext cx="1704313" cy="369332"/>
          </a:xfrm>
          <a:prstGeom prst="rect">
            <a:avLst/>
          </a:prstGeom>
          <a:noFill/>
        </p:spPr>
        <p:txBody>
          <a:bodyPr wrap="none" rtlCol="0">
            <a:spAutoFit/>
          </a:bodyPr>
          <a:lstStyle/>
          <a:p>
            <a:r>
              <a:rPr lang="en-US" dirty="0">
                <a:latin typeface="Consolas" panose="020B0609020204030204" pitchFamily="49" charset="0"/>
              </a:rPr>
              <a:t>Factorial(4)</a:t>
            </a:r>
          </a:p>
        </p:txBody>
      </p:sp>
      <p:sp>
        <p:nvSpPr>
          <p:cNvPr id="14" name="TextBox 13"/>
          <p:cNvSpPr txBox="1"/>
          <p:nvPr/>
        </p:nvSpPr>
        <p:spPr>
          <a:xfrm>
            <a:off x="4835432" y="3737763"/>
            <a:ext cx="1957587" cy="369332"/>
          </a:xfrm>
          <a:prstGeom prst="rect">
            <a:avLst/>
          </a:prstGeom>
          <a:noFill/>
        </p:spPr>
        <p:txBody>
          <a:bodyPr wrap="none" rtlCol="0">
            <a:spAutoFit/>
          </a:bodyPr>
          <a:lstStyle/>
          <a:p>
            <a:r>
              <a:rPr lang="en-US" dirty="0">
                <a:latin typeface="Consolas" panose="020B0609020204030204" pitchFamily="49" charset="0"/>
              </a:rPr>
              <a:t>4*Factorial(3)</a:t>
            </a:r>
          </a:p>
        </p:txBody>
      </p:sp>
      <p:sp>
        <p:nvSpPr>
          <p:cNvPr id="16" name="TextBox 15"/>
          <p:cNvSpPr txBox="1"/>
          <p:nvPr/>
        </p:nvSpPr>
        <p:spPr>
          <a:xfrm>
            <a:off x="5197983" y="4262534"/>
            <a:ext cx="1957587" cy="369332"/>
          </a:xfrm>
          <a:prstGeom prst="rect">
            <a:avLst/>
          </a:prstGeom>
          <a:noFill/>
        </p:spPr>
        <p:txBody>
          <a:bodyPr wrap="none" rtlCol="0">
            <a:spAutoFit/>
          </a:bodyPr>
          <a:lstStyle/>
          <a:p>
            <a:r>
              <a:rPr lang="en-US" dirty="0">
                <a:latin typeface="Consolas" panose="020B0609020204030204" pitchFamily="49" charset="0"/>
              </a:rPr>
              <a:t>3*Factorial(2)</a:t>
            </a:r>
          </a:p>
        </p:txBody>
      </p:sp>
      <p:sp>
        <p:nvSpPr>
          <p:cNvPr id="17" name="TextBox 16"/>
          <p:cNvSpPr txBox="1"/>
          <p:nvPr/>
        </p:nvSpPr>
        <p:spPr>
          <a:xfrm>
            <a:off x="5742277" y="4809150"/>
            <a:ext cx="1957587" cy="369332"/>
          </a:xfrm>
          <a:prstGeom prst="rect">
            <a:avLst/>
          </a:prstGeom>
          <a:noFill/>
        </p:spPr>
        <p:txBody>
          <a:bodyPr wrap="none" rtlCol="0">
            <a:spAutoFit/>
          </a:bodyPr>
          <a:lstStyle/>
          <a:p>
            <a:r>
              <a:rPr lang="en-US" dirty="0">
                <a:latin typeface="Consolas" panose="020B0609020204030204" pitchFamily="49" charset="0"/>
              </a:rPr>
              <a:t>2*Factorial(1)</a:t>
            </a:r>
          </a:p>
        </p:txBody>
      </p:sp>
      <p:sp>
        <p:nvSpPr>
          <p:cNvPr id="18" name="TextBox 17"/>
          <p:cNvSpPr txBox="1"/>
          <p:nvPr/>
        </p:nvSpPr>
        <p:spPr>
          <a:xfrm>
            <a:off x="6336176" y="4818392"/>
            <a:ext cx="575799" cy="400110"/>
          </a:xfrm>
          <a:prstGeom prst="rect">
            <a:avLst/>
          </a:prstGeom>
          <a:noFill/>
        </p:spPr>
        <p:txBody>
          <a:bodyPr wrap="none" rtlCol="0">
            <a:spAutoFit/>
          </a:bodyPr>
          <a:lstStyle/>
          <a:p>
            <a:r>
              <a:rPr lang="en-US" sz="2000" dirty="0">
                <a:solidFill>
                  <a:schemeClr val="accent2"/>
                </a:solidFill>
              </a:rPr>
              <a:t>2*1</a:t>
            </a:r>
          </a:p>
        </p:txBody>
      </p:sp>
      <p:sp>
        <p:nvSpPr>
          <p:cNvPr id="19" name="Left Arrow 18"/>
          <p:cNvSpPr/>
          <p:nvPr/>
        </p:nvSpPr>
        <p:spPr>
          <a:xfrm rot="3639955">
            <a:off x="6183374" y="4646335"/>
            <a:ext cx="288314" cy="194334"/>
          </a:xfrm>
          <a:prstGeom prst="leftArrow">
            <a:avLst>
              <a:gd name="adj1" fmla="val 33650"/>
              <a:gd name="adj2" fmla="val 611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5712631" y="4231756"/>
            <a:ext cx="896399" cy="400110"/>
          </a:xfrm>
          <a:prstGeom prst="rect">
            <a:avLst/>
          </a:prstGeom>
          <a:noFill/>
        </p:spPr>
        <p:txBody>
          <a:bodyPr wrap="none" rtlCol="0">
            <a:spAutoFit/>
          </a:bodyPr>
          <a:lstStyle/>
          <a:p>
            <a:r>
              <a:rPr lang="en-US" sz="2000" dirty="0">
                <a:solidFill>
                  <a:schemeClr val="accent2"/>
                </a:solidFill>
              </a:rPr>
              <a:t>3*2=6</a:t>
            </a:r>
          </a:p>
        </p:txBody>
      </p:sp>
      <p:sp>
        <p:nvSpPr>
          <p:cNvPr id="24" name="TextBox 23"/>
          <p:cNvSpPr txBox="1"/>
          <p:nvPr/>
        </p:nvSpPr>
        <p:spPr>
          <a:xfrm>
            <a:off x="5193900" y="3698525"/>
            <a:ext cx="1037463" cy="400110"/>
          </a:xfrm>
          <a:prstGeom prst="rect">
            <a:avLst/>
          </a:prstGeom>
          <a:noFill/>
        </p:spPr>
        <p:txBody>
          <a:bodyPr wrap="none" rtlCol="0">
            <a:spAutoFit/>
          </a:bodyPr>
          <a:lstStyle/>
          <a:p>
            <a:r>
              <a:rPr lang="en-US" sz="2000" dirty="0">
                <a:solidFill>
                  <a:schemeClr val="accent2"/>
                </a:solidFill>
              </a:rPr>
              <a:t>4*6=24</a:t>
            </a:r>
          </a:p>
        </p:txBody>
      </p:sp>
      <p:sp>
        <p:nvSpPr>
          <p:cNvPr id="26" name="Left Arrow 25"/>
          <p:cNvSpPr/>
          <p:nvPr/>
        </p:nvSpPr>
        <p:spPr>
          <a:xfrm rot="3639955">
            <a:off x="5807254" y="4060763"/>
            <a:ext cx="288314" cy="194334"/>
          </a:xfrm>
          <a:prstGeom prst="leftArrow">
            <a:avLst>
              <a:gd name="adj1" fmla="val 33650"/>
              <a:gd name="adj2" fmla="val 611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685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arn(inVertical)">
                                      <p:cBhvr>
                                        <p:cTn id="15" dur="500"/>
                                        <p:tgtEl>
                                          <p:spTgt spid="16"/>
                                        </p:tgtEl>
                                      </p:cBhvr>
                                    </p:animEffect>
                                  </p:childTnLst>
                                </p:cTn>
                              </p:par>
                            </p:childTnLst>
                          </p:cTn>
                        </p:par>
                        <p:par>
                          <p:cTn id="16" fill="hold">
                            <p:stCondLst>
                              <p:cond delay="1500"/>
                            </p:stCondLst>
                            <p:childTnLst>
                              <p:par>
                                <p:cTn id="17" presetID="16" presetClass="entr" presetSubtype="21"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arn(inVertical)">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xit" presetSubtype="4" fill="hold" grpId="1" nodeType="clickEffect">
                                  <p:stCondLst>
                                    <p:cond delay="0"/>
                                  </p:stCondLst>
                                  <p:childTnLst>
                                    <p:animEffect transition="out" filter="wipe(down)">
                                      <p:cBhvr>
                                        <p:cTn id="23" dur="500"/>
                                        <p:tgtEl>
                                          <p:spTgt spid="17"/>
                                        </p:tgtEl>
                                      </p:cBhvr>
                                    </p:animEffect>
                                    <p:set>
                                      <p:cBhvr>
                                        <p:cTn id="24" dur="1" fill="hold">
                                          <p:stCondLst>
                                            <p:cond delay="499"/>
                                          </p:stCondLst>
                                        </p:cTn>
                                        <p:tgtEl>
                                          <p:spTgt spid="17"/>
                                        </p:tgtEl>
                                        <p:attrNameLst>
                                          <p:attrName>style.visibility</p:attrName>
                                        </p:attrNameLst>
                                      </p:cBhvr>
                                      <p:to>
                                        <p:strVal val="hidden"/>
                                      </p:to>
                                    </p:set>
                                  </p:childTnLst>
                                </p:cTn>
                              </p:par>
                              <p:par>
                                <p:cTn id="25" presetID="16" presetClass="entr" presetSubtype="21"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arn(inVertical)">
                                      <p:cBhvr>
                                        <p:cTn id="27" dur="500"/>
                                        <p:tgtEl>
                                          <p:spTgt spid="18"/>
                                        </p:tgtEl>
                                      </p:cBhvr>
                                    </p:animEffec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down)">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xit" presetSubtype="4" fill="hold" grpId="1" nodeType="clickEffect">
                                  <p:stCondLst>
                                    <p:cond delay="0"/>
                                  </p:stCondLst>
                                  <p:childTnLst>
                                    <p:animEffect transition="out" filter="wipe(down)">
                                      <p:cBhvr>
                                        <p:cTn id="35" dur="500"/>
                                        <p:tgtEl>
                                          <p:spTgt spid="16"/>
                                        </p:tgtEl>
                                      </p:cBhvr>
                                    </p:animEffect>
                                    <p:set>
                                      <p:cBhvr>
                                        <p:cTn id="36" dur="1" fill="hold">
                                          <p:stCondLst>
                                            <p:cond delay="499"/>
                                          </p:stCondLst>
                                        </p:cTn>
                                        <p:tgtEl>
                                          <p:spTgt spid="16"/>
                                        </p:tgtEl>
                                        <p:attrNameLst>
                                          <p:attrName>style.visibility</p:attrName>
                                        </p:attrNameLst>
                                      </p:cBhvr>
                                      <p:to>
                                        <p:strVal val="hidden"/>
                                      </p:to>
                                    </p:set>
                                  </p:childTnLst>
                                </p:cTn>
                              </p:par>
                              <p:par>
                                <p:cTn id="37" presetID="22" presetClass="entr" presetSubtype="4"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down)">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heel(1)">
                                      <p:cBhvr>
                                        <p:cTn id="44" dur="1000"/>
                                        <p:tgtEl>
                                          <p:spTgt spid="2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xit" presetSubtype="4" fill="hold" grpId="1" nodeType="clickEffect">
                                  <p:stCondLst>
                                    <p:cond delay="0"/>
                                  </p:stCondLst>
                                  <p:childTnLst>
                                    <p:animEffect transition="out" filter="wipe(down)">
                                      <p:cBhvr>
                                        <p:cTn id="48" dur="500"/>
                                        <p:tgtEl>
                                          <p:spTgt spid="14"/>
                                        </p:tgtEl>
                                      </p:cBhvr>
                                    </p:animEffect>
                                    <p:set>
                                      <p:cBhvr>
                                        <p:cTn id="49" dur="1" fill="hold">
                                          <p:stCondLst>
                                            <p:cond delay="499"/>
                                          </p:stCondLst>
                                        </p:cTn>
                                        <p:tgtEl>
                                          <p:spTgt spid="14"/>
                                        </p:tgtEl>
                                        <p:attrNameLst>
                                          <p:attrName>style.visibility</p:attrName>
                                        </p:attrNameLst>
                                      </p:cBhvr>
                                      <p:to>
                                        <p:strVal val="hidden"/>
                                      </p:to>
                                    </p:set>
                                  </p:childTnLst>
                                </p:cTn>
                              </p:par>
                              <p:par>
                                <p:cTn id="50" presetID="6" presetClass="entr" presetSubtype="16"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circle(in)">
                                      <p:cBhvr>
                                        <p:cTn id="52"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4" grpId="1"/>
      <p:bldP spid="16" grpId="0"/>
      <p:bldP spid="16" grpId="1"/>
      <p:bldP spid="17" grpId="0"/>
      <p:bldP spid="17" grpId="1"/>
      <p:bldP spid="18" grpId="0"/>
      <p:bldP spid="19" grpId="0" animBg="1"/>
      <p:bldP spid="23" grpId="0"/>
      <p:bldP spid="24" grpId="0"/>
      <p:bldP spid="2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04800" y="1272034"/>
            <a:ext cx="8496300" cy="4925347"/>
          </a:xfrm>
        </p:spPr>
        <p:txBody>
          <a:bodyPr/>
          <a:lstStyle/>
          <a:p>
            <a:r>
              <a:rPr lang="en-US" altLang="ko-KR" sz="2000" dirty="0">
                <a:latin typeface="Consolas" panose="020B0609020204030204" pitchFamily="49" charset="0"/>
              </a:rPr>
              <a:t>Algorithm (recursive):</a:t>
            </a:r>
          </a:p>
          <a:p>
            <a:endParaRPr lang="en-US" altLang="ko-KR" dirty="0"/>
          </a:p>
          <a:p>
            <a:endParaRPr lang="en-US" altLang="ko-KR" dirty="0"/>
          </a:p>
          <a:p>
            <a:endParaRPr lang="en-US" altLang="ko-KR" dirty="0"/>
          </a:p>
          <a:p>
            <a:endParaRPr lang="en-US" altLang="ko-KR" dirty="0"/>
          </a:p>
          <a:p>
            <a:pPr>
              <a:lnSpc>
                <a:spcPct val="150000"/>
              </a:lnSpc>
              <a:spcBef>
                <a:spcPct val="40000"/>
              </a:spcBef>
              <a:tabLst>
                <a:tab pos="762000" algn="l"/>
              </a:tabLst>
            </a:pPr>
            <a:r>
              <a:rPr lang="en-US" altLang="ko-KR" sz="2000" dirty="0">
                <a:latin typeface="Consolas" panose="020B0609020204030204" pitchFamily="49" charset="0"/>
              </a:rPr>
              <a:t>Pros and Cons</a:t>
            </a:r>
          </a:p>
          <a:p>
            <a:pPr lvl="1"/>
            <a:r>
              <a:rPr lang="en-US" altLang="ko-KR" sz="2000" dirty="0">
                <a:solidFill>
                  <a:schemeClr val="accent1">
                    <a:lumMod val="75000"/>
                  </a:schemeClr>
                </a:solidFill>
                <a:latin typeface="Consolas" panose="020B0609020204030204" pitchFamily="49" charset="0"/>
              </a:rPr>
              <a:t>Pros: More natural to express the functions</a:t>
            </a:r>
          </a:p>
          <a:p>
            <a:pPr lvl="1"/>
            <a:r>
              <a:rPr lang="en-US" altLang="ko-KR" sz="2000" dirty="0">
                <a:solidFill>
                  <a:schemeClr val="accent1">
                    <a:lumMod val="75000"/>
                  </a:schemeClr>
                </a:solidFill>
                <a:latin typeface="Consolas" panose="020B0609020204030204" pitchFamily="49" charset="0"/>
              </a:rPr>
              <a:t>Cons: More memory is required than the iterative counterpart</a:t>
            </a:r>
          </a:p>
          <a:p>
            <a:endParaRPr lang="en-US" altLang="ko-KR" dirty="0"/>
          </a:p>
          <a:p>
            <a:endParaRPr lang="en-US" dirty="0"/>
          </a:p>
        </p:txBody>
      </p:sp>
      <p:sp>
        <p:nvSpPr>
          <p:cNvPr id="3" name="Title 2"/>
          <p:cNvSpPr>
            <a:spLocks noGrp="1"/>
          </p:cNvSpPr>
          <p:nvPr>
            <p:ph type="title"/>
          </p:nvPr>
        </p:nvSpPr>
        <p:spPr>
          <a:xfrm>
            <a:off x="179512" y="302400"/>
            <a:ext cx="5306888" cy="691277"/>
          </a:xfrm>
        </p:spPr>
        <p:txBody>
          <a:bodyPr/>
          <a:lstStyle/>
          <a:p>
            <a:r>
              <a:rPr lang="en-US" sz="4400" dirty="0"/>
              <a:t>Recursive Algorithm</a:t>
            </a:r>
          </a:p>
        </p:txBody>
      </p:sp>
      <p:sp>
        <p:nvSpPr>
          <p:cNvPr id="4" name="Slide Number Placeholder 3"/>
          <p:cNvSpPr>
            <a:spLocks noGrp="1"/>
          </p:cNvSpPr>
          <p:nvPr>
            <p:ph type="sldNum" sz="quarter" idx="11"/>
          </p:nvPr>
        </p:nvSpPr>
        <p:spPr/>
        <p:txBody>
          <a:bodyPr/>
          <a:lstStyle/>
          <a:p>
            <a:pPr>
              <a:defRPr/>
            </a:pPr>
            <a:fld id="{8B54D4F5-0B3E-4D5E-A4C2-8D7668C34286}" type="slidenum">
              <a:rPr lang="en-US" smtClean="0"/>
              <a:pPr>
                <a:defRPr/>
              </a:pPr>
              <a:t>40</a:t>
            </a:fld>
            <a:endParaRPr lang="en-US"/>
          </a:p>
        </p:txBody>
      </p:sp>
      <p:sp>
        <p:nvSpPr>
          <p:cNvPr id="5" name="Date Placeholder 4"/>
          <p:cNvSpPr>
            <a:spLocks noGrp="1"/>
          </p:cNvSpPr>
          <p:nvPr>
            <p:ph type="dt" sz="half" idx="12"/>
          </p:nvPr>
        </p:nvSpPr>
        <p:spPr/>
        <p:txBody>
          <a:bodyPr/>
          <a:lstStyle/>
          <a:p>
            <a:pPr>
              <a:defRPr/>
            </a:pPr>
            <a:fld id="{B237DBED-33CD-47A9-891F-1EF490AFEF10}" type="datetime4">
              <a:rPr lang="en-US" smtClean="0"/>
              <a:pPr>
                <a:defRPr/>
              </a:pPr>
              <a:t>March 21, 2020</a:t>
            </a:fld>
            <a:endParaRPr lang="en-US"/>
          </a:p>
        </p:txBody>
      </p:sp>
      <p:sp>
        <p:nvSpPr>
          <p:cNvPr id="6" name="직사각형 1"/>
          <p:cNvSpPr/>
          <p:nvPr/>
        </p:nvSpPr>
        <p:spPr>
          <a:xfrm>
            <a:off x="1066800" y="1981200"/>
            <a:ext cx="6102424" cy="707886"/>
          </a:xfrm>
          <a:prstGeom prst="rect">
            <a:avLst/>
          </a:prstGeom>
        </p:spPr>
        <p:txBody>
          <a:bodyPr wrap="square">
            <a:spAutoFit/>
          </a:bodyPr>
          <a:lstStyle/>
          <a:p>
            <a:pPr algn="l">
              <a:spcBef>
                <a:spcPct val="40000"/>
              </a:spcBef>
              <a:tabLst>
                <a:tab pos="803275" algn="l"/>
              </a:tabLst>
            </a:pPr>
            <a:r>
              <a:rPr lang="en-US" altLang="ko-KR" b="1" dirty="0">
                <a:latin typeface="Courier New" pitchFamily="49" charset="0"/>
              </a:rPr>
              <a:t>if k = 0, then return 1; </a:t>
            </a:r>
            <a:br>
              <a:rPr lang="en-US" altLang="ko-KR" b="1" dirty="0">
                <a:latin typeface="Courier New" pitchFamily="49" charset="0"/>
              </a:rPr>
            </a:br>
            <a:r>
              <a:rPr lang="en-US" altLang="ko-KR" b="1" dirty="0">
                <a:latin typeface="Courier New" pitchFamily="49" charset="0"/>
              </a:rPr>
              <a:t>else return 2*Power_of_2(k - 1)</a:t>
            </a:r>
          </a:p>
        </p:txBody>
      </p:sp>
      <p:sp>
        <p:nvSpPr>
          <p:cNvPr id="7" name="Rectangular Callout 6"/>
          <p:cNvSpPr/>
          <p:nvPr/>
        </p:nvSpPr>
        <p:spPr>
          <a:xfrm>
            <a:off x="6008013" y="1981200"/>
            <a:ext cx="914400" cy="612648"/>
          </a:xfrm>
          <a:prstGeom prst="wedgeRectCallout">
            <a:avLst>
              <a:gd name="adj1" fmla="val -215354"/>
              <a:gd name="adj2" fmla="val -1928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2"/>
                </a:solidFill>
              </a:rPr>
              <a:t>Base case</a:t>
            </a:r>
          </a:p>
        </p:txBody>
      </p:sp>
    </p:spTree>
    <p:extLst>
      <p:ext uri="{BB962C8B-B14F-4D97-AF65-F5344CB8AC3E}">
        <p14:creationId xmlns:p14="http://schemas.microsoft.com/office/powerpoint/2010/main" val="5565632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0" y="1447800"/>
            <a:ext cx="4533900" cy="1103313"/>
          </a:xfrm>
        </p:spPr>
        <p:txBody>
          <a:bodyPr rtlCol="0">
            <a:normAutofit fontScale="90000"/>
          </a:bodyPr>
          <a:lstStyle/>
          <a:p>
            <a:pPr fontAlgn="auto">
              <a:spcAft>
                <a:spcPts val="0"/>
              </a:spcAft>
              <a:defRPr/>
            </a:pPr>
            <a:r>
              <a:rPr lang="en-US" dirty="0"/>
              <a:t>Thank You</a:t>
            </a:r>
            <a:br>
              <a:rPr lang="en-US" dirty="0"/>
            </a:br>
            <a:br>
              <a:rPr lang="en-US" dirty="0"/>
            </a:br>
            <a:r>
              <a:rPr lang="en-US" dirty="0"/>
              <a:t>Q &amp; A</a:t>
            </a:r>
          </a:p>
        </p:txBody>
      </p:sp>
      <p:sp>
        <p:nvSpPr>
          <p:cNvPr id="12291" name="Text Placeholder 4"/>
          <p:cNvSpPr>
            <a:spLocks noGrp="1"/>
          </p:cNvSpPr>
          <p:nvPr>
            <p:ph type="body" sz="quarter" idx="10"/>
          </p:nvPr>
        </p:nvSpPr>
        <p:spPr>
          <a:xfrm>
            <a:off x="2916238" y="4899025"/>
            <a:ext cx="3311525" cy="690563"/>
          </a:xfrm>
        </p:spPr>
        <p:txBody>
          <a:bodyPr/>
          <a:lstStyle/>
          <a:p>
            <a:r>
              <a:rPr lang="en-US" altLang="en-US"/>
              <a:t>6</a:t>
            </a:r>
            <a:r>
              <a:rPr lang="en-US" altLang="en-US" baseline="30000"/>
              <a:t>th</a:t>
            </a:r>
            <a:r>
              <a:rPr lang="en-US" altLang="en-US"/>
              <a:t> September, 2019</a:t>
            </a:r>
            <a:endParaRPr lang="en-US" altLang="en-US" dirty="0"/>
          </a:p>
        </p:txBody>
      </p:sp>
    </p:spTree>
  </p:cSld>
  <p:clrMapOvr>
    <a:masterClrMapping/>
  </p:clrMapOvr>
  <p:transition spd="med">
    <p:fade/>
  </p:transition>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dirty="0"/>
        </a:defPPr>
      </a:lstStyle>
    </a:txDef>
  </a:objectDefaults>
  <a:extraClrSchemeLst/>
  <a:extLst>
    <a:ext uri="{05A4C25C-085E-4340-85A3-A5531E510DB2}">
      <thm15:themeFamily xmlns:thm15="http://schemas.microsoft.com/office/thememl/2012/main" name="Presentation1" id="{592828AE-23EF-41B0-9902-DD288C49937C}" vid="{D78FD014-04BA-4A34-937B-FC2C7C366E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Presentation1</Template>
  <TotalTime>1786</TotalTime>
  <Words>4187</Words>
  <Application>Microsoft Office PowerPoint</Application>
  <PresentationFormat>화면 슬라이드 쇼(4:3)</PresentationFormat>
  <Paragraphs>838</Paragraphs>
  <Slides>41</Slides>
  <Notes>1</Notes>
  <HiddenSlides>0</HiddenSlides>
  <MMClips>0</MMClips>
  <ScaleCrop>false</ScaleCrop>
  <HeadingPairs>
    <vt:vector size="6" baseType="variant">
      <vt:variant>
        <vt:lpstr>사용한 글꼴</vt:lpstr>
      </vt:variant>
      <vt:variant>
        <vt:i4>12</vt:i4>
      </vt:variant>
      <vt:variant>
        <vt:lpstr>테마</vt:lpstr>
      </vt:variant>
      <vt:variant>
        <vt:i4>1</vt:i4>
      </vt:variant>
      <vt:variant>
        <vt:lpstr>슬라이드 제목</vt:lpstr>
      </vt:variant>
      <vt:variant>
        <vt:i4>41</vt:i4>
      </vt:variant>
    </vt:vector>
  </HeadingPairs>
  <TitlesOfParts>
    <vt:vector size="54" baseType="lpstr">
      <vt:lpstr>맑은 고딕</vt:lpstr>
      <vt:lpstr>바탕</vt:lpstr>
      <vt:lpstr>Arial</vt:lpstr>
      <vt:lpstr>Bell MT</vt:lpstr>
      <vt:lpstr>Calibri</vt:lpstr>
      <vt:lpstr>Comic Sans MS</vt:lpstr>
      <vt:lpstr>Consolas</vt:lpstr>
      <vt:lpstr>Courier New</vt:lpstr>
      <vt:lpstr>Gill Sans MT</vt:lpstr>
      <vt:lpstr>Leelawadee UI</vt:lpstr>
      <vt:lpstr>Times New Roman</vt:lpstr>
      <vt:lpstr>Wingdings</vt:lpstr>
      <vt:lpstr>Office 테마</vt:lpstr>
      <vt:lpstr>Concepts </vt:lpstr>
      <vt:lpstr>Who Am I?</vt:lpstr>
      <vt:lpstr>My Thoughts</vt:lpstr>
      <vt:lpstr>Thoughts on CS</vt:lpstr>
      <vt:lpstr>Use me as A Resource!</vt:lpstr>
      <vt:lpstr>Course Work</vt:lpstr>
      <vt:lpstr>Scientist vs. Engineer</vt:lpstr>
      <vt:lpstr>Programming vs. Software Engineering </vt:lpstr>
      <vt:lpstr>System Life Cycle</vt:lpstr>
      <vt:lpstr>Algo. vs. Data Structure</vt:lpstr>
      <vt:lpstr>What is Data Structure</vt:lpstr>
      <vt:lpstr>Algorithm#1</vt:lpstr>
      <vt:lpstr>Algorithm#2</vt:lpstr>
      <vt:lpstr>How many Guesses?</vt:lpstr>
      <vt:lpstr>Significance</vt:lpstr>
      <vt:lpstr>A data Structure :FB</vt:lpstr>
      <vt:lpstr>A Better One</vt:lpstr>
      <vt:lpstr>A Better One</vt:lpstr>
      <vt:lpstr>ADT(Abstract Data Type)</vt:lpstr>
      <vt:lpstr>PowerPoint 프레젠테이션</vt:lpstr>
      <vt:lpstr>PowerPoint 프레젠테이션</vt:lpstr>
      <vt:lpstr>PowerPoint 프레젠테이션</vt:lpstr>
      <vt:lpstr>Characteristics</vt:lpstr>
      <vt:lpstr>Types of Data Structure</vt:lpstr>
      <vt:lpstr>Performance Analysis</vt:lpstr>
      <vt:lpstr>Performance Analysis</vt:lpstr>
      <vt:lpstr>Space Complexity</vt:lpstr>
      <vt:lpstr>Example: Space Complexity</vt:lpstr>
      <vt:lpstr>Time Complexity</vt:lpstr>
      <vt:lpstr>Time Complexity: Examples</vt:lpstr>
      <vt:lpstr>Time Complexity: Examples</vt:lpstr>
      <vt:lpstr>Time Complexity: Examples</vt:lpstr>
      <vt:lpstr>Time Complexity</vt:lpstr>
      <vt:lpstr>Asymptotic Notation</vt:lpstr>
      <vt:lpstr>Big Oh</vt:lpstr>
      <vt:lpstr>Big Omega</vt:lpstr>
      <vt:lpstr>Big Theta</vt:lpstr>
      <vt:lpstr>Time Complexity </vt:lpstr>
      <vt:lpstr>Recursive Algorithm</vt:lpstr>
      <vt:lpstr>Recursive Algorithm</vt:lpstr>
      <vt:lpstr>Thank You  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Concepts</dc:title>
  <dc:creator>AJOU</dc:creator>
  <cp:lastModifiedBy>USER</cp:lastModifiedBy>
  <cp:revision>111</cp:revision>
  <dcterms:created xsi:type="dcterms:W3CDTF">2018-03-02T03:51:30Z</dcterms:created>
  <dcterms:modified xsi:type="dcterms:W3CDTF">2020-03-20T21:44:06Z</dcterms:modified>
</cp:coreProperties>
</file>