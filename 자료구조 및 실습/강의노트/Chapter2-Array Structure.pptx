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7" r:id="rId2"/>
    <p:sldId id="304" r:id="rId3"/>
    <p:sldId id="305" r:id="rId4"/>
    <p:sldId id="308" r:id="rId5"/>
    <p:sldId id="309" r:id="rId6"/>
    <p:sldId id="307" r:id="rId7"/>
    <p:sldId id="310" r:id="rId8"/>
    <p:sldId id="311" r:id="rId9"/>
    <p:sldId id="306" r:id="rId10"/>
    <p:sldId id="314" r:id="rId11"/>
    <p:sldId id="316" r:id="rId12"/>
    <p:sldId id="315" r:id="rId13"/>
    <p:sldId id="313" r:id="rId14"/>
    <p:sldId id="317" r:id="rId15"/>
    <p:sldId id="318" r:id="rId16"/>
    <p:sldId id="319" r:id="rId17"/>
    <p:sldId id="320" r:id="rId18"/>
    <p:sldId id="321" r:id="rId19"/>
    <p:sldId id="322" r:id="rId20"/>
    <p:sldId id="324" r:id="rId21"/>
    <p:sldId id="325" r:id="rId22"/>
    <p:sldId id="323" r:id="rId23"/>
    <p:sldId id="326" r:id="rId24"/>
    <p:sldId id="329" r:id="rId25"/>
    <p:sldId id="328" r:id="rId26"/>
    <p:sldId id="327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8" r:id="rId35"/>
    <p:sldId id="337" r:id="rId36"/>
    <p:sldId id="340" r:id="rId37"/>
    <p:sldId id="343" r:id="rId38"/>
    <p:sldId id="344" r:id="rId39"/>
    <p:sldId id="345" r:id="rId40"/>
    <p:sldId id="339" r:id="rId41"/>
    <p:sldId id="342" r:id="rId42"/>
    <p:sldId id="341" r:id="rId43"/>
    <p:sldId id="346" r:id="rId44"/>
    <p:sldId id="347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56" r:id="rId53"/>
    <p:sldId id="357" r:id="rId54"/>
    <p:sldId id="362" r:id="rId55"/>
    <p:sldId id="361" r:id="rId56"/>
    <p:sldId id="355" r:id="rId57"/>
    <p:sldId id="358" r:id="rId58"/>
    <p:sldId id="360" r:id="rId59"/>
    <p:sldId id="359" r:id="rId60"/>
    <p:sldId id="292" r:id="rId6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맑은 고딕" panose="020B0503020000020004" pitchFamily="34" charset="-12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JOU" initials="A" lastIdx="1" clrIdx="0">
    <p:extLst>
      <p:ext uri="{19B8F6BF-5375-455C-9EA6-DF929625EA0E}">
        <p15:presenceInfo xmlns:p15="http://schemas.microsoft.com/office/powerpoint/2012/main" userId="AJO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06"/>
  </p:normalViewPr>
  <p:slideViewPr>
    <p:cSldViewPr>
      <p:cViewPr varScale="1">
        <p:scale>
          <a:sx n="114" d="100"/>
          <a:sy n="114" d="100"/>
        </p:scale>
        <p:origin x="15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3A08DC4-A938-4525-A063-BD46C9F87719}" type="datetimeFigureOut">
              <a:rPr lang="en-US"/>
              <a:pPr>
                <a:defRPr/>
              </a:pPr>
              <a:t>3/21/2020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0A2453E-4019-460E-A623-F67A430097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10B8683-6AA3-4B8F-8519-7B9EFDAB7A67}" type="slidenum">
              <a:rPr lang="en-US" altLang="en-US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429125"/>
            <a:ext cx="9144000" cy="23241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1022350" y="5105400"/>
            <a:ext cx="6029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 algn="r" eaLnBrk="1" hangingPunct="1"/>
            <a:r>
              <a:rPr lang="en-US" altLang="ko-KR" sz="2000">
                <a:solidFill>
                  <a:srgbClr val="DCE6F2"/>
                </a:solidFill>
                <a:latin typeface="Bell MT" panose="02020503060305020303" pitchFamily="18" charset="0"/>
              </a:rPr>
              <a:t>Department of Information and Computer Engineering</a:t>
            </a:r>
            <a:endParaRPr lang="ko-KR" altLang="en-US" sz="2000">
              <a:solidFill>
                <a:srgbClr val="DCE6F2"/>
              </a:solidFill>
              <a:latin typeface="Bell MT" panose="02020503060305020303" pitchFamily="18" charset="0"/>
            </a:endParaRPr>
          </a:p>
          <a:p>
            <a:pPr algn="r" eaLnBrk="1" hangingPunct="1"/>
            <a:r>
              <a:rPr lang="en-US" altLang="en-US" sz="2000">
                <a:solidFill>
                  <a:srgbClr val="DCE6F2"/>
                </a:solidFill>
                <a:latin typeface="Bell MT" panose="02020503060305020303" pitchFamily="18" charset="0"/>
              </a:rPr>
              <a:t> </a:t>
            </a:r>
          </a:p>
        </p:txBody>
      </p:sp>
      <p:sp>
        <p:nvSpPr>
          <p:cNvPr id="6" name="TextBox 9"/>
          <p:cNvSpPr txBox="1">
            <a:spLocks noChangeArrowheads="1"/>
          </p:cNvSpPr>
          <p:nvPr/>
        </p:nvSpPr>
        <p:spPr bwMode="auto">
          <a:xfrm>
            <a:off x="1082675" y="5443538"/>
            <a:ext cx="1870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DCE6F2"/>
                </a:solidFill>
                <a:latin typeface="Bell MT" panose="02020503060305020303" pitchFamily="18" charset="0"/>
              </a:rPr>
              <a:t>Ajou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74528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-7938"/>
            <a:ext cx="9144000" cy="830263"/>
          </a:xfrm>
          <a:prstGeom prst="rect">
            <a:avLst/>
          </a:prstGeom>
          <a:solidFill>
            <a:schemeClr val="tx2">
              <a:lumMod val="50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819150"/>
            <a:ext cx="9144000" cy="55563"/>
          </a:xfrm>
          <a:prstGeom prst="rect">
            <a:avLst/>
          </a:prstGeom>
          <a:solidFill>
            <a:schemeClr val="accent5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2" descr="C:\Users\Rajib\Documents\Temp\Logo\eng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93788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663" y="920750"/>
            <a:ext cx="1557337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 descr="C:\Users\Rajib\Documents\Temp\Logo\Ajou_Univ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325" y="839788"/>
            <a:ext cx="684213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1130300" y="4700588"/>
            <a:ext cx="20589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DCE6F2"/>
                </a:solidFill>
                <a:latin typeface="Bell MT" panose="02020503060305020303" pitchFamily="18" charset="0"/>
              </a:rPr>
              <a:t>Rajib Paul (Ph.D.)</a:t>
            </a: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91024"/>
            <a:ext cx="7772400" cy="1470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424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751638"/>
            <a:ext cx="9163050" cy="3175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2" descr="C:\Users\Rajib\Documents\Temp\Logo\Ajou_Uni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6246813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4"/>
          <p:cNvSpPr txBox="1">
            <a:spLocks/>
          </p:cNvSpPr>
          <p:nvPr/>
        </p:nvSpPr>
        <p:spPr>
          <a:xfrm>
            <a:off x="511175" y="6465888"/>
            <a:ext cx="21336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-19050" y="-25400"/>
            <a:ext cx="9163050" cy="68834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25400" y="762000"/>
            <a:ext cx="9169400" cy="4603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2" descr="C:\Users\Rajib\Documents\Temp\Logo\eng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0"/>
            <a:ext cx="1093787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323850" y="1441579"/>
            <a:ext cx="8496300" cy="492534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600"/>
            </a:lvl2pPr>
            <a:lvl3pPr marL="1143000" indent="-228600">
              <a:buFont typeface="Arial" panose="020B0604020202020204" pitchFamily="34" charset="0"/>
              <a:buChar char="•"/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302400"/>
            <a:ext cx="4896544" cy="691277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4800">
                <a:solidFill>
                  <a:srgbClr val="53999C"/>
                </a:solidFill>
                <a:effectLst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11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6911975" y="6462713"/>
            <a:ext cx="2133600" cy="365125"/>
          </a:xfrm>
        </p:spPr>
        <p:txBody>
          <a:bodyPr/>
          <a:lstStyle>
            <a:lvl1pPr algn="r">
              <a:defRPr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9766662F-DE95-4EFA-BDEF-94082FE728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2"/>
          </p:nvPr>
        </p:nvSpPr>
        <p:spPr>
          <a:xfrm>
            <a:off x="552450" y="6461125"/>
            <a:ext cx="2133600" cy="365125"/>
          </a:xfrm>
        </p:spPr>
        <p:txBody>
          <a:bodyPr/>
          <a:lstStyle>
            <a:lvl1pPr algn="l">
              <a:defRPr sz="105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CD6FB1D-C532-46F9-9826-44345EF074E5}" type="datetime4">
              <a:rPr lang="en-US"/>
              <a:pPr>
                <a:defRPr/>
              </a:pPr>
              <a:t>March 21, 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11"/>
          <p:cNvCxnSpPr/>
          <p:nvPr/>
        </p:nvCxnSpPr>
        <p:spPr>
          <a:xfrm>
            <a:off x="684213" y="4117975"/>
            <a:ext cx="7848600" cy="0"/>
          </a:xfrm>
          <a:prstGeom prst="line">
            <a:avLst/>
          </a:prstGeom>
          <a:ln>
            <a:solidFill>
              <a:srgbClr val="0C86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12"/>
          <p:cNvSpPr/>
          <p:nvPr/>
        </p:nvSpPr>
        <p:spPr>
          <a:xfrm>
            <a:off x="8172450" y="3644900"/>
            <a:ext cx="576263" cy="576263"/>
          </a:xfrm>
          <a:prstGeom prst="rect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sp>
        <p:nvSpPr>
          <p:cNvPr id="6" name="직사각형 14"/>
          <p:cNvSpPr/>
          <p:nvPr/>
        </p:nvSpPr>
        <p:spPr>
          <a:xfrm>
            <a:off x="7991475" y="4030663"/>
            <a:ext cx="287338" cy="288925"/>
          </a:xfrm>
          <a:prstGeom prst="rect">
            <a:avLst/>
          </a:prstGeom>
          <a:solidFill>
            <a:srgbClr val="0C86CB"/>
          </a:solidFill>
          <a:ln w="3175">
            <a:solidFill>
              <a:srgbClr val="0C8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6751638"/>
            <a:ext cx="9163050" cy="3175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2" descr="C:\Users\Rajib\Documents\Temp\Logo\Ajou_Uni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6246813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-19050" y="-25400"/>
            <a:ext cx="9163050" cy="68834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25400" y="762000"/>
            <a:ext cx="9169400" cy="4603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1" name="Picture 2" descr="C:\Users\Rajib\Documents\Temp\Logo\eng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0"/>
            <a:ext cx="1093787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188470"/>
          </a:xfrm>
        </p:spPr>
        <p:txBody>
          <a:bodyPr anchor="ctr"/>
          <a:lstStyle>
            <a:lvl1pPr marL="514350" indent="-514350">
              <a:buFont typeface="+mj-lt"/>
              <a:buAutoNum type="romanUcPeriod"/>
              <a:defRPr sz="20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solidFill>
                  <a:srgbClr val="2E3640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12" name="슬라이드 번호 개체 틀 4"/>
          <p:cNvSpPr>
            <a:spLocks noGrp="1"/>
          </p:cNvSpPr>
          <p:nvPr>
            <p:ph type="sldNum" sz="quarter" idx="10"/>
          </p:nvPr>
        </p:nvSpPr>
        <p:spPr>
          <a:xfrm>
            <a:off x="6911975" y="6462713"/>
            <a:ext cx="2133600" cy="365125"/>
          </a:xfrm>
        </p:spPr>
        <p:txBody>
          <a:bodyPr/>
          <a:lstStyle>
            <a:lvl1pPr algn="r">
              <a:defRPr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E47FB3AC-CCAE-49CA-8330-165CB8D3A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1"/>
          </p:nvPr>
        </p:nvSpPr>
        <p:spPr>
          <a:xfrm>
            <a:off x="552450" y="6461125"/>
            <a:ext cx="2133600" cy="365125"/>
          </a:xfrm>
        </p:spPr>
        <p:txBody>
          <a:bodyPr/>
          <a:lstStyle>
            <a:lvl1pPr algn="l">
              <a:defRPr sz="105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F192F80-462C-44D4-A600-9D78A8140887}" type="datetime4">
              <a:rPr lang="en-US"/>
              <a:pPr>
                <a:defRPr/>
              </a:pPr>
              <a:t>March 21, 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82322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2840" y="1614398"/>
            <a:ext cx="8229600" cy="1143000"/>
          </a:xfrm>
        </p:spPr>
        <p:txBody>
          <a:bodyPr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397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700" y="1588"/>
            <a:ext cx="9156700" cy="3505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12700" y="3506788"/>
            <a:ext cx="9156700" cy="33528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98660" y="838200"/>
            <a:ext cx="4534272" cy="1102847"/>
          </a:xfrm>
        </p:spPr>
        <p:txBody>
          <a:bodyPr>
            <a:normAutofit/>
          </a:bodyPr>
          <a:lstStyle>
            <a:lvl1pPr algn="ctr">
              <a:defRPr sz="6000" b="1" cap="all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2915444" y="4898440"/>
            <a:ext cx="3313112" cy="690800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525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  <a:p>
            <a:pPr lvl="4"/>
            <a:endParaRPr lang="en-US" altLang="ko-KR"/>
          </a:p>
          <a:p>
            <a:pPr lvl="4"/>
            <a:endParaRPr lang="en-US" altLang="ko-KR"/>
          </a:p>
          <a:p>
            <a:pPr lvl="4"/>
            <a:endParaRPr lang="en-US" altLang="ko-KR"/>
          </a:p>
          <a:p>
            <a:pPr lvl="4"/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BB13C5D-2ECB-49D5-B228-04078E1CB987}" type="datetime4">
              <a:rPr lang="en-US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668156A-8100-467C-8193-5029253D7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 spd="med">
    <p:fade/>
  </p:transition>
  <p:hf hdr="0" ftr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34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4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6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7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</p:spPr>
        <p:txBody>
          <a:bodyPr/>
          <a:lstStyle/>
          <a:p>
            <a:r>
              <a:rPr lang="en-US" altLang="en-US" sz="44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Array Structure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79388" y="301625"/>
            <a:ext cx="4240212" cy="692150"/>
          </a:xfrm>
        </p:spPr>
        <p:txBody>
          <a:bodyPr/>
          <a:lstStyle/>
          <a:p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3850" y="1171575"/>
            <a:ext cx="8496300" cy="5381625"/>
          </a:xfrm>
        </p:spPr>
        <p:txBody>
          <a:bodyPr rtlCol="0"/>
          <a:lstStyle/>
          <a:p>
            <a:pPr lvl="1" fontAlgn="auto">
              <a:spcAft>
                <a:spcPts val="0"/>
              </a:spcAft>
              <a:defRPr/>
            </a:pPr>
            <a:endParaRPr lang="en-US" dirty="0">
              <a:latin typeface="Calibri"/>
              <a:cs typeface="Calibri"/>
            </a:endParaRPr>
          </a:p>
          <a:p>
            <a:pPr lvl="1" fontAlgn="auto">
              <a:spcAft>
                <a:spcPts val="0"/>
              </a:spcAft>
              <a:defRPr/>
            </a:pPr>
            <a:endParaRPr lang="en-US" dirty="0">
              <a:latin typeface="Calibri"/>
              <a:cs typeface="Calibri"/>
            </a:endParaRPr>
          </a:p>
          <a:p>
            <a:pPr lvl="1" fontAlgn="auto">
              <a:spcAft>
                <a:spcPts val="0"/>
              </a:spcAft>
              <a:defRPr/>
            </a:pPr>
            <a:endParaRPr lang="en-US" dirty="0">
              <a:latin typeface="Calibri"/>
              <a:cs typeface="Calibri"/>
            </a:endParaRPr>
          </a:p>
          <a:p>
            <a:pPr lvl="1" fontAlgn="auto">
              <a:spcAft>
                <a:spcPts val="0"/>
              </a:spcAft>
              <a:defRPr/>
            </a:pPr>
            <a:endParaRPr lang="en-US" dirty="0">
              <a:latin typeface="Calibri"/>
              <a:cs typeface="Calibri"/>
            </a:endParaRPr>
          </a:p>
          <a:p>
            <a:pPr marL="4572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Calibri"/>
              <a:cs typeface="Calibri"/>
            </a:endParaRP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Calibri"/>
              <a:cs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41AC9DD8-3696-D24F-A481-2B5485C958B6}" type="datetime4">
              <a:rPr lang="en-US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2DB3D-4310-48A6-BC37-1F32412A1671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923" y="1295400"/>
            <a:ext cx="816707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cs typeface="+mn-cs"/>
              </a:rPr>
              <a:t>Arrays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cs typeface="+mn-cs"/>
              </a:rPr>
              <a:t>Dynamically Allocated Arrays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cs typeface="+mn-cs"/>
              </a:rPr>
              <a:t>Structures and Unions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cs typeface="+mn-cs"/>
              </a:rPr>
              <a:t>Polynomials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cs typeface="+mn-cs"/>
              </a:rPr>
              <a:t>Sparse Matrices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cs typeface="+mn-cs"/>
              </a:rPr>
              <a:t>Strings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441450"/>
            <a:ext cx="8496300" cy="4926013"/>
          </a:xfrm>
        </p:spPr>
        <p:txBody>
          <a:bodyPr/>
          <a:lstStyle/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altLang="ko-KR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“a set of consecutive memory locations”</a:t>
            </a:r>
          </a:p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altLang="ko-KR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“a collection of data of the same type”</a:t>
            </a:r>
          </a:p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altLang="ko-KR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“a set of pairs, &lt;index, value&gt;, such that each index that is defined has a value associated with it”</a:t>
            </a:r>
          </a:p>
          <a:p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C83494-B1A6-4764-8950-0B31D88E246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12DE379B-7820-5B48-99F8-AEE60EC14683}" type="datetime4">
              <a:rPr lang="en-US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11269" name="Title 4"/>
          <p:cNvSpPr>
            <a:spLocks noGrp="1"/>
          </p:cNvSpPr>
          <p:nvPr>
            <p:ph type="title"/>
          </p:nvPr>
        </p:nvSpPr>
        <p:spPr>
          <a:xfrm>
            <a:off x="179388" y="301625"/>
            <a:ext cx="4897437" cy="692150"/>
          </a:xfrm>
        </p:spPr>
        <p:txBody>
          <a:bodyPr/>
          <a:lstStyle/>
          <a:p>
            <a:r>
              <a:rPr lang="en-US" altLang="en-US" sz="4400" dirty="0"/>
              <a:t>Array: definition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295401"/>
            <a:ext cx="8496300" cy="5071526"/>
          </a:xfrm>
        </p:spPr>
        <p:txBody>
          <a:bodyPr/>
          <a:lstStyle/>
          <a:p>
            <a:pPr lvl="0" latinLnBrk="0"/>
            <a:r>
              <a:rPr kumimoji="1" lang="en-US" altLang="ko-KR" sz="2400" kern="0" dirty="0">
                <a:solidFill>
                  <a:srgbClr val="2D2DB9"/>
                </a:solidFill>
                <a:latin typeface="Consolas" pitchFamily="49" charset="0"/>
                <a:ea typeface="굴림"/>
              </a:rPr>
              <a:t>Data structure for one dimensional array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230688" cy="691277"/>
          </a:xfrm>
        </p:spPr>
        <p:txBody>
          <a:bodyPr/>
          <a:lstStyle/>
          <a:p>
            <a:r>
              <a:rPr lang="en-US" sz="4000" dirty="0"/>
              <a:t>Array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81200"/>
            <a:ext cx="4930775" cy="21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0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05000"/>
            <a:ext cx="6859932" cy="403860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371601"/>
            <a:ext cx="8496300" cy="499532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To find average of n 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068888" cy="691277"/>
          </a:xfrm>
        </p:spPr>
        <p:txBody>
          <a:bodyPr/>
          <a:lstStyle/>
          <a:p>
            <a:r>
              <a:rPr lang="en-US" sz="4400" dirty="0"/>
              <a:t>Sample Array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88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04800" y="1357240"/>
            <a:ext cx="8496300" cy="507152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2D Array: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297488" cy="691277"/>
          </a:xfrm>
        </p:spPr>
        <p:txBody>
          <a:bodyPr/>
          <a:lstStyle/>
          <a:p>
            <a:r>
              <a:rPr lang="en-US" sz="4000" dirty="0"/>
              <a:t>Multi Dimensional Arrays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09800" y="175260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</a:rPr>
              <a:t>float x[3][4];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4" y="2286000"/>
            <a:ext cx="4314825" cy="297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0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2D Array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016346" cy="691277"/>
          </a:xfrm>
        </p:spPr>
        <p:txBody>
          <a:bodyPr/>
          <a:lstStyle/>
          <a:p>
            <a:r>
              <a:rPr lang="en-US" sz="4000" dirty="0"/>
              <a:t>Multi Dimensional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1785784" y="1982788"/>
            <a:ext cx="673100" cy="373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auto">
          <a:xfrm>
            <a:off x="1785784" y="2355850"/>
            <a:ext cx="673100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2" name="Rectangle 6"/>
          <p:cNvSpPr>
            <a:spLocks noChangeArrowheads="1"/>
          </p:cNvSpPr>
          <p:nvPr/>
        </p:nvSpPr>
        <p:spPr bwMode="auto">
          <a:xfrm>
            <a:off x="1785784" y="2724150"/>
            <a:ext cx="673100" cy="376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Line 19"/>
          <p:cNvSpPr>
            <a:spLocks noChangeShapeType="1"/>
          </p:cNvSpPr>
          <p:nvPr/>
        </p:nvSpPr>
        <p:spPr bwMode="auto">
          <a:xfrm flipH="1">
            <a:off x="437458" y="2169318"/>
            <a:ext cx="1729326" cy="166519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>
            <a:off x="2160434" y="2590800"/>
            <a:ext cx="1162836" cy="125111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5" name="Line 21"/>
          <p:cNvSpPr>
            <a:spLocks noChangeShapeType="1"/>
          </p:cNvSpPr>
          <p:nvPr/>
        </p:nvSpPr>
        <p:spPr bwMode="auto">
          <a:xfrm>
            <a:off x="2182659" y="2950369"/>
            <a:ext cx="4160648" cy="88414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148197" y="3874368"/>
            <a:ext cx="702546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852074" y="3874368"/>
            <a:ext cx="688130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1535875" y="3874368"/>
            <a:ext cx="695149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2231663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2999546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3755296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4511045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5266795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4" name="Rectangle 15"/>
          <p:cNvSpPr>
            <a:spLocks noChangeArrowheads="1"/>
          </p:cNvSpPr>
          <p:nvPr/>
        </p:nvSpPr>
        <p:spPr bwMode="auto">
          <a:xfrm>
            <a:off x="6036064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5" name="Rectangle 16"/>
          <p:cNvSpPr>
            <a:spLocks noChangeArrowheads="1"/>
          </p:cNvSpPr>
          <p:nvPr/>
        </p:nvSpPr>
        <p:spPr bwMode="auto">
          <a:xfrm>
            <a:off x="6791814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6" name="Rectangle 17"/>
          <p:cNvSpPr>
            <a:spLocks noChangeArrowheads="1"/>
          </p:cNvSpPr>
          <p:nvPr/>
        </p:nvSpPr>
        <p:spPr bwMode="auto">
          <a:xfrm>
            <a:off x="7547563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" name="Rectangle 18"/>
          <p:cNvSpPr>
            <a:spLocks noChangeArrowheads="1"/>
          </p:cNvSpPr>
          <p:nvPr/>
        </p:nvSpPr>
        <p:spPr bwMode="auto">
          <a:xfrm>
            <a:off x="8303313" y="3874368"/>
            <a:ext cx="755111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8" name="Rectangle 22"/>
          <p:cNvSpPr>
            <a:spLocks noChangeArrowheads="1"/>
          </p:cNvSpPr>
          <p:nvPr/>
        </p:nvSpPr>
        <p:spPr bwMode="auto">
          <a:xfrm>
            <a:off x="259669" y="3858142"/>
            <a:ext cx="327013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1000769" y="3858142"/>
            <a:ext cx="327013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1742041" y="3858142"/>
            <a:ext cx="327013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61" name="Rectangle 25"/>
          <p:cNvSpPr>
            <a:spLocks noChangeArrowheads="1"/>
          </p:cNvSpPr>
          <p:nvPr/>
        </p:nvSpPr>
        <p:spPr bwMode="auto">
          <a:xfrm>
            <a:off x="2497789" y="3858142"/>
            <a:ext cx="327013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7</a:t>
            </a:r>
          </a:p>
        </p:txBody>
      </p:sp>
      <p:sp>
        <p:nvSpPr>
          <p:cNvPr id="62" name="Rectangle 26"/>
          <p:cNvSpPr>
            <a:spLocks noChangeArrowheads="1"/>
          </p:cNvSpPr>
          <p:nvPr/>
        </p:nvSpPr>
        <p:spPr bwMode="auto">
          <a:xfrm>
            <a:off x="3159339" y="3858142"/>
            <a:ext cx="468078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10</a:t>
            </a:r>
          </a:p>
        </p:txBody>
      </p:sp>
      <p:sp>
        <p:nvSpPr>
          <p:cNvPr id="63" name="Rectangle 27"/>
          <p:cNvSpPr>
            <a:spLocks noChangeArrowheads="1"/>
          </p:cNvSpPr>
          <p:nvPr/>
        </p:nvSpPr>
        <p:spPr bwMode="auto">
          <a:xfrm>
            <a:off x="3900439" y="3858142"/>
            <a:ext cx="468078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21</a:t>
            </a:r>
          </a:p>
        </p:txBody>
      </p:sp>
      <p:sp>
        <p:nvSpPr>
          <p:cNvPr id="64" name="Rectangle 28"/>
          <p:cNvSpPr>
            <a:spLocks noChangeArrowheads="1"/>
          </p:cNvSpPr>
          <p:nvPr/>
        </p:nvSpPr>
        <p:spPr bwMode="auto">
          <a:xfrm>
            <a:off x="4706640" y="3858142"/>
            <a:ext cx="468078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32</a:t>
            </a:r>
          </a:p>
        </p:txBody>
      </p:sp>
      <p:sp>
        <p:nvSpPr>
          <p:cNvPr id="65" name="Rectangle 29"/>
          <p:cNvSpPr>
            <a:spLocks noChangeArrowheads="1"/>
          </p:cNvSpPr>
          <p:nvPr/>
        </p:nvSpPr>
        <p:spPr bwMode="auto">
          <a:xfrm>
            <a:off x="5462388" y="3858142"/>
            <a:ext cx="468078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52</a:t>
            </a:r>
          </a:p>
        </p:txBody>
      </p:sp>
      <p:sp>
        <p:nvSpPr>
          <p:cNvPr id="66" name="Rectangle 30"/>
          <p:cNvSpPr>
            <a:spLocks noChangeArrowheads="1"/>
          </p:cNvSpPr>
          <p:nvPr/>
        </p:nvSpPr>
        <p:spPr bwMode="auto">
          <a:xfrm>
            <a:off x="6195858" y="3858142"/>
            <a:ext cx="468077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32</a:t>
            </a:r>
          </a:p>
        </p:txBody>
      </p:sp>
      <p:sp>
        <p:nvSpPr>
          <p:cNvPr id="67" name="Rectangle 31"/>
          <p:cNvSpPr>
            <a:spLocks noChangeArrowheads="1"/>
          </p:cNvSpPr>
          <p:nvPr/>
        </p:nvSpPr>
        <p:spPr bwMode="auto">
          <a:xfrm>
            <a:off x="6936957" y="3858142"/>
            <a:ext cx="468078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68" name="Rectangle 32"/>
          <p:cNvSpPr>
            <a:spLocks noChangeArrowheads="1"/>
          </p:cNvSpPr>
          <p:nvPr/>
        </p:nvSpPr>
        <p:spPr bwMode="auto">
          <a:xfrm>
            <a:off x="7743158" y="3858142"/>
            <a:ext cx="468078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73</a:t>
            </a:r>
          </a:p>
        </p:txBody>
      </p:sp>
      <p:sp>
        <p:nvSpPr>
          <p:cNvPr id="69" name="Rectangle 33"/>
          <p:cNvSpPr>
            <a:spLocks noChangeArrowheads="1"/>
          </p:cNvSpPr>
          <p:nvPr/>
        </p:nvSpPr>
        <p:spPr bwMode="auto">
          <a:xfrm>
            <a:off x="8440320" y="3858142"/>
            <a:ext cx="468078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b="0" dirty="0">
                <a:latin typeface="Consolas" pitchFamily="49" charset="0"/>
                <a:cs typeface="Consolas" pitchFamily="49" charset="0"/>
              </a:rPr>
              <a:t>54</a:t>
            </a:r>
          </a:p>
        </p:txBody>
      </p:sp>
      <p:sp>
        <p:nvSpPr>
          <p:cNvPr id="70" name="Rectangle 34"/>
          <p:cNvSpPr>
            <a:spLocks noChangeArrowheads="1"/>
          </p:cNvSpPr>
          <p:nvPr/>
        </p:nvSpPr>
        <p:spPr bwMode="auto">
          <a:xfrm>
            <a:off x="1023784" y="1933575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nsolas" pitchFamily="49" charset="0"/>
                <a:cs typeface="Consolas" pitchFamily="49" charset="0"/>
              </a:rPr>
              <a:t>x[0]</a:t>
            </a:r>
          </a:p>
        </p:txBody>
      </p:sp>
      <p:sp>
        <p:nvSpPr>
          <p:cNvPr id="71" name="Rectangle 34"/>
          <p:cNvSpPr>
            <a:spLocks noChangeArrowheads="1"/>
          </p:cNvSpPr>
          <p:nvPr/>
        </p:nvSpPr>
        <p:spPr bwMode="auto">
          <a:xfrm>
            <a:off x="1023784" y="2356995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nsolas" pitchFamily="49" charset="0"/>
                <a:cs typeface="Consolas" pitchFamily="49" charset="0"/>
              </a:rPr>
              <a:t>x[1]</a:t>
            </a:r>
          </a:p>
        </p:txBody>
      </p:sp>
      <p:sp>
        <p:nvSpPr>
          <p:cNvPr id="72" name="Rectangle 34"/>
          <p:cNvSpPr>
            <a:spLocks noChangeArrowheads="1"/>
          </p:cNvSpPr>
          <p:nvPr/>
        </p:nvSpPr>
        <p:spPr bwMode="auto">
          <a:xfrm>
            <a:off x="1023784" y="2780415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nsolas" pitchFamily="49" charset="0"/>
                <a:cs typeface="Consolas" pitchFamily="49" charset="0"/>
              </a:rPr>
              <a:t>x[2]</a:t>
            </a:r>
          </a:p>
        </p:txBody>
      </p:sp>
      <p:sp>
        <p:nvSpPr>
          <p:cNvPr id="73" name="Rectangle 34"/>
          <p:cNvSpPr>
            <a:spLocks noChangeArrowheads="1"/>
          </p:cNvSpPr>
          <p:nvPr/>
        </p:nvSpPr>
        <p:spPr bwMode="auto">
          <a:xfrm>
            <a:off x="500853" y="1940019"/>
            <a:ext cx="762000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nsolas" pitchFamily="49" charset="0"/>
                <a:cs typeface="Consolas" pitchFamily="49" charset="0"/>
              </a:rPr>
              <a:t>x =</a:t>
            </a:r>
          </a:p>
        </p:txBody>
      </p:sp>
    </p:spTree>
    <p:extLst>
      <p:ext uri="{BB962C8B-B14F-4D97-AF65-F5344CB8AC3E}">
        <p14:creationId xmlns:p14="http://schemas.microsoft.com/office/powerpoint/2010/main" val="334602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How to initialize?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2868488" cy="691277"/>
          </a:xfrm>
        </p:spPr>
        <p:txBody>
          <a:bodyPr/>
          <a:lstStyle/>
          <a:p>
            <a:r>
              <a:rPr lang="en-US" dirty="0"/>
              <a:t>2D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981200"/>
            <a:ext cx="689725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18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295401"/>
            <a:ext cx="8496300" cy="507152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3D Array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068888" cy="691277"/>
          </a:xfrm>
        </p:spPr>
        <p:txBody>
          <a:bodyPr/>
          <a:lstStyle/>
          <a:p>
            <a:r>
              <a:rPr lang="en-US" sz="4000" dirty="0"/>
              <a:t>Multi Dimensional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48" y="1905000"/>
            <a:ext cx="8182252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3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219201"/>
            <a:ext cx="8496300" cy="514772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Application 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4773488" cy="691277"/>
          </a:xfrm>
        </p:spPr>
        <p:txBody>
          <a:bodyPr/>
          <a:lstStyle/>
          <a:p>
            <a:r>
              <a:rPr lang="en-US" sz="4400" dirty="0"/>
              <a:t>Dynamic Arrays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828800"/>
            <a:ext cx="4746060" cy="32193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983" y="1600200"/>
            <a:ext cx="3833839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68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778" y="1597504"/>
            <a:ext cx="3897710" cy="419369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Dynamic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584978"/>
            <a:ext cx="4746060" cy="321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2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611688" cy="691277"/>
          </a:xfrm>
        </p:spPr>
        <p:txBody>
          <a:bodyPr/>
          <a:lstStyle/>
          <a:p>
            <a:r>
              <a:rPr lang="en-US" sz="4400" dirty="0"/>
              <a:t>2D Dynamic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21" name="직사각형 6"/>
          <p:cNvSpPr/>
          <p:nvPr/>
        </p:nvSpPr>
        <p:spPr bwMode="auto">
          <a:xfrm>
            <a:off x="571500" y="3257698"/>
            <a:ext cx="8039100" cy="7812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2" name="직사각형 5"/>
          <p:cNvSpPr/>
          <p:nvPr/>
        </p:nvSpPr>
        <p:spPr bwMode="auto">
          <a:xfrm>
            <a:off x="571500" y="2425698"/>
            <a:ext cx="8039100" cy="7812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757237" y="1139826"/>
            <a:ext cx="7700963" cy="515525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**make2dArray(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rows,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cols)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 create a two dimensional rows 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 cols array */</a:t>
            </a:r>
          </a:p>
          <a:p>
            <a:pPr eaLnBrk="1" hangingPunct="1"/>
            <a:endParaRPr lang="en-US" altLang="ko-KR" sz="1600" dirty="0">
              <a:solidFill>
                <a:srgbClr val="000000"/>
              </a:solidFill>
              <a:latin typeface="Courier New" pitchFamily="49" charset="0"/>
              <a:cs typeface="Courier New" pitchFamily="49" charset="0"/>
              <a:sym typeface="Wingdings 2" pitchFamily="18" charset="2"/>
            </a:endParaRP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**x,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;</a:t>
            </a:r>
          </a:p>
          <a:p>
            <a:pPr eaLnBrk="1" hangingPunct="1"/>
            <a:endParaRPr lang="en-US" altLang="ko-KR" sz="1600" dirty="0">
              <a:solidFill>
                <a:srgbClr val="000000"/>
              </a:solidFill>
              <a:latin typeface="Courier New" pitchFamily="49" charset="0"/>
              <a:cs typeface="Courier New" pitchFamily="49" charset="0"/>
              <a:sym typeface="Wingdings 2" pitchFamily="18" charset="2"/>
            </a:endParaRP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/* get memory for row pointers */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MALLOC(x, rows *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(*x));</a:t>
            </a:r>
          </a:p>
          <a:p>
            <a:pPr eaLnBrk="1" hangingPunct="1"/>
            <a:endParaRPr lang="en-US" altLang="ko-KR" sz="900" dirty="0">
              <a:solidFill>
                <a:srgbClr val="000000"/>
              </a:solidFill>
              <a:latin typeface="Courier New" pitchFamily="49" charset="0"/>
              <a:cs typeface="Courier New" pitchFamily="49" charset="0"/>
              <a:sym typeface="Wingdings 2" pitchFamily="18" charset="2"/>
            </a:endParaRP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/* get memory for each row */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for (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= 0;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&lt; rows;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++)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     MALLOC(x[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], cols *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(**x);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return x;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}</a:t>
            </a:r>
          </a:p>
          <a:p>
            <a:pPr eaLnBrk="1" hangingPunct="1"/>
            <a:endParaRPr lang="en-US" altLang="ko-KR" sz="1600" dirty="0">
              <a:solidFill>
                <a:srgbClr val="000000"/>
              </a:solidFill>
              <a:latin typeface="Courier New" pitchFamily="49" charset="0"/>
              <a:cs typeface="Courier New" pitchFamily="49" charset="0"/>
              <a:sym typeface="Wingdings 2" pitchFamily="18" charset="2"/>
            </a:endParaRP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void main()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{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**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myArray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;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myArray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=make2dArray(5,10);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myArray</a:t>
            </a:r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[2][4]=6;</a:t>
            </a:r>
          </a:p>
          <a:p>
            <a:pPr eaLnBrk="1" hangingPunct="1"/>
            <a:r>
              <a:rPr lang="en-US" altLang="ko-KR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  <a:sym typeface="Wingdings 2" pitchFamily="18" charset="2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오른쪽 중괄호 2"/>
          <p:cNvSpPr/>
          <p:nvPr/>
        </p:nvSpPr>
        <p:spPr bwMode="auto">
          <a:xfrm>
            <a:off x="8293100" y="1447800"/>
            <a:ext cx="266700" cy="1170000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36254" y="184452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rows</a:t>
            </a:r>
            <a:endParaRPr lang="en-US" b="0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오른쪽 중괄호 19"/>
          <p:cNvSpPr/>
          <p:nvPr/>
        </p:nvSpPr>
        <p:spPr bwMode="auto">
          <a:xfrm>
            <a:off x="8350250" y="3378200"/>
            <a:ext cx="266700" cy="2268000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64551" y="431214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cols</a:t>
            </a:r>
          </a:p>
        </p:txBody>
      </p:sp>
      <p:sp>
        <p:nvSpPr>
          <p:cNvPr id="28" name="직사각형 21"/>
          <p:cNvSpPr/>
          <p:nvPr/>
        </p:nvSpPr>
        <p:spPr bwMode="auto">
          <a:xfrm>
            <a:off x="6197600" y="165100"/>
            <a:ext cx="2120900" cy="66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graphicFrame>
        <p:nvGraphicFramePr>
          <p:cNvPr id="29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849850"/>
              </p:ext>
            </p:extLst>
          </p:nvPr>
        </p:nvGraphicFramePr>
        <p:xfrm>
          <a:off x="6197600" y="1463898"/>
          <a:ext cx="212090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195948"/>
              </p:ext>
            </p:extLst>
          </p:nvPr>
        </p:nvGraphicFramePr>
        <p:xfrm>
          <a:off x="6197600" y="3387254"/>
          <a:ext cx="21209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" name="직사각형 24"/>
          <p:cNvSpPr/>
          <p:nvPr/>
        </p:nvSpPr>
        <p:spPr bwMode="auto">
          <a:xfrm>
            <a:off x="6197600" y="685800"/>
            <a:ext cx="2120900" cy="215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64738" y="596213"/>
            <a:ext cx="322822" cy="307777"/>
          </a:xfrm>
          <a:prstGeom prst="rect">
            <a:avLst/>
          </a:prstGeom>
          <a:solidFill>
            <a:schemeClr val="bg1"/>
          </a:solidFill>
        </p:spPr>
        <p:txBody>
          <a:bodyPr wrap="none" lIns="180000" tIns="0" rIns="0" bIns="0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2966" y="1398377"/>
            <a:ext cx="56425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x[0]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5471" y="3311643"/>
            <a:ext cx="987450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x[0][0]</a:t>
            </a:r>
          </a:p>
        </p:txBody>
      </p:sp>
      <p:sp>
        <p:nvSpPr>
          <p:cNvPr id="35" name="자유형 8"/>
          <p:cNvSpPr/>
          <p:nvPr/>
        </p:nvSpPr>
        <p:spPr bwMode="auto">
          <a:xfrm>
            <a:off x="5908538" y="736888"/>
            <a:ext cx="517662" cy="825212"/>
          </a:xfrm>
          <a:custGeom>
            <a:avLst/>
            <a:gdLst>
              <a:gd name="connsiteX0" fmla="*/ 517662 w 517662"/>
              <a:gd name="connsiteY0" fmla="*/ 25112 h 825212"/>
              <a:gd name="connsiteX1" fmla="*/ 98562 w 517662"/>
              <a:gd name="connsiteY1" fmla="*/ 63212 h 825212"/>
              <a:gd name="connsiteX2" fmla="*/ 9662 w 517662"/>
              <a:gd name="connsiteY2" fmla="*/ 571212 h 825212"/>
              <a:gd name="connsiteX3" fmla="*/ 263662 w 517662"/>
              <a:gd name="connsiteY3" fmla="*/ 825212 h 82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662" h="825212">
                <a:moveTo>
                  <a:pt x="517662" y="25112"/>
                </a:moveTo>
                <a:cubicBezTo>
                  <a:pt x="350445" y="-1346"/>
                  <a:pt x="183228" y="-27804"/>
                  <a:pt x="98562" y="63212"/>
                </a:cubicBezTo>
                <a:cubicBezTo>
                  <a:pt x="13896" y="154228"/>
                  <a:pt x="-17855" y="444212"/>
                  <a:pt x="9662" y="571212"/>
                </a:cubicBezTo>
                <a:cubicBezTo>
                  <a:pt x="37179" y="698212"/>
                  <a:pt x="150420" y="761712"/>
                  <a:pt x="263662" y="82521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6" name="자유형 9"/>
          <p:cNvSpPr/>
          <p:nvPr/>
        </p:nvSpPr>
        <p:spPr bwMode="auto">
          <a:xfrm>
            <a:off x="5827055" y="1548987"/>
            <a:ext cx="535645" cy="2032413"/>
          </a:xfrm>
          <a:custGeom>
            <a:avLst/>
            <a:gdLst>
              <a:gd name="connsiteX0" fmla="*/ 535645 w 535645"/>
              <a:gd name="connsiteY0" fmla="*/ 413 h 2032413"/>
              <a:gd name="connsiteX1" fmla="*/ 78445 w 535645"/>
              <a:gd name="connsiteY1" fmla="*/ 216313 h 2032413"/>
              <a:gd name="connsiteX2" fmla="*/ 27645 w 535645"/>
              <a:gd name="connsiteY2" fmla="*/ 1321213 h 2032413"/>
              <a:gd name="connsiteX3" fmla="*/ 370545 w 535645"/>
              <a:gd name="connsiteY3" fmla="*/ 2032413 h 203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5645" h="2032413">
                <a:moveTo>
                  <a:pt x="535645" y="413"/>
                </a:moveTo>
                <a:cubicBezTo>
                  <a:pt x="349378" y="-1704"/>
                  <a:pt x="163112" y="-3820"/>
                  <a:pt x="78445" y="216313"/>
                </a:cubicBezTo>
                <a:cubicBezTo>
                  <a:pt x="-6222" y="436446"/>
                  <a:pt x="-21038" y="1018530"/>
                  <a:pt x="27645" y="1321213"/>
                </a:cubicBezTo>
                <a:cubicBezTo>
                  <a:pt x="76328" y="1623896"/>
                  <a:pt x="223436" y="1828154"/>
                  <a:pt x="370545" y="2032413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53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5" grpId="0"/>
      <p:bldP spid="26" grpId="0" animBg="1"/>
      <p:bldP spid="27" grpId="0"/>
      <p:bldP spid="28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295401"/>
            <a:ext cx="8496300" cy="5071526"/>
          </a:xfrm>
        </p:spPr>
        <p:txBody>
          <a:bodyPr/>
          <a:lstStyle/>
          <a:p>
            <a:pPr lvl="0" latinLnBrk="0"/>
            <a:r>
              <a:rPr kumimoji="1" lang="en-US" altLang="ko-KR" sz="2400" kern="0" dirty="0">
                <a:solidFill>
                  <a:srgbClr val="2D2DB9"/>
                </a:solidFill>
                <a:latin typeface="Consolas" pitchFamily="49" charset="0"/>
                <a:ea typeface="굴림"/>
              </a:rPr>
              <a:t>A collection of data items, where each item is identified as to its type and name</a:t>
            </a:r>
          </a:p>
          <a:p>
            <a:pPr lvl="0" latinLnBrk="0"/>
            <a:endParaRPr kumimoji="1" lang="en-US" altLang="ko-KR" sz="2400" kern="0" dirty="0">
              <a:solidFill>
                <a:srgbClr val="2D2DB9"/>
              </a:solidFill>
              <a:latin typeface="Consolas" pitchFamily="49" charset="0"/>
              <a:ea typeface="굴림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097088" cy="691277"/>
          </a:xfrm>
        </p:spPr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76500" y="2288425"/>
            <a:ext cx="50673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342900">
              <a:buSzPct val="80000"/>
            </a:pPr>
            <a:r>
              <a:rPr kumimoji="1" lang="en-US" altLang="ko-KR" sz="2000" b="1" kern="0" dirty="0" err="1">
                <a:solidFill>
                  <a:srgbClr val="000000"/>
                </a:solidFill>
                <a:latin typeface="Courier New" pitchFamily="49" charset="0"/>
                <a:ea typeface="바탕체" pitchFamily="17" charset="-127"/>
              </a:rPr>
              <a:t>struct</a:t>
            </a: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{</a:t>
            </a:r>
          </a:p>
          <a:p>
            <a:pPr marL="536400" lvl="2" indent="-342900">
              <a:buSzPct val="80000"/>
            </a:pP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char name[10];</a:t>
            </a:r>
            <a:endParaRPr kumimoji="1" lang="en-US" altLang="ko-KR" sz="2000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/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</a:t>
            </a:r>
            <a:r>
              <a:rPr kumimoji="1" lang="en-US" altLang="ko-KR" sz="2000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int</a:t>
            </a: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age;</a:t>
            </a:r>
            <a:endParaRPr kumimoji="1" lang="en-US" altLang="ko-KR" sz="2000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/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float salary;</a:t>
            </a:r>
            <a:endParaRPr kumimoji="1" lang="en-US" altLang="ko-KR" sz="2000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/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} </a:t>
            </a:r>
            <a:r>
              <a:rPr kumimoji="1" lang="en-US" altLang="ko-KR" sz="2000" b="1" i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person</a:t>
            </a: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; </a:t>
            </a:r>
          </a:p>
          <a:p>
            <a:pPr marL="381000" lvl="0" indent="-381000"/>
            <a:endParaRPr kumimoji="1" lang="en-US" altLang="ko-KR" sz="2400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/>
            <a:r>
              <a:rPr kumimoji="1" lang="en-US" altLang="ko-KR" sz="2000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strcpy</a:t>
            </a: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(person.name,“</a:t>
            </a:r>
            <a:r>
              <a:rPr kumimoji="1" lang="en-US" altLang="ko-KR" sz="2000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PaulRajib</a:t>
            </a: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”);</a:t>
            </a:r>
          </a:p>
          <a:p>
            <a:pPr marL="381000" lvl="0" indent="-381000"/>
            <a:r>
              <a:rPr kumimoji="1" lang="en-US" altLang="ko-KR" sz="2000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person.age</a:t>
            </a: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=31;</a:t>
            </a:r>
          </a:p>
          <a:p>
            <a:pPr marL="381000" lvl="0" indent="-381000"/>
            <a:r>
              <a:rPr kumimoji="1" lang="en-US" altLang="ko-KR" sz="2000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person.salary</a:t>
            </a:r>
            <a:r>
              <a:rPr kumimoji="1" lang="en-US" altLang="ko-KR" sz="2000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=35000;</a:t>
            </a:r>
            <a:endParaRPr kumimoji="1" lang="en-US" altLang="ko-KR" sz="2000" b="1" kern="0" dirty="0">
              <a:solidFill>
                <a:srgbClr val="000000"/>
              </a:solidFill>
              <a:latin typeface="Consolas" pitchFamily="49" charset="0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885324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8" y="993677"/>
            <a:ext cx="5356992" cy="3273523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2944688" cy="691277"/>
          </a:xfrm>
        </p:spPr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267200"/>
            <a:ext cx="4822716" cy="220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75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2944688" cy="691277"/>
          </a:xfrm>
        </p:spPr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1009650"/>
            <a:ext cx="8534400" cy="539115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ko-KR" sz="2000" dirty="0">
                <a:latin typeface="Consolas" panose="020B0609020204030204" pitchFamily="49" charset="0"/>
              </a:rPr>
              <a:t>To create own structure data type</a:t>
            </a:r>
          </a:p>
          <a:p>
            <a:pPr marL="381000" lvl="1" indent="-381000" algn="jus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ko-KR" b="1" dirty="0">
              <a:latin typeface="Courier New" pitchFamily="49" charset="0"/>
            </a:endParaRPr>
          </a:p>
          <a:p>
            <a:pPr marL="381000" lvl="1" indent="-381000" algn="jus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ko-KR" b="1" dirty="0">
              <a:latin typeface="Courier New" pitchFamily="49" charset="0"/>
            </a:endParaRPr>
          </a:p>
          <a:p>
            <a:pPr marL="381000" lvl="1" indent="-381000" algn="jus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ko-KR" b="1" dirty="0">
              <a:latin typeface="Courier New" pitchFamily="49" charset="0"/>
            </a:endParaRPr>
          </a:p>
          <a:p>
            <a:pPr marL="381000" lvl="1" indent="-381000" algn="jus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ko-KR" b="1" dirty="0">
              <a:latin typeface="Courier New" pitchFamily="49" charset="0"/>
            </a:endParaRPr>
          </a:p>
          <a:p>
            <a:pPr marL="381000" lvl="1" indent="-381000" algn="jus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ko-KR" b="1" dirty="0">
              <a:latin typeface="Courier New" pitchFamily="49" charset="0"/>
            </a:endParaRPr>
          </a:p>
          <a:p>
            <a:pPr marL="381000" lvl="1" indent="-381000" algn="jus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ko-KR" b="1" dirty="0">
              <a:latin typeface="Courier New" pitchFamily="49" charset="0"/>
            </a:endParaRPr>
          </a:p>
          <a:p>
            <a:pPr marL="381000" lvl="1" indent="-381000"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ko-KR" b="1" dirty="0">
                <a:latin typeface="Courier New" pitchFamily="49" charset="0"/>
              </a:rPr>
              <a:t>	</a:t>
            </a:r>
            <a:r>
              <a:rPr lang="ko-KR" altLang="en-US" b="1" dirty="0">
                <a:latin typeface="Courier New" pitchFamily="49" charset="0"/>
              </a:rPr>
              <a:t> </a:t>
            </a:r>
            <a:r>
              <a:rPr lang="en-US" altLang="ko-KR" b="1" dirty="0" err="1">
                <a:latin typeface="Courier New" pitchFamily="49" charset="0"/>
              </a:rPr>
              <a:t>humanBeing</a:t>
            </a:r>
            <a:r>
              <a:rPr lang="en-US" altLang="ko-KR" b="1" dirty="0">
                <a:latin typeface="Courier New" pitchFamily="49" charset="0"/>
              </a:rPr>
              <a:t> person1, person2;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altLang="ko-KR" sz="24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ko-KR" sz="2000" dirty="0"/>
              <a:t>Assignments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  person1=person2;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sz="2400" dirty="0"/>
              <a:t>Or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  </a:t>
            </a:r>
            <a:r>
              <a:rPr lang="en-US" altLang="ko-KR" sz="1800" b="1" dirty="0" err="1">
                <a:latin typeface="Courier New" pitchFamily="49" charset="0"/>
              </a:rPr>
              <a:t>strcpy</a:t>
            </a:r>
            <a:r>
              <a:rPr lang="en-US" altLang="ko-KR" sz="1800" b="1" dirty="0">
                <a:latin typeface="Courier New" pitchFamily="49" charset="0"/>
              </a:rPr>
              <a:t>(person1.name, person2.name);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  person1.age=person2.age;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  person1.salary=person2.salary;</a:t>
            </a:r>
          </a:p>
          <a:p>
            <a:pPr lvl="1">
              <a:spcBef>
                <a:spcPct val="0"/>
              </a:spcBef>
              <a:buFontTx/>
              <a:buNone/>
            </a:pPr>
            <a:endParaRPr lang="en-US" altLang="ko-KR" b="1" dirty="0"/>
          </a:p>
        </p:txBody>
      </p:sp>
      <p:sp>
        <p:nvSpPr>
          <p:cNvPr id="10" name="직사각형 8"/>
          <p:cNvSpPr/>
          <p:nvPr/>
        </p:nvSpPr>
        <p:spPr>
          <a:xfrm>
            <a:off x="533400" y="1518008"/>
            <a:ext cx="4572000" cy="16312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>
              <a:buFontTx/>
              <a:buNone/>
            </a:pPr>
            <a:r>
              <a:rPr lang="en-US" altLang="ko-KR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typedef</a:t>
            </a: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struct</a:t>
            </a: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humanBeing</a:t>
            </a: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{   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char name[10]; 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ko-KR" dirty="0" err="1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age;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     float salary; 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ko-KR" dirty="0">
                <a:latin typeface="Courier New" pitchFamily="49" charset="0"/>
                <a:cs typeface="Times New Roman" pitchFamily="18" charset="0"/>
              </a:rPr>
              <a:t>};</a:t>
            </a:r>
            <a:r>
              <a:rPr lang="en-US" altLang="ko-KR" dirty="0">
                <a:solidFill>
                  <a:srgbClr val="000000"/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11" name="직사각형 9"/>
          <p:cNvSpPr/>
          <p:nvPr/>
        </p:nvSpPr>
        <p:spPr>
          <a:xfrm>
            <a:off x="5524500" y="1525300"/>
            <a:ext cx="3289300" cy="16312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typedef</a:t>
            </a: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struct</a:t>
            </a: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{	   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char name[10]; 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ko-KR" dirty="0" err="1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age;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     float salary; 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ko-KR" dirty="0">
                <a:latin typeface="Courier New" pitchFamily="49" charset="0"/>
                <a:cs typeface="Times New Roman" pitchFamily="18" charset="0"/>
              </a:rPr>
              <a:t>} </a:t>
            </a:r>
            <a:r>
              <a:rPr lang="en-US" altLang="ko-KR" dirty="0" err="1">
                <a:latin typeface="Courier New" pitchFamily="49" charset="0"/>
                <a:cs typeface="Times New Roman" pitchFamily="18" charset="0"/>
              </a:rPr>
              <a:t>humanBeing</a:t>
            </a:r>
            <a:r>
              <a:rPr lang="en-US" altLang="ko-KR" dirty="0">
                <a:latin typeface="Courier New" pitchFamily="49" charset="0"/>
                <a:cs typeface="Times New Roman" pitchFamily="18" charset="0"/>
              </a:rPr>
              <a:t>;</a:t>
            </a:r>
            <a:r>
              <a:rPr lang="en-US" altLang="ko-KR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16769" y="2128153"/>
            <a:ext cx="466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86084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249488" cy="691277"/>
          </a:xfrm>
        </p:spPr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52450" y="1122118"/>
            <a:ext cx="8167077" cy="552156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ko-KR" sz="2000" dirty="0">
                <a:latin typeface="Consolas" panose="020B0609020204030204" pitchFamily="49" charset="0"/>
              </a:rPr>
              <a:t>To embed a structure within a structure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sz="2000" dirty="0">
              <a:latin typeface="Consolas" panose="020B0609020204030204" pitchFamily="49" charset="0"/>
            </a:endParaRP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 err="1">
                <a:latin typeface="Courier New" pitchFamily="49" charset="0"/>
              </a:rPr>
              <a:t>typedef</a:t>
            </a:r>
            <a:r>
              <a:rPr lang="en-US" altLang="ko-KR" sz="1800" b="1" dirty="0">
                <a:latin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</a:rPr>
              <a:t>struct</a:t>
            </a:r>
            <a:r>
              <a:rPr lang="en-US" altLang="ko-KR" sz="1800" b="1" dirty="0">
                <a:latin typeface="Courier New" pitchFamily="49" charset="0"/>
              </a:rPr>
              <a:t> {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</a:t>
            </a:r>
            <a:r>
              <a:rPr lang="en-US" altLang="ko-KR" sz="1800" b="1" dirty="0" err="1">
                <a:latin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</a:rPr>
              <a:t> month;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</a:t>
            </a:r>
            <a:r>
              <a:rPr lang="en-US" altLang="ko-KR" sz="1800" b="1" dirty="0" err="1">
                <a:latin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</a:rPr>
              <a:t> day;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</a:t>
            </a:r>
            <a:r>
              <a:rPr lang="en-US" altLang="ko-KR" sz="1800" b="1" dirty="0" err="1">
                <a:latin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</a:rPr>
              <a:t> year;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} date</a:t>
            </a:r>
            <a:r>
              <a:rPr lang="en-US" altLang="ko-KR" sz="1600" b="1" dirty="0">
                <a:latin typeface="Courier New" pitchFamily="49" charset="0"/>
              </a:rPr>
              <a:t>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endParaRPr lang="en-US" altLang="ko-KR" sz="1600" b="1" dirty="0">
              <a:latin typeface="Courier New" pitchFamily="49" charset="0"/>
            </a:endParaRP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 err="1">
                <a:latin typeface="Courier New" pitchFamily="49" charset="0"/>
              </a:rPr>
              <a:t>typedef</a:t>
            </a:r>
            <a:r>
              <a:rPr lang="en-US" altLang="ko-KR" sz="1800" b="1" dirty="0">
                <a:latin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</a:rPr>
              <a:t>struct</a:t>
            </a:r>
            <a:r>
              <a:rPr lang="en-US" altLang="ko-KR" sz="1800" b="1" dirty="0">
                <a:latin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</a:rPr>
              <a:t>humanBeing</a:t>
            </a:r>
            <a:r>
              <a:rPr lang="en-US" altLang="ko-KR" sz="1800" b="1" dirty="0">
                <a:latin typeface="Courier New" pitchFamily="49" charset="0"/>
              </a:rPr>
              <a:t>{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char name[10]; 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  </a:t>
            </a:r>
            <a:r>
              <a:rPr lang="en-US" altLang="ko-KR" sz="1800" b="1" dirty="0" err="1">
                <a:latin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</a:rPr>
              <a:t> age; 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	float salary;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solidFill>
                  <a:schemeClr val="accent2"/>
                </a:solidFill>
                <a:latin typeface="Courier New" pitchFamily="49" charset="0"/>
              </a:rPr>
              <a:t>  date</a:t>
            </a:r>
            <a:r>
              <a:rPr lang="en-US" altLang="ko-KR" sz="1800" b="1" dirty="0">
                <a:latin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</a:rPr>
              <a:t>dob</a:t>
            </a:r>
            <a:r>
              <a:rPr lang="en-US" altLang="ko-KR" sz="1800" b="1" dirty="0">
                <a:latin typeface="Courier New" pitchFamily="49" charset="0"/>
              </a:rPr>
              <a:t>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Courier New" pitchFamily="49" charset="0"/>
              </a:rPr>
              <a:t>} </a:t>
            </a:r>
            <a:r>
              <a:rPr lang="en-US" altLang="ko-KR" sz="1800" b="1" dirty="0" err="1">
                <a:latin typeface="Courier New" pitchFamily="49" charset="0"/>
              </a:rPr>
              <a:t>humanBeing</a:t>
            </a:r>
            <a:r>
              <a:rPr lang="en-US" altLang="ko-KR" sz="1800" b="1" dirty="0">
                <a:latin typeface="Courier New" pitchFamily="49" charset="0"/>
              </a:rPr>
              <a:t>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endParaRPr lang="en-US" altLang="ko-KR" sz="1600" b="1" dirty="0">
              <a:latin typeface="Courier New" pitchFamily="49" charset="0"/>
            </a:endParaRPr>
          </a:p>
          <a:p>
            <a:pPr marL="698500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solidFill>
                  <a:schemeClr val="tx2"/>
                </a:solidFill>
                <a:latin typeface="Courier New" pitchFamily="49" charset="0"/>
              </a:rPr>
              <a:t>person1.dob.month=12; person1.dob.day=3;</a:t>
            </a:r>
          </a:p>
          <a:p>
            <a:pPr marL="698500" lvl="1" indent="-25400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solidFill>
                  <a:schemeClr val="tx2"/>
                </a:solidFill>
                <a:latin typeface="Courier New" pitchFamily="49" charset="0"/>
              </a:rPr>
              <a:t>person1.dob.year=1969;</a:t>
            </a:r>
          </a:p>
          <a:p>
            <a:pPr marL="698500" indent="-254000"/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7249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2182688" cy="691277"/>
          </a:xfrm>
        </p:spPr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68923" y="1143000"/>
            <a:ext cx="816707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A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union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 declaration is similar to a structure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Fields of a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union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 must share their memory space</a:t>
            </a:r>
          </a:p>
          <a:p>
            <a:pPr marL="0" marR="0" lvl="1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Example 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	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urier New" pitchFamily="49" charset="0"/>
              <a:ea typeface="굴림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832" y="3200400"/>
            <a:ext cx="3494768" cy="304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72064"/>
            <a:ext cx="3237978" cy="202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85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12801"/>
            <a:ext cx="6141054" cy="50292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306888" cy="691277"/>
          </a:xfrm>
        </p:spPr>
        <p:txBody>
          <a:bodyPr/>
          <a:lstStyle/>
          <a:p>
            <a:r>
              <a:rPr lang="en-US" sz="4400" dirty="0"/>
              <a:t>Structure vs. Union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01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typedef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struct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sexType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{</a:t>
            </a: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	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enum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tagField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{female, male} sex;</a:t>
            </a: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	</a:t>
            </a:r>
            <a:r>
              <a:rPr kumimoji="1" lang="en-US" altLang="ko-KR" b="1" i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union</a:t>
            </a:r>
            <a:r>
              <a:rPr kumimoji="1" lang="en-US" altLang="ko-KR" b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 {</a:t>
            </a:r>
            <a:endParaRPr kumimoji="1" lang="en-US" altLang="ko-KR" b="1" kern="0" dirty="0">
              <a:solidFill>
                <a:srgbClr val="3333CC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    </a:t>
            </a:r>
            <a:r>
              <a:rPr kumimoji="1" lang="en-US" altLang="ko-KR" b="1" kern="0" dirty="0" err="1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int</a:t>
            </a:r>
            <a:r>
              <a:rPr kumimoji="1" lang="en-US" altLang="ko-KR" b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 children;</a:t>
            </a:r>
            <a:endParaRPr kumimoji="1" lang="en-US" altLang="ko-KR" b="1" kern="0" dirty="0">
              <a:solidFill>
                <a:srgbClr val="3333CC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    </a:t>
            </a:r>
            <a:r>
              <a:rPr kumimoji="1" lang="en-US" altLang="ko-KR" b="1" kern="0" dirty="0" err="1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int</a:t>
            </a:r>
            <a:r>
              <a:rPr kumimoji="1" lang="en-US" altLang="ko-KR" b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 beard;</a:t>
            </a:r>
            <a:endParaRPr kumimoji="1" lang="en-US" altLang="ko-KR" b="1" kern="0" dirty="0">
              <a:solidFill>
                <a:srgbClr val="3333CC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    } </a:t>
            </a:r>
            <a:r>
              <a:rPr kumimoji="1" lang="en-US" altLang="ko-KR" b="1" i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u</a:t>
            </a:r>
            <a:r>
              <a:rPr kumimoji="1" lang="en-US" altLang="ko-KR" b="1" kern="0" dirty="0">
                <a:solidFill>
                  <a:srgbClr val="3333CC"/>
                </a:solidFill>
                <a:latin typeface="Courier New" pitchFamily="49" charset="0"/>
                <a:ea typeface="굴림"/>
                <a:cs typeface="Times New Roman" pitchFamily="18" charset="0"/>
              </a:rPr>
              <a:t> ;</a:t>
            </a:r>
            <a:endParaRPr kumimoji="1" lang="en-US" altLang="ko-KR" b="1" kern="0" dirty="0">
              <a:solidFill>
                <a:srgbClr val="3333CC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};</a:t>
            </a: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	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typedef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struct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humanBeing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{</a:t>
            </a: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	char name[10];</a:t>
            </a: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	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int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age;</a:t>
            </a: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	date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dob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;</a:t>
            </a: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	</a:t>
            </a:r>
            <a:r>
              <a:rPr kumimoji="1" lang="en-US" altLang="ko-KR" b="1" kern="0" dirty="0" err="1">
                <a:solidFill>
                  <a:srgbClr val="2D2DB9">
                    <a:lumMod val="75000"/>
                  </a:srgbClr>
                </a:solidFill>
                <a:latin typeface="Courier New" pitchFamily="49" charset="0"/>
                <a:ea typeface="굴림"/>
                <a:cs typeface="Times New Roman" pitchFamily="18" charset="0"/>
              </a:rPr>
              <a:t>sexType</a:t>
            </a:r>
            <a:r>
              <a:rPr kumimoji="1" lang="en-US" altLang="ko-KR" b="1" kern="0" dirty="0">
                <a:solidFill>
                  <a:srgbClr val="2D2DB9">
                    <a:lumMod val="75000"/>
                  </a:srgbClr>
                </a:solidFill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sexInfo</a:t>
            </a:r>
            <a:r>
              <a:rPr kumimoji="1" lang="en-US" altLang="ko-KR" b="1" i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;</a:t>
            </a:r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marL="381000" lvl="0" indent="-381000" algn="just" latinLnBrk="0"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  };</a:t>
            </a:r>
            <a:endParaRPr kumimoji="1" lang="en-US" altLang="ko-KR" b="1" kern="0" dirty="0">
              <a:solidFill>
                <a:srgbClr val="2D2DB9"/>
              </a:solidFill>
              <a:latin typeface="Courier New" pitchFamily="49" charset="0"/>
              <a:ea typeface="굴림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24401" y="2281635"/>
            <a:ext cx="4297746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b="1" kern="0" dirty="0">
                <a:solidFill>
                  <a:srgbClr val="2D2DB9"/>
                </a:solidFill>
                <a:latin typeface="Courier New" pitchFamily="49" charset="0"/>
                <a:ea typeface="굴림"/>
              </a:rPr>
              <a:t> 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#define FALSE 	0</a:t>
            </a:r>
          </a:p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 #define TRUE 	1</a:t>
            </a:r>
          </a:p>
          <a:p>
            <a:pPr marL="381000" lvl="0" indent="-381000" algn="just" eaLnBrk="1" hangingPunct="1"/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</a:t>
            </a:r>
          </a:p>
          <a:p>
            <a:pPr marL="381000" lvl="0" indent="-381000" algn="just" eaLnBrk="1" hangingPunct="1"/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 </a:t>
            </a:r>
            <a:r>
              <a:rPr kumimoji="1"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humanBeing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  <a:cs typeface="Times New Roman" pitchFamily="18" charset="0"/>
              </a:rPr>
              <a:t> person1, person2;</a:t>
            </a:r>
          </a:p>
          <a:p>
            <a:pPr marL="381000" lvl="0" indent="-381000" algn="just" eaLnBrk="1" hangingPunct="1"/>
            <a:endParaRPr kumimoji="1" lang="en-US" altLang="ko-KR" b="1" kern="0" dirty="0">
              <a:solidFill>
                <a:srgbClr val="000000"/>
              </a:solidFill>
              <a:latin typeface="Courier New" pitchFamily="49" charset="0"/>
              <a:ea typeface="굴림"/>
            </a:endParaRPr>
          </a:p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b="1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	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person1.sexInfo.sex=male;</a:t>
            </a:r>
          </a:p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	person1.sexInfo.u.beard=FALSE;</a:t>
            </a:r>
          </a:p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	</a:t>
            </a:r>
          </a:p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Or</a:t>
            </a:r>
          </a:p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	</a:t>
            </a: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person1.sexInfo.sex=female;</a:t>
            </a:r>
          </a:p>
          <a:p>
            <a:pPr marL="381000" lvl="0" indent="-381000" eaLnBrk="1" hangingPunct="1">
              <a:spcBef>
                <a:spcPct val="20000"/>
              </a:spcBef>
            </a:pPr>
            <a:r>
              <a:rPr kumimoji="1"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	person1.sexInfo.u.children=4;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042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1" y="302400"/>
            <a:ext cx="6732463" cy="691277"/>
          </a:xfrm>
        </p:spPr>
        <p:txBody>
          <a:bodyPr/>
          <a:lstStyle/>
          <a:p>
            <a:r>
              <a:rPr lang="en-US" sz="4400" dirty="0"/>
              <a:t>Self Referential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21323" y="1066800"/>
            <a:ext cx="816707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cs typeface="Times New Roman" pitchFamily="18" charset="0"/>
              </a:rPr>
              <a:t>One or more of its components is a pointer to itself</a:t>
            </a:r>
            <a:endParaRPr kumimoji="1" lang="ko-KR" altLang="en-US" sz="20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0050" y="1694997"/>
            <a:ext cx="838835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latinLnBrk="1" hangingPunct="1"/>
            <a:r>
              <a:rPr kumimoji="1" lang="en-US" altLang="ko-KR" b="1" dirty="0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   </a:t>
            </a:r>
            <a:r>
              <a:rPr kumimoji="1" lang="en-US" altLang="ko-KR" b="1" dirty="0" err="1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typedef</a:t>
            </a:r>
            <a:r>
              <a:rPr kumimoji="1" lang="en-US" altLang="ko-KR" b="1" dirty="0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 </a:t>
            </a:r>
            <a:r>
              <a:rPr kumimoji="1" lang="en-US" altLang="ko-KR" b="1" dirty="0" err="1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struct</a:t>
            </a:r>
            <a:r>
              <a:rPr kumimoji="1" lang="en-US" altLang="ko-KR" b="1" dirty="0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 list *</a:t>
            </a:r>
            <a:r>
              <a:rPr kumimoji="1" lang="en-US" altLang="ko-KR" b="1" dirty="0" err="1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listPtr</a:t>
            </a:r>
            <a:r>
              <a:rPr kumimoji="1" lang="en-US" altLang="ko-KR" b="1" dirty="0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;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   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	</a:t>
            </a:r>
            <a:r>
              <a:rPr kumimoji="1" lang="en-US" altLang="ko-KR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typedef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</a:t>
            </a:r>
            <a:r>
              <a:rPr kumimoji="1" lang="en-US" altLang="ko-KR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struct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list { 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       char data; </a:t>
            </a:r>
          </a:p>
          <a:p>
            <a:pPr marL="457200" indent="-457200" eaLnBrk="1" latinLnBrk="1" hangingPunct="1"/>
            <a:r>
              <a:rPr kumimoji="1" lang="en-US" altLang="ko-KR" b="1" i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       </a:t>
            </a:r>
            <a:r>
              <a:rPr kumimoji="1" lang="en-US" altLang="ko-KR" b="1" dirty="0" err="1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listPtr</a:t>
            </a:r>
            <a:r>
              <a:rPr kumimoji="1" lang="en-US" altLang="ko-KR" b="1" dirty="0">
                <a:solidFill>
                  <a:srgbClr val="3333CC"/>
                </a:solidFill>
                <a:latin typeface="Courier New" pitchFamily="49" charset="0"/>
                <a:ea typeface="굴림" pitchFamily="50" charset="-127"/>
              </a:rPr>
              <a:t> link;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};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 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list item1, item2, item3;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item1.data = 'a';        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item2.data = 'b';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item3.data = 'c';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  item1.link = item2.link = item3.link = NULL;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	item1.link = &amp;item2;</a:t>
            </a:r>
          </a:p>
          <a:p>
            <a:pPr marL="457200" indent="-457200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 	item2.link = &amp;item3;</a:t>
            </a:r>
            <a:endParaRPr kumimoji="1" lang="ko-KR" altLang="en-US" b="1" dirty="0">
              <a:solidFill>
                <a:srgbClr val="000000"/>
              </a:solidFill>
              <a:latin typeface="Courier New" pitchFamily="49" charset="0"/>
              <a:ea typeface="HY엽서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92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Application of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923" y="1143000"/>
            <a:ext cx="816707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</a:rPr>
              <a:t>Ordered list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One dimensional array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Polynomial: components will be numeric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String: components can be non-numeric</a:t>
            </a:r>
          </a:p>
          <a:p>
            <a:pPr marL="53640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 2" pitchFamily="18" charset="2"/>
              <a:buChar char=""/>
              <a:tabLst/>
              <a:defRPr/>
            </a:pP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</a:rPr>
              <a:t>Matrix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Standard: multi-dimensional array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Sparse matrix: one dimensional array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Components may be numeric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1" lang="en-US" altLang="ko-K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48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4316288" cy="691277"/>
          </a:xfrm>
        </p:spPr>
        <p:txBody>
          <a:bodyPr/>
          <a:lstStyle/>
          <a:p>
            <a:r>
              <a:rPr lang="en-US" sz="4400" dirty="0"/>
              <a:t>Ordered List(1)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923" y="1295400"/>
            <a:ext cx="816707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Example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Days of a week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(Sunday, Monday, Tuesday, Wednesday, Thursday, Friday, Saturday)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endParaRPr kumimoji="1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Values in a deck of cards 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(Ace, 2, 3, 4, 5, 6, 7, 8, 9, 10, Jack, Queen, King)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endParaRPr kumimoji="1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Years Switzerland fought in World War II: ()</a:t>
            </a:r>
          </a:p>
        </p:txBody>
      </p:sp>
    </p:spTree>
    <p:extLst>
      <p:ext uri="{BB962C8B-B14F-4D97-AF65-F5344CB8AC3E}">
        <p14:creationId xmlns:p14="http://schemas.microsoft.com/office/powerpoint/2010/main" val="375053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4087688" cy="691277"/>
          </a:xfrm>
        </p:spPr>
        <p:txBody>
          <a:bodyPr/>
          <a:lstStyle/>
          <a:p>
            <a:r>
              <a:rPr lang="en-US" sz="4400" dirty="0"/>
              <a:t>Ordered List(2)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68923" y="1219200"/>
            <a:ext cx="815565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Operations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Finding the length,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n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, of a list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Reading the items in a list from left to right (or reversely)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Retrieving the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-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th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item from a list,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0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n</a:t>
            </a: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Replacing the item in the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-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th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position of a list,    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0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n</a:t>
            </a: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Inserting a new item in the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-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th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position of a list,  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0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n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Deleting an item from the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-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th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position of a list,    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0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i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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</a:t>
            </a:r>
            <a:r>
              <a:rPr kumimoji="1" lang="en-US" altLang="ko-K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n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4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4544888" cy="691277"/>
          </a:xfrm>
        </p:spPr>
        <p:txBody>
          <a:bodyPr/>
          <a:lstStyle/>
          <a:p>
            <a:r>
              <a:rPr lang="en-US" sz="4400" dirty="0"/>
              <a:t>Polynomial ADT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468923" y="914400"/>
            <a:ext cx="816707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½Å¸íÁ¶"/>
                <a:cs typeface="½Å¸íÁ¶"/>
              </a:rPr>
              <a:t>Example of polynomials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½Å¸íÁ¶"/>
                <a:cs typeface="½Å¸íÁ¶"/>
              </a:rPr>
              <a:t>	 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A(x) = 3x</a:t>
            </a:r>
            <a:r>
              <a:rPr kumimoji="1" lang="en-US" altLang="ko-KR" sz="20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6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 + 2x</a:t>
            </a:r>
            <a:r>
              <a:rPr kumimoji="1" lang="en-US" altLang="ko-KR" sz="20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5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 + 4,  B(x) = x</a:t>
            </a:r>
            <a:r>
              <a:rPr kumimoji="1" lang="en-US" altLang="ko-KR" sz="20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4 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+ 10x</a:t>
            </a:r>
            <a:r>
              <a:rPr kumimoji="1" lang="en-US" altLang="ko-KR" sz="20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3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 + 3x</a:t>
            </a:r>
            <a:r>
              <a:rPr kumimoji="1" lang="en-US" altLang="ko-KR" sz="20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2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  <a:cs typeface="+mn-cs"/>
              </a:rPr>
              <a:t> + 1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" pitchFamily="18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신명조" charset="-127"/>
                <a:cs typeface="+mn-cs"/>
              </a:rPr>
              <a:t> 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+mn-cs"/>
                <a:sym typeface="Wingdings" pitchFamily="2" charset="2"/>
              </a:rPr>
              <a:t>    A(x) + B(x) = 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바탕" pitchFamily="18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바탕" pitchFamily="18" charset="-127"/>
                <a:cs typeface="+mn-cs"/>
              </a:rPr>
              <a:t>Manipulation of symbolic polynomials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신명조" charset="-127"/>
                <a:cs typeface="+mn-cs"/>
              </a:rPr>
              <a:t>     </a:t>
            </a:r>
            <a:endParaRPr kumimoji="1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</p:txBody>
      </p:sp>
      <p:graphicFrame>
        <p:nvGraphicFramePr>
          <p:cNvPr id="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148951"/>
              </p:ext>
            </p:extLst>
          </p:nvPr>
        </p:nvGraphicFramePr>
        <p:xfrm>
          <a:off x="2422379" y="3035300"/>
          <a:ext cx="184308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6" name="수식" r:id="rId3" imgW="888840" imgH="431640" progId="Equation.3">
                  <p:embed/>
                </p:oleObj>
              </mc:Choice>
              <mc:Fallback>
                <p:oleObj name="수식" r:id="rId3" imgW="888840" imgH="431640" progId="Equation.3">
                  <p:embed/>
                  <p:pic>
                    <p:nvPicPr>
                      <p:cNvPr id="46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379" y="3035300"/>
                        <a:ext cx="1843088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443792"/>
              </p:ext>
            </p:extLst>
          </p:nvPr>
        </p:nvGraphicFramePr>
        <p:xfrm>
          <a:off x="4775054" y="3035300"/>
          <a:ext cx="17637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" name="수식" r:id="rId5" imgW="927000" imgH="444240" progId="Equation.3">
                  <p:embed/>
                </p:oleObj>
              </mc:Choice>
              <mc:Fallback>
                <p:oleObj name="수식" r:id="rId5" imgW="927000" imgH="444240" progId="Equation.3">
                  <p:embed/>
                  <p:pic>
                    <p:nvPicPr>
                      <p:cNvPr id="46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054" y="3035300"/>
                        <a:ext cx="1763713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152523"/>
              </p:ext>
            </p:extLst>
          </p:nvPr>
        </p:nvGraphicFramePr>
        <p:xfrm>
          <a:off x="2444604" y="3873500"/>
          <a:ext cx="384333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" name="수식" r:id="rId7" imgW="1854000" imgH="444240" progId="Equation.3">
                  <p:embed/>
                </p:oleObj>
              </mc:Choice>
              <mc:Fallback>
                <p:oleObj name="수식" r:id="rId7" imgW="1854000" imgH="444240" progId="Equation.3">
                  <p:embed/>
                  <p:pic>
                    <p:nvPicPr>
                      <p:cNvPr id="460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604" y="3873500"/>
                        <a:ext cx="3843338" cy="919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350026"/>
              </p:ext>
            </p:extLst>
          </p:nvPr>
        </p:nvGraphicFramePr>
        <p:xfrm>
          <a:off x="2417617" y="4800600"/>
          <a:ext cx="39655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" name="수식" r:id="rId9" imgW="2006280" imgH="444240" progId="Equation.3">
                  <p:embed/>
                </p:oleObj>
              </mc:Choice>
              <mc:Fallback>
                <p:oleObj name="수식" r:id="rId9" imgW="2006280" imgH="444240" progId="Equation.3">
                  <p:embed/>
                  <p:pic>
                    <p:nvPicPr>
                      <p:cNvPr id="460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617" y="4800600"/>
                        <a:ext cx="3965575" cy="87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직사각형 8"/>
          <p:cNvSpPr/>
          <p:nvPr/>
        </p:nvSpPr>
        <p:spPr>
          <a:xfrm>
            <a:off x="7551174" y="1807422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+ 5</a:t>
            </a:r>
            <a:endParaRPr kumimoji="1" lang="en-US" altLang="ko-KR" sz="2000" b="1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63" name="직사각형 10"/>
          <p:cNvSpPr/>
          <p:nvPr/>
        </p:nvSpPr>
        <p:spPr>
          <a:xfrm>
            <a:off x="3694061" y="1807422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3x</a:t>
            </a:r>
            <a:r>
              <a:rPr kumimoji="1" lang="en-US" altLang="ko-KR" sz="2000" b="1" baseline="30000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6 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4" name="직사각형 11"/>
          <p:cNvSpPr/>
          <p:nvPr/>
        </p:nvSpPr>
        <p:spPr>
          <a:xfrm>
            <a:off x="4204052" y="1807422"/>
            <a:ext cx="10054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+ 2x</a:t>
            </a:r>
            <a:r>
              <a:rPr kumimoji="1" lang="en-US" altLang="ko-KR" sz="2000" b="1" baseline="30000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5 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5" name="직사각형 12"/>
          <p:cNvSpPr/>
          <p:nvPr/>
        </p:nvSpPr>
        <p:spPr>
          <a:xfrm>
            <a:off x="5024710" y="1807422"/>
            <a:ext cx="8515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+ x</a:t>
            </a:r>
            <a:r>
              <a:rPr kumimoji="1" lang="en-US" altLang="ko-KR" sz="2000" b="1" baseline="30000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4 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6" name="직사각형 13"/>
          <p:cNvSpPr/>
          <p:nvPr/>
        </p:nvSpPr>
        <p:spPr>
          <a:xfrm>
            <a:off x="5708296" y="1807422"/>
            <a:ext cx="1159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+ 10x</a:t>
            </a:r>
            <a:r>
              <a:rPr kumimoji="1" lang="en-US" altLang="ko-KR" sz="2000" b="1" baseline="30000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3 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7" name="직사각형 14"/>
          <p:cNvSpPr/>
          <p:nvPr/>
        </p:nvSpPr>
        <p:spPr>
          <a:xfrm>
            <a:off x="6696883" y="1807422"/>
            <a:ext cx="10054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+ 3x</a:t>
            </a:r>
            <a:r>
              <a:rPr kumimoji="1" lang="en-US" altLang="ko-KR" sz="2000" b="1" baseline="30000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sym typeface="Wingdings" pitchFamily="2" charset="2"/>
              </a:rPr>
              <a:t>2 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039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143001"/>
            <a:ext cx="8496300" cy="5223926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</a:rPr>
              <a:t>Structure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  <a:t>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</a:rPr>
              <a:t>Polynomial 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  <a:t>is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  <a:t>     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</a:rPr>
              <a:t> objects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  <a:t>:                                      </a:t>
            </a:r>
            <a:r>
              <a:rPr kumimoji="1" lang="en-US" altLang="zh-TW" sz="2000" dirty="0">
                <a:latin typeface="Times New Roman"/>
                <a:cs typeface="+mj-cs"/>
              </a:rPr>
              <a:t>; a set of ordered pairs of &lt;</a:t>
            </a:r>
            <a:r>
              <a:rPr kumimoji="1" lang="en-US" altLang="zh-TW" sz="2000" i="1" dirty="0" err="1">
                <a:latin typeface="Times New Roman"/>
                <a:cs typeface="+mj-cs"/>
              </a:rPr>
              <a:t>e</a:t>
            </a:r>
            <a:r>
              <a:rPr kumimoji="1" lang="en-US" altLang="zh-TW" sz="2000" i="1" baseline="-25000" dirty="0" err="1">
                <a:latin typeface="Times New Roman"/>
                <a:cs typeface="+mj-cs"/>
              </a:rPr>
              <a:t>i</a:t>
            </a:r>
            <a:r>
              <a:rPr kumimoji="1" lang="en-US" altLang="zh-TW" sz="2000" i="1" dirty="0" err="1">
                <a:latin typeface="Times New Roman"/>
                <a:cs typeface="+mj-cs"/>
              </a:rPr>
              <a:t>,a</a:t>
            </a:r>
            <a:r>
              <a:rPr kumimoji="1" lang="en-US" altLang="zh-TW" sz="2000" i="1" baseline="-25000" dirty="0" err="1">
                <a:latin typeface="Times New Roman"/>
                <a:cs typeface="+mj-cs"/>
              </a:rPr>
              <a:t>i</a:t>
            </a:r>
            <a:r>
              <a:rPr kumimoji="1" lang="en-US" altLang="zh-TW" sz="2000" dirty="0">
                <a:latin typeface="Times New Roman"/>
                <a:cs typeface="+mj-cs"/>
              </a:rPr>
              <a:t>&gt; where </a:t>
            </a:r>
            <a:r>
              <a:rPr kumimoji="1" lang="en-US" altLang="zh-TW" sz="2000" i="1" dirty="0" err="1">
                <a:latin typeface="Times New Roman"/>
                <a:cs typeface="+mj-cs"/>
              </a:rPr>
              <a:t>a</a:t>
            </a:r>
            <a:r>
              <a:rPr kumimoji="1" lang="en-US" altLang="zh-TW" sz="2000" i="1" baseline="-25000" dirty="0" err="1">
                <a:latin typeface="Times New Roman"/>
                <a:cs typeface="+mj-cs"/>
              </a:rPr>
              <a:t>i</a:t>
            </a:r>
            <a:r>
              <a:rPr kumimoji="1" lang="en-US" altLang="zh-TW" sz="2000" dirty="0">
                <a:latin typeface="Times New Roman"/>
                <a:cs typeface="+mj-cs"/>
              </a:rPr>
              <a:t> in </a:t>
            </a:r>
            <a:r>
              <a:rPr kumimoji="1" lang="en-US" altLang="zh-TW" sz="2000" i="1" dirty="0">
                <a:latin typeface="Times New Roman"/>
                <a:cs typeface="+mj-cs"/>
              </a:rPr>
              <a:t>Coefficients </a:t>
            </a:r>
            <a:r>
              <a:rPr kumimoji="1" lang="en-US" altLang="zh-TW" sz="2000" dirty="0">
                <a:latin typeface="Times New Roman"/>
                <a:cs typeface="+mj-cs"/>
              </a:rPr>
              <a:t>and </a:t>
            </a:r>
            <a:r>
              <a:rPr kumimoji="1" lang="en-US" altLang="zh-TW" sz="2000" i="1" dirty="0" err="1">
                <a:latin typeface="Times New Roman"/>
                <a:cs typeface="+mj-cs"/>
              </a:rPr>
              <a:t>e</a:t>
            </a:r>
            <a:r>
              <a:rPr kumimoji="1" lang="en-US" altLang="zh-TW" sz="2000" i="1" baseline="-25000" dirty="0" err="1">
                <a:latin typeface="Times New Roman"/>
                <a:cs typeface="+mj-cs"/>
              </a:rPr>
              <a:t>i</a:t>
            </a:r>
            <a:r>
              <a:rPr kumimoji="1" lang="en-US" altLang="zh-TW" sz="2000" dirty="0">
                <a:latin typeface="Times New Roman"/>
                <a:cs typeface="+mj-cs"/>
              </a:rPr>
              <a:t> in</a:t>
            </a:r>
            <a:r>
              <a:rPr kumimoji="1" lang="en-US" altLang="zh-TW" sz="2000" i="1" dirty="0">
                <a:latin typeface="Times New Roman"/>
                <a:cs typeface="+mj-cs"/>
              </a:rPr>
              <a:t> Exponents</a:t>
            </a:r>
            <a:r>
              <a:rPr kumimoji="1" lang="en-US" altLang="zh-TW" sz="2000" dirty="0">
                <a:latin typeface="Times New Roman"/>
                <a:cs typeface="+mj-cs"/>
              </a:rPr>
              <a:t>,</a:t>
            </a:r>
            <a:r>
              <a:rPr kumimoji="1" lang="en-US" altLang="zh-TW" sz="2000" i="1" dirty="0">
                <a:latin typeface="Times New Roman"/>
                <a:cs typeface="+mj-cs"/>
              </a:rPr>
              <a:t> </a:t>
            </a:r>
            <a:r>
              <a:rPr kumimoji="1" lang="en-US" altLang="zh-TW" sz="2000" i="1" dirty="0" err="1">
                <a:latin typeface="Times New Roman"/>
                <a:cs typeface="+mj-cs"/>
              </a:rPr>
              <a:t>e</a:t>
            </a:r>
            <a:r>
              <a:rPr kumimoji="1" lang="en-US" altLang="zh-TW" sz="2000" i="1" baseline="-25000" dirty="0" err="1">
                <a:latin typeface="Times New Roman"/>
                <a:cs typeface="+mj-cs"/>
              </a:rPr>
              <a:t>i</a:t>
            </a:r>
            <a:r>
              <a:rPr kumimoji="1" lang="en-US" altLang="zh-TW" sz="2000" dirty="0">
                <a:latin typeface="Times New Roman"/>
                <a:cs typeface="+mj-cs"/>
              </a:rPr>
              <a:t> are integers &gt;= 0</a:t>
            </a:r>
          </a:p>
          <a:p>
            <a:pPr marL="0" indent="0">
              <a:buNone/>
            </a:pP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</a:b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</a:rPr>
              <a:t>functions:</a:t>
            </a:r>
            <a:b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</a:rPr>
            </a:br>
            <a:r>
              <a:rPr kumimoji="1" lang="en-US" altLang="zh-TW" sz="2000" dirty="0">
                <a:latin typeface="Times New Roman"/>
                <a:cs typeface="+mj-cs"/>
              </a:rPr>
              <a:t>for all </a:t>
            </a:r>
            <a:r>
              <a:rPr kumimoji="1" lang="en-US" altLang="zh-TW" sz="2000" i="1" dirty="0">
                <a:latin typeface="Times New Roman"/>
                <a:cs typeface="+mj-cs"/>
              </a:rPr>
              <a:t>poly, poly1, poly2</a:t>
            </a:r>
            <a:r>
              <a:rPr kumimoji="1" lang="en-US" altLang="zh-TW" sz="2000" dirty="0">
                <a:latin typeface="Times New Roman"/>
                <a:cs typeface="+mj-cs"/>
              </a:rPr>
              <a:t> </a:t>
            </a:r>
            <a:r>
              <a:rPr kumimoji="1" lang="en-US" altLang="zh-TW" sz="2000" dirty="0">
                <a:latin typeface="Times New Roman"/>
                <a:cs typeface="+mj-cs"/>
                <a:sym typeface="UniversalMath1 BT" pitchFamily="18" charset="2"/>
              </a:rPr>
              <a:t> </a:t>
            </a:r>
            <a:r>
              <a:rPr kumimoji="1" lang="en-US" altLang="zh-TW" sz="2000" i="1" dirty="0">
                <a:latin typeface="Times New Roman"/>
                <a:cs typeface="+mj-cs"/>
                <a:sym typeface="UniversalMath1 BT" pitchFamily="18" charset="2"/>
              </a:rPr>
              <a:t>Polynomial</a:t>
            </a:r>
            <a:r>
              <a:rPr kumimoji="1" lang="en-US" altLang="zh-TW" sz="2000" dirty="0">
                <a:latin typeface="Times New Roman"/>
                <a:cs typeface="+mj-cs"/>
                <a:sym typeface="UniversalMath1 BT" pitchFamily="18" charset="2"/>
              </a:rPr>
              <a:t>, </a:t>
            </a:r>
            <a:r>
              <a:rPr kumimoji="1" lang="en-US" altLang="zh-TW" sz="2000" i="1" dirty="0" err="1">
                <a:latin typeface="Times New Roman"/>
                <a:cs typeface="+mj-cs"/>
                <a:sym typeface="UniversalMath1 BT" pitchFamily="18" charset="2"/>
              </a:rPr>
              <a:t>coef</a:t>
            </a:r>
            <a:r>
              <a:rPr kumimoji="1" lang="en-US" altLang="zh-TW" sz="2000" dirty="0">
                <a:latin typeface="Times New Roman"/>
                <a:cs typeface="+mj-cs"/>
                <a:sym typeface="UniversalMath1 BT" pitchFamily="18" charset="2"/>
              </a:rPr>
              <a:t> </a:t>
            </a:r>
            <a:r>
              <a:rPr kumimoji="1" lang="en-US" altLang="zh-TW" sz="2000" i="1" dirty="0">
                <a:latin typeface="Times New Roman"/>
                <a:cs typeface="+mj-cs"/>
                <a:sym typeface="UniversalMath1 BT" pitchFamily="18" charset="2"/>
              </a:rPr>
              <a:t>Coefficients</a:t>
            </a:r>
            <a:r>
              <a:rPr kumimoji="1" lang="en-US" altLang="zh-TW" sz="2000" dirty="0">
                <a:latin typeface="Times New Roman"/>
                <a:cs typeface="+mj-cs"/>
                <a:sym typeface="UniversalMath1 BT" pitchFamily="18" charset="2"/>
              </a:rPr>
              <a:t>, </a:t>
            </a:r>
            <a:r>
              <a:rPr kumimoji="1" lang="en-US" altLang="zh-TW" sz="2000" i="1" dirty="0" err="1"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i="1" dirty="0">
                <a:latin typeface="Times New Roman"/>
                <a:cs typeface="+mj-cs"/>
                <a:sym typeface="UniversalMath1 BT" pitchFamily="18" charset="2"/>
              </a:rPr>
              <a:t> </a:t>
            </a:r>
            <a:r>
              <a:rPr kumimoji="1" lang="en-US" altLang="zh-TW" sz="2000" dirty="0">
                <a:latin typeface="Times New Roman"/>
                <a:cs typeface="+mj-cs"/>
                <a:sym typeface="UniversalMath1 BT" pitchFamily="18" charset="2"/>
              </a:rPr>
              <a:t></a:t>
            </a:r>
            <a:r>
              <a:rPr kumimoji="1" lang="en-US" altLang="zh-TW" sz="2000" i="1" dirty="0">
                <a:latin typeface="Times New Roman"/>
                <a:cs typeface="+mj-cs"/>
                <a:sym typeface="UniversalMath1 BT" pitchFamily="18" charset="2"/>
              </a:rPr>
              <a:t>Exponents</a:t>
            </a:r>
            <a:b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Polynomial 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Zero( )                            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the polynomial,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				        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p(x)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= 0	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Boolean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</a:t>
            </a:r>
            <a:r>
              <a:rPr kumimoji="1" lang="en-US" altLang="zh-TW" sz="2000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IsZero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                       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if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return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FALSE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                                                                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else 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TRUE</a:t>
            </a:r>
            <a:b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Coefficient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</a:t>
            </a:r>
            <a:r>
              <a:rPr kumimoji="1" lang="en-US" altLang="zh-TW" sz="2000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Coef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poly,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          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if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(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 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its  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                                                                 coefficient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else 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Zero  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Exponent </a:t>
            </a:r>
            <a:r>
              <a:rPr kumimoji="1" lang="en-US" altLang="zh-TW" sz="2000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Lead_Exp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                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the largest exponent in 				                                    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b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Polynomial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Attach(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poly,coef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,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if 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(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 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error  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                                                                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else 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the polynomial poly  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                                                                 with the term &lt;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coef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,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&gt;    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                                                                 inserted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Polynomial ADT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927528"/>
              </p:ext>
            </p:extLst>
          </p:nvPr>
        </p:nvGraphicFramePr>
        <p:xfrm>
          <a:off x="1994368" y="1366254"/>
          <a:ext cx="2237728" cy="37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" name="Equation" r:id="rId3" imgW="1434960" imgH="241200" progId="Equation.3">
                  <p:embed/>
                </p:oleObj>
              </mc:Choice>
              <mc:Fallback>
                <p:oleObj name="Equation" r:id="rId3" imgW="1434960" imgH="241200" progId="Equation.3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368" y="1366254"/>
                        <a:ext cx="2237728" cy="373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955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</a:rPr>
              <a:t>Polynomial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  <a:t> Remove(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</a:rPr>
              <a:t>poly,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</a:rPr>
              <a:t>expon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  <a:t>)            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</a:rPr>
              <a:t>if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</a:rPr>
              <a:t> (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</a:rPr>
              <a:t>expon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</a:rPr>
              <a:t>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 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the 	 polynomial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poly 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with the term whose exponent is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deleted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		               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else 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error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Polynomial </a:t>
            </a:r>
            <a:r>
              <a:rPr kumimoji="1" lang="en-US" altLang="zh-TW" sz="2000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SingleMult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poly,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coef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,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the polynomial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                                                                       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 •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coef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• </a:t>
            </a:r>
            <a:r>
              <a:rPr kumimoji="1" lang="en-US" altLang="zh-TW" sz="2000" i="1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x</a:t>
            </a:r>
            <a:r>
              <a:rPr kumimoji="1" lang="en-US" altLang="zh-TW" sz="2000" i="1" baseline="30000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expon</a:t>
            </a:r>
            <a:br>
              <a:rPr kumimoji="1" lang="en-US" altLang="zh-TW" sz="2000" i="1" baseline="30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Polynomial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Add(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poly1, poly2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                 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the polynomial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					 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1 +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2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Polynomial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</a:t>
            </a:r>
            <a:r>
              <a:rPr kumimoji="1" lang="en-US" altLang="zh-TW" sz="2000" dirty="0" err="1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Mult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(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poly1, poly2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)                   ::= </a:t>
            </a:r>
            <a:r>
              <a:rPr kumimoji="1" lang="en-US" altLang="zh-TW" sz="2000" b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return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the polynomial</a:t>
            </a:r>
            <a:b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</a:b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                                                                         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1 • </a:t>
            </a:r>
            <a:r>
              <a:rPr kumimoji="1" lang="en-US" altLang="zh-TW" sz="2000" i="1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poly</a:t>
            </a:r>
            <a:r>
              <a:rPr kumimoji="1" lang="en-US" altLang="zh-TW" sz="2000" dirty="0">
                <a:solidFill>
                  <a:srgbClr val="003366"/>
                </a:solidFill>
                <a:latin typeface="Times New Roman"/>
                <a:cs typeface="+mj-cs"/>
                <a:sym typeface="UniversalMath1 BT" pitchFamily="18" charset="2"/>
              </a:rPr>
              <a:t>2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4544888" cy="691277"/>
          </a:xfrm>
        </p:spPr>
        <p:txBody>
          <a:bodyPr/>
          <a:lstStyle/>
          <a:p>
            <a:r>
              <a:rPr lang="en-US" sz="4400" dirty="0"/>
              <a:t>Polynomial ADT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85800" y="5029200"/>
            <a:ext cx="220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chemeClr val="tx2"/>
                </a:solidFill>
              </a:rPr>
              <a:t>End</a:t>
            </a:r>
            <a:r>
              <a:rPr lang="en-US" altLang="zh-TW" dirty="0">
                <a:solidFill>
                  <a:schemeClr val="tx2"/>
                </a:solidFill>
              </a:rPr>
              <a:t> </a:t>
            </a:r>
            <a:r>
              <a:rPr lang="en-US" altLang="zh-TW" i="1" dirty="0">
                <a:solidFill>
                  <a:schemeClr val="tx2"/>
                </a:solidFill>
              </a:rPr>
              <a:t>Polynomial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37136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Polynomial ADT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45362" y="1143000"/>
            <a:ext cx="8167077" cy="490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/*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d = a + b, where a, b, and d are polynomials */</a:t>
            </a:r>
            <a:endParaRPr kumimoji="1" lang="en-US" altLang="ko-KR" sz="17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바탕" pitchFamily="18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d = Zero();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while (!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IsZero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 &amp;&amp; !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IsZero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(b)) do  {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switch COMPARE(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(b)) {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case -1:  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/* if</a:t>
            </a:r>
            <a:r>
              <a:rPr kumimoji="1" lang="ko-KR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 &lt;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 */</a:t>
            </a:r>
            <a:endParaRPr kumimoji="1" lang="en-US" altLang="ko-KR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" pitchFamily="18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d = Attach (d,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Coef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(b)),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b = Remove(b,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break;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case 0: 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/* if</a:t>
            </a:r>
            <a:r>
              <a:rPr kumimoji="1" lang="ko-KR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 ==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 */</a:t>
            </a:r>
            <a:endParaRPr kumimoji="1" lang="en-US" altLang="ko-KR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" pitchFamily="18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sum =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Coef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(a)) +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Coef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if (sum) {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   d = Attach(d, sum,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(a));         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   a = Remove(a,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   b = Remove(b,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}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break;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case 1: 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/* if</a:t>
            </a:r>
            <a:r>
              <a:rPr kumimoji="1" lang="ko-KR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 &gt;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(b) */</a:t>
            </a:r>
            <a:endParaRPr kumimoji="1" lang="en-US" altLang="ko-KR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" pitchFamily="18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d = Attach(d,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Coef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(a)),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  a = Remove(a, </a:t>
            </a:r>
            <a:r>
              <a:rPr kumimoji="1" lang="en-US" altLang="ko-K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LeadExp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(a));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   }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}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Insert any remaining terms of a or b into d</a:t>
            </a:r>
            <a:r>
              <a:rPr kumimoji="1" lang="en-US" altLang="ko-K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+mn-cs"/>
              </a:rPr>
              <a:t> </a:t>
            </a:r>
            <a:endParaRPr kumimoji="1" lang="ko-KR" altLang="en-US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굴림"/>
              <a:cs typeface="+mn-cs"/>
            </a:endParaRPr>
          </a:p>
        </p:txBody>
      </p:sp>
      <p:sp>
        <p:nvSpPr>
          <p:cNvPr id="2" name="Rectangular Callout 1"/>
          <p:cNvSpPr/>
          <p:nvPr/>
        </p:nvSpPr>
        <p:spPr>
          <a:xfrm>
            <a:off x="6703970" y="1447800"/>
            <a:ext cx="2311639" cy="612648"/>
          </a:xfrm>
          <a:prstGeom prst="wedgeRectCallout">
            <a:avLst>
              <a:gd name="adj1" fmla="val -76347"/>
              <a:gd name="adj2" fmla="val 44052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Consolas" panose="020B0609020204030204" pitchFamily="49" charset="0"/>
              </a:rPr>
              <a:t>Return the largest expo in poly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7551524" y="2667000"/>
            <a:ext cx="1606175" cy="685800"/>
          </a:xfrm>
          <a:prstGeom prst="wedgeRectCallout">
            <a:avLst>
              <a:gd name="adj1" fmla="val -89780"/>
              <a:gd name="adj2" fmla="val -67402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Consolas" panose="020B0609020204030204" pitchFamily="49" charset="0"/>
              </a:rPr>
              <a:t>Return the term poly</a:t>
            </a:r>
          </a:p>
        </p:txBody>
      </p:sp>
    </p:spTree>
    <p:extLst>
      <p:ext uri="{BB962C8B-B14F-4D97-AF65-F5344CB8AC3E}">
        <p14:creationId xmlns:p14="http://schemas.microsoft.com/office/powerpoint/2010/main" val="802711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Polynomial ADT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138" name="Rectangle 3"/>
          <p:cNvSpPr txBox="1">
            <a:spLocks noChangeArrowheads="1"/>
          </p:cNvSpPr>
          <p:nvPr/>
        </p:nvSpPr>
        <p:spPr bwMode="auto">
          <a:xfrm>
            <a:off x="468923" y="1143000"/>
            <a:ext cx="816707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#define MAX_DEGREE 101</a:t>
            </a:r>
          </a:p>
          <a:p>
            <a:pPr lvl="1"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typedef struct {</a:t>
            </a:r>
          </a:p>
          <a:p>
            <a:pPr lvl="1"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	int degree;</a:t>
            </a:r>
          </a:p>
          <a:p>
            <a:pPr lvl="1"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	float coef[MAX_DEGREE];</a:t>
            </a:r>
          </a:p>
          <a:p>
            <a:pPr lvl="1"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} polynomial;</a:t>
            </a:r>
            <a:endParaRPr lang="en-US" altLang="ko-KR" b="1" kern="0" dirty="0">
              <a:latin typeface="Courier New" pitchFamily="49" charset="0"/>
            </a:endParaRPr>
          </a:p>
        </p:txBody>
      </p:sp>
      <p:sp>
        <p:nvSpPr>
          <p:cNvPr id="139" name="Rectangle 32"/>
          <p:cNvSpPr>
            <a:spLocks noChangeArrowheads="1"/>
          </p:cNvSpPr>
          <p:nvPr/>
        </p:nvSpPr>
        <p:spPr bwMode="auto">
          <a:xfrm>
            <a:off x="894190" y="4410045"/>
            <a:ext cx="29899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>
              <a:spcBef>
                <a:spcPct val="20000"/>
              </a:spcBef>
            </a:pP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A(x) = 3x</a:t>
            </a:r>
            <a:r>
              <a:rPr kumimoji="1" lang="en-US" altLang="ko-KR" b="1" baseline="30000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6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신명조" charset="-127"/>
              </a:rPr>
              <a:t> + 2x</a:t>
            </a:r>
            <a:r>
              <a:rPr kumimoji="1" lang="en-US" altLang="ko-KR" b="1" baseline="30000" dirty="0">
                <a:solidFill>
                  <a:srgbClr val="000000"/>
                </a:solidFill>
                <a:latin typeface="Courier New" pitchFamily="49" charset="0"/>
                <a:ea typeface="신명조" charset="-127"/>
              </a:rPr>
              <a:t>5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신명조" charset="-127"/>
              </a:rPr>
              <a:t> + 41</a:t>
            </a:r>
          </a:p>
        </p:txBody>
      </p:sp>
      <p:sp>
        <p:nvSpPr>
          <p:cNvPr id="140" name="직사각형 2"/>
          <p:cNvSpPr/>
          <p:nvPr/>
        </p:nvSpPr>
        <p:spPr>
          <a:xfrm>
            <a:off x="812763" y="2847322"/>
            <a:ext cx="7762875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20000"/>
              </a:spcBef>
              <a:buClr>
                <a:srgbClr val="000000"/>
              </a:buClr>
            </a:pPr>
            <a:r>
              <a:rPr kumimoji="1" lang="en-US" altLang="ko-KR" sz="24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  n &lt; MAX_DEGREE</a:t>
            </a:r>
          </a:p>
          <a:p>
            <a:pPr marL="0" lvl="2">
              <a:spcBef>
                <a:spcPct val="20000"/>
              </a:spcBef>
              <a:buClr>
                <a:srgbClr val="000000"/>
              </a:buClr>
            </a:pPr>
            <a:endParaRPr kumimoji="1" lang="en-US" altLang="ko-KR" sz="1200" b="1" dirty="0">
              <a:solidFill>
                <a:srgbClr val="000000"/>
              </a:solidFill>
              <a:latin typeface="Courier New" pitchFamily="49" charset="0"/>
              <a:ea typeface="굴림" pitchFamily="50" charset="-127"/>
              <a:cs typeface="Courier New" pitchFamily="49" charset="0"/>
              <a:sym typeface="Wingdings" pitchFamily="2" charset="2"/>
            </a:endParaRPr>
          </a:p>
          <a:p>
            <a:pPr marL="0" lvl="2">
              <a:spcBef>
                <a:spcPct val="20000"/>
              </a:spcBef>
              <a:buClr>
                <a:srgbClr val="000000"/>
              </a:buClr>
            </a:pPr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polynomial a;</a:t>
            </a:r>
          </a:p>
          <a:p>
            <a:pPr marL="0" lvl="2">
              <a:spcBef>
                <a:spcPct val="20000"/>
              </a:spcBef>
              <a:buClr>
                <a:srgbClr val="000000"/>
              </a:buClr>
            </a:pPr>
            <a:r>
              <a:rPr kumimoji="1" lang="en-US" altLang="ko-KR" sz="2000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a.degree</a:t>
            </a:r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 = n,   </a:t>
            </a:r>
            <a:r>
              <a:rPr kumimoji="1" lang="en-US" altLang="ko-KR" sz="2000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a.coef</a:t>
            </a:r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[</a:t>
            </a:r>
            <a:r>
              <a:rPr kumimoji="1" lang="en-US" altLang="ko-KR" sz="2000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i</a:t>
            </a:r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] = a</a:t>
            </a:r>
            <a:r>
              <a:rPr kumimoji="1" lang="en-US" altLang="ko-KR" sz="2000" b="1" baseline="-25000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n-</a:t>
            </a:r>
            <a:r>
              <a:rPr kumimoji="1" lang="en-US" altLang="ko-KR" sz="2000" b="1" baseline="-25000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i</a:t>
            </a:r>
            <a:r>
              <a:rPr kumimoji="1" lang="en-US" altLang="ko-KR" sz="20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  <a:sym typeface="Wingdings" pitchFamily="2" charset="2"/>
              </a:rPr>
              <a:t>, 0≤i≤n</a:t>
            </a:r>
          </a:p>
        </p:txBody>
      </p:sp>
      <p:graphicFrame>
        <p:nvGraphicFramePr>
          <p:cNvPr id="141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753200"/>
              </p:ext>
            </p:extLst>
          </p:nvPr>
        </p:nvGraphicFramePr>
        <p:xfrm>
          <a:off x="4280679" y="2697999"/>
          <a:ext cx="1590754" cy="774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수식" r:id="rId3" imgW="888840" imgH="431640" progId="Equation.3">
                  <p:embed/>
                </p:oleObj>
              </mc:Choice>
              <mc:Fallback>
                <p:oleObj name="수식" r:id="rId3" imgW="888840" imgH="431640" progId="Equation.3">
                  <p:embed/>
                  <p:pic>
                    <p:nvPicPr>
                      <p:cNvPr id="4" name="개체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0679" y="2697999"/>
                        <a:ext cx="1590754" cy="774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944526" y="4791045"/>
            <a:ext cx="7467600" cy="515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43" name="Line 6"/>
          <p:cNvSpPr>
            <a:spLocks noChangeShapeType="1"/>
          </p:cNvSpPr>
          <p:nvPr/>
        </p:nvSpPr>
        <p:spPr bwMode="auto">
          <a:xfrm>
            <a:off x="1865353" y="4808567"/>
            <a:ext cx="0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44" name="Line 7"/>
          <p:cNvSpPr>
            <a:spLocks noChangeShapeType="1"/>
          </p:cNvSpPr>
          <p:nvPr/>
        </p:nvSpPr>
        <p:spPr bwMode="auto">
          <a:xfrm>
            <a:off x="2814601" y="4791045"/>
            <a:ext cx="0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45" name="Line 8"/>
          <p:cNvSpPr>
            <a:spLocks noChangeShapeType="1"/>
          </p:cNvSpPr>
          <p:nvPr/>
        </p:nvSpPr>
        <p:spPr bwMode="auto">
          <a:xfrm>
            <a:off x="3746464" y="4791045"/>
            <a:ext cx="0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46" name="Line 9"/>
          <p:cNvSpPr>
            <a:spLocks noChangeShapeType="1"/>
          </p:cNvSpPr>
          <p:nvPr/>
        </p:nvSpPr>
        <p:spPr bwMode="auto">
          <a:xfrm>
            <a:off x="5608601" y="4791045"/>
            <a:ext cx="0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47" name="Line 10"/>
          <p:cNvSpPr>
            <a:spLocks noChangeShapeType="1"/>
          </p:cNvSpPr>
          <p:nvPr/>
        </p:nvSpPr>
        <p:spPr bwMode="auto">
          <a:xfrm>
            <a:off x="6540464" y="4791045"/>
            <a:ext cx="0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48" name="Line 11"/>
          <p:cNvSpPr>
            <a:spLocks noChangeShapeType="1"/>
          </p:cNvSpPr>
          <p:nvPr/>
        </p:nvSpPr>
        <p:spPr bwMode="auto">
          <a:xfrm>
            <a:off x="7472326" y="4791045"/>
            <a:ext cx="0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49" name="Text Box 12"/>
          <p:cNvSpPr txBox="1">
            <a:spLocks noChangeArrowheads="1"/>
          </p:cNvSpPr>
          <p:nvPr/>
        </p:nvSpPr>
        <p:spPr bwMode="auto">
          <a:xfrm>
            <a:off x="1249249" y="4889470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6</a:t>
            </a:r>
          </a:p>
        </p:txBody>
      </p:sp>
      <p:sp>
        <p:nvSpPr>
          <p:cNvPr id="150" name="Text Box 14"/>
          <p:cNvSpPr txBox="1">
            <a:spLocks noChangeArrowheads="1"/>
          </p:cNvSpPr>
          <p:nvPr/>
        </p:nvSpPr>
        <p:spPr bwMode="auto">
          <a:xfrm>
            <a:off x="2233499" y="4889470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3</a:t>
            </a:r>
          </a:p>
        </p:txBody>
      </p:sp>
      <p:sp>
        <p:nvSpPr>
          <p:cNvPr id="151" name="Text Box 15"/>
          <p:cNvSpPr txBox="1">
            <a:spLocks noChangeArrowheads="1"/>
          </p:cNvSpPr>
          <p:nvPr/>
        </p:nvSpPr>
        <p:spPr bwMode="auto">
          <a:xfrm>
            <a:off x="3147899" y="4889470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2</a:t>
            </a:r>
          </a:p>
        </p:txBody>
      </p:sp>
      <p:sp>
        <p:nvSpPr>
          <p:cNvPr id="152" name="Text Box 16"/>
          <p:cNvSpPr txBox="1">
            <a:spLocks noChangeArrowheads="1"/>
          </p:cNvSpPr>
          <p:nvPr/>
        </p:nvSpPr>
        <p:spPr bwMode="auto">
          <a:xfrm>
            <a:off x="4062299" y="4889470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0</a:t>
            </a:r>
          </a:p>
        </p:txBody>
      </p:sp>
      <p:sp>
        <p:nvSpPr>
          <p:cNvPr id="153" name="Text Box 17"/>
          <p:cNvSpPr txBox="1">
            <a:spLocks noChangeArrowheads="1"/>
          </p:cNvSpPr>
          <p:nvPr/>
        </p:nvSpPr>
        <p:spPr bwMode="auto">
          <a:xfrm>
            <a:off x="4976699" y="4889470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0</a:t>
            </a:r>
          </a:p>
        </p:txBody>
      </p:sp>
      <p:sp>
        <p:nvSpPr>
          <p:cNvPr id="154" name="Text Box 18"/>
          <p:cNvSpPr txBox="1">
            <a:spLocks noChangeArrowheads="1"/>
          </p:cNvSpPr>
          <p:nvPr/>
        </p:nvSpPr>
        <p:spPr bwMode="auto">
          <a:xfrm>
            <a:off x="5891099" y="4889470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0</a:t>
            </a:r>
          </a:p>
        </p:txBody>
      </p:sp>
      <p:sp>
        <p:nvSpPr>
          <p:cNvPr id="155" name="Text Box 19"/>
          <p:cNvSpPr txBox="1">
            <a:spLocks noChangeArrowheads="1"/>
          </p:cNvSpPr>
          <p:nvPr/>
        </p:nvSpPr>
        <p:spPr bwMode="auto">
          <a:xfrm>
            <a:off x="7732781" y="4889470"/>
            <a:ext cx="4379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4</a:t>
            </a:r>
            <a:r>
              <a:rPr kumimoji="1" lang="en-US" altLang="ko-KR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1</a:t>
            </a:r>
            <a:endParaRPr kumimoji="1" lang="ko-KR" altLang="en-US" dirty="0">
              <a:solidFill>
                <a:srgbClr val="000000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156" name="Text Box 21"/>
          <p:cNvSpPr txBox="1">
            <a:spLocks noChangeArrowheads="1"/>
          </p:cNvSpPr>
          <p:nvPr/>
        </p:nvSpPr>
        <p:spPr bwMode="auto">
          <a:xfrm>
            <a:off x="6805499" y="4889470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0</a:t>
            </a:r>
          </a:p>
        </p:txBody>
      </p:sp>
      <p:sp>
        <p:nvSpPr>
          <p:cNvPr id="157" name="Text Box 22"/>
          <p:cNvSpPr txBox="1">
            <a:spLocks noChangeArrowheads="1"/>
          </p:cNvSpPr>
          <p:nvPr/>
        </p:nvSpPr>
        <p:spPr bwMode="auto">
          <a:xfrm>
            <a:off x="468923" y="4924395"/>
            <a:ext cx="325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a</a:t>
            </a:r>
          </a:p>
        </p:txBody>
      </p:sp>
      <p:sp>
        <p:nvSpPr>
          <p:cNvPr id="158" name="Line 9"/>
          <p:cNvSpPr>
            <a:spLocks noChangeShapeType="1"/>
          </p:cNvSpPr>
          <p:nvPr/>
        </p:nvSpPr>
        <p:spPr bwMode="auto">
          <a:xfrm>
            <a:off x="4694201" y="4803745"/>
            <a:ext cx="0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59" name="직사각형 47"/>
          <p:cNvSpPr/>
          <p:nvPr/>
        </p:nvSpPr>
        <p:spPr>
          <a:xfrm>
            <a:off x="5165689" y="4376122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How about 2x</a:t>
            </a:r>
            <a:r>
              <a:rPr kumimoji="1" lang="en-US" altLang="ko-KR" sz="2000" b="1" baseline="30000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1000</a:t>
            </a:r>
            <a:r>
              <a:rPr kumimoji="1" lang="en-US" altLang="ko-KR" sz="2000" b="1" dirty="0">
                <a:solidFill>
                  <a:srgbClr val="FF0000"/>
                </a:solidFill>
                <a:latin typeface="Courier New" pitchFamily="49" charset="0"/>
                <a:ea typeface="신명조" charset="-127"/>
              </a:rPr>
              <a:t> + 1 ? </a:t>
            </a:r>
            <a:endParaRPr kumimoji="1" lang="en-US" sz="2000" b="1" dirty="0">
              <a:solidFill>
                <a:srgbClr val="FF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944526" y="5543490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sz="2000" dirty="0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degree</a:t>
            </a:r>
          </a:p>
        </p:txBody>
      </p:sp>
      <p:cxnSp>
        <p:nvCxnSpPr>
          <p:cNvPr id="161" name="직선 화살표 연결선 6"/>
          <p:cNvCxnSpPr/>
          <p:nvPr/>
        </p:nvCxnSpPr>
        <p:spPr bwMode="auto">
          <a:xfrm flipH="1" flipV="1">
            <a:off x="1404903" y="5306985"/>
            <a:ext cx="155651" cy="373061"/>
          </a:xfrm>
          <a:prstGeom prst="straightConnector1">
            <a:avLst/>
          </a:prstGeom>
          <a:solidFill>
            <a:srgbClr val="00CC99"/>
          </a:solidFill>
          <a:ln w="9525" cap="flat" cmpd="sng" algn="ctr">
            <a:solidFill>
              <a:srgbClr val="00CC99">
                <a:lumMod val="50000"/>
              </a:srgb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2" name="오른쪽 중괄호 8"/>
          <p:cNvSpPr/>
          <p:nvPr/>
        </p:nvSpPr>
        <p:spPr bwMode="auto">
          <a:xfrm rot="5400000">
            <a:off x="5013147" y="2230267"/>
            <a:ext cx="238483" cy="6534075"/>
          </a:xfrm>
          <a:prstGeom prst="rightBrace">
            <a:avLst/>
          </a:prstGeom>
          <a:noFill/>
          <a:ln w="9525" cap="flat" cmpd="sng" algn="ctr">
            <a:solidFill>
              <a:srgbClr val="00CC99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777653" y="5478030"/>
            <a:ext cx="1031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sz="2000" dirty="0" err="1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coef</a:t>
            </a:r>
            <a:r>
              <a:rPr kumimoji="1" lang="en-US" sz="2000" dirty="0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52034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uiExpand="1" build="p"/>
      <p:bldP spid="139" grpId="0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 animBg="1"/>
      <p:bldP spid="159" grpId="0"/>
      <p:bldP spid="160" grpId="0"/>
      <p:bldP spid="162" grpId="0" animBg="1"/>
      <p:bldP spid="16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1" y="302400"/>
            <a:ext cx="6622781" cy="691277"/>
          </a:xfrm>
        </p:spPr>
        <p:txBody>
          <a:bodyPr/>
          <a:lstStyle/>
          <a:p>
            <a:r>
              <a:rPr lang="en-US" sz="4000" dirty="0"/>
              <a:t>Polynomial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82" name="Rectangle 3"/>
          <p:cNvSpPr txBox="1">
            <a:spLocks noChangeArrowheads="1"/>
          </p:cNvSpPr>
          <p:nvPr/>
        </p:nvSpPr>
        <p:spPr bwMode="auto">
          <a:xfrm>
            <a:off x="468923" y="1219200"/>
            <a:ext cx="8167077" cy="4956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+mn-cs"/>
              </a:rPr>
              <a:t>#define MAX_TERMS 100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typedef struct {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	float coef;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	int expon;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} polynomial;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polynomial terms[MAX_TERMS];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int starta, finisha, startb, finishb, avail;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starta=0; finisha=1; startb=2; finishb=5; avail=6;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</p:txBody>
      </p:sp>
      <p:sp>
        <p:nvSpPr>
          <p:cNvPr id="83" name="Rectangle 4"/>
          <p:cNvSpPr>
            <a:spLocks noChangeArrowheads="1"/>
          </p:cNvSpPr>
          <p:nvPr/>
        </p:nvSpPr>
        <p:spPr bwMode="auto">
          <a:xfrm>
            <a:off x="1257300" y="4953000"/>
            <a:ext cx="7467600" cy="1066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84" name="Line 6"/>
          <p:cNvSpPr>
            <a:spLocks noChangeShapeType="1"/>
          </p:cNvSpPr>
          <p:nvPr/>
        </p:nvSpPr>
        <p:spPr bwMode="auto">
          <a:xfrm>
            <a:off x="2197100" y="4953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85" name="Line 7"/>
          <p:cNvSpPr>
            <a:spLocks noChangeShapeType="1"/>
          </p:cNvSpPr>
          <p:nvPr/>
        </p:nvSpPr>
        <p:spPr bwMode="auto">
          <a:xfrm>
            <a:off x="3127375" y="4953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86" name="Line 8"/>
          <p:cNvSpPr>
            <a:spLocks noChangeShapeType="1"/>
          </p:cNvSpPr>
          <p:nvPr/>
        </p:nvSpPr>
        <p:spPr bwMode="auto">
          <a:xfrm>
            <a:off x="4059238" y="4953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87" name="Line 9"/>
          <p:cNvSpPr>
            <a:spLocks noChangeShapeType="1"/>
          </p:cNvSpPr>
          <p:nvPr/>
        </p:nvSpPr>
        <p:spPr bwMode="auto">
          <a:xfrm>
            <a:off x="5921375" y="4953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88" name="Line 10"/>
          <p:cNvSpPr>
            <a:spLocks noChangeShapeType="1"/>
          </p:cNvSpPr>
          <p:nvPr/>
        </p:nvSpPr>
        <p:spPr bwMode="auto">
          <a:xfrm>
            <a:off x="6853238" y="4953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89" name="Line 11"/>
          <p:cNvSpPr>
            <a:spLocks noChangeShapeType="1"/>
          </p:cNvSpPr>
          <p:nvPr/>
        </p:nvSpPr>
        <p:spPr bwMode="auto">
          <a:xfrm>
            <a:off x="7785100" y="4953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90" name="Line 19"/>
          <p:cNvSpPr>
            <a:spLocks noChangeShapeType="1"/>
          </p:cNvSpPr>
          <p:nvPr/>
        </p:nvSpPr>
        <p:spPr bwMode="auto">
          <a:xfrm>
            <a:off x="4991100" y="4953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91" name="Line 27"/>
          <p:cNvSpPr>
            <a:spLocks noChangeShapeType="1"/>
          </p:cNvSpPr>
          <p:nvPr/>
        </p:nvSpPr>
        <p:spPr bwMode="auto">
          <a:xfrm>
            <a:off x="1257300" y="5508625"/>
            <a:ext cx="7467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92" name="Text Box 28"/>
          <p:cNvSpPr txBox="1">
            <a:spLocks noChangeArrowheads="1"/>
          </p:cNvSpPr>
          <p:nvPr/>
        </p:nvSpPr>
        <p:spPr bwMode="auto">
          <a:xfrm>
            <a:off x="1557338" y="51038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2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2541588" y="51038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1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94" name="Text Box 30"/>
          <p:cNvSpPr txBox="1">
            <a:spLocks noChangeArrowheads="1"/>
          </p:cNvSpPr>
          <p:nvPr/>
        </p:nvSpPr>
        <p:spPr bwMode="auto">
          <a:xfrm>
            <a:off x="3455988" y="51038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1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95" name="Text Box 31"/>
          <p:cNvSpPr txBox="1">
            <a:spLocks noChangeArrowheads="1"/>
          </p:cNvSpPr>
          <p:nvPr/>
        </p:nvSpPr>
        <p:spPr bwMode="auto">
          <a:xfrm>
            <a:off x="4300534" y="5103813"/>
            <a:ext cx="4603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1</a:t>
            </a:r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0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96" name="Text Box 32"/>
          <p:cNvSpPr txBox="1">
            <a:spLocks noChangeArrowheads="1"/>
          </p:cNvSpPr>
          <p:nvPr/>
        </p:nvSpPr>
        <p:spPr bwMode="auto">
          <a:xfrm>
            <a:off x="5283863" y="5103813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3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97" name="Text Box 33"/>
          <p:cNvSpPr txBox="1">
            <a:spLocks noChangeArrowheads="1"/>
          </p:cNvSpPr>
          <p:nvPr/>
        </p:nvSpPr>
        <p:spPr bwMode="auto">
          <a:xfrm>
            <a:off x="6199188" y="51038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1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98" name="Text Box 36"/>
          <p:cNvSpPr txBox="1">
            <a:spLocks noChangeArrowheads="1"/>
          </p:cNvSpPr>
          <p:nvPr/>
        </p:nvSpPr>
        <p:spPr bwMode="auto">
          <a:xfrm>
            <a:off x="1343276" y="5638800"/>
            <a:ext cx="736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1000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99" name="Text Box 37"/>
          <p:cNvSpPr txBox="1">
            <a:spLocks noChangeArrowheads="1"/>
          </p:cNvSpPr>
          <p:nvPr/>
        </p:nvSpPr>
        <p:spPr bwMode="auto">
          <a:xfrm>
            <a:off x="2535238" y="5638800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0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100" name="Text Box 38"/>
          <p:cNvSpPr txBox="1">
            <a:spLocks noChangeArrowheads="1"/>
          </p:cNvSpPr>
          <p:nvPr/>
        </p:nvSpPr>
        <p:spPr bwMode="auto">
          <a:xfrm>
            <a:off x="3449638" y="5638800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4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101" name="Text Box 39"/>
          <p:cNvSpPr txBox="1">
            <a:spLocks noChangeArrowheads="1"/>
          </p:cNvSpPr>
          <p:nvPr/>
        </p:nvSpPr>
        <p:spPr bwMode="auto">
          <a:xfrm>
            <a:off x="4364038" y="5638800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3</a:t>
            </a:r>
            <a:endParaRPr kumimoji="1" lang="ko-KR" altLang="en-US" dirty="0">
              <a:solidFill>
                <a:srgbClr val="000000"/>
              </a:solidFill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102" name="Text Box 41"/>
          <p:cNvSpPr txBox="1">
            <a:spLocks noChangeArrowheads="1"/>
          </p:cNvSpPr>
          <p:nvPr/>
        </p:nvSpPr>
        <p:spPr bwMode="auto">
          <a:xfrm>
            <a:off x="5329238" y="5638800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2</a:t>
            </a:r>
          </a:p>
        </p:txBody>
      </p:sp>
      <p:sp>
        <p:nvSpPr>
          <p:cNvPr id="103" name="Text Box 42"/>
          <p:cNvSpPr txBox="1">
            <a:spLocks noChangeArrowheads="1"/>
          </p:cNvSpPr>
          <p:nvPr/>
        </p:nvSpPr>
        <p:spPr bwMode="auto">
          <a:xfrm>
            <a:off x="470368" y="5056188"/>
            <a:ext cx="6912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coef</a:t>
            </a:r>
          </a:p>
        </p:txBody>
      </p:sp>
      <p:sp>
        <p:nvSpPr>
          <p:cNvPr id="104" name="Text Box 43"/>
          <p:cNvSpPr txBox="1">
            <a:spLocks noChangeArrowheads="1"/>
          </p:cNvSpPr>
          <p:nvPr/>
        </p:nvSpPr>
        <p:spPr bwMode="auto">
          <a:xfrm>
            <a:off x="451499" y="5622925"/>
            <a:ext cx="8178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expon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199188" y="56372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0</a:t>
            </a:r>
          </a:p>
        </p:txBody>
      </p:sp>
      <p:sp>
        <p:nvSpPr>
          <p:cNvPr id="106" name="Text Box 46"/>
          <p:cNvSpPr txBox="1">
            <a:spLocks noChangeArrowheads="1"/>
          </p:cNvSpPr>
          <p:nvPr/>
        </p:nvSpPr>
        <p:spPr bwMode="auto">
          <a:xfrm>
            <a:off x="1303374" y="4270375"/>
            <a:ext cx="9444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 err="1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starta</a:t>
            </a:r>
            <a:endParaRPr kumimoji="1" lang="en-US" altLang="ko-KR" dirty="0">
              <a:solidFill>
                <a:srgbClr val="00CC99">
                  <a:lumMod val="75000"/>
                </a:srgbClr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107" name="Text Box 47"/>
          <p:cNvSpPr txBox="1">
            <a:spLocks noChangeArrowheads="1"/>
          </p:cNvSpPr>
          <p:nvPr/>
        </p:nvSpPr>
        <p:spPr bwMode="auto">
          <a:xfrm>
            <a:off x="2140168" y="4270375"/>
            <a:ext cx="10711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 err="1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finisha</a:t>
            </a:r>
            <a:endParaRPr kumimoji="1" lang="en-US" altLang="ko-KR" dirty="0">
              <a:solidFill>
                <a:srgbClr val="00CC99">
                  <a:lumMod val="75000"/>
                </a:srgbClr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108" name="Text Box 48"/>
          <p:cNvSpPr txBox="1">
            <a:spLocks noChangeArrowheads="1"/>
          </p:cNvSpPr>
          <p:nvPr/>
        </p:nvSpPr>
        <p:spPr bwMode="auto">
          <a:xfrm>
            <a:off x="3234568" y="4270375"/>
            <a:ext cx="944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startb</a:t>
            </a:r>
            <a:endParaRPr kumimoji="1" lang="ko-KR" altLang="en-US">
              <a:solidFill>
                <a:srgbClr val="00CC99">
                  <a:lumMod val="75000"/>
                </a:srgbClr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109" name="Text Box 49"/>
          <p:cNvSpPr txBox="1">
            <a:spLocks noChangeArrowheads="1"/>
          </p:cNvSpPr>
          <p:nvPr/>
        </p:nvSpPr>
        <p:spPr bwMode="auto">
          <a:xfrm>
            <a:off x="5763637" y="4270375"/>
            <a:ext cx="10711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 err="1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finishb</a:t>
            </a:r>
            <a:endParaRPr kumimoji="1" lang="en-US" altLang="ko-KR" dirty="0">
              <a:solidFill>
                <a:srgbClr val="00CC99">
                  <a:lumMod val="75000"/>
                </a:srgbClr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110" name="Text Box 50"/>
          <p:cNvSpPr txBox="1">
            <a:spLocks noChangeArrowheads="1"/>
          </p:cNvSpPr>
          <p:nvPr/>
        </p:nvSpPr>
        <p:spPr bwMode="auto">
          <a:xfrm>
            <a:off x="6802293" y="4270375"/>
            <a:ext cx="8178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CC9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avail</a:t>
            </a:r>
          </a:p>
        </p:txBody>
      </p:sp>
      <p:sp>
        <p:nvSpPr>
          <p:cNvPr id="111" name="Line 51"/>
          <p:cNvSpPr>
            <a:spLocks noChangeShapeType="1"/>
          </p:cNvSpPr>
          <p:nvPr/>
        </p:nvSpPr>
        <p:spPr bwMode="auto">
          <a:xfrm>
            <a:off x="1790700" y="4597400"/>
            <a:ext cx="1588" cy="304800"/>
          </a:xfrm>
          <a:prstGeom prst="line">
            <a:avLst/>
          </a:prstGeom>
          <a:noFill/>
          <a:ln w="9525">
            <a:solidFill>
              <a:srgbClr val="00CC99">
                <a:lumMod val="50000"/>
              </a:srgbClr>
            </a:solidFill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12" name="Line 52"/>
          <p:cNvSpPr>
            <a:spLocks noChangeShapeType="1"/>
          </p:cNvSpPr>
          <p:nvPr/>
        </p:nvSpPr>
        <p:spPr bwMode="auto">
          <a:xfrm>
            <a:off x="2755900" y="4597400"/>
            <a:ext cx="1588" cy="304800"/>
          </a:xfrm>
          <a:prstGeom prst="line">
            <a:avLst/>
          </a:prstGeom>
          <a:noFill/>
          <a:ln w="9525">
            <a:solidFill>
              <a:srgbClr val="00CC99">
                <a:lumMod val="50000"/>
              </a:srgbClr>
            </a:solidFill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13" name="Line 53"/>
          <p:cNvSpPr>
            <a:spLocks noChangeShapeType="1"/>
          </p:cNvSpPr>
          <p:nvPr/>
        </p:nvSpPr>
        <p:spPr bwMode="auto">
          <a:xfrm>
            <a:off x="3746500" y="4597400"/>
            <a:ext cx="0" cy="304800"/>
          </a:xfrm>
          <a:prstGeom prst="line">
            <a:avLst/>
          </a:prstGeom>
          <a:noFill/>
          <a:ln w="9525">
            <a:solidFill>
              <a:srgbClr val="00CC99">
                <a:lumMod val="50000"/>
              </a:srgbClr>
            </a:solidFill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14" name="Line 54"/>
          <p:cNvSpPr>
            <a:spLocks noChangeShapeType="1"/>
          </p:cNvSpPr>
          <p:nvPr/>
        </p:nvSpPr>
        <p:spPr bwMode="auto">
          <a:xfrm>
            <a:off x="6337300" y="4597400"/>
            <a:ext cx="0" cy="304800"/>
          </a:xfrm>
          <a:prstGeom prst="line">
            <a:avLst/>
          </a:prstGeom>
          <a:noFill/>
          <a:ln w="9525">
            <a:solidFill>
              <a:srgbClr val="00CC99">
                <a:lumMod val="50000"/>
              </a:srgbClr>
            </a:solidFill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15" name="Line 55"/>
          <p:cNvSpPr>
            <a:spLocks noChangeShapeType="1"/>
          </p:cNvSpPr>
          <p:nvPr/>
        </p:nvSpPr>
        <p:spPr bwMode="auto">
          <a:xfrm>
            <a:off x="7251700" y="4597400"/>
            <a:ext cx="0" cy="304800"/>
          </a:xfrm>
          <a:prstGeom prst="line">
            <a:avLst/>
          </a:prstGeom>
          <a:noFill/>
          <a:ln w="9525">
            <a:solidFill>
              <a:srgbClr val="00CC99">
                <a:lumMod val="50000"/>
              </a:srgbClr>
            </a:solidFill>
            <a:round/>
            <a:headEnd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16" name="Rectangle 60"/>
          <p:cNvSpPr>
            <a:spLocks noChangeArrowheads="1"/>
          </p:cNvSpPr>
          <p:nvPr/>
        </p:nvSpPr>
        <p:spPr bwMode="auto">
          <a:xfrm>
            <a:off x="4411662" y="1387930"/>
            <a:ext cx="3775075" cy="706438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Times New Roman" pitchFamily="18" charset="0"/>
              </a:rPr>
              <a:t>A(x) = 2x</a:t>
            </a:r>
            <a:r>
              <a:rPr kumimoji="1" lang="en-US" altLang="ko-KR" sz="1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Times New Roman" pitchFamily="18" charset="0"/>
              </a:rPr>
              <a:t>1000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 + 1,  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B(x) = x</a:t>
            </a:r>
            <a:r>
              <a:rPr kumimoji="1" lang="en-US" altLang="ko-KR" sz="1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4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+ 10x</a:t>
            </a:r>
            <a:r>
              <a:rPr kumimoji="1" lang="en-US" altLang="ko-KR" sz="1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3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 + 3x</a:t>
            </a:r>
            <a:r>
              <a:rPr kumimoji="1" lang="en-US" altLang="ko-KR" sz="1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2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신명조" charset="-127"/>
              </a:rPr>
              <a:t> + 1</a:t>
            </a:r>
          </a:p>
        </p:txBody>
      </p:sp>
      <p:sp>
        <p:nvSpPr>
          <p:cNvPr id="117" name="Text Box 61"/>
          <p:cNvSpPr txBox="1">
            <a:spLocks noChangeArrowheads="1"/>
          </p:cNvSpPr>
          <p:nvPr/>
        </p:nvSpPr>
        <p:spPr bwMode="auto">
          <a:xfrm>
            <a:off x="302942" y="4525963"/>
            <a:ext cx="11721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terms[]</a:t>
            </a:r>
          </a:p>
        </p:txBody>
      </p:sp>
    </p:spTree>
    <p:extLst>
      <p:ext uri="{BB962C8B-B14F-4D97-AF65-F5344CB8AC3E}">
        <p14:creationId xmlns:p14="http://schemas.microsoft.com/office/powerpoint/2010/main" val="291634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 animBg="1"/>
      <p:bldP spid="112" grpId="0" animBg="1"/>
      <p:bldP spid="113" grpId="0" animBg="1"/>
      <p:bldP spid="114" grpId="0" animBg="1"/>
      <p:bldP spid="115" grpId="0" animBg="1"/>
      <p:bldP spid="1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48" y="1095373"/>
            <a:ext cx="7873852" cy="5146656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294548"/>
            <a:ext cx="5562600" cy="691277"/>
          </a:xfrm>
        </p:spPr>
        <p:txBody>
          <a:bodyPr/>
          <a:lstStyle/>
          <a:p>
            <a:r>
              <a:rPr lang="en-US" sz="4400" dirty="0"/>
              <a:t>Polynomial Addition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7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1954088" cy="691277"/>
          </a:xfrm>
        </p:spPr>
        <p:txBody>
          <a:bodyPr/>
          <a:lstStyle/>
          <a:p>
            <a:r>
              <a:rPr lang="en-US" sz="4400" dirty="0"/>
              <a:t>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68923" y="1143000"/>
            <a:ext cx="816707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m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rows and </a:t>
            </a:r>
            <a:r>
              <a:rPr kumimoji="1" lang="en-US" altLang="ko-KR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/>
              </a:rPr>
              <a:t>n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 columns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Standard representation : two-dimensional array as 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a[MAX_ROWS][MAX_COLS]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					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				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a[0][0]=-27;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				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a[1][2]=-2;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</a:rPr>
              <a:t>				a[3][1]=8;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1" lang="en-US" altLang="ko-K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050528"/>
              </p:ext>
            </p:extLst>
          </p:nvPr>
        </p:nvGraphicFramePr>
        <p:xfrm>
          <a:off x="1076325" y="2503252"/>
          <a:ext cx="2083828" cy="188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수식" r:id="rId3" imgW="1168200" imgH="1143000" progId="Equation.3">
                  <p:embed/>
                </p:oleObj>
              </mc:Choice>
              <mc:Fallback>
                <p:oleObj name="수식" r:id="rId3" imgW="1168200" imgH="1143000" progId="Equation.3">
                  <p:embed/>
                  <p:pic>
                    <p:nvPicPr>
                      <p:cNvPr id="542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2503252"/>
                        <a:ext cx="2083828" cy="18861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199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4011488" cy="691277"/>
          </a:xfrm>
        </p:spPr>
        <p:txBody>
          <a:bodyPr/>
          <a:lstStyle/>
          <a:p>
            <a:r>
              <a:rPr lang="en-US" sz="4400" dirty="0"/>
              <a:t>Sparse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519643" y="1143000"/>
            <a:ext cx="8167077" cy="5521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Sparse matrix has many zero entries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1" lang="en-US" altLang="ko-K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1" lang="en-US" altLang="ko-K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endParaRPr kumimoji="1" lang="en-US" altLang="ko-K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è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Wingdings" pitchFamily="2" charset="2"/>
              </a:rPr>
              <a:t>two-dimensional array wastes space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è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Represent using the triple 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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row, col, value</a:t>
            </a: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sym typeface="Symbol" pitchFamily="18" charset="2"/>
              </a:rPr>
              <a:t></a:t>
            </a: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  <a:sym typeface="Symbol" pitchFamily="18" charset="2"/>
            </a:endParaRPr>
          </a:p>
        </p:txBody>
      </p:sp>
      <p:graphicFrame>
        <p:nvGraphicFramePr>
          <p:cNvPr id="35" name="Group 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62805"/>
              </p:ext>
            </p:extLst>
          </p:nvPr>
        </p:nvGraphicFramePr>
        <p:xfrm>
          <a:off x="4335383" y="3794369"/>
          <a:ext cx="4160837" cy="2498729"/>
        </p:xfrm>
        <a:graphic>
          <a:graphicData uri="http://schemas.openxmlformats.org/drawingml/2006/table">
            <a:tbl>
              <a:tblPr/>
              <a:tblGrid>
                <a:gridCol w="652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9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col1</a:t>
                      </a:r>
                      <a:endParaRPr kumimoji="1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col2</a:t>
                      </a:r>
                      <a:endParaRPr kumimoji="1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col3</a:t>
                      </a:r>
                      <a:endParaRPr kumimoji="1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col4</a:t>
                      </a:r>
                      <a:endParaRPr kumimoji="1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col5</a:t>
                      </a:r>
                      <a:endParaRPr kumimoji="1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row0</a:t>
                      </a:r>
                      <a:endParaRPr kumimoji="1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-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8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row1</a:t>
                      </a:r>
                      <a:endParaRPr kumimoji="1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-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52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row3</a:t>
                      </a:r>
                      <a:endParaRPr kumimoji="1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8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row4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8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row5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" name="Group 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34435"/>
              </p:ext>
            </p:extLst>
          </p:nvPr>
        </p:nvGraphicFramePr>
        <p:xfrm>
          <a:off x="914320" y="3934066"/>
          <a:ext cx="2770692" cy="2211264"/>
        </p:xfrm>
        <a:graphic>
          <a:graphicData uri="http://schemas.openxmlformats.org/drawingml/2006/table">
            <a:tbl>
              <a:tblPr/>
              <a:tblGrid>
                <a:gridCol w="69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5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col0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col1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col2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5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-27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5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5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row2</a:t>
                      </a:r>
                      <a:endParaRPr kumimoji="1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109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-64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5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5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row4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7" name="Group 215"/>
          <p:cNvGrpSpPr>
            <a:grpSpLocks/>
          </p:cNvGrpSpPr>
          <p:nvPr/>
        </p:nvGrpSpPr>
        <p:grpSpPr bwMode="auto">
          <a:xfrm>
            <a:off x="1193720" y="1917944"/>
            <a:ext cx="5748072" cy="1014413"/>
            <a:chOff x="675" y="1060"/>
            <a:chExt cx="2080" cy="639"/>
          </a:xfrm>
        </p:grpSpPr>
        <p:sp>
          <p:nvSpPr>
            <p:cNvPr id="38" name="Text Box 7"/>
            <p:cNvSpPr txBox="1">
              <a:spLocks noChangeArrowheads="1"/>
            </p:cNvSpPr>
            <p:nvPr/>
          </p:nvSpPr>
          <p:spPr bwMode="auto">
            <a:xfrm>
              <a:off x="885" y="1253"/>
              <a:ext cx="145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1pPr>
              <a:lvl2pPr marL="742950" indent="-28575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2pPr>
              <a:lvl3pPr marL="11430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3pPr>
              <a:lvl4pPr marL="16002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4pPr>
              <a:lvl5pPr marL="20574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9pPr>
            </a:lstStyle>
            <a:p>
              <a:pPr marL="0" marR="0" lvl="0" indent="0" algn="l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no. of total elements</a:t>
              </a:r>
            </a:p>
          </p:txBody>
        </p:sp>
        <p:sp>
          <p:nvSpPr>
            <p:cNvPr id="39" name="Text Box 7"/>
            <p:cNvSpPr txBox="1">
              <a:spLocks noChangeArrowheads="1"/>
            </p:cNvSpPr>
            <p:nvPr/>
          </p:nvSpPr>
          <p:spPr bwMode="auto">
            <a:xfrm>
              <a:off x="715" y="1060"/>
              <a:ext cx="172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1pPr>
              <a:lvl2pPr marL="742950" indent="-28575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2pPr>
              <a:lvl3pPr marL="11430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3pPr>
              <a:lvl4pPr marL="16002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4pPr>
              <a:lvl5pPr marL="20574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9pPr>
            </a:lstStyle>
            <a:p>
              <a:pPr marL="0" marR="0" lvl="0" indent="0" algn="l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no. of non-zero elements</a:t>
              </a:r>
            </a:p>
          </p:txBody>
        </p:sp>
        <p:sp>
          <p:nvSpPr>
            <p:cNvPr id="40" name="Line 213"/>
            <p:cNvSpPr>
              <a:spLocks noChangeShapeType="1"/>
            </p:cNvSpPr>
            <p:nvPr/>
          </p:nvSpPr>
          <p:spPr bwMode="auto">
            <a:xfrm flipV="1">
              <a:off x="675" y="1298"/>
              <a:ext cx="1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  <p:sp>
          <p:nvSpPr>
            <p:cNvPr id="41" name="Text Box 7"/>
            <p:cNvSpPr txBox="1">
              <a:spLocks noChangeArrowheads="1"/>
            </p:cNvSpPr>
            <p:nvPr/>
          </p:nvSpPr>
          <p:spPr bwMode="auto">
            <a:xfrm>
              <a:off x="2029" y="1173"/>
              <a:ext cx="7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1pPr>
              <a:lvl2pPr marL="742950" indent="-28575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2pPr>
              <a:lvl3pPr marL="11430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3pPr>
              <a:lvl4pPr marL="16002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4pPr>
              <a:lvl5pPr marL="2057400" indent="-228600" algn="l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굴림" pitchFamily="50" charset="-127"/>
                </a:defRPr>
              </a:lvl9pPr>
            </a:lstStyle>
            <a:p>
              <a:pPr marL="0" marR="0" lvl="0" indent="0" algn="l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 &lt;&lt;  small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2962284" y="3578683"/>
            <a:ext cx="441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</a:rPr>
              <a:t>15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62284" y="3299993"/>
            <a:ext cx="441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</a:rPr>
              <a:t>15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cxnSp>
        <p:nvCxnSpPr>
          <p:cNvPr id="44" name="직선 연결선 3"/>
          <p:cNvCxnSpPr/>
          <p:nvPr/>
        </p:nvCxnSpPr>
        <p:spPr bwMode="auto">
          <a:xfrm>
            <a:off x="2962284" y="3629461"/>
            <a:ext cx="441147" cy="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8570758" y="3578683"/>
            <a:ext cx="441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</a:rPr>
              <a:t>36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634878" y="32999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sz="2000" b="1" dirty="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</a:rPr>
              <a:t>8</a:t>
            </a:r>
            <a:endParaRPr kumimoji="1" lang="ko-KR" altLang="en-US" sz="20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cxnSp>
        <p:nvCxnSpPr>
          <p:cNvPr id="47" name="직선 연결선 17"/>
          <p:cNvCxnSpPr/>
          <p:nvPr/>
        </p:nvCxnSpPr>
        <p:spPr bwMode="auto">
          <a:xfrm>
            <a:off x="8570758" y="3629461"/>
            <a:ext cx="441147" cy="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5017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5" grpId="0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295401"/>
            <a:ext cx="8496300" cy="5071526"/>
          </a:xfrm>
        </p:spPr>
        <p:txBody>
          <a:bodyPr/>
          <a:lstStyle/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n = 2 billion (and growing by 1 million a day)</a:t>
            </a:r>
          </a:p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n x n array of </a:t>
            </a:r>
            <a:r>
              <a:rPr kumimoji="1" lang="en-US" sz="2000" kern="0" dirty="0" err="1">
                <a:solidFill>
                  <a:srgbClr val="000000"/>
                </a:solidFill>
                <a:latin typeface="Consolas" pitchFamily="49" charset="0"/>
                <a:ea typeface="굴림"/>
              </a:rPr>
              <a:t>ints</a:t>
            </a: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 </a:t>
            </a: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  <a:sym typeface="Wingdings" pitchFamily="2" charset="2"/>
              </a:rPr>
              <a:t></a:t>
            </a: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 16 * 10</a:t>
            </a:r>
            <a:r>
              <a:rPr kumimoji="1" lang="en-US" sz="2000" kern="0" baseline="30000" dirty="0">
                <a:solidFill>
                  <a:srgbClr val="000000"/>
                </a:solidFill>
                <a:latin typeface="Consolas" pitchFamily="49" charset="0"/>
                <a:ea typeface="굴림"/>
              </a:rPr>
              <a:t>18</a:t>
            </a: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 bytes (16 * 10</a:t>
            </a:r>
            <a:r>
              <a:rPr kumimoji="1" lang="en-US" sz="2000" kern="0" baseline="30000" dirty="0">
                <a:solidFill>
                  <a:srgbClr val="000000"/>
                </a:solidFill>
                <a:latin typeface="Consolas" pitchFamily="49" charset="0"/>
                <a:ea typeface="굴림"/>
              </a:rPr>
              <a:t>9</a:t>
            </a: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 GB)</a:t>
            </a:r>
          </a:p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each page links to 10 (say) other pages on average</a:t>
            </a:r>
          </a:p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on average there are 10 nonzero entries per row</a:t>
            </a:r>
          </a:p>
          <a:p>
            <a:pPr marL="0" lvl="1" indent="-342900" latinLnBrk="0">
              <a:buSzPct val="80000"/>
              <a:buFont typeface="Wingdings" pitchFamily="2" charset="2"/>
              <a:buChar char="l"/>
            </a:pP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space needed for nonzero elements is approximately       </a:t>
            </a:r>
          </a:p>
          <a:p>
            <a:pPr marL="0" lvl="1" indent="0" latinLnBrk="0">
              <a:buSzPct val="80000"/>
              <a:buNone/>
            </a:pPr>
            <a:r>
              <a:rPr kumimoji="1" lang="en-US" sz="2000" kern="0" dirty="0">
                <a:solidFill>
                  <a:srgbClr val="000000"/>
                </a:solidFill>
                <a:latin typeface="Consolas" pitchFamily="49" charset="0"/>
                <a:ea typeface="굴림"/>
              </a:rPr>
              <a:t>  20 billion x 4 bytes = 80 billion bytes (80 GB)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687888" cy="691277"/>
          </a:xfrm>
        </p:spPr>
        <p:txBody>
          <a:bodyPr/>
          <a:lstStyle/>
          <a:p>
            <a:r>
              <a:rPr lang="en-US" sz="4000" dirty="0"/>
              <a:t>Sparse Matrix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48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852988" cy="691277"/>
          </a:xfrm>
        </p:spPr>
        <p:txBody>
          <a:bodyPr/>
          <a:lstStyle/>
          <a:p>
            <a:r>
              <a:rPr lang="en-US" sz="4400" dirty="0"/>
              <a:t>Matrix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468923" y="993677"/>
            <a:ext cx="8167077" cy="5254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#define MAX_TERMS 101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typedef struct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	int row;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	int col;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	int value;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} term;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b="1" kern="0">
                <a:latin typeface="Courier New" pitchFamily="49" charset="0"/>
              </a:rPr>
              <a:t>term a[MAX_TERMS];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kern="0">
                <a:latin typeface="Courier New" pitchFamily="49" charset="0"/>
              </a:rPr>
              <a:t>			</a:t>
            </a:r>
            <a:endParaRPr lang="en-US" altLang="ko-KR" kern="0" dirty="0">
              <a:latin typeface="Courier New" pitchFamily="49" charset="0"/>
            </a:endParaRP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104215"/>
              </p:ext>
            </p:extLst>
          </p:nvPr>
        </p:nvGraphicFramePr>
        <p:xfrm>
          <a:off x="1103313" y="3519769"/>
          <a:ext cx="1611312" cy="2001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수식" r:id="rId3" imgW="876240" imgH="1143000" progId="Equation.3">
                  <p:embed/>
                </p:oleObj>
              </mc:Choice>
              <mc:Fallback>
                <p:oleObj name="수식" r:id="rId3" imgW="876240" imgH="1143000" progId="Equation.3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3519769"/>
                        <a:ext cx="1611312" cy="20017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752275"/>
              </p:ext>
            </p:extLst>
          </p:nvPr>
        </p:nvGraphicFramePr>
        <p:xfrm>
          <a:off x="4114800" y="3489774"/>
          <a:ext cx="4267200" cy="222704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58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6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6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6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a[4]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Freeform 68"/>
          <p:cNvSpPr>
            <a:spLocks/>
          </p:cNvSpPr>
          <p:nvPr/>
        </p:nvSpPr>
        <p:spPr bwMode="auto">
          <a:xfrm>
            <a:off x="5283200" y="2859315"/>
            <a:ext cx="749300" cy="1066800"/>
          </a:xfrm>
          <a:custGeom>
            <a:avLst/>
            <a:gdLst/>
            <a:ahLst/>
            <a:cxnLst>
              <a:cxn ang="0">
                <a:pos x="120" y="0"/>
              </a:cxn>
              <a:cxn ang="0">
                <a:pos x="24" y="192"/>
              </a:cxn>
              <a:cxn ang="0">
                <a:pos x="24" y="528"/>
              </a:cxn>
              <a:cxn ang="0">
                <a:pos x="168" y="624"/>
              </a:cxn>
              <a:cxn ang="0">
                <a:pos x="120" y="768"/>
              </a:cxn>
            </a:cxnLst>
            <a:rect l="0" t="0" r="r" b="b"/>
            <a:pathLst>
              <a:path w="184" h="768">
                <a:moveTo>
                  <a:pt x="120" y="0"/>
                </a:moveTo>
                <a:cubicBezTo>
                  <a:pt x="80" y="52"/>
                  <a:pt x="40" y="104"/>
                  <a:pt x="24" y="192"/>
                </a:cubicBezTo>
                <a:cubicBezTo>
                  <a:pt x="8" y="280"/>
                  <a:pt x="0" y="456"/>
                  <a:pt x="24" y="528"/>
                </a:cubicBezTo>
                <a:cubicBezTo>
                  <a:pt x="48" y="600"/>
                  <a:pt x="152" y="584"/>
                  <a:pt x="168" y="624"/>
                </a:cubicBezTo>
                <a:cubicBezTo>
                  <a:pt x="184" y="664"/>
                  <a:pt x="152" y="716"/>
                  <a:pt x="120" y="76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 algn="ctr" eaLnBrk="1" latinLnBrk="1" hangingPunct="1"/>
            <a:endParaRPr kumimoji="1" lang="ko-KR" altLang="en-US" sz="2000" b="1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5" name="Text Box 69"/>
          <p:cNvSpPr txBox="1">
            <a:spLocks noChangeArrowheads="1"/>
          </p:cNvSpPr>
          <p:nvPr/>
        </p:nvSpPr>
        <p:spPr bwMode="auto">
          <a:xfrm>
            <a:off x="4329806" y="2770415"/>
            <a:ext cx="1957588" cy="36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Number of rows</a:t>
            </a:r>
          </a:p>
        </p:txBody>
      </p:sp>
      <p:sp>
        <p:nvSpPr>
          <p:cNvPr id="36" name="Freeform 70"/>
          <p:cNvSpPr>
            <a:spLocks/>
          </p:cNvSpPr>
          <p:nvPr/>
        </p:nvSpPr>
        <p:spPr bwMode="auto">
          <a:xfrm>
            <a:off x="6311900" y="2846615"/>
            <a:ext cx="901700" cy="1066800"/>
          </a:xfrm>
          <a:custGeom>
            <a:avLst/>
            <a:gdLst/>
            <a:ahLst/>
            <a:cxnLst>
              <a:cxn ang="0">
                <a:pos x="120" y="0"/>
              </a:cxn>
              <a:cxn ang="0">
                <a:pos x="24" y="192"/>
              </a:cxn>
              <a:cxn ang="0">
                <a:pos x="24" y="528"/>
              </a:cxn>
              <a:cxn ang="0">
                <a:pos x="168" y="624"/>
              </a:cxn>
              <a:cxn ang="0">
                <a:pos x="120" y="768"/>
              </a:cxn>
            </a:cxnLst>
            <a:rect l="0" t="0" r="r" b="b"/>
            <a:pathLst>
              <a:path w="184" h="768">
                <a:moveTo>
                  <a:pt x="120" y="0"/>
                </a:moveTo>
                <a:cubicBezTo>
                  <a:pt x="80" y="52"/>
                  <a:pt x="40" y="104"/>
                  <a:pt x="24" y="192"/>
                </a:cubicBezTo>
                <a:cubicBezTo>
                  <a:pt x="8" y="280"/>
                  <a:pt x="0" y="456"/>
                  <a:pt x="24" y="528"/>
                </a:cubicBezTo>
                <a:cubicBezTo>
                  <a:pt x="48" y="600"/>
                  <a:pt x="152" y="584"/>
                  <a:pt x="168" y="624"/>
                </a:cubicBezTo>
                <a:cubicBezTo>
                  <a:pt x="184" y="664"/>
                  <a:pt x="152" y="716"/>
                  <a:pt x="120" y="76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>
            <a:spAutoFit/>
          </a:bodyPr>
          <a:lstStyle/>
          <a:p>
            <a:pPr algn="ctr" eaLnBrk="1" latinLnBrk="1" hangingPunct="1"/>
            <a:endParaRPr kumimoji="1" lang="ko-KR" altLang="en-US" sz="2000" b="1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7" name="Text Box 71"/>
          <p:cNvSpPr txBox="1">
            <a:spLocks noChangeArrowheads="1"/>
          </p:cNvSpPr>
          <p:nvPr/>
        </p:nvSpPr>
        <p:spPr bwMode="auto">
          <a:xfrm>
            <a:off x="5880545" y="2465615"/>
            <a:ext cx="23374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3333CC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Number of columns</a:t>
            </a:r>
          </a:p>
        </p:txBody>
      </p:sp>
      <p:sp>
        <p:nvSpPr>
          <p:cNvPr id="38" name="Freeform 72"/>
          <p:cNvSpPr>
            <a:spLocks/>
          </p:cNvSpPr>
          <p:nvPr/>
        </p:nvSpPr>
        <p:spPr bwMode="auto">
          <a:xfrm>
            <a:off x="7835900" y="2033815"/>
            <a:ext cx="711200" cy="1879600"/>
          </a:xfrm>
          <a:custGeom>
            <a:avLst/>
            <a:gdLst/>
            <a:ahLst/>
            <a:cxnLst>
              <a:cxn ang="0">
                <a:pos x="104" y="1184"/>
              </a:cxn>
              <a:cxn ang="0">
                <a:pos x="296" y="944"/>
              </a:cxn>
              <a:cxn ang="0">
                <a:pos x="392" y="944"/>
              </a:cxn>
              <a:cxn ang="0">
                <a:pos x="392" y="512"/>
              </a:cxn>
              <a:cxn ang="0">
                <a:pos x="56" y="80"/>
              </a:cxn>
              <a:cxn ang="0">
                <a:pos x="56" y="32"/>
              </a:cxn>
            </a:cxnLst>
            <a:rect l="0" t="0" r="r" b="b"/>
            <a:pathLst>
              <a:path w="448" h="1184">
                <a:moveTo>
                  <a:pt x="104" y="1184"/>
                </a:moveTo>
                <a:cubicBezTo>
                  <a:pt x="176" y="1084"/>
                  <a:pt x="248" y="984"/>
                  <a:pt x="296" y="944"/>
                </a:cubicBezTo>
                <a:cubicBezTo>
                  <a:pt x="344" y="904"/>
                  <a:pt x="376" y="1016"/>
                  <a:pt x="392" y="944"/>
                </a:cubicBezTo>
                <a:cubicBezTo>
                  <a:pt x="408" y="872"/>
                  <a:pt x="448" y="656"/>
                  <a:pt x="392" y="512"/>
                </a:cubicBezTo>
                <a:cubicBezTo>
                  <a:pt x="336" y="368"/>
                  <a:pt x="112" y="160"/>
                  <a:pt x="56" y="80"/>
                </a:cubicBezTo>
                <a:cubicBezTo>
                  <a:pt x="0" y="0"/>
                  <a:pt x="56" y="40"/>
                  <a:pt x="56" y="32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pPr algn="ctr" eaLnBrk="1" latinLnBrk="1" hangingPunct="1"/>
            <a:endParaRPr kumimoji="1" lang="ko-KR" altLang="en-US" sz="2000" b="1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9" name="Text Box 73"/>
          <p:cNvSpPr txBox="1">
            <a:spLocks noChangeArrowheads="1"/>
          </p:cNvSpPr>
          <p:nvPr/>
        </p:nvSpPr>
        <p:spPr bwMode="auto">
          <a:xfrm>
            <a:off x="6331576" y="1932215"/>
            <a:ext cx="2464137" cy="36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Number of elements</a:t>
            </a:r>
          </a:p>
        </p:txBody>
      </p:sp>
      <p:sp>
        <p:nvSpPr>
          <p:cNvPr id="40" name="Rectangle 74"/>
          <p:cNvSpPr>
            <a:spLocks noChangeArrowheads="1"/>
          </p:cNvSpPr>
          <p:nvPr/>
        </p:nvSpPr>
        <p:spPr bwMode="auto">
          <a:xfrm>
            <a:off x="3086100" y="4235678"/>
            <a:ext cx="433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dirty="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  <a:sym typeface="Wingdings" pitchFamily="2" charset="2"/>
              </a:rPr>
              <a:t></a:t>
            </a:r>
            <a:endParaRPr kumimoji="1" lang="ko-KR" altLang="en-US" sz="2000" dirty="0">
              <a:solidFill>
                <a:srgbClr val="000000"/>
              </a:solidFill>
              <a:latin typeface="Times New Roman" pitchFamily="18" charset="0"/>
              <a:ea typeface="굴림" pitchFamily="50" charset="-127"/>
              <a:sym typeface="Wingdings" pitchFamily="2" charset="2"/>
            </a:endParaRPr>
          </a:p>
        </p:txBody>
      </p:sp>
      <p:sp>
        <p:nvSpPr>
          <p:cNvPr id="41" name="직사각형 2"/>
          <p:cNvSpPr/>
          <p:nvPr/>
        </p:nvSpPr>
        <p:spPr bwMode="auto">
          <a:xfrm>
            <a:off x="5308600" y="3886200"/>
            <a:ext cx="2909444" cy="304800"/>
          </a:xfrm>
          <a:prstGeom prst="rect">
            <a:avLst/>
          </a:prstGeom>
          <a:solidFill>
            <a:srgbClr val="FF0000">
              <a:alpha val="37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3346" y="345621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[0]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4046" y="311966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[0]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45846" y="311966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[1]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41146" y="311966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[2]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3346" y="381181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[1]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346" y="421821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[2]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346" y="467541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[3]</a:t>
            </a:r>
            <a:endParaRPr kumimoji="1" lang="en-US" b="1" dirty="0">
              <a:solidFill>
                <a:srgbClr val="000000"/>
              </a:solidFill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3346" y="509451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[4]</a:t>
            </a:r>
          </a:p>
        </p:txBody>
      </p:sp>
      <p:cxnSp>
        <p:nvCxnSpPr>
          <p:cNvPr id="50" name="직선 화살표 연결선 4"/>
          <p:cNvCxnSpPr/>
          <p:nvPr/>
        </p:nvCxnSpPr>
        <p:spPr bwMode="auto">
          <a:xfrm>
            <a:off x="1191587" y="3615481"/>
            <a:ext cx="1729413" cy="0"/>
          </a:xfrm>
          <a:prstGeom prst="straightConnector1">
            <a:avLst/>
          </a:prstGeom>
          <a:solidFill>
            <a:srgbClr val="00CC99"/>
          </a:solidFill>
          <a:ln w="28575" cap="flat" cmpd="sng" algn="ctr">
            <a:solidFill>
              <a:srgbClr val="00CC99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51" name="직선 화살표 연결선 6"/>
          <p:cNvCxnSpPr>
            <a:stCxn id="43" idx="2"/>
          </p:cNvCxnSpPr>
          <p:nvPr/>
        </p:nvCxnSpPr>
        <p:spPr bwMode="auto">
          <a:xfrm flipH="1">
            <a:off x="1413166" y="3488997"/>
            <a:ext cx="1" cy="2164318"/>
          </a:xfrm>
          <a:prstGeom prst="straightConnector1">
            <a:avLst/>
          </a:prstGeom>
          <a:solidFill>
            <a:srgbClr val="00CC99"/>
          </a:solidFill>
          <a:ln w="28575" cap="flat" cmpd="sng" algn="ctr">
            <a:solidFill>
              <a:srgbClr val="00CC99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52" name="타원 7"/>
          <p:cNvSpPr/>
          <p:nvPr/>
        </p:nvSpPr>
        <p:spPr bwMode="auto">
          <a:xfrm>
            <a:off x="1628396" y="3474378"/>
            <a:ext cx="469900" cy="482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3" name="타원 28"/>
          <p:cNvSpPr/>
          <p:nvPr/>
        </p:nvSpPr>
        <p:spPr bwMode="auto">
          <a:xfrm>
            <a:off x="2161796" y="3863755"/>
            <a:ext cx="469900" cy="482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4" name="타원 29"/>
          <p:cNvSpPr/>
          <p:nvPr/>
        </p:nvSpPr>
        <p:spPr bwMode="auto">
          <a:xfrm>
            <a:off x="1653796" y="4624615"/>
            <a:ext cx="469900" cy="482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5" name="타원 30"/>
          <p:cNvSpPr/>
          <p:nvPr/>
        </p:nvSpPr>
        <p:spPr bwMode="auto">
          <a:xfrm>
            <a:off x="1194383" y="5026213"/>
            <a:ext cx="469900" cy="482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21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/>
      <p:bldP spid="38" grpId="0" animBg="1"/>
      <p:bldP spid="39" grpId="0" animBg="1"/>
      <p:bldP spid="40" grpId="0"/>
      <p:bldP spid="41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2" grpId="0" animBg="1"/>
      <p:bldP spid="53" grpId="0" animBg="1"/>
      <p:bldP spid="54" grpId="0" animBg="1"/>
      <p:bldP spid="5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7745288" cy="691277"/>
          </a:xfrm>
        </p:spPr>
        <p:txBody>
          <a:bodyPr/>
          <a:lstStyle/>
          <a:p>
            <a:r>
              <a:rPr lang="en-US" sz="3600" dirty="0"/>
              <a:t>Approximate Memory Requirement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09600" y="1009650"/>
            <a:ext cx="8115300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500 x 500 matrix with 1994 nonzero elements,   4 bytes per element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2D array:   500 x 500 x 4 = 1M bytes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1D array of triples: 3 x 1994 x 4 </a:t>
            </a:r>
            <a:r>
              <a:rPr kumimoji="1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  <a:sym typeface="Symbol"/>
              </a:rPr>
              <a:t></a:t>
            </a:r>
            <a:r>
              <a:rPr kumimoji="1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 23K bytes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099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306888" cy="691277"/>
          </a:xfrm>
        </p:spPr>
        <p:txBody>
          <a:bodyPr/>
          <a:lstStyle/>
          <a:p>
            <a:r>
              <a:rPr lang="en-US" sz="3600" dirty="0"/>
              <a:t>Transposing a Matrix(1)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68923" y="993677"/>
            <a:ext cx="8167077" cy="5254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Transpose operation (</a:t>
            </a:r>
            <a:r>
              <a:rPr kumimoji="1" lang="en-US" altLang="ko-KR" sz="2400" b="0" i="1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A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(</a:t>
            </a:r>
            <a:r>
              <a:rPr kumimoji="1" lang="en-US" altLang="ko-K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i</a:t>
            </a:r>
            <a:r>
              <a:rPr kumimoji="1" lang="en-US" altLang="ko-K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,</a:t>
            </a:r>
            <a:r>
              <a:rPr kumimoji="1" lang="en-US" altLang="ko-K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j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</a:rPr>
              <a:t>)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  <a:sym typeface="Wingdings" pitchFamily="2" charset="2"/>
              </a:rPr>
              <a:t> </a:t>
            </a:r>
            <a:r>
              <a:rPr kumimoji="1" lang="en-US" altLang="ko-KR" sz="2400" b="0" i="1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  <a:sym typeface="Wingdings" pitchFamily="2" charset="2"/>
              </a:rPr>
              <a:t>A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  <a:sym typeface="Wingdings" pitchFamily="2" charset="2"/>
              </a:rPr>
              <a:t>(</a:t>
            </a:r>
            <a:r>
              <a:rPr kumimoji="1" lang="en-US" altLang="ko-K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  <a:sym typeface="Wingdings" pitchFamily="2" charset="2"/>
              </a:rPr>
              <a:t>j</a:t>
            </a:r>
            <a:r>
              <a:rPr kumimoji="1" lang="en-US" altLang="ko-K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  <a:sym typeface="Wingdings" pitchFamily="2" charset="2"/>
              </a:rPr>
              <a:t>,</a:t>
            </a:r>
            <a:r>
              <a:rPr kumimoji="1" lang="en-US" altLang="ko-K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  <a:sym typeface="Wingdings" pitchFamily="2" charset="2"/>
              </a:rPr>
              <a:t>i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itchFamily="18" charset="0"/>
                <a:ea typeface="굴림"/>
                <a:cs typeface="+mn-cs"/>
                <a:sym typeface="Wingdings" pitchFamily="2" charset="2"/>
              </a:rPr>
              <a:t>)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  <a:sym typeface="Wingdings" pitchFamily="2" charset="2"/>
              </a:rPr>
              <a:t>)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  <a:sym typeface="Wingdings" pitchFamily="2" charset="2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  <a:sym typeface="Wingdings" pitchFamily="2" charset="2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  <a:sym typeface="Wingdings" pitchFamily="2" charset="2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  <a:sym typeface="Wingdings" pitchFamily="2" charset="2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  <a:sym typeface="Wingdings" pitchFamily="2" charset="2"/>
            </a:endParaRP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161807"/>
              </p:ext>
            </p:extLst>
          </p:nvPr>
        </p:nvGraphicFramePr>
        <p:xfrm>
          <a:off x="390525" y="1580356"/>
          <a:ext cx="3217863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수식" r:id="rId3" imgW="1803240" imgH="1371600" progId="Equation.3">
                  <p:embed/>
                </p:oleObj>
              </mc:Choice>
              <mc:Fallback>
                <p:oleObj name="수식" r:id="rId3" imgW="1803240" imgH="1371600" progId="Equation.3">
                  <p:embed/>
                  <p:pic>
                    <p:nvPicPr>
                      <p:cNvPr id="57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1580356"/>
                        <a:ext cx="3217863" cy="2447925"/>
                      </a:xfrm>
                      <a:prstGeom prst="rect">
                        <a:avLst/>
                      </a:prstGeom>
                      <a:solidFill>
                        <a:srgbClr val="2D2DB9">
                          <a:lumMod val="20000"/>
                          <a:lumOff val="8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6315076" y="3263900"/>
            <a:ext cx="4079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ko-KR" altLang="en-US" dirty="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  <a:sym typeface="Wingdings" pitchFamily="2" charset="2"/>
              </a:rPr>
              <a:t></a:t>
            </a:r>
            <a:endParaRPr kumimoji="1" lang="ko-KR" altLang="en-US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graphicFrame>
        <p:nvGraphicFramePr>
          <p:cNvPr id="19" name="Group 1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220298"/>
              </p:ext>
            </p:extLst>
          </p:nvPr>
        </p:nvGraphicFramePr>
        <p:xfrm>
          <a:off x="6657182" y="1841500"/>
          <a:ext cx="2448718" cy="3123819"/>
        </p:xfrm>
        <a:graphic>
          <a:graphicData uri="http://schemas.openxmlformats.org/drawingml/2006/table">
            <a:tbl>
              <a:tblPr/>
              <a:tblGrid>
                <a:gridCol w="58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7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b[1]</a:t>
                      </a:r>
                      <a:endParaRPr kumimoji="1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b[2]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b[3]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b[4]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b[5]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b[6]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b[7]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b[8]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077773"/>
              </p:ext>
            </p:extLst>
          </p:nvPr>
        </p:nvGraphicFramePr>
        <p:xfrm>
          <a:off x="390525" y="4257675"/>
          <a:ext cx="3217863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수식" r:id="rId5" imgW="1803240" imgH="1371600" progId="Equation.3">
                  <p:embed/>
                </p:oleObj>
              </mc:Choice>
              <mc:Fallback>
                <p:oleObj name="수식" r:id="rId5" imgW="1803240" imgH="1371600" progId="Equation.3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4257675"/>
                        <a:ext cx="3217863" cy="2447925"/>
                      </a:xfrm>
                      <a:prstGeom prst="rect">
                        <a:avLst/>
                      </a:prstGeom>
                      <a:solidFill>
                        <a:srgbClr val="2D2DB9">
                          <a:lumMod val="20000"/>
                          <a:lumOff val="8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8261179"/>
              </p:ext>
            </p:extLst>
          </p:nvPr>
        </p:nvGraphicFramePr>
        <p:xfrm>
          <a:off x="3882232" y="1857279"/>
          <a:ext cx="2505868" cy="3125089"/>
        </p:xfrm>
        <a:graphic>
          <a:graphicData uri="http://schemas.openxmlformats.org/drawingml/2006/table">
            <a:tbl>
              <a:tblPr/>
              <a:tblGrid>
                <a:gridCol w="611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a[1]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a[2]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a[3]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a[4]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a[5]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a[6]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a[7]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1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돋움" pitchFamily="50" charset="-127"/>
                          <a:cs typeface="Consolas" pitchFamily="49" charset="0"/>
                        </a:rPr>
                        <a:t>a[8]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돋움" pitchFamily="50" charset="-127"/>
                        <a:cs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" name="아래쪽 화살표 1"/>
          <p:cNvSpPr/>
          <p:nvPr/>
        </p:nvSpPr>
        <p:spPr bwMode="auto">
          <a:xfrm>
            <a:off x="1625600" y="4000500"/>
            <a:ext cx="800100" cy="215900"/>
          </a:xfrm>
          <a:prstGeom prst="downArrow">
            <a:avLst/>
          </a:prstGeom>
          <a:solidFill>
            <a:srgbClr val="2D2DB9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cxnSp>
        <p:nvCxnSpPr>
          <p:cNvPr id="23" name="직선 연결선 3"/>
          <p:cNvCxnSpPr/>
          <p:nvPr/>
        </p:nvCxnSpPr>
        <p:spPr bwMode="auto">
          <a:xfrm>
            <a:off x="292100" y="1473200"/>
            <a:ext cx="3429000" cy="2705100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직사각형 12"/>
          <p:cNvSpPr/>
          <p:nvPr/>
        </p:nvSpPr>
        <p:spPr bwMode="auto">
          <a:xfrm>
            <a:off x="6723064" y="4032250"/>
            <a:ext cx="2298700" cy="317500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5" name="직사각형 13"/>
          <p:cNvSpPr/>
          <p:nvPr/>
        </p:nvSpPr>
        <p:spPr bwMode="auto">
          <a:xfrm>
            <a:off x="3954464" y="2794000"/>
            <a:ext cx="2360612" cy="317500"/>
          </a:xfrm>
          <a:prstGeom prst="rect">
            <a:avLst/>
          </a:prstGeom>
          <a:solidFill>
            <a:srgbClr val="FFC000">
              <a:alpha val="5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60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383088" cy="691277"/>
          </a:xfrm>
        </p:spPr>
        <p:txBody>
          <a:bodyPr/>
          <a:lstStyle/>
          <a:p>
            <a:r>
              <a:rPr lang="en-US" sz="4000" dirty="0"/>
              <a:t>Transposing Matrix(2)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15" name="직사각형 4"/>
          <p:cNvSpPr/>
          <p:nvPr/>
        </p:nvSpPr>
        <p:spPr bwMode="auto">
          <a:xfrm>
            <a:off x="552450" y="1023884"/>
            <a:ext cx="7721600" cy="1260000"/>
          </a:xfrm>
          <a:prstGeom prst="rect">
            <a:avLst/>
          </a:prstGeom>
          <a:solidFill>
            <a:srgbClr val="AAE2CA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6" name="내용 개체 틀 2"/>
          <p:cNvSpPr txBox="1">
            <a:spLocks/>
          </p:cNvSpPr>
          <p:nvPr/>
        </p:nvSpPr>
        <p:spPr bwMode="auto">
          <a:xfrm>
            <a:off x="468923" y="914400"/>
            <a:ext cx="816707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 </a:t>
            </a: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for each row </a:t>
            </a:r>
            <a:r>
              <a:rPr kumimoji="1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i</a:t>
            </a: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 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	take element &lt;</a:t>
            </a:r>
            <a:r>
              <a:rPr kumimoji="1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i,j,value</a:t>
            </a: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&gt; and store it as element &lt;</a:t>
            </a:r>
            <a:r>
              <a:rPr kumimoji="1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j,i,value</a:t>
            </a: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&gt;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</p:txBody>
      </p:sp>
      <p:sp>
        <p:nvSpPr>
          <p:cNvPr id="17" name="오른쪽 화살표 10"/>
          <p:cNvSpPr/>
          <p:nvPr/>
        </p:nvSpPr>
        <p:spPr bwMode="auto">
          <a:xfrm>
            <a:off x="4406900" y="4229100"/>
            <a:ext cx="482600" cy="939800"/>
          </a:xfrm>
          <a:prstGeom prst="rightArrow">
            <a:avLst/>
          </a:prstGeom>
          <a:solidFill>
            <a:srgbClr val="3333CC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graphicFrame>
        <p:nvGraphicFramePr>
          <p:cNvPr id="18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464535"/>
              </p:ext>
            </p:extLst>
          </p:nvPr>
        </p:nvGraphicFramePr>
        <p:xfrm>
          <a:off x="943876" y="2562086"/>
          <a:ext cx="3344068" cy="3759204"/>
        </p:xfrm>
        <a:graphic>
          <a:graphicData uri="http://schemas.openxmlformats.org/drawingml/2006/table">
            <a:tbl>
              <a:tblPr/>
              <a:tblGrid>
                <a:gridCol w="8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a[1]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a[2]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a[3]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a[4]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a[5]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a[6]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a[7]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a[8]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483747"/>
              </p:ext>
            </p:extLst>
          </p:nvPr>
        </p:nvGraphicFramePr>
        <p:xfrm>
          <a:off x="4961139" y="2533708"/>
          <a:ext cx="3344068" cy="3759204"/>
        </p:xfrm>
        <a:graphic>
          <a:graphicData uri="http://schemas.openxmlformats.org/drawingml/2006/table">
            <a:tbl>
              <a:tblPr/>
              <a:tblGrid>
                <a:gridCol w="8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a[1]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a[2]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a[3]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a[4]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a[5]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a[6]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a[7]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a[8]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0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115144"/>
              </p:ext>
            </p:extLst>
          </p:nvPr>
        </p:nvGraphicFramePr>
        <p:xfrm>
          <a:off x="6254592" y="4211320"/>
          <a:ext cx="2527615" cy="365760"/>
        </p:xfrm>
        <a:graphic>
          <a:graphicData uri="http://schemas.openxmlformats.org/drawingml/2006/table">
            <a:tbl>
              <a:tblPr/>
              <a:tblGrid>
                <a:gridCol w="81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95146" y="4203700"/>
            <a:ext cx="554639" cy="307777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rPr>
              <a:t>a[??]</a:t>
            </a:r>
          </a:p>
        </p:txBody>
      </p:sp>
      <p:graphicFrame>
        <p:nvGraphicFramePr>
          <p:cNvPr id="22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70516"/>
              </p:ext>
            </p:extLst>
          </p:nvPr>
        </p:nvGraphicFramePr>
        <p:xfrm>
          <a:off x="5778501" y="2984500"/>
          <a:ext cx="2539998" cy="370840"/>
        </p:xfrm>
        <a:graphic>
          <a:graphicData uri="http://schemas.openxmlformats.org/drawingml/2006/table">
            <a:tbl>
              <a:tblPr firstRow="1" bandRow="1"/>
              <a:tblGrid>
                <a:gridCol w="80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r>
                        <a:rPr lang="en-US" dirty="0"/>
                        <a:t>         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610422"/>
              </p:ext>
            </p:extLst>
          </p:nvPr>
        </p:nvGraphicFramePr>
        <p:xfrm>
          <a:off x="5778501" y="3327400"/>
          <a:ext cx="2539998" cy="370840"/>
        </p:xfrm>
        <a:graphic>
          <a:graphicData uri="http://schemas.openxmlformats.org/drawingml/2006/table">
            <a:tbl>
              <a:tblPr firstRow="1" bandRow="1"/>
              <a:tblGrid>
                <a:gridCol w="80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r>
                        <a:rPr lang="en-US" dirty="0"/>
                        <a:t>         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8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449888" cy="691277"/>
          </a:xfrm>
        </p:spPr>
        <p:txBody>
          <a:bodyPr/>
          <a:lstStyle/>
          <a:p>
            <a:r>
              <a:rPr lang="en-US" sz="4400" dirty="0"/>
              <a:t>Transposing a Matrix(3)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27" name="직사각형 4"/>
          <p:cNvSpPr/>
          <p:nvPr/>
        </p:nvSpPr>
        <p:spPr bwMode="auto">
          <a:xfrm>
            <a:off x="635000" y="1301750"/>
            <a:ext cx="7721600" cy="864000"/>
          </a:xfrm>
          <a:prstGeom prst="rect">
            <a:avLst/>
          </a:prstGeom>
          <a:solidFill>
            <a:srgbClr val="AAE2CA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" name="내용 개체 틀 2"/>
          <p:cNvSpPr txBox="1">
            <a:spLocks/>
          </p:cNvSpPr>
          <p:nvPr/>
        </p:nvSpPr>
        <p:spPr bwMode="auto">
          <a:xfrm>
            <a:off x="609600" y="1320800"/>
            <a:ext cx="8026400" cy="136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 </a:t>
            </a:r>
            <a:r>
              <a:rPr kumimoji="1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for all elements in column j 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	place element &lt;i,j,value&gt; in element &lt;j,i,value&gt;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</p:txBody>
      </p:sp>
      <p:sp>
        <p:nvSpPr>
          <p:cNvPr id="29" name="오른쪽 화살표 6"/>
          <p:cNvSpPr/>
          <p:nvPr/>
        </p:nvSpPr>
        <p:spPr bwMode="auto">
          <a:xfrm>
            <a:off x="4318000" y="3889524"/>
            <a:ext cx="482600" cy="939800"/>
          </a:xfrm>
          <a:prstGeom prst="rightArrow">
            <a:avLst/>
          </a:prstGeom>
          <a:solidFill>
            <a:srgbClr val="3333CC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graphicFrame>
        <p:nvGraphicFramePr>
          <p:cNvPr id="30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666690"/>
              </p:ext>
            </p:extLst>
          </p:nvPr>
        </p:nvGraphicFramePr>
        <p:xfrm>
          <a:off x="842276" y="2374910"/>
          <a:ext cx="3344068" cy="3759204"/>
        </p:xfrm>
        <a:graphic>
          <a:graphicData uri="http://schemas.openxmlformats.org/drawingml/2006/table">
            <a:tbl>
              <a:tblPr/>
              <a:tblGrid>
                <a:gridCol w="8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a[1]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a[2]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a[3]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a[4]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a[5]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a[6]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a[7]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a[8]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1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0222794"/>
              </p:ext>
            </p:extLst>
          </p:nvPr>
        </p:nvGraphicFramePr>
        <p:xfrm>
          <a:off x="5012532" y="2387610"/>
          <a:ext cx="3344068" cy="3759204"/>
        </p:xfrm>
        <a:graphic>
          <a:graphicData uri="http://schemas.openxmlformats.org/drawingml/2006/table">
            <a:tbl>
              <a:tblPr/>
              <a:tblGrid>
                <a:gridCol w="8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a[1]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a[2]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a[3]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a[4]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a[5]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a[6]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a[7]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a[8]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2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860566"/>
              </p:ext>
            </p:extLst>
          </p:nvPr>
        </p:nvGraphicFramePr>
        <p:xfrm>
          <a:off x="5867399" y="3165624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845666"/>
              </p:ext>
            </p:extLst>
          </p:nvPr>
        </p:nvGraphicFramePr>
        <p:xfrm>
          <a:off x="5867399" y="3533924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11902"/>
              </p:ext>
            </p:extLst>
          </p:nvPr>
        </p:nvGraphicFramePr>
        <p:xfrm>
          <a:off x="5880099" y="3927624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916874"/>
              </p:ext>
            </p:extLst>
          </p:nvPr>
        </p:nvGraphicFramePr>
        <p:xfrm>
          <a:off x="5880099" y="4308624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289455"/>
              </p:ext>
            </p:extLst>
          </p:nvPr>
        </p:nvGraphicFramePr>
        <p:xfrm>
          <a:off x="5880099" y="4714240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509219"/>
              </p:ext>
            </p:extLst>
          </p:nvPr>
        </p:nvGraphicFramePr>
        <p:xfrm>
          <a:off x="5892799" y="5082540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416984"/>
              </p:ext>
            </p:extLst>
          </p:nvPr>
        </p:nvGraphicFramePr>
        <p:xfrm>
          <a:off x="5892799" y="5450840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059202"/>
              </p:ext>
            </p:extLst>
          </p:nvPr>
        </p:nvGraphicFramePr>
        <p:xfrm>
          <a:off x="5892799" y="5806440"/>
          <a:ext cx="2362200" cy="365760"/>
        </p:xfrm>
        <a:graphic>
          <a:graphicData uri="http://schemas.openxmlformats.org/drawingml/2006/table">
            <a:tbl>
              <a:tblPr firstRow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타원 17"/>
          <p:cNvSpPr/>
          <p:nvPr/>
        </p:nvSpPr>
        <p:spPr bwMode="auto">
          <a:xfrm>
            <a:off x="2578100" y="3167866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1" name="타원 18"/>
          <p:cNvSpPr/>
          <p:nvPr/>
        </p:nvSpPr>
        <p:spPr bwMode="auto">
          <a:xfrm>
            <a:off x="2590800" y="5413524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2" name="타원 19"/>
          <p:cNvSpPr/>
          <p:nvPr/>
        </p:nvSpPr>
        <p:spPr bwMode="auto">
          <a:xfrm>
            <a:off x="2578100" y="4302274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3" name="타원 20"/>
          <p:cNvSpPr/>
          <p:nvPr/>
        </p:nvSpPr>
        <p:spPr bwMode="auto">
          <a:xfrm>
            <a:off x="2578100" y="4657874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4" name="타원 21"/>
          <p:cNvSpPr/>
          <p:nvPr/>
        </p:nvSpPr>
        <p:spPr bwMode="auto">
          <a:xfrm>
            <a:off x="2578100" y="5756424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5" name="타원 22"/>
          <p:cNvSpPr/>
          <p:nvPr/>
        </p:nvSpPr>
        <p:spPr bwMode="auto">
          <a:xfrm>
            <a:off x="2590800" y="3546624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6" name="타원 23"/>
          <p:cNvSpPr/>
          <p:nvPr/>
        </p:nvSpPr>
        <p:spPr bwMode="auto">
          <a:xfrm>
            <a:off x="2578100" y="5070624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7" name="타원 24"/>
          <p:cNvSpPr/>
          <p:nvPr/>
        </p:nvSpPr>
        <p:spPr bwMode="auto">
          <a:xfrm>
            <a:off x="2578100" y="3908574"/>
            <a:ext cx="596900" cy="3429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93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68923" y="838200"/>
            <a:ext cx="8507347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void transpose(term a[], term b[]) 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{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/* b is set to the transpose of a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*/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int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n,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, j,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currentb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;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n = a[0].value;     /* total number of elements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*/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b[0].row = a[0].col; /* rows in b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=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columns in a */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b[0].col = a[0].row; /* columns in b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=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rows in a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 */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b[0].value = n;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if (n &gt; 0) 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{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/* non-zero matrix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*/ 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currentb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= 1;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for (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=0;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&lt;a[0].col;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++){ /*transpose by the column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*/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for (j = 1; j &lt;= n;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j++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){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if (a[j].col ==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){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b[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currentb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].row = a[j].col;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b[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currentb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].col = a[j].row;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b[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currentb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].value = a[j].value;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currentb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++;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} /* if a[j].col */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체" pitchFamily="17" charset="-127"/>
                <a:cs typeface="+mn-cs"/>
              </a:rPr>
              <a:t>     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바탕체" pitchFamily="17" charset="-127"/>
                <a:cs typeface="+mn-cs"/>
              </a:rPr>
              <a:t>}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체" pitchFamily="17" charset="-127"/>
                <a:cs typeface="+mn-cs"/>
              </a:rPr>
              <a:t> /* for j */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	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}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/* for </a:t>
            </a:r>
            <a:r>
              <a:rPr kumimoji="1" lang="en-US" altLang="ko-K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*/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체" pitchFamily="17" charset="-127"/>
                <a:cs typeface="+mn-cs"/>
              </a:rPr>
              <a:t>  } /* if n */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} 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  <a:sym typeface="Wingdings" pitchFamily="2" charset="2"/>
              </a:rPr>
              <a:t>   </a:t>
            </a:r>
            <a:endParaRPr kumimoji="1" lang="ko-KR" altLang="en-US" sz="1800" b="1" i="1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urier New" pitchFamily="49" charset="0"/>
              <a:ea typeface="굴림"/>
              <a:cs typeface="+mn-cs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100537" y="5741988"/>
            <a:ext cx="4394152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>
              <a:lnSpc>
                <a:spcPct val="90000"/>
              </a:lnSpc>
            </a:pPr>
            <a:r>
              <a:rPr kumimoji="1" lang="en-US" altLang="ko-KR" sz="2400" i="1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 </a:t>
            </a:r>
            <a:r>
              <a:rPr kumimoji="1" lang="en-US" altLang="ko-KR" sz="24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O</a:t>
            </a:r>
            <a:r>
              <a:rPr kumimoji="1" lang="en-US" altLang="ko-KR" sz="2400" i="1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 </a:t>
            </a:r>
            <a:r>
              <a:rPr kumimoji="1" lang="en-US" altLang="ko-KR" sz="24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(</a:t>
            </a:r>
            <a:r>
              <a:rPr kumimoji="1" lang="en-US" altLang="ko-KR" sz="2400" i="1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columns · elements</a:t>
            </a:r>
            <a:r>
              <a:rPr kumimoji="1" lang="en-US" altLang="ko-KR" sz="24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270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70" name="Picture 4" descr="program2"/>
          <p:cNvPicPr>
            <a:picLocks noChangeAspect="1" noChangeArrowheads="1"/>
          </p:cNvPicPr>
          <p:nvPr/>
        </p:nvPicPr>
        <p:blipFill>
          <a:blip r:embed="rId2">
            <a:lum bright="-24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981075"/>
            <a:ext cx="6624638" cy="56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Text Box 6"/>
          <p:cNvSpPr txBox="1">
            <a:spLocks noChangeArrowheads="1"/>
          </p:cNvSpPr>
          <p:nvPr/>
        </p:nvSpPr>
        <p:spPr bwMode="auto">
          <a:xfrm>
            <a:off x="447675" y="207963"/>
            <a:ext cx="31162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chemeClr val="accent2"/>
                </a:solidFill>
                <a:latin typeface="Comic Sans MS" panose="030F0702030302020204" pitchFamily="66" charset="0"/>
              </a:rPr>
              <a:t>EX: A[6][6] transpose to B[6][6]</a:t>
            </a:r>
          </a:p>
        </p:txBody>
      </p:sp>
      <p:sp>
        <p:nvSpPr>
          <p:cNvPr id="72" name="Text Box 15"/>
          <p:cNvSpPr txBox="1">
            <a:spLocks noChangeArrowheads="1"/>
          </p:cNvSpPr>
          <p:nvPr/>
        </p:nvSpPr>
        <p:spPr bwMode="auto">
          <a:xfrm>
            <a:off x="6588125" y="2708275"/>
            <a:ext cx="24114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rgbClr val="FF0000"/>
                </a:solidFill>
                <a:latin typeface="Comic Sans MS" panose="030F0702030302020204" pitchFamily="66" charset="0"/>
              </a:rPr>
              <a:t>Set Up row &amp; column in B[6][6]</a:t>
            </a:r>
          </a:p>
        </p:txBody>
      </p:sp>
      <p:sp>
        <p:nvSpPr>
          <p:cNvPr id="73" name="Text Box 17"/>
          <p:cNvSpPr txBox="1">
            <a:spLocks noChangeArrowheads="1"/>
          </p:cNvSpPr>
          <p:nvPr/>
        </p:nvSpPr>
        <p:spPr bwMode="auto">
          <a:xfrm>
            <a:off x="395288" y="4221163"/>
            <a:ext cx="1890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Row Col Value </a:t>
            </a:r>
          </a:p>
        </p:txBody>
      </p:sp>
      <p:sp>
        <p:nvSpPr>
          <p:cNvPr id="74" name="Text Box 18"/>
          <p:cNvSpPr txBox="1">
            <a:spLocks noChangeArrowheads="1"/>
          </p:cNvSpPr>
          <p:nvPr/>
        </p:nvSpPr>
        <p:spPr bwMode="auto">
          <a:xfrm>
            <a:off x="179388" y="4652963"/>
            <a:ext cx="170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0     6      6     8</a:t>
            </a:r>
          </a:p>
        </p:txBody>
      </p:sp>
      <p:sp>
        <p:nvSpPr>
          <p:cNvPr id="75" name="Line 25"/>
          <p:cNvSpPr>
            <a:spLocks noChangeShapeType="1"/>
          </p:cNvSpPr>
          <p:nvPr/>
        </p:nvSpPr>
        <p:spPr bwMode="auto">
          <a:xfrm>
            <a:off x="2411413" y="3860800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Rectangle 26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j=1</a:t>
            </a:r>
          </a:p>
        </p:txBody>
      </p:sp>
      <p:grpSp>
        <p:nvGrpSpPr>
          <p:cNvPr id="77" name="Group 37"/>
          <p:cNvGrpSpPr>
            <a:grpSpLocks/>
          </p:cNvGrpSpPr>
          <p:nvPr/>
        </p:nvGrpSpPr>
        <p:grpSpPr bwMode="auto">
          <a:xfrm>
            <a:off x="3152775" y="4652963"/>
            <a:ext cx="195263" cy="792162"/>
            <a:chOff x="340" y="3067"/>
            <a:chExt cx="227" cy="499"/>
          </a:xfrm>
        </p:grpSpPr>
        <p:sp>
          <p:nvSpPr>
            <p:cNvPr id="78" name="Line 34"/>
            <p:cNvSpPr>
              <a:spLocks noChangeShapeType="1"/>
            </p:cNvSpPr>
            <p:nvPr/>
          </p:nvSpPr>
          <p:spPr bwMode="auto">
            <a:xfrm>
              <a:off x="340" y="3067"/>
              <a:ext cx="22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35"/>
            <p:cNvSpPr>
              <a:spLocks noChangeShapeType="1"/>
            </p:cNvSpPr>
            <p:nvPr/>
          </p:nvSpPr>
          <p:spPr bwMode="auto">
            <a:xfrm>
              <a:off x="340" y="3067"/>
              <a:ext cx="0" cy="49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36"/>
            <p:cNvSpPr>
              <a:spLocks noChangeShapeType="1"/>
            </p:cNvSpPr>
            <p:nvPr/>
          </p:nvSpPr>
          <p:spPr bwMode="auto">
            <a:xfrm>
              <a:off x="340" y="3566"/>
              <a:ext cx="22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" name="Text Box 40"/>
          <p:cNvSpPr txBox="1">
            <a:spLocks noChangeArrowheads="1"/>
          </p:cNvSpPr>
          <p:nvPr/>
        </p:nvSpPr>
        <p:spPr bwMode="auto">
          <a:xfrm>
            <a:off x="165100" y="4921250"/>
            <a:ext cx="183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1     0      0     15</a:t>
            </a:r>
          </a:p>
        </p:txBody>
      </p:sp>
      <p:pic>
        <p:nvPicPr>
          <p:cNvPr id="82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484313"/>
            <a:ext cx="2160588" cy="25812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184150" y="5202238"/>
            <a:ext cx="183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2     0      4     91</a:t>
            </a:r>
          </a:p>
        </p:txBody>
      </p:sp>
      <p:sp>
        <p:nvSpPr>
          <p:cNvPr id="84" name="Text Box 55"/>
          <p:cNvSpPr txBox="1">
            <a:spLocks noChangeArrowheads="1"/>
          </p:cNvSpPr>
          <p:nvPr/>
        </p:nvSpPr>
        <p:spPr bwMode="auto">
          <a:xfrm>
            <a:off x="184150" y="5491163"/>
            <a:ext cx="183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3     1      1     11</a:t>
            </a:r>
          </a:p>
        </p:txBody>
      </p:sp>
      <p:sp>
        <p:nvSpPr>
          <p:cNvPr id="85" name="Text Box 70"/>
          <p:cNvSpPr txBox="1">
            <a:spLocks noChangeArrowheads="1"/>
          </p:cNvSpPr>
          <p:nvPr/>
        </p:nvSpPr>
        <p:spPr bwMode="auto">
          <a:xfrm>
            <a:off x="5200650" y="56118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86" name="Text Box 71"/>
          <p:cNvSpPr txBox="1">
            <a:spLocks noChangeArrowheads="1"/>
          </p:cNvSpPr>
          <p:nvPr/>
        </p:nvSpPr>
        <p:spPr bwMode="auto">
          <a:xfrm>
            <a:off x="6948488" y="5949950"/>
            <a:ext cx="182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>
                <a:solidFill>
                  <a:srgbClr val="FF0000"/>
                </a:solidFill>
                <a:latin typeface="Comic Sans MS" panose="030F0702030302020204" pitchFamily="66" charset="0"/>
              </a:rPr>
              <a:t>And So on…</a:t>
            </a:r>
          </a:p>
        </p:txBody>
      </p:sp>
      <p:sp>
        <p:nvSpPr>
          <p:cNvPr id="87" name="Text Box 72"/>
          <p:cNvSpPr txBox="1">
            <a:spLocks noChangeArrowheads="1"/>
          </p:cNvSpPr>
          <p:nvPr/>
        </p:nvSpPr>
        <p:spPr bwMode="auto">
          <a:xfrm>
            <a:off x="179388" y="836613"/>
            <a:ext cx="223202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chemeClr val="accent2"/>
                </a:solidFill>
              </a:rPr>
              <a:t>Matrix A</a:t>
            </a:r>
            <a:r>
              <a:rPr lang="en-US" altLang="zh-TW">
                <a:solidFill>
                  <a:schemeClr val="accent2"/>
                </a:solidFill>
              </a:rPr>
              <a:t> </a:t>
            </a:r>
          </a:p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        Row Col Value</a:t>
            </a:r>
          </a:p>
        </p:txBody>
      </p:sp>
      <p:grpSp>
        <p:nvGrpSpPr>
          <p:cNvPr id="88" name="Group 77"/>
          <p:cNvGrpSpPr>
            <a:grpSpLocks/>
          </p:cNvGrpSpPr>
          <p:nvPr/>
        </p:nvGrpSpPr>
        <p:grpSpPr bwMode="auto">
          <a:xfrm>
            <a:off x="5364163" y="1989138"/>
            <a:ext cx="720725" cy="863600"/>
            <a:chOff x="3515" y="1253"/>
            <a:chExt cx="454" cy="544"/>
          </a:xfrm>
        </p:grpSpPr>
        <p:sp>
          <p:nvSpPr>
            <p:cNvPr id="89" name="Line 73"/>
            <p:cNvSpPr>
              <a:spLocks noChangeShapeType="1"/>
            </p:cNvSpPr>
            <p:nvPr/>
          </p:nvSpPr>
          <p:spPr bwMode="auto">
            <a:xfrm>
              <a:off x="3515" y="1253"/>
              <a:ext cx="2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74"/>
            <p:cNvSpPr>
              <a:spLocks noChangeShapeType="1"/>
            </p:cNvSpPr>
            <p:nvPr/>
          </p:nvSpPr>
          <p:spPr bwMode="auto">
            <a:xfrm>
              <a:off x="3560" y="1797"/>
              <a:ext cx="18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75"/>
            <p:cNvSpPr>
              <a:spLocks noChangeShapeType="1"/>
            </p:cNvSpPr>
            <p:nvPr/>
          </p:nvSpPr>
          <p:spPr bwMode="auto">
            <a:xfrm>
              <a:off x="3742" y="1253"/>
              <a:ext cx="0" cy="5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76"/>
            <p:cNvSpPr>
              <a:spLocks noChangeShapeType="1"/>
            </p:cNvSpPr>
            <p:nvPr/>
          </p:nvSpPr>
          <p:spPr bwMode="auto">
            <a:xfrm>
              <a:off x="3742" y="1525"/>
              <a:ext cx="2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" name="Line 78"/>
          <p:cNvSpPr>
            <a:spLocks noChangeShapeType="1"/>
          </p:cNvSpPr>
          <p:nvPr/>
        </p:nvSpPr>
        <p:spPr bwMode="auto">
          <a:xfrm>
            <a:off x="2411413" y="3141663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Rectangle 80"/>
          <p:cNvSpPr>
            <a:spLocks noChangeArrowheads="1"/>
          </p:cNvSpPr>
          <p:nvPr/>
        </p:nvSpPr>
        <p:spPr bwMode="auto">
          <a:xfrm>
            <a:off x="1403350" y="1700213"/>
            <a:ext cx="288925" cy="2873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5" name="Rectangle 81"/>
          <p:cNvSpPr>
            <a:spLocks noChangeArrowheads="1"/>
          </p:cNvSpPr>
          <p:nvPr/>
        </p:nvSpPr>
        <p:spPr bwMode="auto">
          <a:xfrm>
            <a:off x="1403350" y="1989138"/>
            <a:ext cx="288925" cy="2873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6" name="Rectangle 82"/>
          <p:cNvSpPr>
            <a:spLocks noChangeArrowheads="1"/>
          </p:cNvSpPr>
          <p:nvPr/>
        </p:nvSpPr>
        <p:spPr bwMode="auto">
          <a:xfrm>
            <a:off x="1403350" y="2276475"/>
            <a:ext cx="288925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7" name="Rectangle 83"/>
          <p:cNvSpPr>
            <a:spLocks noChangeArrowheads="1"/>
          </p:cNvSpPr>
          <p:nvPr/>
        </p:nvSpPr>
        <p:spPr bwMode="auto">
          <a:xfrm>
            <a:off x="1403350" y="2565400"/>
            <a:ext cx="288925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8" name="Rectangle 84"/>
          <p:cNvSpPr>
            <a:spLocks noChangeArrowheads="1"/>
          </p:cNvSpPr>
          <p:nvPr/>
        </p:nvSpPr>
        <p:spPr bwMode="auto">
          <a:xfrm>
            <a:off x="1403350" y="2852738"/>
            <a:ext cx="288925" cy="2873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9" name="Rectangle 85"/>
          <p:cNvSpPr>
            <a:spLocks noChangeArrowheads="1"/>
          </p:cNvSpPr>
          <p:nvPr/>
        </p:nvSpPr>
        <p:spPr bwMode="auto">
          <a:xfrm>
            <a:off x="1403350" y="3141663"/>
            <a:ext cx="288925" cy="2873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00" name="Rectangle 86"/>
          <p:cNvSpPr>
            <a:spLocks noChangeArrowheads="1"/>
          </p:cNvSpPr>
          <p:nvPr/>
        </p:nvSpPr>
        <p:spPr bwMode="auto">
          <a:xfrm>
            <a:off x="1403350" y="3429000"/>
            <a:ext cx="288925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01" name="Rectangle 87"/>
          <p:cNvSpPr>
            <a:spLocks noChangeArrowheads="1"/>
          </p:cNvSpPr>
          <p:nvPr/>
        </p:nvSpPr>
        <p:spPr bwMode="auto">
          <a:xfrm>
            <a:off x="1403350" y="3716338"/>
            <a:ext cx="288925" cy="2873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02" name="Line 88"/>
          <p:cNvSpPr>
            <a:spLocks noChangeShapeType="1"/>
          </p:cNvSpPr>
          <p:nvPr/>
        </p:nvSpPr>
        <p:spPr bwMode="auto">
          <a:xfrm>
            <a:off x="2411413" y="4365625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Rectangle 89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j=1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a[j]= 0 == i</a:t>
            </a:r>
          </a:p>
        </p:txBody>
      </p:sp>
      <p:sp>
        <p:nvSpPr>
          <p:cNvPr id="104" name="Rectangle 42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j=2</a:t>
            </a:r>
          </a:p>
        </p:txBody>
      </p:sp>
      <p:sp>
        <p:nvSpPr>
          <p:cNvPr id="105" name="Rectangle 90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j=2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a[j]=3 != i</a:t>
            </a:r>
          </a:p>
        </p:txBody>
      </p:sp>
      <p:sp>
        <p:nvSpPr>
          <p:cNvPr id="106" name="Rectangle 43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j=3</a:t>
            </a:r>
          </a:p>
        </p:txBody>
      </p:sp>
      <p:sp>
        <p:nvSpPr>
          <p:cNvPr id="107" name="Rectangle 92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j=3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 = 5 != i</a:t>
            </a:r>
          </a:p>
        </p:txBody>
      </p:sp>
      <p:sp>
        <p:nvSpPr>
          <p:cNvPr id="108" name="Rectangle 44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j=4</a:t>
            </a:r>
          </a:p>
        </p:txBody>
      </p:sp>
      <p:sp>
        <p:nvSpPr>
          <p:cNvPr id="109" name="Rectangle 94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j=4</a:t>
            </a:r>
            <a:endParaRPr lang="it-IT" altLang="zh-TW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eaLnBrk="1" hangingPunct="1"/>
            <a:r>
              <a:rPr lang="it-IT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1  a[j].col != i</a:t>
            </a:r>
            <a:endParaRPr lang="en-US" altLang="zh-TW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10" name="Rectangle 45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j=5</a:t>
            </a:r>
          </a:p>
        </p:txBody>
      </p:sp>
      <p:sp>
        <p:nvSpPr>
          <p:cNvPr id="111" name="Rectangle 95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j=5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2 a[j].col != i</a:t>
            </a:r>
          </a:p>
        </p:txBody>
      </p:sp>
      <p:sp>
        <p:nvSpPr>
          <p:cNvPr id="112" name="Rectangle 46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j=6</a:t>
            </a:r>
          </a:p>
        </p:txBody>
      </p:sp>
      <p:sp>
        <p:nvSpPr>
          <p:cNvPr id="113" name="Rectangle 96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j=6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3 != i</a:t>
            </a:r>
          </a:p>
        </p:txBody>
      </p:sp>
      <p:sp>
        <p:nvSpPr>
          <p:cNvPr id="114" name="Rectangle 48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j=7</a:t>
            </a:r>
          </a:p>
        </p:txBody>
      </p:sp>
      <p:sp>
        <p:nvSpPr>
          <p:cNvPr id="115" name="Rectangle 97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j=7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0 == i</a:t>
            </a:r>
          </a:p>
        </p:txBody>
      </p:sp>
      <p:sp>
        <p:nvSpPr>
          <p:cNvPr id="116" name="Rectangle 50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j=8</a:t>
            </a:r>
          </a:p>
        </p:txBody>
      </p:sp>
      <p:sp>
        <p:nvSpPr>
          <p:cNvPr id="117" name="Rectangle 98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i=0 j=8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2 != i</a:t>
            </a:r>
          </a:p>
        </p:txBody>
      </p:sp>
      <p:sp>
        <p:nvSpPr>
          <p:cNvPr id="118" name="Rectangle 51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j=1</a:t>
            </a:r>
          </a:p>
        </p:txBody>
      </p:sp>
      <p:sp>
        <p:nvSpPr>
          <p:cNvPr id="119" name="Rectangle 99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j=1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0 != i</a:t>
            </a:r>
          </a:p>
        </p:txBody>
      </p:sp>
      <p:sp>
        <p:nvSpPr>
          <p:cNvPr id="120" name="Rectangle 52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j=2</a:t>
            </a:r>
          </a:p>
        </p:txBody>
      </p:sp>
      <p:sp>
        <p:nvSpPr>
          <p:cNvPr id="121" name="Rectangle 101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j=2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 3 != i</a:t>
            </a:r>
          </a:p>
        </p:txBody>
      </p:sp>
      <p:sp>
        <p:nvSpPr>
          <p:cNvPr id="122" name="Rectangle 53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j=3</a:t>
            </a:r>
          </a:p>
        </p:txBody>
      </p:sp>
      <p:sp>
        <p:nvSpPr>
          <p:cNvPr id="123" name="Rectangle 102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j=3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5 != i</a:t>
            </a:r>
          </a:p>
        </p:txBody>
      </p:sp>
      <p:sp>
        <p:nvSpPr>
          <p:cNvPr id="124" name="Rectangle 54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j=4 </a:t>
            </a:r>
          </a:p>
        </p:txBody>
      </p:sp>
      <p:sp>
        <p:nvSpPr>
          <p:cNvPr id="125" name="Rectangle 103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j=4 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1 == i</a:t>
            </a:r>
          </a:p>
        </p:txBody>
      </p:sp>
      <p:sp>
        <p:nvSpPr>
          <p:cNvPr id="126" name="Rectangle 56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j=5</a:t>
            </a:r>
          </a:p>
        </p:txBody>
      </p:sp>
      <p:sp>
        <p:nvSpPr>
          <p:cNvPr id="127" name="Rectangle 104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j=5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a[i].col = 2 != i</a:t>
            </a:r>
          </a:p>
        </p:txBody>
      </p:sp>
      <p:sp>
        <p:nvSpPr>
          <p:cNvPr id="128" name="Rectangle 57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j=6</a:t>
            </a:r>
          </a:p>
        </p:txBody>
      </p:sp>
      <p:sp>
        <p:nvSpPr>
          <p:cNvPr id="129" name="Rectangle 105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j=6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a[j].col = 3 != i</a:t>
            </a:r>
          </a:p>
        </p:txBody>
      </p:sp>
      <p:sp>
        <p:nvSpPr>
          <p:cNvPr id="130" name="Rectangle 58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j=7</a:t>
            </a:r>
          </a:p>
        </p:txBody>
      </p:sp>
      <p:sp>
        <p:nvSpPr>
          <p:cNvPr id="131" name="Rectangle 106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j=7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a[j] = 0 != i</a:t>
            </a:r>
          </a:p>
        </p:txBody>
      </p:sp>
      <p:sp>
        <p:nvSpPr>
          <p:cNvPr id="132" name="Rectangle 107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j=8</a:t>
            </a:r>
          </a:p>
        </p:txBody>
      </p:sp>
      <p:sp>
        <p:nvSpPr>
          <p:cNvPr id="133" name="Rectangle 108"/>
          <p:cNvSpPr>
            <a:spLocks noChangeArrowheads="1"/>
          </p:cNvSpPr>
          <p:nvPr/>
        </p:nvSpPr>
        <p:spPr bwMode="auto">
          <a:xfrm>
            <a:off x="4211638" y="188913"/>
            <a:ext cx="3240087" cy="719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i=1 j=8</a:t>
            </a:r>
          </a:p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a[i].col = 2 != i</a:t>
            </a:r>
          </a:p>
        </p:txBody>
      </p:sp>
    </p:spTree>
    <p:extLst>
      <p:ext uri="{BB962C8B-B14F-4D97-AF65-F5344CB8AC3E}">
        <p14:creationId xmlns:p14="http://schemas.microsoft.com/office/powerpoint/2010/main" val="370602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2" grpId="1"/>
      <p:bldP spid="73" grpId="0"/>
      <p:bldP spid="74" grpId="0"/>
      <p:bldP spid="76" grpId="0" animBg="1"/>
      <p:bldP spid="81" grpId="0"/>
      <p:bldP spid="83" grpId="0"/>
      <p:bldP spid="84" grpId="0"/>
      <p:bldP spid="86" grpId="0"/>
      <p:bldP spid="87" grpId="0"/>
      <p:bldP spid="94" grpId="0" animBg="1"/>
      <p:bldP spid="94" grpId="1" animBg="1"/>
      <p:bldP spid="94" grpId="2" animBg="1"/>
      <p:bldP spid="94" grpId="3" animBg="1"/>
      <p:bldP spid="95" grpId="0" animBg="1"/>
      <p:bldP spid="95" grpId="1" animBg="1"/>
      <p:bldP spid="95" grpId="2" animBg="1"/>
      <p:bldP spid="95" grpId="3" animBg="1"/>
      <p:bldP spid="96" grpId="0" animBg="1"/>
      <p:bldP spid="96" grpId="1" animBg="1"/>
      <p:bldP spid="96" grpId="2" animBg="1"/>
      <p:bldP spid="96" grpId="3" animBg="1"/>
      <p:bldP spid="97" grpId="0" animBg="1"/>
      <p:bldP spid="97" grpId="1" animBg="1"/>
      <p:bldP spid="97" grpId="2" animBg="1"/>
      <p:bldP spid="97" grpId="3" animBg="1"/>
      <p:bldP spid="98" grpId="0" animBg="1"/>
      <p:bldP spid="98" grpId="1" animBg="1"/>
      <p:bldP spid="98" grpId="2" animBg="1"/>
      <p:bldP spid="98" grpId="3" animBg="1"/>
      <p:bldP spid="99" grpId="0" animBg="1"/>
      <p:bldP spid="99" grpId="1" animBg="1"/>
      <p:bldP spid="99" grpId="2" animBg="1"/>
      <p:bldP spid="99" grpId="3" animBg="1"/>
      <p:bldP spid="100" grpId="0" animBg="1"/>
      <p:bldP spid="100" grpId="1" animBg="1"/>
      <p:bldP spid="100" grpId="2" animBg="1"/>
      <p:bldP spid="100" grpId="3" animBg="1"/>
      <p:bldP spid="101" grpId="0" animBg="1"/>
      <p:bldP spid="101" grpId="1" animBg="1"/>
      <p:bldP spid="101" grpId="2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145088" cy="691277"/>
          </a:xfrm>
        </p:spPr>
        <p:txBody>
          <a:bodyPr/>
          <a:lstStyle/>
          <a:p>
            <a:r>
              <a:rPr lang="en-US" sz="4400" dirty="0"/>
              <a:t>Fast Matrix Transpose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13" name="오른쪽 화살표 4"/>
          <p:cNvSpPr/>
          <p:nvPr/>
        </p:nvSpPr>
        <p:spPr bwMode="auto">
          <a:xfrm>
            <a:off x="4335261" y="3251752"/>
            <a:ext cx="482600" cy="939800"/>
          </a:xfrm>
          <a:prstGeom prst="rightArrow">
            <a:avLst/>
          </a:prstGeom>
          <a:solidFill>
            <a:srgbClr val="3333CC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graphicFrame>
        <p:nvGraphicFramePr>
          <p:cNvPr id="14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7061180"/>
              </p:ext>
            </p:extLst>
          </p:nvPr>
        </p:nvGraphicFramePr>
        <p:xfrm>
          <a:off x="872237" y="1584738"/>
          <a:ext cx="3344068" cy="3759204"/>
        </p:xfrm>
        <a:graphic>
          <a:graphicData uri="http://schemas.openxmlformats.org/drawingml/2006/table">
            <a:tbl>
              <a:tblPr/>
              <a:tblGrid>
                <a:gridCol w="8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a[1]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a[2]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a[3]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a[4]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a[5]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a[6]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a[7]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a[8]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5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883189"/>
              </p:ext>
            </p:extLst>
          </p:nvPr>
        </p:nvGraphicFramePr>
        <p:xfrm>
          <a:off x="4889500" y="1556360"/>
          <a:ext cx="3344068" cy="3759204"/>
        </p:xfrm>
        <a:graphic>
          <a:graphicData uri="http://schemas.openxmlformats.org/drawingml/2006/table">
            <a:tbl>
              <a:tblPr/>
              <a:tblGrid>
                <a:gridCol w="8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a[1]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a[2]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a[3]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a[4]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a[5]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a[6]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a[7]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a[8]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555293"/>
              </p:ext>
            </p:extLst>
          </p:nvPr>
        </p:nvGraphicFramePr>
        <p:xfrm>
          <a:off x="5700353" y="4204252"/>
          <a:ext cx="2527615" cy="365760"/>
        </p:xfrm>
        <a:graphic>
          <a:graphicData uri="http://schemas.openxmlformats.org/drawingml/2006/table">
            <a:tbl>
              <a:tblPr/>
              <a:tblGrid>
                <a:gridCol w="81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827285" y="3074626"/>
            <a:ext cx="2864887" cy="1015663"/>
          </a:xfrm>
          <a:prstGeom prst="rect">
            <a:avLst/>
          </a:prstGeom>
          <a:solidFill>
            <a:srgbClr val="AAE2CA">
              <a:lumMod val="60000"/>
              <a:lumOff val="40000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2 elements in row 0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1 element in row 1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2 elements in row 2</a:t>
            </a:r>
          </a:p>
        </p:txBody>
      </p:sp>
      <p:graphicFrame>
        <p:nvGraphicFramePr>
          <p:cNvPr id="18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993904"/>
              </p:ext>
            </p:extLst>
          </p:nvPr>
        </p:nvGraphicFramePr>
        <p:xfrm>
          <a:off x="5700285" y="2350052"/>
          <a:ext cx="2527615" cy="365760"/>
        </p:xfrm>
        <a:graphic>
          <a:graphicData uri="http://schemas.openxmlformats.org/drawingml/2006/table">
            <a:tbl>
              <a:tblPr/>
              <a:tblGrid>
                <a:gridCol w="81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407649"/>
              </p:ext>
            </p:extLst>
          </p:nvPr>
        </p:nvGraphicFramePr>
        <p:xfrm>
          <a:off x="3312370" y="3039618"/>
          <a:ext cx="2527615" cy="365760"/>
        </p:xfrm>
        <a:graphic>
          <a:graphicData uri="http://schemas.openxmlformats.org/drawingml/2006/table">
            <a:tbl>
              <a:tblPr/>
              <a:tblGrid>
                <a:gridCol w="81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6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7" grpId="0" animBg="1"/>
      <p:bldP spid="17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5383088" cy="691277"/>
          </a:xfrm>
        </p:spPr>
        <p:txBody>
          <a:bodyPr/>
          <a:lstStyle/>
          <a:p>
            <a:r>
              <a:rPr lang="en-US" sz="4000" dirty="0"/>
              <a:t>Fast Matrix Transpose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6183" y="1143000"/>
            <a:ext cx="8167077" cy="5521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void fastTranspose(term a[], term b[])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{</a:t>
            </a:r>
            <a:endParaRPr kumimoji="1" lang="ko-KR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int rowTerms[MAX_COL], startingPos[MAX_COL];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int i,j, numCols = a[0].col, numTerms = a[0].value;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b[0].row = numCols; b[0].col = a[0].row;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b[0].value = numTerms;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if (numTerms &gt; 0) {/* non-zero matrix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" pitchFamily="18" charset="-127"/>
                <a:cs typeface="+mn-cs"/>
              </a:rPr>
              <a:t>*/ </a:t>
            </a:r>
            <a:endParaRPr kumimoji="1" lang="ko-KR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for(i = 0; i &lt; numCols; i++) {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rowTerms[i] = 0;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}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for(i=1; i&lt;=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numTerms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; i++){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rowTerms[a[i].col]++;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}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startingPos[0] = 1;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for(i = 1; i &lt; numCols; i++){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startingPos[i]=startingPos[i-1]+rowTerms[i-1];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바탕체" pitchFamily="17" charset="-127"/>
                <a:cs typeface="+mn-cs"/>
              </a:rPr>
              <a:t>	  	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바탕체" pitchFamily="17" charset="-127"/>
                <a:cs typeface="+mn-cs"/>
              </a:rPr>
              <a:t>}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for(i = 1; i &lt;=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numTerms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; i++) {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 j = startingPos[a[i].col]++;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 b[j].row = a[i].col;  b[j].col = a[i].row;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 b[j].value = a[i].value;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}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          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}</a:t>
            </a:r>
            <a:endParaRPr kumimoji="1" lang="en-US" altLang="ko-KR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} 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urier New" pitchFamily="49" charset="0"/>
              <a:ea typeface="굴림"/>
              <a:cs typeface="Times New Roman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562960" y="6077194"/>
            <a:ext cx="43941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4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 O (columns + elements)</a:t>
            </a:r>
            <a:endParaRPr kumimoji="1" lang="ko-KR" altLang="en-US" sz="2400" dirty="0">
              <a:solidFill>
                <a:srgbClr val="000000"/>
              </a:solidFill>
              <a:latin typeface="Consolas" pitchFamily="49" charset="0"/>
              <a:ea typeface="굴림" pitchFamily="50" charset="-127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70416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graphicFrame>
        <p:nvGraphicFramePr>
          <p:cNvPr id="40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97836"/>
              </p:ext>
            </p:extLst>
          </p:nvPr>
        </p:nvGraphicFramePr>
        <p:xfrm>
          <a:off x="6157138" y="2895600"/>
          <a:ext cx="660400" cy="2237740"/>
        </p:xfrm>
        <a:graphic>
          <a:graphicData uri="http://schemas.openxmlformats.org/drawingml/2006/table">
            <a:tbl>
              <a:tblPr firstRow="1" bandRow="1"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[0]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[3]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[4]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[5]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021349"/>
              </p:ext>
            </p:extLst>
          </p:nvPr>
        </p:nvGraphicFramePr>
        <p:xfrm>
          <a:off x="4108310" y="2908300"/>
          <a:ext cx="660400" cy="2237740"/>
        </p:xfrm>
        <a:graphic>
          <a:graphicData uri="http://schemas.openxmlformats.org/drawingml/2006/table">
            <a:tbl>
              <a:tblPr firstRow="1" bandRow="1"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5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[0]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[3]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[4]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[5]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" name="Group 1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5760039"/>
              </p:ext>
            </p:extLst>
          </p:nvPr>
        </p:nvGraphicFramePr>
        <p:xfrm>
          <a:off x="571286" y="2495486"/>
          <a:ext cx="3344068" cy="3759204"/>
        </p:xfrm>
        <a:graphic>
          <a:graphicData uri="http://schemas.openxmlformats.org/drawingml/2006/table">
            <a:tbl>
              <a:tblPr/>
              <a:tblGrid>
                <a:gridCol w="8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col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HY엽서L" pitchFamily="18" charset="-127"/>
                          <a:cs typeface="Consolas" pitchFamily="49" charset="0"/>
                        </a:rPr>
                        <a:t>value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HY엽서L" pitchFamily="18" charset="-127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a[1]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a[2]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a[3]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a[4]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a[5]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a[6]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a[7]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5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a[8]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돋움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3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346480"/>
              </p:ext>
            </p:extLst>
          </p:nvPr>
        </p:nvGraphicFramePr>
        <p:xfrm>
          <a:off x="4753554" y="2914590"/>
          <a:ext cx="660400" cy="2225040"/>
        </p:xfrm>
        <a:graphic>
          <a:graphicData uri="http://schemas.openxmlformats.org/drawingml/2006/table">
            <a:tbl>
              <a:tblPr firstRow="1" bandRow="1"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4405231" y="2463740"/>
            <a:ext cx="1313180" cy="40011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rowTerms</a:t>
            </a: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graphicFrame>
        <p:nvGraphicFramePr>
          <p:cNvPr id="45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106349"/>
              </p:ext>
            </p:extLst>
          </p:nvPr>
        </p:nvGraphicFramePr>
        <p:xfrm>
          <a:off x="6747454" y="2908300"/>
          <a:ext cx="660400" cy="2225040"/>
        </p:xfrm>
        <a:graphic>
          <a:graphicData uri="http://schemas.openxmlformats.org/drawingml/2006/table">
            <a:tbl>
              <a:tblPr firstRow="1" bandRow="1"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168588" y="2463740"/>
            <a:ext cx="1736374" cy="40011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startingPos</a:t>
            </a: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92107" y="2006600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sz="20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Original matrix</a:t>
            </a:r>
          </a:p>
        </p:txBody>
      </p:sp>
      <p:sp>
        <p:nvSpPr>
          <p:cNvPr id="48" name="직사각형 10"/>
          <p:cNvSpPr/>
          <p:nvPr/>
        </p:nvSpPr>
        <p:spPr>
          <a:xfrm>
            <a:off x="3329482" y="1190534"/>
            <a:ext cx="2700656" cy="108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kumimoji="1" lang="en-US" sz="2000" dirty="0">
                <a:solidFill>
                  <a:srgbClr val="2D2DB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Number of </a:t>
            </a:r>
          </a:p>
          <a:p>
            <a:pPr algn="ctr" eaLnBrk="1" hangingPunct="1">
              <a:lnSpc>
                <a:spcPct val="80000"/>
              </a:lnSpc>
            </a:pPr>
            <a:r>
              <a:rPr kumimoji="1" lang="en-US" sz="2000" dirty="0">
                <a:solidFill>
                  <a:srgbClr val="2D2DB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non-zero elements </a:t>
            </a:r>
          </a:p>
          <a:p>
            <a:pPr algn="ctr" eaLnBrk="1" hangingPunct="1">
              <a:lnSpc>
                <a:spcPct val="80000"/>
              </a:lnSpc>
            </a:pPr>
            <a:r>
              <a:rPr kumimoji="1" lang="en-US" sz="2000" dirty="0">
                <a:solidFill>
                  <a:srgbClr val="2D2DB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in each row of transpose matrix</a:t>
            </a:r>
          </a:p>
        </p:txBody>
      </p:sp>
      <p:cxnSp>
        <p:nvCxnSpPr>
          <p:cNvPr id="49" name="직선 화살표 연결선 15"/>
          <p:cNvCxnSpPr/>
          <p:nvPr/>
        </p:nvCxnSpPr>
        <p:spPr bwMode="auto">
          <a:xfrm>
            <a:off x="4679810" y="2206655"/>
            <a:ext cx="289644" cy="402797"/>
          </a:xfrm>
          <a:prstGeom prst="straightConnector1">
            <a:avLst/>
          </a:prstGeom>
          <a:solidFill>
            <a:srgbClr val="00CC99"/>
          </a:solidFill>
          <a:ln w="9525" cap="flat" cmpd="sng" algn="ctr">
            <a:solidFill>
              <a:srgbClr val="3333CC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직사각형 11"/>
          <p:cNvSpPr/>
          <p:nvPr/>
        </p:nvSpPr>
        <p:spPr>
          <a:xfrm>
            <a:off x="6455354" y="1200089"/>
            <a:ext cx="2438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kumimoji="1" lang="en-US" sz="2000" dirty="0">
                <a:solidFill>
                  <a:srgbClr val="2D2DB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Starting position of </a:t>
            </a:r>
          </a:p>
          <a:p>
            <a:pPr algn="ctr" eaLnBrk="1" hangingPunct="1">
              <a:lnSpc>
                <a:spcPct val="80000"/>
              </a:lnSpc>
            </a:pPr>
            <a:r>
              <a:rPr kumimoji="1" lang="en-US" sz="2000" dirty="0">
                <a:solidFill>
                  <a:srgbClr val="2D2DB9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each row of transpose matrix</a:t>
            </a:r>
          </a:p>
        </p:txBody>
      </p:sp>
      <p:cxnSp>
        <p:nvCxnSpPr>
          <p:cNvPr id="51" name="직선 화살표 연결선 16"/>
          <p:cNvCxnSpPr/>
          <p:nvPr/>
        </p:nvCxnSpPr>
        <p:spPr bwMode="auto">
          <a:xfrm flipH="1">
            <a:off x="7036772" y="2206655"/>
            <a:ext cx="409182" cy="402797"/>
          </a:xfrm>
          <a:prstGeom prst="straightConnector1">
            <a:avLst/>
          </a:prstGeom>
          <a:solidFill>
            <a:srgbClr val="00CC99"/>
          </a:solidFill>
          <a:ln w="9525" cap="flat" cmpd="sng" algn="ctr">
            <a:solidFill>
              <a:srgbClr val="3333CC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4920889" y="2939990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0889" y="4057590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0889" y="4806890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20889" y="3311723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20889" y="3689290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0889" y="4082990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0889" y="2952690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0889" y="3689290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4789" y="2941478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14789" y="3320989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14789" y="3701989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14789" y="4070289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14789" y="4413189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14789" y="4794189"/>
            <a:ext cx="325730" cy="307777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8</a:t>
            </a:r>
          </a:p>
        </p:txBody>
      </p:sp>
      <p:sp>
        <p:nvSpPr>
          <p:cNvPr id="66" name="직사각형 14"/>
          <p:cNvSpPr/>
          <p:nvPr/>
        </p:nvSpPr>
        <p:spPr bwMode="auto">
          <a:xfrm>
            <a:off x="1415262" y="3309321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7" name="직사각형 38"/>
          <p:cNvSpPr/>
          <p:nvPr/>
        </p:nvSpPr>
        <p:spPr bwMode="auto">
          <a:xfrm>
            <a:off x="1436509" y="3689290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8" name="직사각형 39"/>
          <p:cNvSpPr/>
          <p:nvPr/>
        </p:nvSpPr>
        <p:spPr bwMode="auto">
          <a:xfrm>
            <a:off x="1409192" y="4044660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9" name="직사각형 40"/>
          <p:cNvSpPr/>
          <p:nvPr/>
        </p:nvSpPr>
        <p:spPr bwMode="auto">
          <a:xfrm>
            <a:off x="1409192" y="4409757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70" name="직사각형 41"/>
          <p:cNvSpPr/>
          <p:nvPr/>
        </p:nvSpPr>
        <p:spPr bwMode="auto">
          <a:xfrm>
            <a:off x="1421892" y="4792472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71" name="직사각형 42"/>
          <p:cNvSpPr/>
          <p:nvPr/>
        </p:nvSpPr>
        <p:spPr bwMode="auto">
          <a:xfrm>
            <a:off x="1421892" y="5152992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72" name="직사각형 43"/>
          <p:cNvSpPr/>
          <p:nvPr/>
        </p:nvSpPr>
        <p:spPr bwMode="auto">
          <a:xfrm>
            <a:off x="1421892" y="5534697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73" name="직사각형 44"/>
          <p:cNvSpPr/>
          <p:nvPr/>
        </p:nvSpPr>
        <p:spPr bwMode="auto">
          <a:xfrm>
            <a:off x="1436509" y="5873954"/>
            <a:ext cx="2461992" cy="359033"/>
          </a:xfrm>
          <a:prstGeom prst="rect">
            <a:avLst/>
          </a:prstGeom>
          <a:solidFill>
            <a:srgbClr val="FFFF00">
              <a:alpha val="5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endParaRPr kumimoji="1" lang="en-US" sz="20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64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4" descr="program2"/>
          <p:cNvPicPr>
            <a:picLocks noChangeAspect="1" noChangeArrowheads="1"/>
          </p:cNvPicPr>
          <p:nvPr/>
        </p:nvPicPr>
        <p:blipFill>
          <a:blip r:embed="rId2" cstate="print">
            <a:lum bright="-4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9"/>
          <a:stretch>
            <a:fillRect/>
          </a:stretch>
        </p:blipFill>
        <p:spPr bwMode="auto">
          <a:xfrm>
            <a:off x="3348038" y="1557338"/>
            <a:ext cx="5580062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700213"/>
            <a:ext cx="2160587" cy="25812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Text Box 7"/>
          <p:cNvSpPr txBox="1">
            <a:spLocks noChangeArrowheads="1"/>
          </p:cNvSpPr>
          <p:nvPr/>
        </p:nvSpPr>
        <p:spPr bwMode="auto">
          <a:xfrm>
            <a:off x="323850" y="1052513"/>
            <a:ext cx="223202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Matrix A</a:t>
            </a: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        Row Col Value</a:t>
            </a:r>
          </a:p>
        </p:txBody>
      </p:sp>
      <p:sp>
        <p:nvSpPr>
          <p:cNvPr id="102" name="Line 8"/>
          <p:cNvSpPr>
            <a:spLocks noChangeShapeType="1"/>
          </p:cNvSpPr>
          <p:nvPr/>
        </p:nvSpPr>
        <p:spPr bwMode="auto">
          <a:xfrm>
            <a:off x="2843213" y="2420938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03" name="Text Box 9"/>
          <p:cNvSpPr txBox="1">
            <a:spLocks noChangeArrowheads="1"/>
          </p:cNvSpPr>
          <p:nvPr/>
        </p:nvSpPr>
        <p:spPr bwMode="auto">
          <a:xfrm>
            <a:off x="4277083" y="122238"/>
            <a:ext cx="266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[0]   [1]   [2]   [3]   [4]   [5]</a:t>
            </a:r>
          </a:p>
        </p:txBody>
      </p:sp>
      <p:sp>
        <p:nvSpPr>
          <p:cNvPr id="104" name="Text Box 10"/>
          <p:cNvSpPr txBox="1">
            <a:spLocks noChangeArrowheads="1"/>
          </p:cNvSpPr>
          <p:nvPr/>
        </p:nvSpPr>
        <p:spPr bwMode="auto">
          <a:xfrm>
            <a:off x="2980095" y="411163"/>
            <a:ext cx="125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row_terms</a:t>
            </a:r>
          </a:p>
        </p:txBody>
      </p:sp>
      <p:sp>
        <p:nvSpPr>
          <p:cNvPr id="105" name="Rectangle 11"/>
          <p:cNvSpPr>
            <a:spLocks noChangeArrowheads="1"/>
          </p:cNvSpPr>
          <p:nvPr/>
        </p:nvSpPr>
        <p:spPr bwMode="auto">
          <a:xfrm>
            <a:off x="2837220" y="842963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starting_pos</a:t>
            </a: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06" name="Text Box 12"/>
          <p:cNvSpPr txBox="1">
            <a:spLocks noChangeArrowheads="1"/>
          </p:cNvSpPr>
          <p:nvPr/>
        </p:nvSpPr>
        <p:spPr bwMode="auto">
          <a:xfrm>
            <a:off x="7156808" y="482601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07" name="Text Box 13"/>
          <p:cNvSpPr txBox="1">
            <a:spLocks noChangeArrowheads="1"/>
          </p:cNvSpPr>
          <p:nvPr/>
        </p:nvSpPr>
        <p:spPr bwMode="auto">
          <a:xfrm>
            <a:off x="6901220" y="411163"/>
            <a:ext cx="1155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#col = 6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#term = 6</a:t>
            </a:r>
          </a:p>
        </p:txBody>
      </p:sp>
      <p:sp>
        <p:nvSpPr>
          <p:cNvPr id="108" name="Line 14"/>
          <p:cNvSpPr>
            <a:spLocks noChangeShapeType="1"/>
          </p:cNvSpPr>
          <p:nvPr/>
        </p:nvSpPr>
        <p:spPr bwMode="auto">
          <a:xfrm>
            <a:off x="2843213" y="3141663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09" name="Line 15"/>
          <p:cNvSpPr>
            <a:spLocks noChangeShapeType="1"/>
          </p:cNvSpPr>
          <p:nvPr/>
        </p:nvSpPr>
        <p:spPr bwMode="auto">
          <a:xfrm>
            <a:off x="3059113" y="3357563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10" name="Line 16"/>
          <p:cNvSpPr>
            <a:spLocks noChangeShapeType="1"/>
          </p:cNvSpPr>
          <p:nvPr/>
        </p:nvSpPr>
        <p:spPr bwMode="auto">
          <a:xfrm>
            <a:off x="3275013" y="3573463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11" name="Text Box 17"/>
          <p:cNvSpPr txBox="1">
            <a:spLocks noChangeArrowheads="1"/>
          </p:cNvSpPr>
          <p:nvPr/>
        </p:nvSpPr>
        <p:spPr bwMode="auto">
          <a:xfrm>
            <a:off x="4348520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112" name="Text Box 18"/>
          <p:cNvSpPr txBox="1">
            <a:spLocks noChangeArrowheads="1"/>
          </p:cNvSpPr>
          <p:nvPr/>
        </p:nvSpPr>
        <p:spPr bwMode="auto">
          <a:xfrm>
            <a:off x="4780320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113" name="Text Box 19"/>
          <p:cNvSpPr txBox="1">
            <a:spLocks noChangeArrowheads="1"/>
          </p:cNvSpPr>
          <p:nvPr/>
        </p:nvSpPr>
        <p:spPr bwMode="auto">
          <a:xfrm>
            <a:off x="5213708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114" name="Text Box 20"/>
          <p:cNvSpPr txBox="1">
            <a:spLocks noChangeArrowheads="1"/>
          </p:cNvSpPr>
          <p:nvPr/>
        </p:nvSpPr>
        <p:spPr bwMode="auto">
          <a:xfrm>
            <a:off x="5645508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115" name="Text Box 21"/>
          <p:cNvSpPr txBox="1">
            <a:spLocks noChangeArrowheads="1"/>
          </p:cNvSpPr>
          <p:nvPr/>
        </p:nvSpPr>
        <p:spPr bwMode="auto">
          <a:xfrm>
            <a:off x="6148745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116" name="Text Box 22"/>
          <p:cNvSpPr txBox="1">
            <a:spLocks noChangeArrowheads="1"/>
          </p:cNvSpPr>
          <p:nvPr/>
        </p:nvSpPr>
        <p:spPr bwMode="auto">
          <a:xfrm>
            <a:off x="6580545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117" name="Line 23"/>
          <p:cNvSpPr>
            <a:spLocks noChangeShapeType="1"/>
          </p:cNvSpPr>
          <p:nvPr/>
        </p:nvSpPr>
        <p:spPr bwMode="auto">
          <a:xfrm>
            <a:off x="3060700" y="3717925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18" name="Line 24"/>
          <p:cNvSpPr>
            <a:spLocks noChangeShapeType="1"/>
          </p:cNvSpPr>
          <p:nvPr/>
        </p:nvSpPr>
        <p:spPr bwMode="auto">
          <a:xfrm>
            <a:off x="3276600" y="3933825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19" name="Rectangle 25"/>
          <p:cNvSpPr>
            <a:spLocks noChangeArrowheads="1"/>
          </p:cNvSpPr>
          <p:nvPr/>
        </p:nvSpPr>
        <p:spPr bwMode="auto">
          <a:xfrm>
            <a:off x="1476375" y="1916113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0" name="Rectangle 26"/>
          <p:cNvSpPr>
            <a:spLocks noChangeArrowheads="1"/>
          </p:cNvSpPr>
          <p:nvPr/>
        </p:nvSpPr>
        <p:spPr bwMode="auto">
          <a:xfrm>
            <a:off x="1476375" y="2205038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1" name="Rectangle 27"/>
          <p:cNvSpPr>
            <a:spLocks noChangeArrowheads="1"/>
          </p:cNvSpPr>
          <p:nvPr/>
        </p:nvSpPr>
        <p:spPr bwMode="auto">
          <a:xfrm>
            <a:off x="1476375" y="2492375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2" name="Rectangle 28"/>
          <p:cNvSpPr>
            <a:spLocks noChangeArrowheads="1"/>
          </p:cNvSpPr>
          <p:nvPr/>
        </p:nvSpPr>
        <p:spPr bwMode="auto">
          <a:xfrm>
            <a:off x="1476375" y="2781300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3" name="Rectangle 29"/>
          <p:cNvSpPr>
            <a:spLocks noChangeArrowheads="1"/>
          </p:cNvSpPr>
          <p:nvPr/>
        </p:nvSpPr>
        <p:spPr bwMode="auto">
          <a:xfrm>
            <a:off x="1476375" y="3068638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4" name="Rectangle 30"/>
          <p:cNvSpPr>
            <a:spLocks noChangeArrowheads="1"/>
          </p:cNvSpPr>
          <p:nvPr/>
        </p:nvSpPr>
        <p:spPr bwMode="auto">
          <a:xfrm>
            <a:off x="1476375" y="3357563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5" name="Rectangle 31"/>
          <p:cNvSpPr>
            <a:spLocks noChangeArrowheads="1"/>
          </p:cNvSpPr>
          <p:nvPr/>
        </p:nvSpPr>
        <p:spPr bwMode="auto">
          <a:xfrm>
            <a:off x="1476375" y="3644900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6" name="Rectangle 32"/>
          <p:cNvSpPr>
            <a:spLocks noChangeArrowheads="1"/>
          </p:cNvSpPr>
          <p:nvPr/>
        </p:nvSpPr>
        <p:spPr bwMode="auto">
          <a:xfrm>
            <a:off x="1476375" y="3933825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27" name="Text Box 33"/>
          <p:cNvSpPr txBox="1">
            <a:spLocks noChangeArrowheads="1"/>
          </p:cNvSpPr>
          <p:nvPr/>
        </p:nvSpPr>
        <p:spPr bwMode="auto">
          <a:xfrm>
            <a:off x="4348520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128" name="Text Box 34"/>
          <p:cNvSpPr txBox="1">
            <a:spLocks noChangeArrowheads="1"/>
          </p:cNvSpPr>
          <p:nvPr/>
        </p:nvSpPr>
        <p:spPr bwMode="auto">
          <a:xfrm>
            <a:off x="5645508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129" name="Text Box 35"/>
          <p:cNvSpPr txBox="1">
            <a:spLocks noChangeArrowheads="1"/>
          </p:cNvSpPr>
          <p:nvPr/>
        </p:nvSpPr>
        <p:spPr bwMode="auto">
          <a:xfrm>
            <a:off x="6580545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130" name="Text Box 36"/>
          <p:cNvSpPr txBox="1">
            <a:spLocks noChangeArrowheads="1"/>
          </p:cNvSpPr>
          <p:nvPr/>
        </p:nvSpPr>
        <p:spPr bwMode="auto">
          <a:xfrm>
            <a:off x="4780320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131" name="Text Box 37"/>
          <p:cNvSpPr txBox="1">
            <a:spLocks noChangeArrowheads="1"/>
          </p:cNvSpPr>
          <p:nvPr/>
        </p:nvSpPr>
        <p:spPr bwMode="auto">
          <a:xfrm>
            <a:off x="5213708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132" name="Text Box 38"/>
          <p:cNvSpPr txBox="1">
            <a:spLocks noChangeArrowheads="1"/>
          </p:cNvSpPr>
          <p:nvPr/>
        </p:nvSpPr>
        <p:spPr bwMode="auto">
          <a:xfrm>
            <a:off x="5645508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2</a:t>
            </a:r>
          </a:p>
        </p:txBody>
      </p:sp>
      <p:sp>
        <p:nvSpPr>
          <p:cNvPr id="133" name="Text Box 39"/>
          <p:cNvSpPr txBox="1">
            <a:spLocks noChangeArrowheads="1"/>
          </p:cNvSpPr>
          <p:nvPr/>
        </p:nvSpPr>
        <p:spPr bwMode="auto">
          <a:xfrm>
            <a:off x="4348520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2</a:t>
            </a:r>
          </a:p>
        </p:txBody>
      </p:sp>
      <p:sp>
        <p:nvSpPr>
          <p:cNvPr id="134" name="Text Box 40"/>
          <p:cNvSpPr txBox="1">
            <a:spLocks noChangeArrowheads="1"/>
          </p:cNvSpPr>
          <p:nvPr/>
        </p:nvSpPr>
        <p:spPr bwMode="auto">
          <a:xfrm>
            <a:off x="5213708" y="4111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2</a:t>
            </a:r>
          </a:p>
        </p:txBody>
      </p:sp>
      <p:sp>
        <p:nvSpPr>
          <p:cNvPr id="135" name="Line 41"/>
          <p:cNvSpPr>
            <a:spLocks noChangeShapeType="1"/>
          </p:cNvSpPr>
          <p:nvPr/>
        </p:nvSpPr>
        <p:spPr bwMode="auto">
          <a:xfrm>
            <a:off x="3276600" y="4149725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36" name="Text Box 42"/>
          <p:cNvSpPr txBox="1">
            <a:spLocks noChangeArrowheads="1"/>
          </p:cNvSpPr>
          <p:nvPr/>
        </p:nvSpPr>
        <p:spPr bwMode="auto">
          <a:xfrm>
            <a:off x="4348520" y="8429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137" name="Line 43"/>
          <p:cNvSpPr>
            <a:spLocks noChangeShapeType="1"/>
          </p:cNvSpPr>
          <p:nvPr/>
        </p:nvSpPr>
        <p:spPr bwMode="auto">
          <a:xfrm>
            <a:off x="3060700" y="4292600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38" name="Line 44"/>
          <p:cNvSpPr>
            <a:spLocks noChangeShapeType="1"/>
          </p:cNvSpPr>
          <p:nvPr/>
        </p:nvSpPr>
        <p:spPr bwMode="auto">
          <a:xfrm>
            <a:off x="3276600" y="4508500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kumimoji="1" lang="en-US">
              <a:solidFill>
                <a:srgbClr val="EAEAEA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139" name="Text Box 45"/>
          <p:cNvSpPr txBox="1">
            <a:spLocks noChangeArrowheads="1"/>
          </p:cNvSpPr>
          <p:nvPr/>
        </p:nvSpPr>
        <p:spPr bwMode="auto">
          <a:xfrm>
            <a:off x="4780320" y="8429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3</a:t>
            </a:r>
          </a:p>
        </p:txBody>
      </p:sp>
      <p:sp>
        <p:nvSpPr>
          <p:cNvPr id="140" name="Text Box 46"/>
          <p:cNvSpPr txBox="1">
            <a:spLocks noChangeArrowheads="1"/>
          </p:cNvSpPr>
          <p:nvPr/>
        </p:nvSpPr>
        <p:spPr bwMode="auto">
          <a:xfrm>
            <a:off x="5213708" y="8429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4</a:t>
            </a:r>
          </a:p>
        </p:txBody>
      </p:sp>
      <p:sp>
        <p:nvSpPr>
          <p:cNvPr id="141" name="Text Box 47"/>
          <p:cNvSpPr txBox="1">
            <a:spLocks noChangeArrowheads="1"/>
          </p:cNvSpPr>
          <p:nvPr/>
        </p:nvSpPr>
        <p:spPr bwMode="auto">
          <a:xfrm>
            <a:off x="5645508" y="84296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6</a:t>
            </a:r>
          </a:p>
        </p:txBody>
      </p:sp>
      <p:sp>
        <p:nvSpPr>
          <p:cNvPr id="142" name="Text Box 48"/>
          <p:cNvSpPr txBox="1">
            <a:spLocks noChangeArrowheads="1"/>
          </p:cNvSpPr>
          <p:nvPr/>
        </p:nvSpPr>
        <p:spPr bwMode="auto">
          <a:xfrm>
            <a:off x="6148745" y="8366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8</a:t>
            </a:r>
          </a:p>
        </p:txBody>
      </p:sp>
      <p:sp>
        <p:nvSpPr>
          <p:cNvPr id="143" name="Text Box 49"/>
          <p:cNvSpPr txBox="1">
            <a:spLocks noChangeArrowheads="1"/>
          </p:cNvSpPr>
          <p:nvPr/>
        </p:nvSpPr>
        <p:spPr bwMode="auto">
          <a:xfrm>
            <a:off x="6580545" y="8366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新細明體" pitchFamily="18" charset="-12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912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3" grpId="0"/>
      <p:bldP spid="104" grpId="0"/>
      <p:bldP spid="105" grpId="0"/>
      <p:bldP spid="107" grpId="0"/>
      <p:bldP spid="111" grpId="0"/>
      <p:bldP spid="111" grpId="1"/>
      <p:bldP spid="112" grpId="0"/>
      <p:bldP spid="112" grpId="1"/>
      <p:bldP spid="113" grpId="0"/>
      <p:bldP spid="113" grpId="1"/>
      <p:bldP spid="114" grpId="0"/>
      <p:bldP spid="114" grpId="1"/>
      <p:bldP spid="115" grpId="0"/>
      <p:bldP spid="116" grpId="0"/>
      <p:bldP spid="116" grpId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/>
      <p:bldP spid="127" grpId="1"/>
      <p:bldP spid="128" grpId="0"/>
      <p:bldP spid="128" grpId="1"/>
      <p:bldP spid="129" grpId="0"/>
      <p:bldP spid="130" grpId="0"/>
      <p:bldP spid="131" grpId="0"/>
      <p:bldP spid="131" grpId="1"/>
      <p:bldP spid="132" grpId="0"/>
      <p:bldP spid="133" grpId="0"/>
      <p:bldP spid="134" grpId="0"/>
      <p:bldP spid="136" grpId="0"/>
      <p:bldP spid="139" grpId="0"/>
      <p:bldP spid="140" grpId="0"/>
      <p:bldP spid="141" grpId="0"/>
      <p:bldP spid="142" grpId="0"/>
      <p:bldP spid="14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4" descr="program2"/>
          <p:cNvPicPr>
            <a:picLocks noChangeAspect="1" noChangeArrowheads="1"/>
          </p:cNvPicPr>
          <p:nvPr/>
        </p:nvPicPr>
        <p:blipFill>
          <a:blip r:embed="rId2" cstate="print">
            <a:lum bright="-4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9"/>
          <a:stretch>
            <a:fillRect/>
          </a:stretch>
        </p:blipFill>
        <p:spPr bwMode="auto">
          <a:xfrm>
            <a:off x="3203575" y="1484313"/>
            <a:ext cx="5761038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3059113" y="2205038"/>
            <a:ext cx="360362" cy="2447925"/>
            <a:chOff x="1927" y="1389"/>
            <a:chExt cx="227" cy="1542"/>
          </a:xfrm>
        </p:grpSpPr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927" y="1389"/>
              <a:ext cx="22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927" y="1389"/>
              <a:ext cx="0" cy="154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927" y="2931"/>
              <a:ext cx="22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863600" y="3844925"/>
            <a:ext cx="210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chemeClr val="tx2"/>
                </a:solidFill>
              </a:rPr>
              <a:t>Row Col Value 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916238" y="4868863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059113" y="5084763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22287" y="4454525"/>
            <a:ext cx="183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1     0      0     15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22287" y="4167188"/>
            <a:ext cx="170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0     6      6     8</a:t>
            </a:r>
          </a:p>
        </p:txBody>
      </p:sp>
      <p:sp>
        <p:nvSpPr>
          <p:cNvPr id="16" name="Rectangle 22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1    3    4    6    8   8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6135688" y="4270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2    3    4    6    8   8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2    3    4    7    8   8</a:t>
            </a: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522287" y="5676900"/>
            <a:ext cx="183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6     3      0     22</a:t>
            </a:r>
          </a:p>
        </p:txBody>
      </p:sp>
      <p:sp>
        <p:nvSpPr>
          <p:cNvPr id="21" name="Rectangle 28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2    3    4    7    8   9</a:t>
            </a:r>
          </a:p>
        </p:txBody>
      </p:sp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522287" y="6186488"/>
            <a:ext cx="191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8     5      0     -15</a:t>
            </a:r>
          </a:p>
        </p:txBody>
      </p:sp>
      <p:sp>
        <p:nvSpPr>
          <p:cNvPr id="23" name="Rectangle 31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2    4    4    7    8   9</a:t>
            </a:r>
          </a:p>
        </p:txBody>
      </p:sp>
      <p:sp>
        <p:nvSpPr>
          <p:cNvPr id="24" name="Text Box 32"/>
          <p:cNvSpPr txBox="1">
            <a:spLocks noChangeArrowheads="1"/>
          </p:cNvSpPr>
          <p:nvPr/>
        </p:nvSpPr>
        <p:spPr bwMode="auto">
          <a:xfrm>
            <a:off x="522287" y="4960938"/>
            <a:ext cx="183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3     1      1     11</a:t>
            </a:r>
          </a:p>
        </p:txBody>
      </p:sp>
      <p:sp>
        <p:nvSpPr>
          <p:cNvPr id="25" name="Rectangle 34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2    4    5    7    8   9</a:t>
            </a:r>
          </a:p>
        </p:txBody>
      </p:sp>
      <p:sp>
        <p:nvSpPr>
          <p:cNvPr id="26" name="Text Box 35"/>
          <p:cNvSpPr txBox="1">
            <a:spLocks noChangeArrowheads="1"/>
          </p:cNvSpPr>
          <p:nvPr/>
        </p:nvSpPr>
        <p:spPr bwMode="auto">
          <a:xfrm>
            <a:off x="522287" y="5194300"/>
            <a:ext cx="170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4     2      1     3</a:t>
            </a:r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auto">
          <a:xfrm>
            <a:off x="522287" y="5934075"/>
            <a:ext cx="178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7     3      2     -6</a:t>
            </a:r>
          </a:p>
        </p:txBody>
      </p: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2    4    5    8    8   9</a:t>
            </a:r>
          </a:p>
        </p:txBody>
      </p:sp>
      <p:sp>
        <p:nvSpPr>
          <p:cNvPr id="29" name="Rectangle 40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row_terms   =  2    1    2    2    0   1</a:t>
            </a:r>
            <a:b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starting_pos =  3    4    5    8    8   9</a:t>
            </a: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522287" y="4710113"/>
            <a:ext cx="183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2     0      4     91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522287" y="5438775"/>
            <a:ext cx="183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5     2      5     28</a:t>
            </a:r>
          </a:p>
        </p:txBody>
      </p:sp>
      <p:sp>
        <p:nvSpPr>
          <p:cNvPr id="32" name="Rectangle 43"/>
          <p:cNvSpPr>
            <a:spLocks noChangeArrowheads="1"/>
          </p:cNvSpPr>
          <p:nvPr/>
        </p:nvSpPr>
        <p:spPr bwMode="auto">
          <a:xfrm>
            <a:off x="3851275" y="0"/>
            <a:ext cx="4897438" cy="143986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 dirty="0">
                <a:solidFill>
                  <a:schemeClr val="tx2"/>
                </a:solidFill>
                <a:latin typeface="Comic Sans MS" panose="030F0702030302020204" pitchFamily="66" charset="0"/>
              </a:rPr>
              <a:t>                       [0] [1] [2] [3] [4] [5]</a:t>
            </a:r>
            <a:br>
              <a:rPr lang="en-US" altLang="zh-TW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r>
              <a:rPr lang="en-US" altLang="zh-TW" dirty="0" err="1">
                <a:solidFill>
                  <a:schemeClr val="tx2"/>
                </a:solidFill>
                <a:latin typeface="Comic Sans MS" panose="030F0702030302020204" pitchFamily="66" charset="0"/>
              </a:rPr>
              <a:t>row_terms</a:t>
            </a:r>
            <a:r>
              <a:rPr lang="en-US" altLang="zh-TW" dirty="0">
                <a:solidFill>
                  <a:schemeClr val="tx2"/>
                </a:solidFill>
                <a:latin typeface="Comic Sans MS" panose="030F0702030302020204" pitchFamily="66" charset="0"/>
              </a:rPr>
              <a:t>   =  2    1    2    2    0   1</a:t>
            </a:r>
            <a:br>
              <a:rPr lang="en-US" altLang="zh-TW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r>
              <a:rPr lang="en-US" altLang="zh-TW" dirty="0" err="1">
                <a:solidFill>
                  <a:schemeClr val="tx2"/>
                </a:solidFill>
                <a:latin typeface="Comic Sans MS" panose="030F0702030302020204" pitchFamily="66" charset="0"/>
              </a:rPr>
              <a:t>starting_pos</a:t>
            </a:r>
            <a:r>
              <a:rPr lang="en-US" altLang="zh-TW" dirty="0">
                <a:solidFill>
                  <a:schemeClr val="tx2"/>
                </a:solidFill>
                <a:latin typeface="Comic Sans MS" panose="030F0702030302020204" pitchFamily="66" charset="0"/>
              </a:rPr>
              <a:t> =  3    4    6    8    8   9</a:t>
            </a:r>
          </a:p>
        </p:txBody>
      </p:sp>
      <p:pic>
        <p:nvPicPr>
          <p:cNvPr id="33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339850"/>
            <a:ext cx="2160588" cy="25812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 Box 46"/>
          <p:cNvSpPr txBox="1">
            <a:spLocks noChangeArrowheads="1"/>
          </p:cNvSpPr>
          <p:nvPr/>
        </p:nvSpPr>
        <p:spPr bwMode="auto">
          <a:xfrm>
            <a:off x="179388" y="692150"/>
            <a:ext cx="22320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000" dirty="0">
                <a:solidFill>
                  <a:schemeClr val="tx2"/>
                </a:solidFill>
              </a:rPr>
              <a:t>Matrix A</a:t>
            </a:r>
            <a:r>
              <a:rPr lang="en-US" altLang="zh-TW" dirty="0">
                <a:solidFill>
                  <a:schemeClr val="tx2"/>
                </a:solidFill>
              </a:rPr>
              <a:t> </a:t>
            </a:r>
          </a:p>
          <a:p>
            <a:pPr eaLnBrk="1" hangingPunct="1"/>
            <a:r>
              <a:rPr lang="en-US" altLang="zh-TW" dirty="0">
                <a:solidFill>
                  <a:schemeClr val="tx2"/>
                </a:solidFill>
              </a:rPr>
              <a:t>        Row Col Value</a:t>
            </a:r>
          </a:p>
        </p:txBody>
      </p:sp>
      <p:sp>
        <p:nvSpPr>
          <p:cNvPr id="35" name="Line 47"/>
          <p:cNvSpPr>
            <a:spLocks noChangeShapeType="1"/>
          </p:cNvSpPr>
          <p:nvPr/>
        </p:nvSpPr>
        <p:spPr bwMode="auto">
          <a:xfrm>
            <a:off x="3132138" y="5300663"/>
            <a:ext cx="72072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48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 = 1 </a:t>
            </a:r>
          </a:p>
        </p:txBody>
      </p:sp>
      <p:sp>
        <p:nvSpPr>
          <p:cNvPr id="37" name="Rectangle 49"/>
          <p:cNvSpPr>
            <a:spLocks noChangeArrowheads="1"/>
          </p:cNvSpPr>
          <p:nvPr/>
        </p:nvSpPr>
        <p:spPr bwMode="auto">
          <a:xfrm>
            <a:off x="1331913" y="1557338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8" name="Rectangle 50"/>
          <p:cNvSpPr>
            <a:spLocks noChangeArrowheads="1"/>
          </p:cNvSpPr>
          <p:nvPr/>
        </p:nvSpPr>
        <p:spPr bwMode="auto">
          <a:xfrm>
            <a:off x="1331913" y="1846263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9" name="Rectangle 51"/>
          <p:cNvSpPr>
            <a:spLocks noChangeArrowheads="1"/>
          </p:cNvSpPr>
          <p:nvPr/>
        </p:nvSpPr>
        <p:spPr bwMode="auto">
          <a:xfrm>
            <a:off x="1331913" y="2133600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0" name="Rectangle 52"/>
          <p:cNvSpPr>
            <a:spLocks noChangeArrowheads="1"/>
          </p:cNvSpPr>
          <p:nvPr/>
        </p:nvSpPr>
        <p:spPr bwMode="auto">
          <a:xfrm>
            <a:off x="1331913" y="2422525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" name="Rectangle 53"/>
          <p:cNvSpPr>
            <a:spLocks noChangeArrowheads="1"/>
          </p:cNvSpPr>
          <p:nvPr/>
        </p:nvSpPr>
        <p:spPr bwMode="auto">
          <a:xfrm>
            <a:off x="1331913" y="2709863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2" name="Rectangle 54"/>
          <p:cNvSpPr>
            <a:spLocks noChangeArrowheads="1"/>
          </p:cNvSpPr>
          <p:nvPr/>
        </p:nvSpPr>
        <p:spPr bwMode="auto">
          <a:xfrm>
            <a:off x="1331913" y="2998788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3" name="Rectangle 55"/>
          <p:cNvSpPr>
            <a:spLocks noChangeArrowheads="1"/>
          </p:cNvSpPr>
          <p:nvPr/>
        </p:nvSpPr>
        <p:spPr bwMode="auto">
          <a:xfrm>
            <a:off x="1331913" y="3286125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4" name="Rectangle 56"/>
          <p:cNvSpPr>
            <a:spLocks noChangeArrowheads="1"/>
          </p:cNvSpPr>
          <p:nvPr/>
        </p:nvSpPr>
        <p:spPr bwMode="auto">
          <a:xfrm>
            <a:off x="1331913" y="3575050"/>
            <a:ext cx="431800" cy="288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5" name="Rectangle 57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 = 2 </a:t>
            </a:r>
          </a:p>
        </p:txBody>
      </p:sp>
      <p:sp>
        <p:nvSpPr>
          <p:cNvPr id="46" name="Rectangle 58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 = 3 </a:t>
            </a:r>
          </a:p>
        </p:txBody>
      </p:sp>
      <p:sp>
        <p:nvSpPr>
          <p:cNvPr id="47" name="Rectangle 59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 = 4 </a:t>
            </a:r>
          </a:p>
        </p:txBody>
      </p:sp>
      <p:sp>
        <p:nvSpPr>
          <p:cNvPr id="48" name="Rectangle 60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 = 5 </a:t>
            </a:r>
          </a:p>
        </p:txBody>
      </p:sp>
      <p:sp>
        <p:nvSpPr>
          <p:cNvPr id="49" name="Rectangle 61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 = 6 </a:t>
            </a:r>
          </a:p>
        </p:txBody>
      </p:sp>
      <p:sp>
        <p:nvSpPr>
          <p:cNvPr id="50" name="Rectangle 62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I = 7 </a:t>
            </a:r>
          </a:p>
        </p:txBody>
      </p:sp>
      <p:sp>
        <p:nvSpPr>
          <p:cNvPr id="51" name="Rectangle 63"/>
          <p:cNvSpPr>
            <a:spLocks noChangeArrowheads="1"/>
          </p:cNvSpPr>
          <p:nvPr/>
        </p:nvSpPr>
        <p:spPr bwMode="auto">
          <a:xfrm>
            <a:off x="395288" y="188913"/>
            <a:ext cx="2520950" cy="431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chemeClr val="tx2"/>
                </a:solidFill>
                <a:latin typeface="Comic Sans MS" panose="030F0702030302020204" pitchFamily="66" charset="0"/>
              </a:rPr>
              <a:t>I = 8 </a:t>
            </a:r>
          </a:p>
        </p:txBody>
      </p:sp>
      <p:sp>
        <p:nvSpPr>
          <p:cNvPr id="52" name="Rectangle 64"/>
          <p:cNvSpPr>
            <a:spLocks noChangeArrowheads="1"/>
          </p:cNvSpPr>
          <p:nvPr/>
        </p:nvSpPr>
        <p:spPr bwMode="auto">
          <a:xfrm>
            <a:off x="450850" y="4205288"/>
            <a:ext cx="1944687" cy="23050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>
              <a:solidFill>
                <a:schemeClr val="tx2"/>
              </a:solidFill>
            </a:endParaRPr>
          </a:p>
        </p:txBody>
      </p:sp>
      <p:sp>
        <p:nvSpPr>
          <p:cNvPr id="53" name="Line 65"/>
          <p:cNvSpPr>
            <a:spLocks noChangeShapeType="1"/>
          </p:cNvSpPr>
          <p:nvPr/>
        </p:nvSpPr>
        <p:spPr bwMode="auto">
          <a:xfrm>
            <a:off x="450850" y="4498975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4" name="Line 66"/>
          <p:cNvSpPr>
            <a:spLocks noChangeShapeType="1"/>
          </p:cNvSpPr>
          <p:nvPr/>
        </p:nvSpPr>
        <p:spPr bwMode="auto">
          <a:xfrm>
            <a:off x="450850" y="4781550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5" name="Line 67"/>
          <p:cNvSpPr>
            <a:spLocks noChangeShapeType="1"/>
          </p:cNvSpPr>
          <p:nvPr/>
        </p:nvSpPr>
        <p:spPr bwMode="auto">
          <a:xfrm>
            <a:off x="450850" y="5016500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6" name="Line 68"/>
          <p:cNvSpPr>
            <a:spLocks noChangeShapeType="1"/>
          </p:cNvSpPr>
          <p:nvPr/>
        </p:nvSpPr>
        <p:spPr bwMode="auto">
          <a:xfrm>
            <a:off x="450850" y="5265738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7" name="Line 69"/>
          <p:cNvSpPr>
            <a:spLocks noChangeShapeType="1"/>
          </p:cNvSpPr>
          <p:nvPr/>
        </p:nvSpPr>
        <p:spPr bwMode="auto">
          <a:xfrm>
            <a:off x="450850" y="5502275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8" name="Line 70"/>
          <p:cNvSpPr>
            <a:spLocks noChangeShapeType="1"/>
          </p:cNvSpPr>
          <p:nvPr/>
        </p:nvSpPr>
        <p:spPr bwMode="auto">
          <a:xfrm>
            <a:off x="450850" y="5746750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9" name="Line 71"/>
          <p:cNvSpPr>
            <a:spLocks noChangeShapeType="1"/>
          </p:cNvSpPr>
          <p:nvPr/>
        </p:nvSpPr>
        <p:spPr bwMode="auto">
          <a:xfrm>
            <a:off x="450850" y="6005513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60" name="Line 72"/>
          <p:cNvSpPr>
            <a:spLocks noChangeShapeType="1"/>
          </p:cNvSpPr>
          <p:nvPr/>
        </p:nvSpPr>
        <p:spPr bwMode="auto">
          <a:xfrm>
            <a:off x="450850" y="6249988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61" name="Line 73"/>
          <p:cNvSpPr>
            <a:spLocks noChangeShapeType="1"/>
          </p:cNvSpPr>
          <p:nvPr/>
        </p:nvSpPr>
        <p:spPr bwMode="auto">
          <a:xfrm>
            <a:off x="882650" y="4205288"/>
            <a:ext cx="0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52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8" grpId="0" animBg="1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4" grpId="0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143001"/>
            <a:ext cx="8496300" cy="5223926"/>
          </a:xfrm>
        </p:spPr>
        <p:txBody>
          <a:bodyPr/>
          <a:lstStyle/>
          <a:p>
            <a:r>
              <a:rPr lang="en-US" dirty="0"/>
              <a:t>What is a STRING ?</a:t>
            </a:r>
          </a:p>
          <a:p>
            <a:pPr lvl="1"/>
            <a:r>
              <a:rPr lang="en-US" dirty="0"/>
              <a:t>It is nothing but an </a:t>
            </a:r>
            <a:r>
              <a:rPr lang="en-US" dirty="0">
                <a:solidFill>
                  <a:srgbClr val="FF0000"/>
                </a:solidFill>
              </a:rPr>
              <a:t>ARRAY</a:t>
            </a:r>
            <a:r>
              <a:rPr lang="en-US" dirty="0"/>
              <a:t> on Characters.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String Declaration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Method 1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>
                <a:solidFill>
                  <a:schemeClr val="tx2"/>
                </a:solidFill>
              </a:rPr>
              <a:t>Method 2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325688" cy="691277"/>
          </a:xfrm>
        </p:spPr>
        <p:txBody>
          <a:bodyPr/>
          <a:lstStyle/>
          <a:p>
            <a:r>
              <a:rPr lang="en-US" sz="4400" dirty="0"/>
              <a:t>String ADT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80" y="2743200"/>
            <a:ext cx="4821382" cy="457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038600"/>
            <a:ext cx="2362200" cy="339397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066800" y="5096986"/>
            <a:ext cx="7315200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426"/>
                </a:solidFill>
                <a:effectLst/>
                <a:latin typeface="PT Sans"/>
              </a:rPr>
              <a:t>'\0' represents the end of the string. It is also referred as String terminator &amp; Null Character.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84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097088" cy="691277"/>
          </a:xfrm>
        </p:spPr>
        <p:txBody>
          <a:bodyPr/>
          <a:lstStyle/>
          <a:p>
            <a:r>
              <a:rPr lang="en-US" sz="4000" dirty="0"/>
              <a:t>String ADTs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88410" y="1026212"/>
            <a:ext cx="8167077" cy="5521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>
                <a:solidFill>
                  <a:srgbClr val="2D2DB9"/>
                </a:solidFill>
                <a:ea typeface="굴림"/>
              </a:rPr>
              <a:t>C String functions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strcat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dest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, 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src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)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strncat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dest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, 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src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,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int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n)</a:t>
            </a:r>
          </a:p>
          <a:p>
            <a:pPr lvl="1"/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int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strcmp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*str1, char *str2)</a:t>
            </a:r>
          </a:p>
          <a:p>
            <a:pPr lvl="1"/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int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strncmp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*str1, char *str2,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int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n)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strcpy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dest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, 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src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)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strncpy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dest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, 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src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,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int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n)</a:t>
            </a:r>
          </a:p>
          <a:p>
            <a:pPr lvl="1"/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size_t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strlen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*s)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strchr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*s,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int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c)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strtok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*s, char *delimiters )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strstr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*s, char *pat)</a:t>
            </a:r>
          </a:p>
          <a:p>
            <a:pPr lvl="1"/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size_t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strspn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*s, 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spanset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)</a:t>
            </a:r>
          </a:p>
          <a:p>
            <a:pPr lvl="1"/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size_t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 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strcspn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*s, 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spanset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)</a:t>
            </a:r>
          </a:p>
          <a:p>
            <a:pPr lvl="1"/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strpbrk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(char *s, char *</a:t>
            </a:r>
            <a:r>
              <a:rPr lang="en-US" altLang="ko-KR" b="1" kern="0" dirty="0" err="1">
                <a:solidFill>
                  <a:srgbClr val="000000"/>
                </a:solidFill>
                <a:latin typeface="Courier New" pitchFamily="49" charset="0"/>
                <a:ea typeface="굴림"/>
              </a:rPr>
              <a:t>spanset</a:t>
            </a:r>
            <a:r>
              <a:rPr lang="en-US" altLang="ko-KR" b="1" kern="0" dirty="0">
                <a:solidFill>
                  <a:srgbClr val="000000"/>
                </a:solidFill>
                <a:latin typeface="Courier New" pitchFamily="49" charset="0"/>
                <a:ea typeface="굴림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67982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219201"/>
            <a:ext cx="8496300" cy="5147726"/>
          </a:xfrm>
        </p:spPr>
        <p:txBody>
          <a:bodyPr/>
          <a:lstStyle/>
          <a:p>
            <a:r>
              <a:rPr lang="en-US" dirty="0"/>
              <a:t>read() and write() operation using String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325688" cy="691277"/>
          </a:xfrm>
        </p:spPr>
        <p:txBody>
          <a:bodyPr/>
          <a:lstStyle/>
          <a:p>
            <a:r>
              <a:rPr lang="en-US" sz="4400" dirty="0"/>
              <a:t>String ADTs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606" y="1600199"/>
            <a:ext cx="5632593" cy="492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237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 string function - </a:t>
            </a:r>
            <a:r>
              <a:rPr lang="en-US" dirty="0" err="1"/>
              <a:t>strcmp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ADTs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81200"/>
            <a:ext cx="4701084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245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ADTs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295401"/>
            <a:ext cx="8496300" cy="5071526"/>
          </a:xfrm>
        </p:spPr>
        <p:txBody>
          <a:bodyPr/>
          <a:lstStyle/>
          <a:p>
            <a:r>
              <a:rPr lang="en-US" dirty="0"/>
              <a:t>C string function - </a:t>
            </a:r>
            <a:r>
              <a:rPr lang="en-US" dirty="0" err="1"/>
              <a:t>strnmp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9" y="1752600"/>
            <a:ext cx="547320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421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7723" y="241245"/>
            <a:ext cx="4617197" cy="691277"/>
          </a:xfrm>
        </p:spPr>
        <p:txBody>
          <a:bodyPr/>
          <a:lstStyle/>
          <a:p>
            <a:r>
              <a:rPr lang="en-US" sz="4400" dirty="0"/>
              <a:t>String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920957" y="1066800"/>
            <a:ext cx="3764172" cy="2308324"/>
          </a:xfrm>
          <a:prstGeom prst="rect">
            <a:avLst/>
          </a:prstGeom>
          <a:solidFill>
            <a:srgbClr val="00CC99">
              <a:lumMod val="20000"/>
              <a:lumOff val="80000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void main()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  char s[MAX_SIZE]=“</a:t>
            </a:r>
            <a:r>
              <a:rPr kumimoji="1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amobile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”;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  char t[MAX_SIZE]=“</a:t>
            </a:r>
            <a:r>
              <a:rPr kumimoji="1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uto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”;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  </a:t>
            </a:r>
            <a:r>
              <a:rPr kumimoji="1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stringins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(s,t,1);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  </a:t>
            </a:r>
            <a:r>
              <a:rPr kumimoji="1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printf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(“%s\n”, s);</a:t>
            </a:r>
            <a:b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</a:b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  return;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134" name="직사각형 4"/>
          <p:cNvSpPr/>
          <p:nvPr/>
        </p:nvSpPr>
        <p:spPr>
          <a:xfrm>
            <a:off x="4072637" y="3204492"/>
            <a:ext cx="5147563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char string[MAX_SIZE], *temp=string;</a:t>
            </a:r>
          </a:p>
        </p:txBody>
      </p:sp>
      <p:grpSp>
        <p:nvGrpSpPr>
          <p:cNvPr id="135" name="Group 106"/>
          <p:cNvGrpSpPr>
            <a:grpSpLocks/>
          </p:cNvGrpSpPr>
          <p:nvPr/>
        </p:nvGrpSpPr>
        <p:grpSpPr bwMode="auto">
          <a:xfrm>
            <a:off x="1496569" y="1362992"/>
            <a:ext cx="4648201" cy="437541"/>
            <a:chOff x="1152" y="754"/>
            <a:chExt cx="2928" cy="341"/>
          </a:xfrm>
        </p:grpSpPr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1152" y="754"/>
              <a:ext cx="2928" cy="3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37" name="Line 5"/>
            <p:cNvSpPr>
              <a:spLocks noChangeShapeType="1"/>
            </p:cNvSpPr>
            <p:nvPr/>
          </p:nvSpPr>
          <p:spPr bwMode="auto">
            <a:xfrm>
              <a:off x="1536" y="75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38" name="Line 6"/>
            <p:cNvSpPr>
              <a:spLocks noChangeShapeType="1"/>
            </p:cNvSpPr>
            <p:nvPr/>
          </p:nvSpPr>
          <p:spPr bwMode="auto">
            <a:xfrm>
              <a:off x="1896" y="75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39" name="Line 7"/>
            <p:cNvSpPr>
              <a:spLocks noChangeShapeType="1"/>
            </p:cNvSpPr>
            <p:nvPr/>
          </p:nvSpPr>
          <p:spPr bwMode="auto">
            <a:xfrm>
              <a:off x="2256" y="75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40" name="Line 8"/>
            <p:cNvSpPr>
              <a:spLocks noChangeShapeType="1"/>
            </p:cNvSpPr>
            <p:nvPr/>
          </p:nvSpPr>
          <p:spPr bwMode="auto">
            <a:xfrm>
              <a:off x="2616" y="75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41" name="Line 9"/>
            <p:cNvSpPr>
              <a:spLocks noChangeShapeType="1"/>
            </p:cNvSpPr>
            <p:nvPr/>
          </p:nvSpPr>
          <p:spPr bwMode="auto">
            <a:xfrm>
              <a:off x="2976" y="75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42" name="Line 10"/>
            <p:cNvSpPr>
              <a:spLocks noChangeShapeType="1"/>
            </p:cNvSpPr>
            <p:nvPr/>
          </p:nvSpPr>
          <p:spPr bwMode="auto">
            <a:xfrm>
              <a:off x="3336" y="75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43" name="Line 11"/>
            <p:cNvSpPr>
              <a:spLocks noChangeShapeType="1"/>
            </p:cNvSpPr>
            <p:nvPr/>
          </p:nvSpPr>
          <p:spPr bwMode="auto">
            <a:xfrm>
              <a:off x="3696" y="75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44" name="Text Box 12"/>
            <p:cNvSpPr txBox="1">
              <a:spLocks noChangeArrowheads="1"/>
            </p:cNvSpPr>
            <p:nvPr/>
          </p:nvSpPr>
          <p:spPr bwMode="auto">
            <a:xfrm>
              <a:off x="1244" y="807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a</a:t>
              </a:r>
            </a:p>
          </p:txBody>
        </p:sp>
        <p:sp>
          <p:nvSpPr>
            <p:cNvPr id="145" name="Text Box 13"/>
            <p:cNvSpPr txBox="1">
              <a:spLocks noChangeArrowheads="1"/>
            </p:cNvSpPr>
            <p:nvPr/>
          </p:nvSpPr>
          <p:spPr bwMode="auto">
            <a:xfrm>
              <a:off x="1607" y="807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m</a:t>
              </a:r>
            </a:p>
          </p:txBody>
        </p:sp>
        <p:sp>
          <p:nvSpPr>
            <p:cNvPr id="146" name="Text Box 14"/>
            <p:cNvSpPr txBox="1">
              <a:spLocks noChangeArrowheads="1"/>
            </p:cNvSpPr>
            <p:nvPr/>
          </p:nvSpPr>
          <p:spPr bwMode="auto">
            <a:xfrm>
              <a:off x="1943" y="807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o</a:t>
              </a:r>
            </a:p>
          </p:txBody>
        </p:sp>
        <p:sp>
          <p:nvSpPr>
            <p:cNvPr id="147" name="Text Box 15"/>
            <p:cNvSpPr txBox="1">
              <a:spLocks noChangeArrowheads="1"/>
            </p:cNvSpPr>
            <p:nvPr/>
          </p:nvSpPr>
          <p:spPr bwMode="auto">
            <a:xfrm>
              <a:off x="2350" y="807"/>
              <a:ext cx="201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b</a:t>
              </a:r>
            </a:p>
          </p:txBody>
        </p:sp>
        <p:sp>
          <p:nvSpPr>
            <p:cNvPr id="148" name="Text Box 16"/>
            <p:cNvSpPr txBox="1">
              <a:spLocks noChangeArrowheads="1"/>
            </p:cNvSpPr>
            <p:nvPr/>
          </p:nvSpPr>
          <p:spPr bwMode="auto">
            <a:xfrm>
              <a:off x="2669" y="807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i</a:t>
              </a:r>
            </a:p>
          </p:txBody>
        </p:sp>
        <p:sp>
          <p:nvSpPr>
            <p:cNvPr id="149" name="Text Box 17"/>
            <p:cNvSpPr txBox="1">
              <a:spLocks noChangeArrowheads="1"/>
            </p:cNvSpPr>
            <p:nvPr/>
          </p:nvSpPr>
          <p:spPr bwMode="auto">
            <a:xfrm>
              <a:off x="3040" y="807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l</a:t>
              </a:r>
            </a:p>
          </p:txBody>
        </p:sp>
        <p:sp>
          <p:nvSpPr>
            <p:cNvPr id="150" name="Text Box 18"/>
            <p:cNvSpPr txBox="1">
              <a:spLocks noChangeArrowheads="1"/>
            </p:cNvSpPr>
            <p:nvPr/>
          </p:nvSpPr>
          <p:spPr bwMode="auto">
            <a:xfrm>
              <a:off x="3405" y="807"/>
              <a:ext cx="195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e</a:t>
              </a:r>
            </a:p>
          </p:txBody>
        </p:sp>
        <p:sp>
          <p:nvSpPr>
            <p:cNvPr id="151" name="Text Box 19"/>
            <p:cNvSpPr txBox="1">
              <a:spLocks noChangeArrowheads="1"/>
            </p:cNvSpPr>
            <p:nvPr/>
          </p:nvSpPr>
          <p:spPr bwMode="auto">
            <a:xfrm>
              <a:off x="3743" y="807"/>
              <a:ext cx="283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\0</a:t>
              </a:r>
            </a:p>
          </p:txBody>
        </p:sp>
      </p:grpSp>
      <p:grpSp>
        <p:nvGrpSpPr>
          <p:cNvPr id="152" name="Group 107"/>
          <p:cNvGrpSpPr>
            <a:grpSpLocks/>
          </p:cNvGrpSpPr>
          <p:nvPr/>
        </p:nvGrpSpPr>
        <p:grpSpPr bwMode="auto">
          <a:xfrm>
            <a:off x="1512443" y="1926554"/>
            <a:ext cx="2312988" cy="437541"/>
            <a:chOff x="1162" y="1253"/>
            <a:chExt cx="1457" cy="341"/>
          </a:xfrm>
        </p:grpSpPr>
        <p:sp>
          <p:nvSpPr>
            <p:cNvPr id="153" name="Rectangle 20"/>
            <p:cNvSpPr>
              <a:spLocks noChangeArrowheads="1"/>
            </p:cNvSpPr>
            <p:nvPr/>
          </p:nvSpPr>
          <p:spPr bwMode="auto">
            <a:xfrm>
              <a:off x="1162" y="1253"/>
              <a:ext cx="1446" cy="3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54" name="Line 21"/>
            <p:cNvSpPr>
              <a:spLocks noChangeShapeType="1"/>
            </p:cNvSpPr>
            <p:nvPr/>
          </p:nvSpPr>
          <p:spPr bwMode="auto">
            <a:xfrm>
              <a:off x="1546" y="1253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55" name="Line 22"/>
            <p:cNvSpPr>
              <a:spLocks noChangeShapeType="1"/>
            </p:cNvSpPr>
            <p:nvPr/>
          </p:nvSpPr>
          <p:spPr bwMode="auto">
            <a:xfrm>
              <a:off x="1906" y="125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56" name="Line 23"/>
            <p:cNvSpPr>
              <a:spLocks noChangeShapeType="1"/>
            </p:cNvSpPr>
            <p:nvPr/>
          </p:nvSpPr>
          <p:spPr bwMode="auto">
            <a:xfrm>
              <a:off x="2266" y="125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57" name="Text Box 28"/>
            <p:cNvSpPr txBox="1">
              <a:spLocks noChangeArrowheads="1"/>
            </p:cNvSpPr>
            <p:nvPr/>
          </p:nvSpPr>
          <p:spPr bwMode="auto">
            <a:xfrm>
              <a:off x="1254" y="1306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u</a:t>
              </a:r>
            </a:p>
          </p:txBody>
        </p:sp>
        <p:sp>
          <p:nvSpPr>
            <p:cNvPr id="158" name="Text Box 29"/>
            <p:cNvSpPr txBox="1">
              <a:spLocks noChangeArrowheads="1"/>
            </p:cNvSpPr>
            <p:nvPr/>
          </p:nvSpPr>
          <p:spPr bwMode="auto">
            <a:xfrm>
              <a:off x="1616" y="1306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t</a:t>
              </a:r>
            </a:p>
          </p:txBody>
        </p:sp>
        <p:sp>
          <p:nvSpPr>
            <p:cNvPr id="159" name="Text Box 30"/>
            <p:cNvSpPr txBox="1">
              <a:spLocks noChangeArrowheads="1"/>
            </p:cNvSpPr>
            <p:nvPr/>
          </p:nvSpPr>
          <p:spPr bwMode="auto">
            <a:xfrm>
              <a:off x="1953" y="1306"/>
              <a:ext cx="1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o</a:t>
              </a:r>
            </a:p>
          </p:txBody>
        </p:sp>
        <p:sp>
          <p:nvSpPr>
            <p:cNvPr id="160" name="Text Box 37"/>
            <p:cNvSpPr txBox="1">
              <a:spLocks noChangeArrowheads="1"/>
            </p:cNvSpPr>
            <p:nvPr/>
          </p:nvSpPr>
          <p:spPr bwMode="auto">
            <a:xfrm>
              <a:off x="2336" y="1306"/>
              <a:ext cx="283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\0</a:t>
              </a:r>
            </a:p>
          </p:txBody>
        </p:sp>
      </p:grpSp>
      <p:sp>
        <p:nvSpPr>
          <p:cNvPr id="161" name="Text Box 38"/>
          <p:cNvSpPr txBox="1">
            <a:spLocks noChangeArrowheads="1"/>
          </p:cNvSpPr>
          <p:nvPr/>
        </p:nvSpPr>
        <p:spPr bwMode="auto">
          <a:xfrm>
            <a:off x="613842" y="1458242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s</a:t>
            </a:r>
          </a:p>
        </p:txBody>
      </p:sp>
      <p:sp>
        <p:nvSpPr>
          <p:cNvPr id="162" name="Text Box 39"/>
          <p:cNvSpPr txBox="1">
            <a:spLocks noChangeArrowheads="1"/>
          </p:cNvSpPr>
          <p:nvPr/>
        </p:nvSpPr>
        <p:spPr bwMode="auto">
          <a:xfrm>
            <a:off x="624954" y="2007517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t</a:t>
            </a:r>
          </a:p>
        </p:txBody>
      </p:sp>
      <p:sp>
        <p:nvSpPr>
          <p:cNvPr id="163" name="Text Box 48"/>
          <p:cNvSpPr txBox="1">
            <a:spLocks noChangeArrowheads="1"/>
          </p:cNvSpPr>
          <p:nvPr/>
        </p:nvSpPr>
        <p:spPr bwMode="auto">
          <a:xfrm>
            <a:off x="351981" y="2852067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temp</a:t>
            </a:r>
          </a:p>
        </p:txBody>
      </p:sp>
      <p:grpSp>
        <p:nvGrpSpPr>
          <p:cNvPr id="164" name="Group 108"/>
          <p:cNvGrpSpPr>
            <a:grpSpLocks/>
          </p:cNvGrpSpPr>
          <p:nvPr/>
        </p:nvGrpSpPr>
        <p:grpSpPr bwMode="auto">
          <a:xfrm>
            <a:off x="1541018" y="2775867"/>
            <a:ext cx="6586538" cy="428625"/>
            <a:chOff x="1180" y="2004"/>
            <a:chExt cx="4149" cy="368"/>
          </a:xfrm>
        </p:grpSpPr>
        <p:sp>
          <p:nvSpPr>
            <p:cNvPr id="165" name="Rectangle 40"/>
            <p:cNvSpPr>
              <a:spLocks noChangeArrowheads="1"/>
            </p:cNvSpPr>
            <p:nvPr/>
          </p:nvSpPr>
          <p:spPr bwMode="auto">
            <a:xfrm>
              <a:off x="1180" y="2004"/>
              <a:ext cx="4149" cy="3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66" name="Line 41"/>
            <p:cNvSpPr>
              <a:spLocks noChangeShapeType="1"/>
            </p:cNvSpPr>
            <p:nvPr/>
          </p:nvSpPr>
          <p:spPr bwMode="auto">
            <a:xfrm>
              <a:off x="1564" y="200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67" name="Line 42"/>
            <p:cNvSpPr>
              <a:spLocks noChangeShapeType="1"/>
            </p:cNvSpPr>
            <p:nvPr/>
          </p:nvSpPr>
          <p:spPr bwMode="auto">
            <a:xfrm>
              <a:off x="1924" y="200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68" name="Line 43"/>
            <p:cNvSpPr>
              <a:spLocks noChangeShapeType="1"/>
            </p:cNvSpPr>
            <p:nvPr/>
          </p:nvSpPr>
          <p:spPr bwMode="auto">
            <a:xfrm>
              <a:off x="2284" y="200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69" name="Text Box 47"/>
            <p:cNvSpPr txBox="1">
              <a:spLocks noChangeArrowheads="1"/>
            </p:cNvSpPr>
            <p:nvPr/>
          </p:nvSpPr>
          <p:spPr bwMode="auto">
            <a:xfrm>
              <a:off x="1247" y="2057"/>
              <a:ext cx="283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\0</a:t>
              </a:r>
            </a:p>
          </p:txBody>
        </p:sp>
        <p:sp>
          <p:nvSpPr>
            <p:cNvPr id="170" name="Line 49"/>
            <p:cNvSpPr>
              <a:spLocks noChangeShapeType="1"/>
            </p:cNvSpPr>
            <p:nvPr/>
          </p:nvSpPr>
          <p:spPr bwMode="auto">
            <a:xfrm>
              <a:off x="2653" y="200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71" name="Line 50"/>
            <p:cNvSpPr>
              <a:spLocks noChangeShapeType="1"/>
            </p:cNvSpPr>
            <p:nvPr/>
          </p:nvSpPr>
          <p:spPr bwMode="auto">
            <a:xfrm>
              <a:off x="3016" y="200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72" name="Line 51"/>
            <p:cNvSpPr>
              <a:spLocks noChangeShapeType="1"/>
            </p:cNvSpPr>
            <p:nvPr/>
          </p:nvSpPr>
          <p:spPr bwMode="auto">
            <a:xfrm>
              <a:off x="3387" y="200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173" name="Line 52"/>
          <p:cNvSpPr>
            <a:spLocks noChangeShapeType="1"/>
          </p:cNvSpPr>
          <p:nvPr/>
        </p:nvSpPr>
        <p:spPr bwMode="auto">
          <a:xfrm>
            <a:off x="999681" y="1674142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74" name="Line 53"/>
          <p:cNvSpPr>
            <a:spLocks noChangeShapeType="1"/>
          </p:cNvSpPr>
          <p:nvPr/>
        </p:nvSpPr>
        <p:spPr bwMode="auto">
          <a:xfrm>
            <a:off x="999681" y="2226592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75" name="Line 54"/>
          <p:cNvSpPr>
            <a:spLocks noChangeShapeType="1"/>
          </p:cNvSpPr>
          <p:nvPr/>
        </p:nvSpPr>
        <p:spPr bwMode="auto">
          <a:xfrm>
            <a:off x="999681" y="2998117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76" name="Text Box 60"/>
          <p:cNvSpPr txBox="1">
            <a:spLocks noChangeArrowheads="1"/>
          </p:cNvSpPr>
          <p:nvPr/>
        </p:nvSpPr>
        <p:spPr bwMode="auto">
          <a:xfrm>
            <a:off x="351981" y="3690267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temp</a:t>
            </a:r>
          </a:p>
        </p:txBody>
      </p:sp>
      <p:sp>
        <p:nvSpPr>
          <p:cNvPr id="177" name="Line 64"/>
          <p:cNvSpPr>
            <a:spLocks noChangeShapeType="1"/>
          </p:cNvSpPr>
          <p:nvPr/>
        </p:nvSpPr>
        <p:spPr bwMode="auto">
          <a:xfrm>
            <a:off x="999681" y="3836317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grpSp>
        <p:nvGrpSpPr>
          <p:cNvPr id="178" name="Group 109"/>
          <p:cNvGrpSpPr>
            <a:grpSpLocks/>
          </p:cNvGrpSpPr>
          <p:nvPr/>
        </p:nvGrpSpPr>
        <p:grpSpPr bwMode="auto">
          <a:xfrm>
            <a:off x="1541018" y="3614067"/>
            <a:ext cx="6586538" cy="463550"/>
            <a:chOff x="1202" y="2594"/>
            <a:chExt cx="4149" cy="337"/>
          </a:xfrm>
        </p:grpSpPr>
        <p:sp>
          <p:nvSpPr>
            <p:cNvPr id="179" name="Rectangle 55"/>
            <p:cNvSpPr>
              <a:spLocks noChangeArrowheads="1"/>
            </p:cNvSpPr>
            <p:nvPr/>
          </p:nvSpPr>
          <p:spPr bwMode="auto">
            <a:xfrm>
              <a:off x="1202" y="2594"/>
              <a:ext cx="4149" cy="3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80" name="Line 56"/>
            <p:cNvSpPr>
              <a:spLocks noChangeShapeType="1"/>
            </p:cNvSpPr>
            <p:nvPr/>
          </p:nvSpPr>
          <p:spPr bwMode="auto">
            <a:xfrm>
              <a:off x="1586" y="259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81" name="Line 57"/>
            <p:cNvSpPr>
              <a:spLocks noChangeShapeType="1"/>
            </p:cNvSpPr>
            <p:nvPr/>
          </p:nvSpPr>
          <p:spPr bwMode="auto">
            <a:xfrm>
              <a:off x="1946" y="259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82" name="Line 58"/>
            <p:cNvSpPr>
              <a:spLocks noChangeShapeType="1"/>
            </p:cNvSpPr>
            <p:nvPr/>
          </p:nvSpPr>
          <p:spPr bwMode="auto">
            <a:xfrm>
              <a:off x="2306" y="259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83" name="Text Box 59"/>
            <p:cNvSpPr txBox="1">
              <a:spLocks noChangeArrowheads="1"/>
            </p:cNvSpPr>
            <p:nvPr/>
          </p:nvSpPr>
          <p:spPr bwMode="auto">
            <a:xfrm>
              <a:off x="1312" y="2647"/>
              <a:ext cx="19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a</a:t>
              </a:r>
            </a:p>
          </p:txBody>
        </p:sp>
        <p:sp>
          <p:nvSpPr>
            <p:cNvPr id="184" name="Line 61"/>
            <p:cNvSpPr>
              <a:spLocks noChangeShapeType="1"/>
            </p:cNvSpPr>
            <p:nvPr/>
          </p:nvSpPr>
          <p:spPr bwMode="auto">
            <a:xfrm>
              <a:off x="2675" y="259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85" name="Line 62"/>
            <p:cNvSpPr>
              <a:spLocks noChangeShapeType="1"/>
            </p:cNvSpPr>
            <p:nvPr/>
          </p:nvSpPr>
          <p:spPr bwMode="auto">
            <a:xfrm>
              <a:off x="3038" y="259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86" name="Line 63"/>
            <p:cNvSpPr>
              <a:spLocks noChangeShapeType="1"/>
            </p:cNvSpPr>
            <p:nvPr/>
          </p:nvSpPr>
          <p:spPr bwMode="auto">
            <a:xfrm>
              <a:off x="3409" y="2595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87" name="Text Box 65"/>
            <p:cNvSpPr txBox="1">
              <a:spLocks noChangeArrowheads="1"/>
            </p:cNvSpPr>
            <p:nvPr/>
          </p:nvSpPr>
          <p:spPr bwMode="auto">
            <a:xfrm>
              <a:off x="1610" y="2639"/>
              <a:ext cx="283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\0</a:t>
              </a:r>
            </a:p>
          </p:txBody>
        </p:sp>
      </p:grpSp>
      <p:sp>
        <p:nvSpPr>
          <p:cNvPr id="188" name="Text Box 71"/>
          <p:cNvSpPr txBox="1">
            <a:spLocks noChangeArrowheads="1"/>
          </p:cNvSpPr>
          <p:nvPr/>
        </p:nvSpPr>
        <p:spPr bwMode="auto">
          <a:xfrm>
            <a:off x="386906" y="4580855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temp</a:t>
            </a:r>
          </a:p>
        </p:txBody>
      </p:sp>
      <p:sp>
        <p:nvSpPr>
          <p:cNvPr id="189" name="Line 75"/>
          <p:cNvSpPr>
            <a:spLocks noChangeShapeType="1"/>
          </p:cNvSpPr>
          <p:nvPr/>
        </p:nvSpPr>
        <p:spPr bwMode="auto">
          <a:xfrm>
            <a:off x="1034606" y="4726905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grpSp>
        <p:nvGrpSpPr>
          <p:cNvPr id="190" name="Group 110"/>
          <p:cNvGrpSpPr>
            <a:grpSpLocks/>
          </p:cNvGrpSpPr>
          <p:nvPr/>
        </p:nvGrpSpPr>
        <p:grpSpPr bwMode="auto">
          <a:xfrm>
            <a:off x="1575943" y="4504656"/>
            <a:ext cx="6586538" cy="430942"/>
            <a:chOff x="1202" y="3093"/>
            <a:chExt cx="4149" cy="372"/>
          </a:xfrm>
        </p:grpSpPr>
        <p:sp>
          <p:nvSpPr>
            <p:cNvPr id="191" name="Rectangle 66"/>
            <p:cNvSpPr>
              <a:spLocks noChangeArrowheads="1"/>
            </p:cNvSpPr>
            <p:nvPr/>
          </p:nvSpPr>
          <p:spPr bwMode="auto">
            <a:xfrm>
              <a:off x="1202" y="3093"/>
              <a:ext cx="4149" cy="3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92" name="Line 67"/>
            <p:cNvSpPr>
              <a:spLocks noChangeShapeType="1"/>
            </p:cNvSpPr>
            <p:nvPr/>
          </p:nvSpPr>
          <p:spPr bwMode="auto">
            <a:xfrm>
              <a:off x="1586" y="3093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93" name="Line 68"/>
            <p:cNvSpPr>
              <a:spLocks noChangeShapeType="1"/>
            </p:cNvSpPr>
            <p:nvPr/>
          </p:nvSpPr>
          <p:spPr bwMode="auto">
            <a:xfrm>
              <a:off x="1946" y="3093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94" name="Line 69"/>
            <p:cNvSpPr>
              <a:spLocks noChangeShapeType="1"/>
            </p:cNvSpPr>
            <p:nvPr/>
          </p:nvSpPr>
          <p:spPr bwMode="auto">
            <a:xfrm>
              <a:off x="2306" y="3093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95" name="Text Box 70"/>
            <p:cNvSpPr txBox="1">
              <a:spLocks noChangeArrowheads="1"/>
            </p:cNvSpPr>
            <p:nvPr/>
          </p:nvSpPr>
          <p:spPr bwMode="auto">
            <a:xfrm>
              <a:off x="1312" y="3146"/>
              <a:ext cx="19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a</a:t>
              </a:r>
            </a:p>
          </p:txBody>
        </p:sp>
        <p:sp>
          <p:nvSpPr>
            <p:cNvPr id="196" name="Line 72"/>
            <p:cNvSpPr>
              <a:spLocks noChangeShapeType="1"/>
            </p:cNvSpPr>
            <p:nvPr/>
          </p:nvSpPr>
          <p:spPr bwMode="auto">
            <a:xfrm>
              <a:off x="2675" y="309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97" name="Line 73"/>
            <p:cNvSpPr>
              <a:spLocks noChangeShapeType="1"/>
            </p:cNvSpPr>
            <p:nvPr/>
          </p:nvSpPr>
          <p:spPr bwMode="auto">
            <a:xfrm>
              <a:off x="3038" y="309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98" name="Line 74"/>
            <p:cNvSpPr>
              <a:spLocks noChangeShapeType="1"/>
            </p:cNvSpPr>
            <p:nvPr/>
          </p:nvSpPr>
          <p:spPr bwMode="auto">
            <a:xfrm>
              <a:off x="3409" y="309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99" name="Text Box 76"/>
            <p:cNvSpPr txBox="1">
              <a:spLocks noChangeArrowheads="1"/>
            </p:cNvSpPr>
            <p:nvPr/>
          </p:nvSpPr>
          <p:spPr bwMode="auto">
            <a:xfrm>
              <a:off x="1653" y="3138"/>
              <a:ext cx="19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u</a:t>
              </a:r>
            </a:p>
          </p:txBody>
        </p:sp>
        <p:sp>
          <p:nvSpPr>
            <p:cNvPr id="200" name="Text Box 77"/>
            <p:cNvSpPr txBox="1">
              <a:spLocks noChangeArrowheads="1"/>
            </p:cNvSpPr>
            <p:nvPr/>
          </p:nvSpPr>
          <p:spPr bwMode="auto">
            <a:xfrm>
              <a:off x="2015" y="3138"/>
              <a:ext cx="19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t</a:t>
              </a:r>
            </a:p>
          </p:txBody>
        </p:sp>
        <p:sp>
          <p:nvSpPr>
            <p:cNvPr id="201" name="Text Box 78"/>
            <p:cNvSpPr txBox="1">
              <a:spLocks noChangeArrowheads="1"/>
            </p:cNvSpPr>
            <p:nvPr/>
          </p:nvSpPr>
          <p:spPr bwMode="auto">
            <a:xfrm>
              <a:off x="2379" y="3138"/>
              <a:ext cx="19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o</a:t>
              </a:r>
            </a:p>
          </p:txBody>
        </p:sp>
        <p:sp>
          <p:nvSpPr>
            <p:cNvPr id="202" name="Text Box 79"/>
            <p:cNvSpPr txBox="1">
              <a:spLocks noChangeArrowheads="1"/>
            </p:cNvSpPr>
            <p:nvPr/>
          </p:nvSpPr>
          <p:spPr bwMode="auto">
            <a:xfrm>
              <a:off x="2699" y="3138"/>
              <a:ext cx="283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\0</a:t>
              </a:r>
            </a:p>
          </p:txBody>
        </p:sp>
      </p:grpSp>
      <p:sp>
        <p:nvSpPr>
          <p:cNvPr id="203" name="Text Box 85"/>
          <p:cNvSpPr txBox="1">
            <a:spLocks noChangeArrowheads="1"/>
          </p:cNvSpPr>
          <p:nvPr/>
        </p:nvSpPr>
        <p:spPr bwMode="auto">
          <a:xfrm>
            <a:off x="386906" y="5446042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temp</a:t>
            </a:r>
          </a:p>
        </p:txBody>
      </p:sp>
      <p:sp>
        <p:nvSpPr>
          <p:cNvPr id="204" name="Line 89"/>
          <p:cNvSpPr>
            <a:spLocks noChangeShapeType="1"/>
          </p:cNvSpPr>
          <p:nvPr/>
        </p:nvSpPr>
        <p:spPr bwMode="auto">
          <a:xfrm>
            <a:off x="1034606" y="5592092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grpSp>
        <p:nvGrpSpPr>
          <p:cNvPr id="205" name="Group 111"/>
          <p:cNvGrpSpPr>
            <a:grpSpLocks/>
          </p:cNvGrpSpPr>
          <p:nvPr/>
        </p:nvGrpSpPr>
        <p:grpSpPr bwMode="auto">
          <a:xfrm>
            <a:off x="1575943" y="5369837"/>
            <a:ext cx="6586538" cy="430954"/>
            <a:chOff x="1202" y="3637"/>
            <a:chExt cx="4149" cy="370"/>
          </a:xfrm>
        </p:grpSpPr>
        <p:sp>
          <p:nvSpPr>
            <p:cNvPr id="206" name="Rectangle 80"/>
            <p:cNvSpPr>
              <a:spLocks noChangeArrowheads="1"/>
            </p:cNvSpPr>
            <p:nvPr/>
          </p:nvSpPr>
          <p:spPr bwMode="auto">
            <a:xfrm>
              <a:off x="1202" y="3637"/>
              <a:ext cx="4149" cy="3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07" name="Line 81"/>
            <p:cNvSpPr>
              <a:spLocks noChangeShapeType="1"/>
            </p:cNvSpPr>
            <p:nvPr/>
          </p:nvSpPr>
          <p:spPr bwMode="auto">
            <a:xfrm>
              <a:off x="158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08" name="Line 82"/>
            <p:cNvSpPr>
              <a:spLocks noChangeShapeType="1"/>
            </p:cNvSpPr>
            <p:nvPr/>
          </p:nvSpPr>
          <p:spPr bwMode="auto">
            <a:xfrm>
              <a:off x="194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09" name="Line 83"/>
            <p:cNvSpPr>
              <a:spLocks noChangeShapeType="1"/>
            </p:cNvSpPr>
            <p:nvPr/>
          </p:nvSpPr>
          <p:spPr bwMode="auto">
            <a:xfrm>
              <a:off x="230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10" name="Text Box 84"/>
            <p:cNvSpPr txBox="1">
              <a:spLocks noChangeArrowheads="1"/>
            </p:cNvSpPr>
            <p:nvPr/>
          </p:nvSpPr>
          <p:spPr bwMode="auto">
            <a:xfrm>
              <a:off x="1312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a</a:t>
              </a:r>
            </a:p>
          </p:txBody>
        </p:sp>
        <p:sp>
          <p:nvSpPr>
            <p:cNvPr id="211" name="Line 86"/>
            <p:cNvSpPr>
              <a:spLocks noChangeShapeType="1"/>
            </p:cNvSpPr>
            <p:nvPr/>
          </p:nvSpPr>
          <p:spPr bwMode="auto">
            <a:xfrm>
              <a:off x="2675" y="363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12" name="Line 87"/>
            <p:cNvSpPr>
              <a:spLocks noChangeShapeType="1"/>
            </p:cNvSpPr>
            <p:nvPr/>
          </p:nvSpPr>
          <p:spPr bwMode="auto">
            <a:xfrm>
              <a:off x="3038" y="363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13" name="Line 88"/>
            <p:cNvSpPr>
              <a:spLocks noChangeShapeType="1"/>
            </p:cNvSpPr>
            <p:nvPr/>
          </p:nvSpPr>
          <p:spPr bwMode="auto">
            <a:xfrm>
              <a:off x="3409" y="363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14" name="Text Box 90"/>
            <p:cNvSpPr txBox="1">
              <a:spLocks noChangeArrowheads="1"/>
            </p:cNvSpPr>
            <p:nvPr/>
          </p:nvSpPr>
          <p:spPr bwMode="auto">
            <a:xfrm>
              <a:off x="1653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u</a:t>
              </a:r>
            </a:p>
          </p:txBody>
        </p:sp>
        <p:sp>
          <p:nvSpPr>
            <p:cNvPr id="215" name="Text Box 91"/>
            <p:cNvSpPr txBox="1">
              <a:spLocks noChangeArrowheads="1"/>
            </p:cNvSpPr>
            <p:nvPr/>
          </p:nvSpPr>
          <p:spPr bwMode="auto">
            <a:xfrm>
              <a:off x="2015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t</a:t>
              </a:r>
            </a:p>
          </p:txBody>
        </p:sp>
        <p:sp>
          <p:nvSpPr>
            <p:cNvPr id="216" name="Text Box 92"/>
            <p:cNvSpPr txBox="1">
              <a:spLocks noChangeArrowheads="1"/>
            </p:cNvSpPr>
            <p:nvPr/>
          </p:nvSpPr>
          <p:spPr bwMode="auto">
            <a:xfrm>
              <a:off x="2379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o</a:t>
              </a:r>
            </a:p>
          </p:txBody>
        </p:sp>
        <p:sp>
          <p:nvSpPr>
            <p:cNvPr id="217" name="Text Box 93"/>
            <p:cNvSpPr txBox="1">
              <a:spLocks noChangeArrowheads="1"/>
            </p:cNvSpPr>
            <p:nvPr/>
          </p:nvSpPr>
          <p:spPr bwMode="auto">
            <a:xfrm>
              <a:off x="2742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m</a:t>
              </a:r>
            </a:p>
          </p:txBody>
        </p:sp>
        <p:sp>
          <p:nvSpPr>
            <p:cNvPr id="218" name="Text Box 94"/>
            <p:cNvSpPr txBox="1">
              <a:spLocks noChangeArrowheads="1"/>
            </p:cNvSpPr>
            <p:nvPr/>
          </p:nvSpPr>
          <p:spPr bwMode="auto">
            <a:xfrm>
              <a:off x="3123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o</a:t>
              </a:r>
            </a:p>
          </p:txBody>
        </p:sp>
        <p:sp>
          <p:nvSpPr>
            <p:cNvPr id="219" name="Line 95"/>
            <p:cNvSpPr>
              <a:spLocks noChangeShapeType="1"/>
            </p:cNvSpPr>
            <p:nvPr/>
          </p:nvSpPr>
          <p:spPr bwMode="auto">
            <a:xfrm>
              <a:off x="3787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20" name="Line 96"/>
            <p:cNvSpPr>
              <a:spLocks noChangeShapeType="1"/>
            </p:cNvSpPr>
            <p:nvPr/>
          </p:nvSpPr>
          <p:spPr bwMode="auto">
            <a:xfrm>
              <a:off x="4150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21" name="Line 97"/>
            <p:cNvSpPr>
              <a:spLocks noChangeShapeType="1"/>
            </p:cNvSpPr>
            <p:nvPr/>
          </p:nvSpPr>
          <p:spPr bwMode="auto">
            <a:xfrm>
              <a:off x="4513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22" name="Line 98"/>
            <p:cNvSpPr>
              <a:spLocks noChangeShapeType="1"/>
            </p:cNvSpPr>
            <p:nvPr/>
          </p:nvSpPr>
          <p:spPr bwMode="auto">
            <a:xfrm>
              <a:off x="487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23" name="Text Box 99"/>
            <p:cNvSpPr txBox="1">
              <a:spLocks noChangeArrowheads="1"/>
            </p:cNvSpPr>
            <p:nvPr/>
          </p:nvSpPr>
          <p:spPr bwMode="auto">
            <a:xfrm>
              <a:off x="3511" y="3690"/>
              <a:ext cx="201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b</a:t>
              </a:r>
            </a:p>
          </p:txBody>
        </p:sp>
        <p:sp>
          <p:nvSpPr>
            <p:cNvPr id="224" name="Text Box 100"/>
            <p:cNvSpPr txBox="1">
              <a:spLocks noChangeArrowheads="1"/>
            </p:cNvSpPr>
            <p:nvPr/>
          </p:nvSpPr>
          <p:spPr bwMode="auto">
            <a:xfrm>
              <a:off x="3880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i</a:t>
              </a:r>
            </a:p>
          </p:txBody>
        </p:sp>
        <p:sp>
          <p:nvSpPr>
            <p:cNvPr id="225" name="Text Box 101"/>
            <p:cNvSpPr txBox="1">
              <a:spLocks noChangeArrowheads="1"/>
            </p:cNvSpPr>
            <p:nvPr/>
          </p:nvSpPr>
          <p:spPr bwMode="auto">
            <a:xfrm>
              <a:off x="4220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l</a:t>
              </a:r>
            </a:p>
          </p:txBody>
        </p:sp>
        <p:sp>
          <p:nvSpPr>
            <p:cNvPr id="226" name="Text Box 102"/>
            <p:cNvSpPr txBox="1">
              <a:spLocks noChangeArrowheads="1"/>
            </p:cNvSpPr>
            <p:nvPr/>
          </p:nvSpPr>
          <p:spPr bwMode="auto">
            <a:xfrm>
              <a:off x="4584" y="3690"/>
              <a:ext cx="19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e</a:t>
              </a:r>
            </a:p>
          </p:txBody>
        </p:sp>
        <p:sp>
          <p:nvSpPr>
            <p:cNvPr id="227" name="Text Box 103"/>
            <p:cNvSpPr txBox="1">
              <a:spLocks noChangeArrowheads="1"/>
            </p:cNvSpPr>
            <p:nvPr/>
          </p:nvSpPr>
          <p:spPr bwMode="auto">
            <a:xfrm>
              <a:off x="4967" y="3682"/>
              <a:ext cx="283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\0</a:t>
              </a:r>
            </a:p>
          </p:txBody>
        </p:sp>
      </p:grpSp>
      <p:sp>
        <p:nvSpPr>
          <p:cNvPr id="228" name="Text Box 104"/>
          <p:cNvSpPr txBox="1">
            <a:spLocks noChangeArrowheads="1"/>
          </p:cNvSpPr>
          <p:nvPr/>
        </p:nvSpPr>
        <p:spPr bwMode="auto">
          <a:xfrm>
            <a:off x="1574356" y="2421855"/>
            <a:ext cx="4826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b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memset(string, 0, sizeof(string));</a:t>
            </a:r>
          </a:p>
        </p:txBody>
      </p:sp>
      <p:sp>
        <p:nvSpPr>
          <p:cNvPr id="229" name="Text Box 105"/>
          <p:cNvSpPr txBox="1">
            <a:spLocks noChangeArrowheads="1"/>
          </p:cNvSpPr>
          <p:nvPr/>
        </p:nvSpPr>
        <p:spPr bwMode="auto">
          <a:xfrm>
            <a:off x="1568006" y="4163342"/>
            <a:ext cx="2232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b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strcat(temp,t);</a:t>
            </a:r>
          </a:p>
        </p:txBody>
      </p:sp>
      <p:sp>
        <p:nvSpPr>
          <p:cNvPr id="230" name="Text Box 112"/>
          <p:cNvSpPr txBox="1">
            <a:spLocks noChangeArrowheads="1"/>
          </p:cNvSpPr>
          <p:nvPr/>
        </p:nvSpPr>
        <p:spPr bwMode="auto">
          <a:xfrm>
            <a:off x="1575943" y="3285455"/>
            <a:ext cx="264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b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strncpy(temp,s,i);</a:t>
            </a:r>
          </a:p>
        </p:txBody>
      </p:sp>
      <p:sp>
        <p:nvSpPr>
          <p:cNvPr id="231" name="Text Box 113"/>
          <p:cNvSpPr txBox="1">
            <a:spLocks noChangeArrowheads="1"/>
          </p:cNvSpPr>
          <p:nvPr/>
        </p:nvSpPr>
        <p:spPr bwMode="auto">
          <a:xfrm>
            <a:off x="1561656" y="5047580"/>
            <a:ext cx="264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strcat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(temp, </a:t>
            </a:r>
            <a:r>
              <a:rPr kumimoji="1" lang="en-US" altLang="ko-KR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s+i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);</a:t>
            </a:r>
          </a:p>
        </p:txBody>
      </p:sp>
      <p:sp>
        <p:nvSpPr>
          <p:cNvPr id="232" name="Text Box 113"/>
          <p:cNvSpPr txBox="1">
            <a:spLocks noChangeArrowheads="1"/>
          </p:cNvSpPr>
          <p:nvPr/>
        </p:nvSpPr>
        <p:spPr bwMode="auto">
          <a:xfrm>
            <a:off x="1623758" y="5888955"/>
            <a:ext cx="23903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strcpy</a:t>
            </a:r>
            <a:r>
              <a:rPr kumimoji="1" lang="en-US" altLang="ko-KR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</a:rPr>
              <a:t>(s, temp);</a:t>
            </a:r>
          </a:p>
        </p:txBody>
      </p:sp>
      <p:sp>
        <p:nvSpPr>
          <p:cNvPr id="233" name="Text Box 85"/>
          <p:cNvSpPr txBox="1">
            <a:spLocks noChangeArrowheads="1"/>
          </p:cNvSpPr>
          <p:nvPr/>
        </p:nvSpPr>
        <p:spPr bwMode="auto">
          <a:xfrm>
            <a:off x="590029" y="6334487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s</a:t>
            </a:r>
          </a:p>
        </p:txBody>
      </p:sp>
      <p:sp>
        <p:nvSpPr>
          <p:cNvPr id="234" name="Line 89"/>
          <p:cNvSpPr>
            <a:spLocks noChangeShapeType="1"/>
          </p:cNvSpPr>
          <p:nvPr/>
        </p:nvSpPr>
        <p:spPr bwMode="auto">
          <a:xfrm>
            <a:off x="1034606" y="6480537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grpSp>
        <p:nvGrpSpPr>
          <p:cNvPr id="235" name="Group 111"/>
          <p:cNvGrpSpPr>
            <a:grpSpLocks/>
          </p:cNvGrpSpPr>
          <p:nvPr/>
        </p:nvGrpSpPr>
        <p:grpSpPr bwMode="auto">
          <a:xfrm>
            <a:off x="1575943" y="6253623"/>
            <a:ext cx="6586538" cy="435613"/>
            <a:chOff x="1202" y="3633"/>
            <a:chExt cx="4149" cy="374"/>
          </a:xfrm>
        </p:grpSpPr>
        <p:sp>
          <p:nvSpPr>
            <p:cNvPr id="236" name="Rectangle 80"/>
            <p:cNvSpPr>
              <a:spLocks noChangeArrowheads="1"/>
            </p:cNvSpPr>
            <p:nvPr/>
          </p:nvSpPr>
          <p:spPr bwMode="auto">
            <a:xfrm>
              <a:off x="1202" y="3633"/>
              <a:ext cx="4149" cy="3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37" name="Line 81"/>
            <p:cNvSpPr>
              <a:spLocks noChangeShapeType="1"/>
            </p:cNvSpPr>
            <p:nvPr/>
          </p:nvSpPr>
          <p:spPr bwMode="auto">
            <a:xfrm>
              <a:off x="158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38" name="Line 82"/>
            <p:cNvSpPr>
              <a:spLocks noChangeShapeType="1"/>
            </p:cNvSpPr>
            <p:nvPr/>
          </p:nvSpPr>
          <p:spPr bwMode="auto">
            <a:xfrm>
              <a:off x="194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39" name="Line 83"/>
            <p:cNvSpPr>
              <a:spLocks noChangeShapeType="1"/>
            </p:cNvSpPr>
            <p:nvPr/>
          </p:nvSpPr>
          <p:spPr bwMode="auto">
            <a:xfrm>
              <a:off x="230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40" name="Text Box 84"/>
            <p:cNvSpPr txBox="1">
              <a:spLocks noChangeArrowheads="1"/>
            </p:cNvSpPr>
            <p:nvPr/>
          </p:nvSpPr>
          <p:spPr bwMode="auto">
            <a:xfrm>
              <a:off x="1312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a</a:t>
              </a:r>
            </a:p>
          </p:txBody>
        </p:sp>
        <p:sp>
          <p:nvSpPr>
            <p:cNvPr id="241" name="Line 86"/>
            <p:cNvSpPr>
              <a:spLocks noChangeShapeType="1"/>
            </p:cNvSpPr>
            <p:nvPr/>
          </p:nvSpPr>
          <p:spPr bwMode="auto">
            <a:xfrm>
              <a:off x="2675" y="363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42" name="Line 87"/>
            <p:cNvSpPr>
              <a:spLocks noChangeShapeType="1"/>
            </p:cNvSpPr>
            <p:nvPr/>
          </p:nvSpPr>
          <p:spPr bwMode="auto">
            <a:xfrm>
              <a:off x="3038" y="363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43" name="Line 88"/>
            <p:cNvSpPr>
              <a:spLocks noChangeShapeType="1"/>
            </p:cNvSpPr>
            <p:nvPr/>
          </p:nvSpPr>
          <p:spPr bwMode="auto">
            <a:xfrm>
              <a:off x="3409" y="363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44" name="Text Box 90"/>
            <p:cNvSpPr txBox="1">
              <a:spLocks noChangeArrowheads="1"/>
            </p:cNvSpPr>
            <p:nvPr/>
          </p:nvSpPr>
          <p:spPr bwMode="auto">
            <a:xfrm>
              <a:off x="1653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u</a:t>
              </a:r>
            </a:p>
          </p:txBody>
        </p:sp>
        <p:sp>
          <p:nvSpPr>
            <p:cNvPr id="245" name="Text Box 91"/>
            <p:cNvSpPr txBox="1">
              <a:spLocks noChangeArrowheads="1"/>
            </p:cNvSpPr>
            <p:nvPr/>
          </p:nvSpPr>
          <p:spPr bwMode="auto">
            <a:xfrm>
              <a:off x="2015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t</a:t>
              </a:r>
            </a:p>
          </p:txBody>
        </p:sp>
        <p:sp>
          <p:nvSpPr>
            <p:cNvPr id="246" name="Text Box 92"/>
            <p:cNvSpPr txBox="1">
              <a:spLocks noChangeArrowheads="1"/>
            </p:cNvSpPr>
            <p:nvPr/>
          </p:nvSpPr>
          <p:spPr bwMode="auto">
            <a:xfrm>
              <a:off x="2379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o</a:t>
              </a:r>
            </a:p>
          </p:txBody>
        </p:sp>
        <p:sp>
          <p:nvSpPr>
            <p:cNvPr id="247" name="Text Box 93"/>
            <p:cNvSpPr txBox="1">
              <a:spLocks noChangeArrowheads="1"/>
            </p:cNvSpPr>
            <p:nvPr/>
          </p:nvSpPr>
          <p:spPr bwMode="auto">
            <a:xfrm>
              <a:off x="2742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m</a:t>
              </a:r>
            </a:p>
          </p:txBody>
        </p:sp>
        <p:sp>
          <p:nvSpPr>
            <p:cNvPr id="248" name="Text Box 94"/>
            <p:cNvSpPr txBox="1">
              <a:spLocks noChangeArrowheads="1"/>
            </p:cNvSpPr>
            <p:nvPr/>
          </p:nvSpPr>
          <p:spPr bwMode="auto">
            <a:xfrm>
              <a:off x="3123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o</a:t>
              </a:r>
            </a:p>
          </p:txBody>
        </p:sp>
        <p:sp>
          <p:nvSpPr>
            <p:cNvPr id="249" name="Line 95"/>
            <p:cNvSpPr>
              <a:spLocks noChangeShapeType="1"/>
            </p:cNvSpPr>
            <p:nvPr/>
          </p:nvSpPr>
          <p:spPr bwMode="auto">
            <a:xfrm>
              <a:off x="3787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50" name="Line 96"/>
            <p:cNvSpPr>
              <a:spLocks noChangeShapeType="1"/>
            </p:cNvSpPr>
            <p:nvPr/>
          </p:nvSpPr>
          <p:spPr bwMode="auto">
            <a:xfrm>
              <a:off x="4150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51" name="Line 97"/>
            <p:cNvSpPr>
              <a:spLocks noChangeShapeType="1"/>
            </p:cNvSpPr>
            <p:nvPr/>
          </p:nvSpPr>
          <p:spPr bwMode="auto">
            <a:xfrm>
              <a:off x="4513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52" name="Line 98"/>
            <p:cNvSpPr>
              <a:spLocks noChangeShapeType="1"/>
            </p:cNvSpPr>
            <p:nvPr/>
          </p:nvSpPr>
          <p:spPr bwMode="auto">
            <a:xfrm>
              <a:off x="4876" y="363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253" name="Text Box 99"/>
            <p:cNvSpPr txBox="1">
              <a:spLocks noChangeArrowheads="1"/>
            </p:cNvSpPr>
            <p:nvPr/>
          </p:nvSpPr>
          <p:spPr bwMode="auto">
            <a:xfrm>
              <a:off x="3511" y="3690"/>
              <a:ext cx="201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b</a:t>
              </a:r>
            </a:p>
          </p:txBody>
        </p:sp>
        <p:sp>
          <p:nvSpPr>
            <p:cNvPr id="254" name="Text Box 100"/>
            <p:cNvSpPr txBox="1">
              <a:spLocks noChangeArrowheads="1"/>
            </p:cNvSpPr>
            <p:nvPr/>
          </p:nvSpPr>
          <p:spPr bwMode="auto">
            <a:xfrm>
              <a:off x="3880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i</a:t>
              </a:r>
            </a:p>
          </p:txBody>
        </p:sp>
        <p:sp>
          <p:nvSpPr>
            <p:cNvPr id="255" name="Text Box 101"/>
            <p:cNvSpPr txBox="1">
              <a:spLocks noChangeArrowheads="1"/>
            </p:cNvSpPr>
            <p:nvPr/>
          </p:nvSpPr>
          <p:spPr bwMode="auto">
            <a:xfrm>
              <a:off x="4220" y="3690"/>
              <a:ext cx="19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l</a:t>
              </a:r>
            </a:p>
          </p:txBody>
        </p:sp>
        <p:sp>
          <p:nvSpPr>
            <p:cNvPr id="256" name="Text Box 102"/>
            <p:cNvSpPr txBox="1">
              <a:spLocks noChangeArrowheads="1"/>
            </p:cNvSpPr>
            <p:nvPr/>
          </p:nvSpPr>
          <p:spPr bwMode="auto">
            <a:xfrm>
              <a:off x="4584" y="3690"/>
              <a:ext cx="19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e</a:t>
              </a:r>
            </a:p>
          </p:txBody>
        </p:sp>
        <p:sp>
          <p:nvSpPr>
            <p:cNvPr id="257" name="Text Box 103"/>
            <p:cNvSpPr txBox="1">
              <a:spLocks noChangeArrowheads="1"/>
            </p:cNvSpPr>
            <p:nvPr/>
          </p:nvSpPr>
          <p:spPr bwMode="auto">
            <a:xfrm>
              <a:off x="4967" y="3682"/>
              <a:ext cx="283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굴림" pitchFamily="50" charset="-127"/>
                  <a:cs typeface="Consolas" pitchFamily="49" charset="0"/>
                </a:rPr>
                <a:t>\0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1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81481E-6 L 0.52813 -0.10925 " pathEditMode="relative" rAng="0" ptsTypes="AA">
                                      <p:cBhvr>
                                        <p:cTn id="6" dur="1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06" y="-546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4" grpId="0" animBg="1"/>
      <p:bldP spid="161" grpId="0"/>
      <p:bldP spid="162" grpId="0"/>
      <p:bldP spid="163" grpId="0"/>
      <p:bldP spid="173" grpId="0" animBg="1"/>
      <p:bldP spid="174" grpId="0" animBg="1"/>
      <p:bldP spid="175" grpId="0" animBg="1"/>
      <p:bldP spid="176" grpId="0"/>
      <p:bldP spid="177" grpId="0" animBg="1"/>
      <p:bldP spid="188" grpId="0"/>
      <p:bldP spid="189" grpId="0" animBg="1"/>
      <p:bldP spid="203" grpId="0"/>
      <p:bldP spid="204" grpId="0" animBg="1"/>
      <p:bldP spid="228" grpId="0"/>
      <p:bldP spid="229" grpId="0"/>
      <p:bldP spid="230" grpId="0"/>
      <p:bldP spid="231" grpId="0"/>
      <p:bldP spid="232" grpId="0"/>
      <p:bldP spid="233" grpId="0"/>
      <p:bldP spid="23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Pattern Matching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870118" y="1194493"/>
            <a:ext cx="5121915" cy="400110"/>
          </a:xfrm>
          <a:prstGeom prst="rect">
            <a:avLst/>
          </a:prstGeom>
          <a:solidFill>
            <a:srgbClr val="00CC99">
              <a:lumMod val="60000"/>
              <a:lumOff val="40000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CC">
                    <a:lumMod val="75000"/>
                  </a:srgbClr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String: Missy the monkey is missing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117" y="1553238"/>
            <a:ext cx="5121915" cy="400110"/>
          </a:xfrm>
          <a:prstGeom prst="rect">
            <a:avLst/>
          </a:prstGeom>
          <a:solidFill>
            <a:srgbClr val="00CC99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CC">
                    <a:lumMod val="75000"/>
                  </a:srgbClr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Pattern: monkey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117" y="2199206"/>
            <a:ext cx="3993401" cy="400110"/>
          </a:xfrm>
          <a:prstGeom prst="rect">
            <a:avLst/>
          </a:prstGeom>
          <a:solidFill>
            <a:srgbClr val="00CC99">
              <a:lumMod val="60000"/>
              <a:lumOff val="40000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CC">
                    <a:lumMod val="75000"/>
                  </a:srgbClr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Missy the monkey is missing</a:t>
            </a:r>
          </a:p>
        </p:txBody>
      </p:sp>
      <p:sp>
        <p:nvSpPr>
          <p:cNvPr id="47" name="직사각형 7"/>
          <p:cNvSpPr/>
          <p:nvPr/>
        </p:nvSpPr>
        <p:spPr>
          <a:xfrm>
            <a:off x="889628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48" name="직사각형 8"/>
          <p:cNvSpPr/>
          <p:nvPr/>
        </p:nvSpPr>
        <p:spPr>
          <a:xfrm>
            <a:off x="1023338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49" name="직사각형 9"/>
          <p:cNvSpPr/>
          <p:nvPr/>
        </p:nvSpPr>
        <p:spPr>
          <a:xfrm>
            <a:off x="1157048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0" name="직사각형 10"/>
          <p:cNvSpPr/>
          <p:nvPr/>
        </p:nvSpPr>
        <p:spPr>
          <a:xfrm>
            <a:off x="1290758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1" name="직사각형 11"/>
          <p:cNvSpPr/>
          <p:nvPr/>
        </p:nvSpPr>
        <p:spPr>
          <a:xfrm>
            <a:off x="1443979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2" name="직사각형 12"/>
          <p:cNvSpPr/>
          <p:nvPr/>
        </p:nvSpPr>
        <p:spPr>
          <a:xfrm>
            <a:off x="1591091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3" name="직사각형 13"/>
          <p:cNvSpPr/>
          <p:nvPr/>
        </p:nvSpPr>
        <p:spPr>
          <a:xfrm>
            <a:off x="1711399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4" name="직사각형 14"/>
          <p:cNvSpPr/>
          <p:nvPr/>
        </p:nvSpPr>
        <p:spPr>
          <a:xfrm>
            <a:off x="1872817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5" name="직사각형 15"/>
          <p:cNvSpPr/>
          <p:nvPr/>
        </p:nvSpPr>
        <p:spPr>
          <a:xfrm>
            <a:off x="2025134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6" name="직사각형 16"/>
          <p:cNvSpPr/>
          <p:nvPr/>
        </p:nvSpPr>
        <p:spPr>
          <a:xfrm>
            <a:off x="2175698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7" name="직사각형 17"/>
          <p:cNvSpPr/>
          <p:nvPr/>
        </p:nvSpPr>
        <p:spPr>
          <a:xfrm>
            <a:off x="2277191" y="242613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9628" y="3036227"/>
            <a:ext cx="3993401" cy="400110"/>
          </a:xfrm>
          <a:prstGeom prst="rect">
            <a:avLst/>
          </a:prstGeom>
          <a:solidFill>
            <a:srgbClr val="00CC99">
              <a:lumMod val="60000"/>
              <a:lumOff val="40000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CC">
                    <a:lumMod val="75000"/>
                  </a:srgbClr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Missy the monkey is missing</a:t>
            </a:r>
          </a:p>
        </p:txBody>
      </p:sp>
      <p:sp>
        <p:nvSpPr>
          <p:cNvPr id="59" name="직사각형 19"/>
          <p:cNvSpPr/>
          <p:nvPr/>
        </p:nvSpPr>
        <p:spPr>
          <a:xfrm>
            <a:off x="909139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0" name="직사각형 20"/>
          <p:cNvSpPr/>
          <p:nvPr/>
        </p:nvSpPr>
        <p:spPr>
          <a:xfrm>
            <a:off x="1042849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1" name="직사각형 21"/>
          <p:cNvSpPr/>
          <p:nvPr/>
        </p:nvSpPr>
        <p:spPr>
          <a:xfrm>
            <a:off x="1176559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2" name="직사각형 22"/>
          <p:cNvSpPr/>
          <p:nvPr/>
        </p:nvSpPr>
        <p:spPr>
          <a:xfrm>
            <a:off x="1310269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3" name="직사각형 23"/>
          <p:cNvSpPr/>
          <p:nvPr/>
        </p:nvSpPr>
        <p:spPr>
          <a:xfrm>
            <a:off x="1463490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4" name="직사각형 24"/>
          <p:cNvSpPr/>
          <p:nvPr/>
        </p:nvSpPr>
        <p:spPr>
          <a:xfrm>
            <a:off x="1610602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5" name="직사각형 25"/>
          <p:cNvSpPr/>
          <p:nvPr/>
        </p:nvSpPr>
        <p:spPr>
          <a:xfrm>
            <a:off x="1730910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6" name="직사각형 26"/>
          <p:cNvSpPr/>
          <p:nvPr/>
        </p:nvSpPr>
        <p:spPr>
          <a:xfrm>
            <a:off x="1892328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7" name="직사각형 27"/>
          <p:cNvSpPr/>
          <p:nvPr/>
        </p:nvSpPr>
        <p:spPr>
          <a:xfrm>
            <a:off x="2044645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8" name="직사각형 28"/>
          <p:cNvSpPr/>
          <p:nvPr/>
        </p:nvSpPr>
        <p:spPr>
          <a:xfrm>
            <a:off x="2195209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69" name="직사각형 29"/>
          <p:cNvSpPr/>
          <p:nvPr/>
        </p:nvSpPr>
        <p:spPr>
          <a:xfrm>
            <a:off x="2296702" y="326315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814" y="3873248"/>
            <a:ext cx="3711272" cy="400110"/>
          </a:xfrm>
          <a:prstGeom prst="rect">
            <a:avLst/>
          </a:prstGeom>
          <a:solidFill>
            <a:srgbClr val="00CC99">
              <a:lumMod val="60000"/>
              <a:lumOff val="40000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CC">
                    <a:lumMod val="75000"/>
                  </a:srgbClr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Missy the monk is missing</a:t>
            </a:r>
          </a:p>
        </p:txBody>
      </p:sp>
      <p:sp>
        <p:nvSpPr>
          <p:cNvPr id="71" name="직사각형 31"/>
          <p:cNvSpPr/>
          <p:nvPr/>
        </p:nvSpPr>
        <p:spPr>
          <a:xfrm>
            <a:off x="922172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2" name="직사각형 32"/>
          <p:cNvSpPr/>
          <p:nvPr/>
        </p:nvSpPr>
        <p:spPr>
          <a:xfrm>
            <a:off x="1055882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3" name="직사각형 33"/>
          <p:cNvSpPr/>
          <p:nvPr/>
        </p:nvSpPr>
        <p:spPr>
          <a:xfrm>
            <a:off x="1189592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4" name="직사각형 34"/>
          <p:cNvSpPr/>
          <p:nvPr/>
        </p:nvSpPr>
        <p:spPr>
          <a:xfrm>
            <a:off x="1323302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5" name="직사각형 35"/>
          <p:cNvSpPr/>
          <p:nvPr/>
        </p:nvSpPr>
        <p:spPr>
          <a:xfrm>
            <a:off x="1476523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6" name="직사각형 36"/>
          <p:cNvSpPr/>
          <p:nvPr/>
        </p:nvSpPr>
        <p:spPr>
          <a:xfrm>
            <a:off x="1623635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7" name="직사각형 37"/>
          <p:cNvSpPr/>
          <p:nvPr/>
        </p:nvSpPr>
        <p:spPr>
          <a:xfrm>
            <a:off x="1743943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8" name="직사각형 38"/>
          <p:cNvSpPr/>
          <p:nvPr/>
        </p:nvSpPr>
        <p:spPr>
          <a:xfrm>
            <a:off x="1905361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79" name="직사각형 39"/>
          <p:cNvSpPr/>
          <p:nvPr/>
        </p:nvSpPr>
        <p:spPr>
          <a:xfrm>
            <a:off x="2057678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80" name="직사각형 40"/>
          <p:cNvSpPr/>
          <p:nvPr/>
        </p:nvSpPr>
        <p:spPr>
          <a:xfrm>
            <a:off x="2208242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  <p:sp>
        <p:nvSpPr>
          <p:cNvPr id="81" name="직사각형 41"/>
          <p:cNvSpPr/>
          <p:nvPr/>
        </p:nvSpPr>
        <p:spPr>
          <a:xfrm>
            <a:off x="2309735" y="410018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000" dirty="0">
                <a:solidFill>
                  <a:srgbClr val="3333CC">
                    <a:lumMod val="75000"/>
                  </a:srgbClr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monkey</a:t>
            </a:r>
          </a:p>
        </p:txBody>
      </p:sp>
    </p:spTree>
    <p:extLst>
      <p:ext uri="{BB962C8B-B14F-4D97-AF65-F5344CB8AC3E}">
        <p14:creationId xmlns:p14="http://schemas.microsoft.com/office/powerpoint/2010/main" val="55914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6" grpId="1" animBg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 animBg="1"/>
      <p:bldP spid="58" grpId="1" animBg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 animBg="1"/>
      <p:bldP spid="70" grpId="1" animBg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75" grpId="0"/>
      <p:bldP spid="75" grpId="1"/>
      <p:bldP spid="76" grpId="0"/>
      <p:bldP spid="76" grpId="1"/>
      <p:bldP spid="77" grpId="0"/>
      <p:bldP spid="77" grpId="1"/>
      <p:bldP spid="78" grpId="0"/>
      <p:bldP spid="78" grpId="1"/>
      <p:bldP spid="79" grpId="0"/>
      <p:bldP spid="79" grpId="1"/>
      <p:bldP spid="80" grpId="0"/>
      <p:bldP spid="80" grpId="1"/>
      <p:bldP spid="81" grpId="0"/>
      <p:bldP spid="81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024857" cy="691277"/>
          </a:xfrm>
        </p:spPr>
        <p:txBody>
          <a:bodyPr/>
          <a:lstStyle/>
          <a:p>
            <a:r>
              <a:rPr lang="en-US" sz="4400" dirty="0"/>
              <a:t>Simulation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graphicFrame>
        <p:nvGraphicFramePr>
          <p:cNvPr id="63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45549"/>
              </p:ext>
            </p:extLst>
          </p:nvPr>
        </p:nvGraphicFramePr>
        <p:xfrm>
          <a:off x="1464469" y="1893888"/>
          <a:ext cx="5249862" cy="359664"/>
        </p:xfrm>
        <a:graphic>
          <a:graphicData uri="http://schemas.openxmlformats.org/drawingml/2006/table">
            <a:tbl>
              <a:tblPr/>
              <a:tblGrid>
                <a:gridCol w="477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76075"/>
              </p:ext>
            </p:extLst>
          </p:nvPr>
        </p:nvGraphicFramePr>
        <p:xfrm>
          <a:off x="2944019" y="1000125"/>
          <a:ext cx="1909762" cy="359664"/>
        </p:xfrm>
        <a:graphic>
          <a:graphicData uri="http://schemas.openxmlformats.org/drawingml/2006/table">
            <a:tbl>
              <a:tblPr/>
              <a:tblGrid>
                <a:gridCol w="477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Text Box 7"/>
          <p:cNvSpPr txBox="1">
            <a:spLocks noChangeArrowheads="1"/>
          </p:cNvSpPr>
          <p:nvPr/>
        </p:nvSpPr>
        <p:spPr bwMode="auto">
          <a:xfrm>
            <a:off x="6931420" y="993775"/>
            <a:ext cx="171728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7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(a) pattern</a:t>
            </a:r>
          </a:p>
        </p:txBody>
      </p:sp>
      <p:sp>
        <p:nvSpPr>
          <p:cNvPr id="66" name="Text Box 7"/>
          <p:cNvSpPr txBox="1">
            <a:spLocks noChangeArrowheads="1"/>
          </p:cNvSpPr>
          <p:nvPr/>
        </p:nvSpPr>
        <p:spPr bwMode="auto">
          <a:xfrm>
            <a:off x="6931421" y="1908175"/>
            <a:ext cx="1991519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7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(b) no match</a:t>
            </a:r>
          </a:p>
        </p:txBody>
      </p:sp>
      <p:sp>
        <p:nvSpPr>
          <p:cNvPr id="67" name="Line 59"/>
          <p:cNvSpPr>
            <a:spLocks noChangeShapeType="1"/>
          </p:cNvSpPr>
          <p:nvPr/>
        </p:nvSpPr>
        <p:spPr bwMode="auto">
          <a:xfrm>
            <a:off x="3204369" y="1344613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68" name="Line 60"/>
          <p:cNvSpPr>
            <a:spLocks noChangeShapeType="1"/>
          </p:cNvSpPr>
          <p:nvPr/>
        </p:nvSpPr>
        <p:spPr bwMode="auto">
          <a:xfrm>
            <a:off x="4155281" y="1346200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69" name="Text Box 7"/>
          <p:cNvSpPr txBox="1">
            <a:spLocks noChangeArrowheads="1"/>
          </p:cNvSpPr>
          <p:nvPr/>
        </p:nvSpPr>
        <p:spPr bwMode="auto">
          <a:xfrm>
            <a:off x="3078956" y="1417638"/>
            <a:ext cx="287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j</a:t>
            </a:r>
          </a:p>
        </p:txBody>
      </p:sp>
      <p:sp>
        <p:nvSpPr>
          <p:cNvPr id="70" name="Text Box 7"/>
          <p:cNvSpPr txBox="1">
            <a:spLocks noChangeArrowheads="1"/>
          </p:cNvSpPr>
          <p:nvPr/>
        </p:nvSpPr>
        <p:spPr bwMode="auto">
          <a:xfrm>
            <a:off x="3906044" y="1419225"/>
            <a:ext cx="8215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 err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lastp</a:t>
            </a:r>
            <a:endParaRPr lang="en-US" altLang="ko-KR" sz="16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1" name="Line 63"/>
          <p:cNvSpPr>
            <a:spLocks noChangeShapeType="1"/>
          </p:cNvSpPr>
          <p:nvPr/>
        </p:nvSpPr>
        <p:spPr bwMode="auto">
          <a:xfrm>
            <a:off x="1693069" y="2246313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72" name="Line 65"/>
          <p:cNvSpPr>
            <a:spLocks noChangeShapeType="1"/>
          </p:cNvSpPr>
          <p:nvPr/>
        </p:nvSpPr>
        <p:spPr bwMode="auto">
          <a:xfrm>
            <a:off x="2653506" y="2255838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73" name="Line 66"/>
          <p:cNvSpPr>
            <a:spLocks noChangeShapeType="1"/>
          </p:cNvSpPr>
          <p:nvPr/>
        </p:nvSpPr>
        <p:spPr bwMode="auto">
          <a:xfrm>
            <a:off x="6003131" y="2260600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5734844" y="2303463"/>
            <a:ext cx="8564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lasts</a:t>
            </a:r>
          </a:p>
        </p:txBody>
      </p:sp>
      <p:sp>
        <p:nvSpPr>
          <p:cNvPr id="75" name="Text Box 7"/>
          <p:cNvSpPr txBox="1">
            <a:spLocks noChangeArrowheads="1"/>
          </p:cNvSpPr>
          <p:nvPr/>
        </p:nvSpPr>
        <p:spPr bwMode="auto">
          <a:xfrm>
            <a:off x="2210594" y="2308225"/>
            <a:ext cx="1079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endmatch</a:t>
            </a:r>
          </a:p>
        </p:txBody>
      </p:sp>
      <p:sp>
        <p:nvSpPr>
          <p:cNvPr id="76" name="Text Box 7"/>
          <p:cNvSpPr txBox="1">
            <a:spLocks noChangeArrowheads="1"/>
          </p:cNvSpPr>
          <p:nvPr/>
        </p:nvSpPr>
        <p:spPr bwMode="auto">
          <a:xfrm>
            <a:off x="1439068" y="2308225"/>
            <a:ext cx="7715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start</a:t>
            </a:r>
          </a:p>
        </p:txBody>
      </p: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2332758" y="5986811"/>
            <a:ext cx="62199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0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Wingdings" pitchFamily="2" charset="2"/>
              </a:rPr>
              <a:t> </a:t>
            </a:r>
            <a:r>
              <a:rPr kumimoji="1" lang="en-US" altLang="ko-KR" sz="20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O(length of string </a:t>
            </a:r>
            <a:r>
              <a:rPr kumimoji="1" lang="en-US" altLang="ko-KR" sz="20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  <a:sym typeface="Symbol" pitchFamily="18" charset="2"/>
              </a:rPr>
              <a:t>·</a:t>
            </a:r>
            <a:r>
              <a:rPr kumimoji="1" lang="en-US" altLang="ko-KR" sz="20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 length of pattern))</a:t>
            </a:r>
            <a:endParaRPr kumimoji="1" lang="ko-KR" altLang="en-US" sz="2000" dirty="0">
              <a:solidFill>
                <a:srgbClr val="000000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graphicFrame>
        <p:nvGraphicFramePr>
          <p:cNvPr id="78" name="Group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41428"/>
              </p:ext>
            </p:extLst>
          </p:nvPr>
        </p:nvGraphicFramePr>
        <p:xfrm>
          <a:off x="1530349" y="5217222"/>
          <a:ext cx="5249863" cy="359664"/>
        </p:xfrm>
        <a:graphic>
          <a:graphicData uri="http://schemas.openxmlformats.org/drawingml/2006/table">
            <a:tbl>
              <a:tblPr/>
              <a:tblGrid>
                <a:gridCol w="47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Group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552783"/>
              </p:ext>
            </p:extLst>
          </p:nvPr>
        </p:nvGraphicFramePr>
        <p:xfrm>
          <a:off x="1530349" y="4357147"/>
          <a:ext cx="5249863" cy="359664"/>
        </p:xfrm>
        <a:graphic>
          <a:graphicData uri="http://schemas.openxmlformats.org/drawingml/2006/table">
            <a:tbl>
              <a:tblPr/>
              <a:tblGrid>
                <a:gridCol w="47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Group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239619"/>
              </p:ext>
            </p:extLst>
          </p:nvPr>
        </p:nvGraphicFramePr>
        <p:xfrm>
          <a:off x="1479549" y="3603085"/>
          <a:ext cx="5249863" cy="359664"/>
        </p:xfrm>
        <a:graphic>
          <a:graphicData uri="http://schemas.openxmlformats.org/drawingml/2006/table">
            <a:tbl>
              <a:tblPr/>
              <a:tblGrid>
                <a:gridCol w="47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Group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327034"/>
              </p:ext>
            </p:extLst>
          </p:nvPr>
        </p:nvGraphicFramePr>
        <p:xfrm>
          <a:off x="1492249" y="2756154"/>
          <a:ext cx="5249863" cy="359664"/>
        </p:xfrm>
        <a:graphic>
          <a:graphicData uri="http://schemas.openxmlformats.org/drawingml/2006/table">
            <a:tbl>
              <a:tblPr/>
              <a:tblGrid>
                <a:gridCol w="47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omic Sans MS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돋움" pitchFamily="50" charset="-127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" name="Text Box 7"/>
          <p:cNvSpPr txBox="1">
            <a:spLocks noChangeArrowheads="1"/>
          </p:cNvSpPr>
          <p:nvPr/>
        </p:nvSpPr>
        <p:spPr bwMode="auto">
          <a:xfrm>
            <a:off x="6931420" y="3598322"/>
            <a:ext cx="171727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7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(d) no match</a:t>
            </a:r>
          </a:p>
        </p:txBody>
      </p:sp>
      <p:sp>
        <p:nvSpPr>
          <p:cNvPr id="83" name="Text Box 7"/>
          <p:cNvSpPr txBox="1">
            <a:spLocks noChangeArrowheads="1"/>
          </p:cNvSpPr>
          <p:nvPr/>
        </p:nvSpPr>
        <p:spPr bwMode="auto">
          <a:xfrm>
            <a:off x="6931420" y="2747138"/>
            <a:ext cx="171727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7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(c) no match</a:t>
            </a:r>
          </a:p>
        </p:txBody>
      </p:sp>
      <p:sp>
        <p:nvSpPr>
          <p:cNvPr id="84" name="Line 191"/>
          <p:cNvSpPr>
            <a:spLocks noChangeShapeType="1"/>
          </p:cNvSpPr>
          <p:nvPr/>
        </p:nvSpPr>
        <p:spPr bwMode="auto">
          <a:xfrm>
            <a:off x="2205037" y="3114929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85" name="Line 192"/>
          <p:cNvSpPr>
            <a:spLocks noChangeShapeType="1"/>
          </p:cNvSpPr>
          <p:nvPr/>
        </p:nvSpPr>
        <p:spPr bwMode="auto">
          <a:xfrm>
            <a:off x="3160712" y="3114929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86" name="Line 193"/>
          <p:cNvSpPr>
            <a:spLocks noChangeShapeType="1"/>
          </p:cNvSpPr>
          <p:nvPr/>
        </p:nvSpPr>
        <p:spPr bwMode="auto">
          <a:xfrm>
            <a:off x="6021387" y="3116516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87" name="Line 194"/>
          <p:cNvSpPr>
            <a:spLocks noChangeShapeType="1"/>
          </p:cNvSpPr>
          <p:nvPr/>
        </p:nvSpPr>
        <p:spPr bwMode="auto">
          <a:xfrm>
            <a:off x="2681287" y="3949160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88" name="Line 195"/>
          <p:cNvSpPr>
            <a:spLocks noChangeShapeType="1"/>
          </p:cNvSpPr>
          <p:nvPr/>
        </p:nvSpPr>
        <p:spPr bwMode="auto">
          <a:xfrm>
            <a:off x="3632199" y="3958685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89" name="Line 196"/>
          <p:cNvSpPr>
            <a:spLocks noChangeShapeType="1"/>
          </p:cNvSpPr>
          <p:nvPr/>
        </p:nvSpPr>
        <p:spPr bwMode="auto">
          <a:xfrm>
            <a:off x="6015037" y="3958685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90" name="Line 197"/>
          <p:cNvSpPr>
            <a:spLocks noChangeShapeType="1"/>
          </p:cNvSpPr>
          <p:nvPr/>
        </p:nvSpPr>
        <p:spPr bwMode="auto">
          <a:xfrm>
            <a:off x="6069012" y="4706397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91" name="Line 198"/>
          <p:cNvSpPr>
            <a:spLocks noChangeShapeType="1"/>
          </p:cNvSpPr>
          <p:nvPr/>
        </p:nvSpPr>
        <p:spPr bwMode="auto">
          <a:xfrm>
            <a:off x="3189287" y="4711160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92" name="Line 199"/>
          <p:cNvSpPr>
            <a:spLocks noChangeShapeType="1"/>
          </p:cNvSpPr>
          <p:nvPr/>
        </p:nvSpPr>
        <p:spPr bwMode="auto">
          <a:xfrm>
            <a:off x="4144962" y="4715922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93" name="Line 200"/>
          <p:cNvSpPr>
            <a:spLocks noChangeShapeType="1"/>
          </p:cNvSpPr>
          <p:nvPr/>
        </p:nvSpPr>
        <p:spPr bwMode="auto">
          <a:xfrm>
            <a:off x="3663949" y="5575997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94" name="Line 201"/>
          <p:cNvSpPr>
            <a:spLocks noChangeShapeType="1"/>
          </p:cNvSpPr>
          <p:nvPr/>
        </p:nvSpPr>
        <p:spPr bwMode="auto">
          <a:xfrm>
            <a:off x="4638674" y="5575997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95" name="Line 202"/>
          <p:cNvSpPr>
            <a:spLocks noChangeShapeType="1"/>
          </p:cNvSpPr>
          <p:nvPr/>
        </p:nvSpPr>
        <p:spPr bwMode="auto">
          <a:xfrm>
            <a:off x="6069012" y="5566472"/>
            <a:ext cx="0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96" name="Text Box 7"/>
          <p:cNvSpPr txBox="1">
            <a:spLocks noChangeArrowheads="1"/>
          </p:cNvSpPr>
          <p:nvPr/>
        </p:nvSpPr>
        <p:spPr bwMode="auto">
          <a:xfrm>
            <a:off x="5768974" y="3183191"/>
            <a:ext cx="8223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lasts</a:t>
            </a:r>
          </a:p>
        </p:txBody>
      </p:sp>
      <p:sp>
        <p:nvSpPr>
          <p:cNvPr id="97" name="Text Box 7"/>
          <p:cNvSpPr txBox="1">
            <a:spLocks noChangeArrowheads="1"/>
          </p:cNvSpPr>
          <p:nvPr/>
        </p:nvSpPr>
        <p:spPr bwMode="auto">
          <a:xfrm>
            <a:off x="2722562" y="3168904"/>
            <a:ext cx="1079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endmatch</a:t>
            </a:r>
          </a:p>
        </p:txBody>
      </p:sp>
      <p:sp>
        <p:nvSpPr>
          <p:cNvPr id="98" name="Text Box 7"/>
          <p:cNvSpPr txBox="1">
            <a:spLocks noChangeArrowheads="1"/>
          </p:cNvSpPr>
          <p:nvPr/>
        </p:nvSpPr>
        <p:spPr bwMode="auto">
          <a:xfrm>
            <a:off x="1951037" y="3168904"/>
            <a:ext cx="8112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start</a:t>
            </a:r>
          </a:p>
        </p:txBody>
      </p:sp>
      <p:sp>
        <p:nvSpPr>
          <p:cNvPr id="99" name="Text Box 7"/>
          <p:cNvSpPr txBox="1">
            <a:spLocks noChangeArrowheads="1"/>
          </p:cNvSpPr>
          <p:nvPr/>
        </p:nvSpPr>
        <p:spPr bwMode="auto">
          <a:xfrm>
            <a:off x="5759448" y="4020597"/>
            <a:ext cx="831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lasts</a:t>
            </a:r>
          </a:p>
        </p:txBody>
      </p:sp>
      <p:sp>
        <p:nvSpPr>
          <p:cNvPr id="100" name="Text Box 7"/>
          <p:cNvSpPr txBox="1">
            <a:spLocks noChangeArrowheads="1"/>
          </p:cNvSpPr>
          <p:nvPr/>
        </p:nvSpPr>
        <p:spPr bwMode="auto">
          <a:xfrm>
            <a:off x="5807073" y="4754022"/>
            <a:ext cx="7842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lasts</a:t>
            </a:r>
          </a:p>
        </p:txBody>
      </p:sp>
      <p:sp>
        <p:nvSpPr>
          <p:cNvPr id="101" name="Text Box 7"/>
          <p:cNvSpPr txBox="1">
            <a:spLocks noChangeArrowheads="1"/>
          </p:cNvSpPr>
          <p:nvPr/>
        </p:nvSpPr>
        <p:spPr bwMode="auto">
          <a:xfrm>
            <a:off x="5805486" y="5618860"/>
            <a:ext cx="7858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lasts</a:t>
            </a:r>
          </a:p>
        </p:txBody>
      </p:sp>
      <p:sp>
        <p:nvSpPr>
          <p:cNvPr id="102" name="Text Box 7"/>
          <p:cNvSpPr txBox="1">
            <a:spLocks noChangeArrowheads="1"/>
          </p:cNvSpPr>
          <p:nvPr/>
        </p:nvSpPr>
        <p:spPr bwMode="auto">
          <a:xfrm>
            <a:off x="2438398" y="4001547"/>
            <a:ext cx="815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start</a:t>
            </a:r>
          </a:p>
        </p:txBody>
      </p:sp>
      <p:sp>
        <p:nvSpPr>
          <p:cNvPr id="103" name="Text Box 7"/>
          <p:cNvSpPr txBox="1">
            <a:spLocks noChangeArrowheads="1"/>
          </p:cNvSpPr>
          <p:nvPr/>
        </p:nvSpPr>
        <p:spPr bwMode="auto">
          <a:xfrm>
            <a:off x="2930524" y="4754022"/>
            <a:ext cx="787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start</a:t>
            </a:r>
          </a:p>
        </p:txBody>
      </p:sp>
      <p:sp>
        <p:nvSpPr>
          <p:cNvPr id="104" name="Text Box 7"/>
          <p:cNvSpPr txBox="1">
            <a:spLocks noChangeArrowheads="1"/>
          </p:cNvSpPr>
          <p:nvPr/>
        </p:nvSpPr>
        <p:spPr bwMode="auto">
          <a:xfrm>
            <a:off x="3414712" y="5618860"/>
            <a:ext cx="7731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start</a:t>
            </a:r>
          </a:p>
        </p:txBody>
      </p:sp>
      <p:sp>
        <p:nvSpPr>
          <p:cNvPr id="105" name="Text Box 7"/>
          <p:cNvSpPr txBox="1">
            <a:spLocks noChangeArrowheads="1"/>
          </p:cNvSpPr>
          <p:nvPr/>
        </p:nvSpPr>
        <p:spPr bwMode="auto">
          <a:xfrm>
            <a:off x="3182937" y="4001547"/>
            <a:ext cx="1079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endmatch</a:t>
            </a:r>
          </a:p>
        </p:txBody>
      </p:sp>
      <p:sp>
        <p:nvSpPr>
          <p:cNvPr id="106" name="Text Box 7"/>
          <p:cNvSpPr txBox="1">
            <a:spLocks noChangeArrowheads="1"/>
          </p:cNvSpPr>
          <p:nvPr/>
        </p:nvSpPr>
        <p:spPr bwMode="auto">
          <a:xfrm>
            <a:off x="3717924" y="4749260"/>
            <a:ext cx="1079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endmatch</a:t>
            </a:r>
          </a:p>
        </p:txBody>
      </p:sp>
      <p:sp>
        <p:nvSpPr>
          <p:cNvPr id="107" name="Text Box 7"/>
          <p:cNvSpPr txBox="1">
            <a:spLocks noChangeArrowheads="1"/>
          </p:cNvSpPr>
          <p:nvPr/>
        </p:nvSpPr>
        <p:spPr bwMode="auto">
          <a:xfrm>
            <a:off x="4187824" y="5610922"/>
            <a:ext cx="1079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60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endmatch</a:t>
            </a:r>
          </a:p>
        </p:txBody>
      </p:sp>
      <p:sp>
        <p:nvSpPr>
          <p:cNvPr id="108" name="Text Box 7"/>
          <p:cNvSpPr txBox="1">
            <a:spLocks noChangeArrowheads="1"/>
          </p:cNvSpPr>
          <p:nvPr/>
        </p:nvSpPr>
        <p:spPr bwMode="auto">
          <a:xfrm>
            <a:off x="6931420" y="4369306"/>
            <a:ext cx="171727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7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(e) no match</a:t>
            </a:r>
          </a:p>
        </p:txBody>
      </p:sp>
      <p:sp>
        <p:nvSpPr>
          <p:cNvPr id="109" name="Text Box 7"/>
          <p:cNvSpPr txBox="1">
            <a:spLocks noChangeArrowheads="1"/>
          </p:cNvSpPr>
          <p:nvPr/>
        </p:nvSpPr>
        <p:spPr bwMode="auto">
          <a:xfrm>
            <a:off x="6931421" y="5250271"/>
            <a:ext cx="15748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algn="l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1" latinLnBrk="1" hangingPunct="1"/>
            <a:r>
              <a:rPr lang="en-US" altLang="ko-KR" sz="17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(f) match</a:t>
            </a:r>
          </a:p>
        </p:txBody>
      </p:sp>
      <p:cxnSp>
        <p:nvCxnSpPr>
          <p:cNvPr id="110" name="직선 연결선 19"/>
          <p:cNvCxnSpPr/>
          <p:nvPr/>
        </p:nvCxnSpPr>
        <p:spPr bwMode="auto">
          <a:xfrm flipH="1">
            <a:off x="1439068" y="1347718"/>
            <a:ext cx="1491456" cy="560457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직선 연결선 54"/>
          <p:cNvCxnSpPr/>
          <p:nvPr/>
        </p:nvCxnSpPr>
        <p:spPr bwMode="auto">
          <a:xfrm flipH="1">
            <a:off x="2886471" y="1332915"/>
            <a:ext cx="1491456" cy="560457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직선 연결선 27"/>
          <p:cNvCxnSpPr/>
          <p:nvPr/>
        </p:nvCxnSpPr>
        <p:spPr bwMode="auto">
          <a:xfrm flipH="1">
            <a:off x="1951037" y="1332915"/>
            <a:ext cx="979487" cy="1414223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직선 연결선 41"/>
          <p:cNvCxnSpPr/>
          <p:nvPr/>
        </p:nvCxnSpPr>
        <p:spPr bwMode="auto">
          <a:xfrm flipH="1">
            <a:off x="3414712" y="1346200"/>
            <a:ext cx="963215" cy="1400938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직선 연결선 43"/>
          <p:cNvCxnSpPr/>
          <p:nvPr/>
        </p:nvCxnSpPr>
        <p:spPr bwMode="auto">
          <a:xfrm flipH="1">
            <a:off x="2451098" y="1358315"/>
            <a:ext cx="492126" cy="2188830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직선 연결선 58"/>
          <p:cNvCxnSpPr/>
          <p:nvPr/>
        </p:nvCxnSpPr>
        <p:spPr bwMode="auto">
          <a:xfrm flipH="1">
            <a:off x="3896319" y="1346200"/>
            <a:ext cx="481608" cy="2252122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직선 연결선 62"/>
          <p:cNvCxnSpPr/>
          <p:nvPr/>
        </p:nvCxnSpPr>
        <p:spPr bwMode="auto">
          <a:xfrm>
            <a:off x="2930524" y="1332915"/>
            <a:ext cx="0" cy="3036391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직선 연결선 64"/>
          <p:cNvCxnSpPr/>
          <p:nvPr/>
        </p:nvCxnSpPr>
        <p:spPr bwMode="auto">
          <a:xfrm>
            <a:off x="4377927" y="1416844"/>
            <a:ext cx="0" cy="2921253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직선 연결선 66"/>
          <p:cNvCxnSpPr/>
          <p:nvPr/>
        </p:nvCxnSpPr>
        <p:spPr bwMode="auto">
          <a:xfrm>
            <a:off x="2930524" y="1332915"/>
            <a:ext cx="484188" cy="3917356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직선 연결선 68"/>
          <p:cNvCxnSpPr/>
          <p:nvPr/>
        </p:nvCxnSpPr>
        <p:spPr bwMode="auto">
          <a:xfrm>
            <a:off x="4365227" y="1347718"/>
            <a:ext cx="511573" cy="3902553"/>
          </a:xfrm>
          <a:prstGeom prst="line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0884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1" grpId="0" animBg="1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068888" cy="691277"/>
          </a:xfrm>
        </p:spPr>
        <p:txBody>
          <a:bodyPr/>
          <a:lstStyle/>
          <a:p>
            <a:r>
              <a:rPr lang="en-US" sz="4400" dirty="0"/>
              <a:t>KMP Pattern Matching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952500"/>
            <a:ext cx="180975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800" y="974725"/>
            <a:ext cx="16764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388" y="987425"/>
            <a:ext cx="210502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122267" y="3505200"/>
            <a:ext cx="9021733" cy="1015663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</a:rPr>
              <a:t>Donald E. Knuth, James H. Morris, JR, and Vaughan R. Pratt, “Fast Pattern Matching in Strings,” SIAM Journal of Computing, vol.6, no.2, 1977.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 pitchFamily="50" charset="-127"/>
                <a:cs typeface="Consolas" pitchFamily="49" charset="0"/>
              </a:rPr>
              <a:t>(Chapter 2, p.98)</a:t>
            </a:r>
            <a:endParaRPr kumimoji="1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28" name="직사각형 7"/>
          <p:cNvSpPr/>
          <p:nvPr/>
        </p:nvSpPr>
        <p:spPr bwMode="auto">
          <a:xfrm>
            <a:off x="4816427" y="4368470"/>
            <a:ext cx="3986641" cy="1645200"/>
          </a:xfrm>
          <a:prstGeom prst="rect">
            <a:avLst/>
          </a:prstGeom>
          <a:solidFill>
            <a:srgbClr val="AAE2CA">
              <a:lumMod val="60000"/>
              <a:lumOff val="4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9" name="직사각형 8"/>
          <p:cNvSpPr/>
          <p:nvPr/>
        </p:nvSpPr>
        <p:spPr>
          <a:xfrm>
            <a:off x="5300186" y="5087200"/>
            <a:ext cx="35028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4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s = ‘…</a:t>
            </a:r>
            <a:r>
              <a:rPr kumimoji="1" lang="en-US" altLang="ko-KR" sz="2400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abca</a:t>
            </a:r>
            <a:r>
              <a:rPr kumimoji="1" lang="en-US" altLang="ko-KR" sz="24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?</a:t>
            </a:r>
            <a:r>
              <a:rPr kumimoji="1" lang="en-US" altLang="ko-KR" sz="24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?????’ </a:t>
            </a:r>
            <a:endParaRPr kumimoji="1" lang="en-US" sz="24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0" name="직사각형 9"/>
          <p:cNvSpPr/>
          <p:nvPr/>
        </p:nvSpPr>
        <p:spPr>
          <a:xfrm>
            <a:off x="5130201" y="5509505"/>
            <a:ext cx="3318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4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pat = ‘</a:t>
            </a:r>
            <a:r>
              <a:rPr kumimoji="1" lang="en-US" altLang="ko-KR" sz="2400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abcabcac</a:t>
            </a:r>
            <a:r>
              <a:rPr kumimoji="1" lang="en-US" altLang="ko-KR" sz="24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’ </a:t>
            </a:r>
            <a:endParaRPr kumimoji="1" lang="en-US" sz="24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cxnSp>
        <p:nvCxnSpPr>
          <p:cNvPr id="31" name="직선 화살표 연결선 10"/>
          <p:cNvCxnSpPr/>
          <p:nvPr/>
        </p:nvCxnSpPr>
        <p:spPr bwMode="auto">
          <a:xfrm>
            <a:off x="7305627" y="4744360"/>
            <a:ext cx="0" cy="444500"/>
          </a:xfrm>
          <a:prstGeom prst="straightConnector1">
            <a:avLst/>
          </a:prstGeom>
          <a:solidFill>
            <a:srgbClr val="00CC99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직사각형 11"/>
          <p:cNvSpPr/>
          <p:nvPr/>
        </p:nvSpPr>
        <p:spPr>
          <a:xfrm>
            <a:off x="5282601" y="5509505"/>
            <a:ext cx="3318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/>
            <a:r>
              <a:rPr kumimoji="1" lang="en-US" altLang="ko-KR" sz="24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pat = ‘</a:t>
            </a:r>
            <a:r>
              <a:rPr kumimoji="1" lang="en-US" altLang="ko-KR" sz="2400" b="1" dirty="0" err="1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abcabcac</a:t>
            </a:r>
            <a:r>
              <a:rPr kumimoji="1" lang="en-US" altLang="ko-KR" sz="2400" b="1" dirty="0">
                <a:solidFill>
                  <a:srgbClr val="000000"/>
                </a:solidFill>
                <a:latin typeface="Courier New" pitchFamily="49" charset="0"/>
                <a:ea typeface="굴림" pitchFamily="50" charset="-127"/>
                <a:cs typeface="Times New Roman" pitchFamily="18" charset="0"/>
              </a:rPr>
              <a:t>’ </a:t>
            </a:r>
            <a:endParaRPr kumimoji="1" lang="en-US" sz="2400" b="1" dirty="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  <p:cxnSp>
        <p:nvCxnSpPr>
          <p:cNvPr id="33" name="직선 화살표 연결선 12"/>
          <p:cNvCxnSpPr/>
          <p:nvPr/>
        </p:nvCxnSpPr>
        <p:spPr bwMode="auto">
          <a:xfrm>
            <a:off x="6802169" y="4744360"/>
            <a:ext cx="0" cy="444500"/>
          </a:xfrm>
          <a:prstGeom prst="straightConnector1">
            <a:avLst/>
          </a:prstGeom>
          <a:solidFill>
            <a:srgbClr val="00CC99"/>
          </a:solidFill>
          <a:ln w="28575" cap="flat" cmpd="sng" algn="ctr">
            <a:solidFill>
              <a:srgbClr val="2D2DB9">
                <a:lumMod val="75000"/>
              </a:srgb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4816427" y="4371615"/>
            <a:ext cx="2582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sz="2000" dirty="0">
                <a:solidFill>
                  <a:srgbClr val="000000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Non KMP algorithm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415" y="4779540"/>
            <a:ext cx="556113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itchFamily="50" charset="-127"/>
                <a:cs typeface="Courier New" panose="02070309020205020404" pitchFamily="49" charset="0"/>
              </a:rPr>
              <a:t>She can help me to study data structure</a:t>
            </a:r>
            <a:endParaRPr kumimoji="1" lang="ko-KR" altLang="en-US" b="1" dirty="0">
              <a:solidFill>
                <a:srgbClr val="000000"/>
              </a:solidFill>
              <a:latin typeface="Courier New" panose="02070309020205020404" pitchFamily="49" charset="0"/>
              <a:ea typeface="굴림" pitchFamily="50" charset="-127"/>
              <a:cs typeface="Courier New" panose="02070309020205020404" pitchFamily="49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08983" y="5069455"/>
            <a:ext cx="87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b="1" dirty="0">
                <a:solidFill>
                  <a:srgbClr val="2D2DB9">
                    <a:lumMod val="75000"/>
                  </a:srgbClr>
                </a:solidFill>
                <a:latin typeface="Courier New" panose="02070309020205020404" pitchFamily="49" charset="0"/>
                <a:ea typeface="굴림" pitchFamily="50" charset="-127"/>
                <a:cs typeface="Courier New" panose="02070309020205020404" pitchFamily="49" charset="0"/>
              </a:rPr>
              <a:t>hello</a:t>
            </a:r>
            <a:endParaRPr kumimoji="1" lang="ko-KR" altLang="en-US" b="1" dirty="0">
              <a:solidFill>
                <a:srgbClr val="2D2DB9">
                  <a:lumMod val="75000"/>
                </a:srgbClr>
              </a:solidFill>
              <a:latin typeface="Courier New" panose="02070309020205020404" pitchFamily="49" charset="0"/>
              <a:ea typeface="굴림" pitchFamily="50" charset="-127"/>
              <a:cs typeface="Courier New" panose="020703090202050204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33227" y="5065510"/>
            <a:ext cx="87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b="1" dirty="0">
                <a:solidFill>
                  <a:srgbClr val="2D2DB9">
                    <a:lumMod val="75000"/>
                  </a:srgbClr>
                </a:solidFill>
                <a:latin typeface="Courier New" panose="02070309020205020404" pitchFamily="49" charset="0"/>
                <a:ea typeface="굴림" pitchFamily="50" charset="-127"/>
                <a:cs typeface="Courier New" panose="02070309020205020404" pitchFamily="49" charset="0"/>
              </a:rPr>
              <a:t>hello</a:t>
            </a:r>
            <a:endParaRPr kumimoji="1" lang="ko-KR" altLang="en-US" b="1" dirty="0">
              <a:solidFill>
                <a:srgbClr val="2D2DB9">
                  <a:lumMod val="75000"/>
                </a:srgbClr>
              </a:solidFill>
              <a:latin typeface="Courier New" panose="02070309020205020404" pitchFamily="49" charset="0"/>
              <a:ea typeface="굴림" pitchFamily="50" charset="-127"/>
              <a:cs typeface="Courier New" panose="020703090202050204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8857" y="4478393"/>
            <a:ext cx="72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2D2DB9">
                    <a:lumMod val="75000"/>
                  </a:srgbClr>
                </a:solidFill>
                <a:latin typeface="Calibri" panose="020F0502020204030204" pitchFamily="34" charset="0"/>
                <a:ea typeface="굴림" pitchFamily="50" charset="-127"/>
                <a:cs typeface="Courier New" panose="02070309020205020404" pitchFamily="49" charset="0"/>
              </a:rPr>
              <a:t>string</a:t>
            </a:r>
            <a:endParaRPr kumimoji="1" lang="ko-KR" altLang="en-US" dirty="0">
              <a:solidFill>
                <a:srgbClr val="2D2DB9">
                  <a:lumMod val="75000"/>
                </a:srgbClr>
              </a:solidFill>
              <a:latin typeface="Calibri" panose="020F0502020204030204" pitchFamily="34" charset="0"/>
              <a:ea typeface="굴림" pitchFamily="50" charset="-127"/>
              <a:cs typeface="Courier New" panose="020703090202050204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6452" y="5434842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dirty="0">
                <a:solidFill>
                  <a:srgbClr val="2D2DB9">
                    <a:lumMod val="75000"/>
                  </a:srgbClr>
                </a:solidFill>
                <a:latin typeface="Calibri" panose="020F0502020204030204" pitchFamily="34" charset="0"/>
                <a:ea typeface="굴림" pitchFamily="50" charset="-127"/>
                <a:cs typeface="Courier New" panose="02070309020205020404" pitchFamily="49" charset="0"/>
              </a:rPr>
              <a:t>Pattern: hello</a:t>
            </a:r>
            <a:endParaRPr kumimoji="1" lang="ko-KR" altLang="en-US" dirty="0">
              <a:solidFill>
                <a:srgbClr val="2D2DB9">
                  <a:lumMod val="75000"/>
                </a:srgbClr>
              </a:solidFill>
              <a:latin typeface="Calibri" panose="020F0502020204030204" pitchFamily="34" charset="0"/>
              <a:ea typeface="굴림" pitchFamily="50" charset="-127"/>
              <a:cs typeface="Courier New" panose="02070309020205020404" pitchFamily="49" charset="0"/>
            </a:endParaRPr>
          </a:p>
        </p:txBody>
      </p:sp>
      <p:cxnSp>
        <p:nvCxnSpPr>
          <p:cNvPr id="40" name="직선 화살표 연결선 19"/>
          <p:cNvCxnSpPr/>
          <p:nvPr/>
        </p:nvCxnSpPr>
        <p:spPr bwMode="auto">
          <a:xfrm>
            <a:off x="1970206" y="4615674"/>
            <a:ext cx="0" cy="232051"/>
          </a:xfrm>
          <a:prstGeom prst="straightConnector1">
            <a:avLst/>
          </a:prstGeom>
          <a:solidFill>
            <a:srgbClr val="00CC99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857214" y="5073400"/>
            <a:ext cx="87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latinLnBrk="1" hangingPunct="1"/>
            <a:r>
              <a:rPr kumimoji="1" lang="en-US" altLang="ko-KR" b="1" dirty="0">
                <a:solidFill>
                  <a:srgbClr val="2D2DB9">
                    <a:lumMod val="75000"/>
                  </a:srgbClr>
                </a:solidFill>
                <a:latin typeface="Courier New" panose="02070309020205020404" pitchFamily="49" charset="0"/>
                <a:ea typeface="굴림" pitchFamily="50" charset="-127"/>
                <a:cs typeface="Courier New" panose="02070309020205020404" pitchFamily="49" charset="0"/>
              </a:rPr>
              <a:t>hello</a:t>
            </a:r>
            <a:endParaRPr kumimoji="1" lang="ko-KR" altLang="en-US" b="1" dirty="0">
              <a:solidFill>
                <a:srgbClr val="2D2DB9">
                  <a:lumMod val="75000"/>
                </a:srgbClr>
              </a:solidFill>
              <a:latin typeface="Courier New" panose="02070309020205020404" pitchFamily="49" charset="0"/>
              <a:ea typeface="굴림" pitchFamily="50" charset="-12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96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/>
      <p:bldP spid="29" grpId="1"/>
      <p:bldP spid="30" grpId="0"/>
      <p:bldP spid="30" grpId="1"/>
      <p:bldP spid="30" grpId="2"/>
      <p:bldP spid="32" grpId="0"/>
      <p:bldP spid="32" grpId="1"/>
      <p:bldP spid="34" grpId="0"/>
      <p:bldP spid="34" grpId="1"/>
      <p:bldP spid="35" grpId="0" animBg="1"/>
      <p:bldP spid="36" grpId="0"/>
      <p:bldP spid="36" grpId="1"/>
      <p:bldP spid="37" grpId="0"/>
      <p:bldP spid="37" grpId="1"/>
      <p:bldP spid="38" grpId="0"/>
      <p:bldP spid="39" grpId="0"/>
      <p:bldP spid="4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850" y="1371601"/>
            <a:ext cx="8496300" cy="4995326"/>
          </a:xfrm>
        </p:spPr>
        <p:txBody>
          <a:bodyPr/>
          <a:lstStyle/>
          <a:p>
            <a:r>
              <a:rPr lang="en-US" dirty="0"/>
              <a:t>Main Idea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249488" cy="691277"/>
          </a:xfrm>
        </p:spPr>
        <p:txBody>
          <a:bodyPr/>
          <a:lstStyle/>
          <a:p>
            <a:r>
              <a:rPr lang="en-US" dirty="0"/>
              <a:t>KMP </a:t>
            </a:r>
            <a:r>
              <a:rPr lang="en-US" dirty="0" err="1"/>
              <a:t>Algo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11333"/>
              </p:ext>
            </p:extLst>
          </p:nvPr>
        </p:nvGraphicFramePr>
        <p:xfrm>
          <a:off x="436366" y="2325260"/>
          <a:ext cx="30294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45">
                  <a:extLst>
                    <a:ext uri="{9D8B030D-6E8A-4147-A177-3AD203B41FA5}">
                      <a16:colId xmlns:a16="http://schemas.microsoft.com/office/drawing/2014/main" val="695536279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534173224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223730224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3448389643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737541711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775157660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3201366611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4053233733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2875323024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2447788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30478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96937"/>
              </p:ext>
            </p:extLst>
          </p:nvPr>
        </p:nvGraphicFramePr>
        <p:xfrm>
          <a:off x="3429000" y="2325260"/>
          <a:ext cx="30294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45">
                  <a:extLst>
                    <a:ext uri="{9D8B030D-6E8A-4147-A177-3AD203B41FA5}">
                      <a16:colId xmlns:a16="http://schemas.microsoft.com/office/drawing/2014/main" val="695536279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534173224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223730224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3448389643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737541711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775157660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3201366611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4053233733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2875323024"/>
                    </a:ext>
                  </a:extLst>
                </a:gridCol>
                <a:gridCol w="302945">
                  <a:extLst>
                    <a:ext uri="{9D8B030D-6E8A-4147-A177-3AD203B41FA5}">
                      <a16:colId xmlns:a16="http://schemas.microsoft.com/office/drawing/2014/main" val="12447788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30478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311909"/>
              </p:ext>
            </p:extLst>
          </p:nvPr>
        </p:nvGraphicFramePr>
        <p:xfrm>
          <a:off x="6464051" y="2325260"/>
          <a:ext cx="146462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49">
                  <a:extLst>
                    <a:ext uri="{9D8B030D-6E8A-4147-A177-3AD203B41FA5}">
                      <a16:colId xmlns:a16="http://schemas.microsoft.com/office/drawing/2014/main" val="69553627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3417322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223730224"/>
                    </a:ext>
                  </a:extLst>
                </a:gridCol>
                <a:gridCol w="308673">
                  <a:extLst>
                    <a:ext uri="{9D8B030D-6E8A-4147-A177-3AD203B41FA5}">
                      <a16:colId xmlns:a16="http://schemas.microsoft.com/office/drawing/2014/main" val="3448389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30478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69484"/>
              </p:ext>
            </p:extLst>
          </p:nvPr>
        </p:nvGraphicFramePr>
        <p:xfrm>
          <a:off x="461409" y="3242103"/>
          <a:ext cx="24341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9">
                  <a:extLst>
                    <a:ext uri="{9D8B030D-6E8A-4147-A177-3AD203B41FA5}">
                      <a16:colId xmlns:a16="http://schemas.microsoft.com/office/drawing/2014/main" val="695536279"/>
                    </a:ext>
                  </a:extLst>
                </a:gridCol>
                <a:gridCol w="278558">
                  <a:extLst>
                    <a:ext uri="{9D8B030D-6E8A-4147-A177-3AD203B41FA5}">
                      <a16:colId xmlns:a16="http://schemas.microsoft.com/office/drawing/2014/main" val="1534173224"/>
                    </a:ext>
                  </a:extLst>
                </a:gridCol>
                <a:gridCol w="235814">
                  <a:extLst>
                    <a:ext uri="{9D8B030D-6E8A-4147-A177-3AD203B41FA5}">
                      <a16:colId xmlns:a16="http://schemas.microsoft.com/office/drawing/2014/main" val="122373022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4838964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7375417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7515766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201366611"/>
                    </a:ext>
                  </a:extLst>
                </a:gridCol>
                <a:gridCol w="380999">
                  <a:extLst>
                    <a:ext uri="{9D8B030D-6E8A-4147-A177-3AD203B41FA5}">
                      <a16:colId xmlns:a16="http://schemas.microsoft.com/office/drawing/2014/main" val="4053233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30478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>
            <a:off x="1524000" y="2020460"/>
            <a:ext cx="0" cy="304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1371600" y="2937303"/>
            <a:ext cx="0" cy="304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Left Brace 33"/>
          <p:cNvSpPr/>
          <p:nvPr/>
        </p:nvSpPr>
        <p:spPr>
          <a:xfrm rot="16200000">
            <a:off x="769634" y="3344959"/>
            <a:ext cx="152400" cy="762000"/>
          </a:xfrm>
          <a:prstGeom prst="leftBrace">
            <a:avLst>
              <a:gd name="adj1" fmla="val 8333"/>
              <a:gd name="adj2" fmla="val 52697"/>
            </a:avLst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89741" y="3852896"/>
            <a:ext cx="1474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Prefix or Suffix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3581400" y="2020460"/>
            <a:ext cx="0" cy="304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2362200" y="2937303"/>
            <a:ext cx="0" cy="304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Left Brace 37"/>
          <p:cNvSpPr/>
          <p:nvPr/>
        </p:nvSpPr>
        <p:spPr>
          <a:xfrm rot="16200000">
            <a:off x="1279419" y="2857726"/>
            <a:ext cx="129271" cy="1731489"/>
          </a:xfrm>
          <a:prstGeom prst="leftBrace">
            <a:avLst>
              <a:gd name="adj1" fmla="val 8333"/>
              <a:gd name="adj2" fmla="val 52697"/>
            </a:avLst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786907" y="3838843"/>
            <a:ext cx="1474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Prefix or Suffix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019800" y="2020460"/>
            <a:ext cx="0" cy="304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708311" y="2937303"/>
            <a:ext cx="0" cy="304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10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/>
      <p:bldP spid="35" grpId="1"/>
      <p:bldP spid="38" grpId="0" animBg="1"/>
      <p:bldP spid="38" grpId="1" animBg="1"/>
      <p:bldP spid="39" grpId="0"/>
      <p:bldP spid="39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Substring calculation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3859088" cy="691277"/>
          </a:xfrm>
        </p:spPr>
        <p:txBody>
          <a:bodyPr/>
          <a:lstStyle/>
          <a:p>
            <a:r>
              <a:rPr lang="en-US" sz="4000" dirty="0"/>
              <a:t>Failure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53073" y="1828800"/>
            <a:ext cx="8167077" cy="552156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ko-KR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sz="28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  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largest </a:t>
            </a:r>
            <a:r>
              <a:rPr lang="en-US" altLang="ko-KR" sz="24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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j, such that p</a:t>
            </a:r>
            <a:r>
              <a:rPr lang="en-US" altLang="ko-KR" sz="24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ko-KR" sz="2400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... p</a:t>
            </a:r>
            <a:r>
              <a:rPr lang="en-US" altLang="ko-KR" sz="24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altLang="ko-KR" sz="24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j-i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ko-KR" sz="2400" i="1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j-i+</a:t>
            </a:r>
            <a:r>
              <a:rPr lang="en-US" altLang="ko-KR" sz="2400" baseline="-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… </a:t>
            </a:r>
            <a:r>
              <a:rPr lang="en-US" altLang="ko-KR" sz="24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ko-KR" sz="2400" i="1" baseline="-30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      if such an </a:t>
            </a:r>
            <a:r>
              <a:rPr lang="en-US" altLang="ko-KR" sz="24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latin typeface="Times New Roman" pitchFamily="18" charset="0"/>
                <a:ea typeface="바탕체" pitchFamily="17" charset="-127"/>
                <a:sym typeface="Symbol" pitchFamily="18" charset="2"/>
              </a:rPr>
              <a:t> </a:t>
            </a:r>
            <a:r>
              <a:rPr lang="en-US" altLang="ko-KR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exists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ko-KR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400" i="1" dirty="0">
                <a:latin typeface="Times New Roman" pitchFamily="18" charset="0"/>
                <a:cs typeface="Times New Roman" pitchFamily="18" charset="0"/>
              </a:rPr>
              <a:t>	              -</a:t>
            </a: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400" i="1" dirty="0">
                <a:latin typeface="Times New Roman" pitchFamily="18" charset="0"/>
                <a:cs typeface="Times New Roman" pitchFamily="18" charset="0"/>
              </a:rPr>
              <a:t>, otherwise</a:t>
            </a:r>
          </a:p>
          <a:p>
            <a:pPr algn="just">
              <a:lnSpc>
                <a:spcPct val="90000"/>
              </a:lnSpc>
              <a:buFontTx/>
              <a:buNone/>
            </a:pPr>
            <a:endParaRPr lang="en-US" altLang="ko-KR" sz="2400" dirty="0"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ko-KR" sz="2400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</a:t>
            </a:r>
            <a:endParaRPr lang="en-US" altLang="ko-KR" sz="2800" b="1" dirty="0">
              <a:solidFill>
                <a:schemeClr val="accent1"/>
              </a:solidFill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1517746" y="1870491"/>
            <a:ext cx="71437" cy="1080000"/>
          </a:xfrm>
          <a:prstGeom prst="leftBrace">
            <a:avLst>
              <a:gd name="adj1" fmla="val 9240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71550" y="3505200"/>
            <a:ext cx="80645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/>
            <a:r>
              <a:rPr lang="en-US" altLang="ko-KR" sz="2400" b="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Failure function example 1)</a:t>
            </a:r>
          </a:p>
          <a:p>
            <a:pPr marL="457200" indent="-457200" algn="l"/>
            <a:endParaRPr lang="en-US" altLang="ko-KR" sz="2400" b="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marL="457200" indent="-457200" algn="l"/>
            <a:r>
              <a:rPr lang="en-US" altLang="ko-KR" sz="2400" b="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j       0   1   2   3   4   5   6   7</a:t>
            </a:r>
          </a:p>
          <a:p>
            <a:pPr marL="457200" indent="-457200" algn="l"/>
            <a:r>
              <a:rPr lang="en-US" altLang="ko-KR" sz="2400" b="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2400" b="0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pat  	 a   b   c   a   b   c   a   c</a:t>
            </a:r>
            <a:endParaRPr lang="en-US" altLang="ko-KR" sz="2400" b="0" dirty="0">
              <a:solidFill>
                <a:schemeClr val="accent1"/>
              </a:solidFill>
              <a:latin typeface="Consolas" pitchFamily="49" charset="0"/>
              <a:ea typeface="HY엽서L" pitchFamily="18" charset="-127"/>
              <a:cs typeface="Consolas" pitchFamily="49" charset="0"/>
            </a:endParaRPr>
          </a:p>
        </p:txBody>
      </p:sp>
      <p:sp>
        <p:nvSpPr>
          <p:cNvPr id="9" name="직사각형 2"/>
          <p:cNvSpPr/>
          <p:nvPr/>
        </p:nvSpPr>
        <p:spPr>
          <a:xfrm>
            <a:off x="1553465" y="5074860"/>
            <a:ext cx="1034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0" i="1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(j) </a:t>
            </a:r>
            <a:endParaRPr lang="en-US" sz="2400" dirty="0"/>
          </a:p>
        </p:txBody>
      </p:sp>
      <p:sp>
        <p:nvSpPr>
          <p:cNvPr id="10" name="직사각형 3"/>
          <p:cNvSpPr/>
          <p:nvPr/>
        </p:nvSpPr>
        <p:spPr>
          <a:xfrm>
            <a:off x="2872239" y="5079121"/>
            <a:ext cx="6944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-1 </a:t>
            </a:r>
            <a:endParaRPr lang="en-US" sz="2400" dirty="0"/>
          </a:p>
        </p:txBody>
      </p:sp>
      <p:sp>
        <p:nvSpPr>
          <p:cNvPr id="11" name="직사각형 4"/>
          <p:cNvSpPr/>
          <p:nvPr/>
        </p:nvSpPr>
        <p:spPr>
          <a:xfrm>
            <a:off x="3522990" y="5079121"/>
            <a:ext cx="61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–1 </a:t>
            </a:r>
            <a:endParaRPr lang="en-US" sz="2400" dirty="0"/>
          </a:p>
        </p:txBody>
      </p:sp>
      <p:sp>
        <p:nvSpPr>
          <p:cNvPr id="12" name="직사각형 5"/>
          <p:cNvSpPr/>
          <p:nvPr/>
        </p:nvSpPr>
        <p:spPr>
          <a:xfrm>
            <a:off x="4234671" y="5079121"/>
            <a:ext cx="6944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–1 </a:t>
            </a:r>
            <a:endParaRPr lang="en-US" sz="2400" dirty="0"/>
          </a:p>
        </p:txBody>
      </p:sp>
      <p:sp>
        <p:nvSpPr>
          <p:cNvPr id="13" name="직사각형 6"/>
          <p:cNvSpPr/>
          <p:nvPr/>
        </p:nvSpPr>
        <p:spPr>
          <a:xfrm>
            <a:off x="5037822" y="5079121"/>
            <a:ext cx="524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0 </a:t>
            </a:r>
            <a:endParaRPr lang="en-US" sz="2400" dirty="0"/>
          </a:p>
        </p:txBody>
      </p:sp>
      <p:sp>
        <p:nvSpPr>
          <p:cNvPr id="14" name="직사각형 8"/>
          <p:cNvSpPr/>
          <p:nvPr/>
        </p:nvSpPr>
        <p:spPr>
          <a:xfrm>
            <a:off x="5658355" y="5079121"/>
            <a:ext cx="524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1 </a:t>
            </a:r>
            <a:endParaRPr lang="en-US" sz="2400" dirty="0"/>
          </a:p>
        </p:txBody>
      </p:sp>
      <p:sp>
        <p:nvSpPr>
          <p:cNvPr id="15" name="직사각형 9"/>
          <p:cNvSpPr/>
          <p:nvPr/>
        </p:nvSpPr>
        <p:spPr>
          <a:xfrm>
            <a:off x="6329688" y="5079121"/>
            <a:ext cx="524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2 </a:t>
            </a:r>
            <a:endParaRPr lang="en-US" sz="2400" dirty="0"/>
          </a:p>
        </p:txBody>
      </p:sp>
      <p:sp>
        <p:nvSpPr>
          <p:cNvPr id="16" name="직사각형 10"/>
          <p:cNvSpPr/>
          <p:nvPr/>
        </p:nvSpPr>
        <p:spPr>
          <a:xfrm>
            <a:off x="7013721" y="5079121"/>
            <a:ext cx="524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3 </a:t>
            </a:r>
            <a:endParaRPr lang="en-US" sz="2400" dirty="0"/>
          </a:p>
        </p:txBody>
      </p:sp>
      <p:sp>
        <p:nvSpPr>
          <p:cNvPr id="17" name="직사각형 11"/>
          <p:cNvSpPr/>
          <p:nvPr/>
        </p:nvSpPr>
        <p:spPr>
          <a:xfrm>
            <a:off x="7634253" y="5079121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altLang="ko-KR" sz="2400" b="0" dirty="0">
                <a:solidFill>
                  <a:srgbClr val="339933"/>
                </a:solidFill>
                <a:latin typeface="Consolas" pitchFamily="49" charset="0"/>
                <a:cs typeface="Consolas" pitchFamily="49" charset="0"/>
              </a:rPr>
              <a:t>-1</a:t>
            </a:r>
          </a:p>
        </p:txBody>
      </p:sp>
      <p:sp>
        <p:nvSpPr>
          <p:cNvPr id="18" name="직사각형 12"/>
          <p:cNvSpPr/>
          <p:nvPr/>
        </p:nvSpPr>
        <p:spPr bwMode="auto">
          <a:xfrm>
            <a:off x="2912223" y="4648397"/>
            <a:ext cx="512311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9" name="직사각형 17"/>
          <p:cNvSpPr/>
          <p:nvPr/>
        </p:nvSpPr>
        <p:spPr bwMode="auto">
          <a:xfrm>
            <a:off x="2884159" y="4648397"/>
            <a:ext cx="1233381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0" name="직사각형 18"/>
          <p:cNvSpPr/>
          <p:nvPr/>
        </p:nvSpPr>
        <p:spPr bwMode="auto">
          <a:xfrm>
            <a:off x="2912223" y="4648397"/>
            <a:ext cx="1837151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1" name="직사각형 19"/>
          <p:cNvSpPr/>
          <p:nvPr/>
        </p:nvSpPr>
        <p:spPr bwMode="auto">
          <a:xfrm>
            <a:off x="2871347" y="4648397"/>
            <a:ext cx="2656027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2" name="직사각형 20"/>
          <p:cNvSpPr/>
          <p:nvPr/>
        </p:nvSpPr>
        <p:spPr bwMode="auto">
          <a:xfrm>
            <a:off x="4910684" y="4648397"/>
            <a:ext cx="524504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3" name="직사각형 21"/>
          <p:cNvSpPr/>
          <p:nvPr/>
        </p:nvSpPr>
        <p:spPr bwMode="auto">
          <a:xfrm>
            <a:off x="4910684" y="4648397"/>
            <a:ext cx="1233381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4" name="직사각형 22"/>
          <p:cNvSpPr/>
          <p:nvPr/>
        </p:nvSpPr>
        <p:spPr bwMode="auto">
          <a:xfrm>
            <a:off x="4910684" y="4648397"/>
            <a:ext cx="1837151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5" name="직사각형 23"/>
          <p:cNvSpPr/>
          <p:nvPr/>
        </p:nvSpPr>
        <p:spPr bwMode="auto">
          <a:xfrm>
            <a:off x="4882198" y="4648397"/>
            <a:ext cx="2656027" cy="412373"/>
          </a:xfrm>
          <a:prstGeom prst="rect">
            <a:avLst/>
          </a:prstGeom>
          <a:solidFill>
            <a:srgbClr val="FFC000">
              <a:alpha val="46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308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1" y="302400"/>
            <a:ext cx="6732463" cy="691277"/>
          </a:xfrm>
        </p:spPr>
        <p:txBody>
          <a:bodyPr/>
          <a:lstStyle/>
          <a:p>
            <a:r>
              <a:rPr lang="en-US" sz="4400" dirty="0"/>
              <a:t>Pattern matching </a:t>
            </a:r>
            <a:r>
              <a:rPr lang="en-US" sz="4400" dirty="0" err="1"/>
              <a:t>Algo</a:t>
            </a:r>
            <a:r>
              <a:rPr lang="en-US" sz="4400" dirty="0"/>
              <a:t>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923" y="1143000"/>
            <a:ext cx="816707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int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pmatch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(char *string, char *pat)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{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int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=0, j=0, </a:t>
            </a: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   lens=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strlen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(string),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lenp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=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strlen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(pat);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while (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&lt; lens &amp;&amp; j &lt;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lenp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){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if (string[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] == pat[j]) {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++;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j++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; }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else if (j == 0)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++;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  else j = failure[j-1]+1;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}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 return (j ==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lenp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? </a:t>
            </a:r>
            <a:r>
              <a:rPr kumimoji="1" lang="en-US" altLang="ko-K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i-lenp</a:t>
            </a: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 : -1);</a:t>
            </a: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바탕체" pitchFamily="17" charset="-127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urier New" pitchFamily="49" charset="0"/>
                <a:ea typeface="굴림"/>
                <a:cs typeface="Times New Roman" pitchFamily="18" charset="0"/>
              </a:rPr>
              <a:t>}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2D2DB9"/>
              </a:solidFill>
              <a:effectLst/>
              <a:uLnTx/>
              <a:uFillTx/>
              <a:latin typeface="Consolas" pitchFamily="49" charset="0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4662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6221288" cy="691277"/>
          </a:xfrm>
        </p:spPr>
        <p:txBody>
          <a:bodyPr/>
          <a:lstStyle/>
          <a:p>
            <a:r>
              <a:rPr lang="en-US" sz="4000" dirty="0"/>
              <a:t>Pattern matching </a:t>
            </a:r>
            <a:r>
              <a:rPr lang="en-US" sz="4000" dirty="0" err="1"/>
              <a:t>Algo</a:t>
            </a:r>
            <a:r>
              <a:rPr lang="en-US" sz="4000" dirty="0"/>
              <a:t>(2)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923" y="1295400"/>
            <a:ext cx="816707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void fail (char *pat)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{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int n = strlen(pat);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failure[0] = -1;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for (j = 1; j &lt; n; j++){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	i = failure[j-1];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	while (pat[j] != pat[i+1] &amp;&amp; i&gt;=0) </a:t>
            </a: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          i = failure[i];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	if (pat[j] == pat[i+1]) failure[j] = i+1;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	else failure[j] = -1;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000" b="1" kern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}</a:t>
            </a:r>
            <a:endParaRPr lang="en-US" altLang="ko-KR" sz="2000" b="1" kern="0">
              <a:solidFill>
                <a:srgbClr val="000000"/>
              </a:solidFill>
              <a:latin typeface="Courier New" pitchFamily="49" charset="0"/>
              <a:ea typeface="바탕체" pitchFamily="17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b="1" kern="0">
                <a:latin typeface="Courier New" pitchFamily="49" charset="0"/>
                <a:cs typeface="Times New Roman" pitchFamily="18" charset="0"/>
              </a:rPr>
              <a:t>}</a:t>
            </a:r>
            <a:r>
              <a:rPr lang="en-US" altLang="ko-KR" sz="2000" b="1" kern="0">
                <a:latin typeface="Courier New" pitchFamily="49" charset="0"/>
              </a:rPr>
              <a:t> </a:t>
            </a:r>
            <a:endParaRPr lang="en-US" altLang="ko-KR" sz="2000" b="1" kern="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1640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2400"/>
            <a:ext cx="2868488" cy="691277"/>
          </a:xfrm>
        </p:spPr>
        <p:txBody>
          <a:bodyPr/>
          <a:lstStyle/>
          <a:p>
            <a:r>
              <a:rPr lang="en-US" sz="4400" dirty="0"/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66662F-DE95-4EFA-BDEF-94082FE7282E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D6FB1D-C532-46F9-9826-44345EF074E5}" type="datetime4">
              <a:rPr lang="en-US" smtClean="0"/>
              <a:pPr>
                <a:defRPr/>
              </a:pPr>
              <a:t>March 21, 2020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923" y="993677"/>
            <a:ext cx="8167077" cy="5254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000" indent="-381000" algn="l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accent6"/>
                </a:solidFill>
                <a:latin typeface="Consolas" pitchFamily="49" charset="0"/>
                <a:ea typeface="+mn-ea"/>
                <a:cs typeface="+mn-cs"/>
              </a:defRPr>
            </a:lvl1pPr>
            <a:lvl2pPr marL="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Consolas" pitchFamily="49" charset="0"/>
                <a:ea typeface="+mn-ea"/>
              </a:defRPr>
            </a:lvl2pPr>
            <a:lvl3pPr marL="5364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"/>
              <a:defRPr kumimoji="1" sz="1800">
                <a:solidFill>
                  <a:schemeClr val="tx1"/>
                </a:solidFill>
                <a:latin typeface="Consolas" pitchFamily="49" charset="0"/>
                <a:ea typeface="+mn-ea"/>
              </a:defRPr>
            </a:lvl3pPr>
            <a:lvl4pPr marL="17145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4pPr>
            <a:lvl5pPr marL="2171700" indent="-342900" algn="l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  <a:defRPr kumimoji="1" sz="1600">
                <a:solidFill>
                  <a:schemeClr val="tx1"/>
                </a:solidFill>
                <a:latin typeface="Consolas" pitchFamily="49" charset="0"/>
                <a:ea typeface="+mn-ea"/>
              </a:defRPr>
            </a:lvl5pPr>
            <a:lvl6pPr marL="25527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The Array as an Abstract Data Type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Data structure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Functions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Structures and Unions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Similarity and Difference 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The Polynomial Abstract Data Type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Data structure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Addition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The Sparse Matrix Abstract Data Type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Data structure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Transpose</a:t>
            </a: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Consolas" pitchFamily="49" charset="0"/>
                <a:ea typeface="굴림"/>
                <a:cs typeface="+mn-cs"/>
              </a:rPr>
              <a:t>The String Abstract Data Type</a:t>
            </a: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굴림"/>
              </a:rPr>
              <a:t>Pattern matching algorithm</a:t>
            </a: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40679840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447800"/>
            <a:ext cx="4533900" cy="1103313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 &amp; A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916238" y="4899025"/>
            <a:ext cx="3311525" cy="690563"/>
          </a:xfrm>
        </p:spPr>
        <p:txBody>
          <a:bodyPr/>
          <a:lstStyle/>
          <a:p>
            <a:r>
              <a:rPr lang="en-US" altLang="en-US" dirty="0"/>
              <a:t>12</a:t>
            </a:r>
            <a:r>
              <a:rPr lang="en-US" altLang="en-US" baseline="30000" dirty="0"/>
              <a:t>th</a:t>
            </a:r>
            <a:r>
              <a:rPr lang="en-US" altLang="en-US" dirty="0"/>
              <a:t> March, 2018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92828AE-23EF-41B0-9902-DD288C49937C}" vid="{D78FD014-04BA-4A34-937B-FC2C7C366E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5449</TotalTime>
  <Words>5437</Words>
  <Application>Microsoft Office PowerPoint</Application>
  <PresentationFormat>화면 슬라이드 쇼(4:3)</PresentationFormat>
  <Paragraphs>1439</Paragraphs>
  <Slides>60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60</vt:i4>
      </vt:variant>
    </vt:vector>
  </HeadingPairs>
  <TitlesOfParts>
    <vt:vector size="76" baseType="lpstr">
      <vt:lpstr>PT Sans</vt:lpstr>
      <vt:lpstr>맑은 고딕</vt:lpstr>
      <vt:lpstr>Arial</vt:lpstr>
      <vt:lpstr>Bell MT</vt:lpstr>
      <vt:lpstr>Calibri</vt:lpstr>
      <vt:lpstr>Comic Sans MS</vt:lpstr>
      <vt:lpstr>Consolas</vt:lpstr>
      <vt:lpstr>Courier New</vt:lpstr>
      <vt:lpstr>Gill Sans MT</vt:lpstr>
      <vt:lpstr>Leelawadee UI</vt:lpstr>
      <vt:lpstr>Times New Roman</vt:lpstr>
      <vt:lpstr>Wingdings</vt:lpstr>
      <vt:lpstr>Wingdings 2</vt:lpstr>
      <vt:lpstr>Office 테마</vt:lpstr>
      <vt:lpstr>수식</vt:lpstr>
      <vt:lpstr>Equation</vt:lpstr>
      <vt:lpstr>Array Structure</vt:lpstr>
      <vt:lpstr>Contents</vt:lpstr>
      <vt:lpstr>Array: definition</vt:lpstr>
      <vt:lpstr>Array Representation</vt:lpstr>
      <vt:lpstr>Sample Array Program</vt:lpstr>
      <vt:lpstr>Multi Dimensional Arrays</vt:lpstr>
      <vt:lpstr>Multi Dimensional Array</vt:lpstr>
      <vt:lpstr>2D Array</vt:lpstr>
      <vt:lpstr>Multi Dimensional Array</vt:lpstr>
      <vt:lpstr>Dynamic Arrays</vt:lpstr>
      <vt:lpstr>Dynamic Memory</vt:lpstr>
      <vt:lpstr>2D Dynamic Memory</vt:lpstr>
      <vt:lpstr>Structure</vt:lpstr>
      <vt:lpstr>Structures</vt:lpstr>
      <vt:lpstr>Structures</vt:lpstr>
      <vt:lpstr>Structures</vt:lpstr>
      <vt:lpstr>Union</vt:lpstr>
      <vt:lpstr>Structure vs. Union</vt:lpstr>
      <vt:lpstr>Union: Example</vt:lpstr>
      <vt:lpstr>Self Referential Structures</vt:lpstr>
      <vt:lpstr>Application of Array</vt:lpstr>
      <vt:lpstr>Ordered List(1)</vt:lpstr>
      <vt:lpstr>Ordered List(2)</vt:lpstr>
      <vt:lpstr>Polynomial ADT</vt:lpstr>
      <vt:lpstr>Polynomial ADT</vt:lpstr>
      <vt:lpstr>Polynomial ADT</vt:lpstr>
      <vt:lpstr>Polynomial ADT</vt:lpstr>
      <vt:lpstr>Polynomial ADT</vt:lpstr>
      <vt:lpstr>Polynomial Representation</vt:lpstr>
      <vt:lpstr>Polynomial Addition</vt:lpstr>
      <vt:lpstr>Matrix</vt:lpstr>
      <vt:lpstr>Sparse Matrix</vt:lpstr>
      <vt:lpstr>Sparse Matrix Example</vt:lpstr>
      <vt:lpstr>Matrix Representation</vt:lpstr>
      <vt:lpstr>Approximate Memory Requirement</vt:lpstr>
      <vt:lpstr>Transposing a Matrix(1)</vt:lpstr>
      <vt:lpstr>Transposing Matrix(2)</vt:lpstr>
      <vt:lpstr>Transposing a Matrix(3)</vt:lpstr>
      <vt:lpstr>PowerPoint 프레젠테이션</vt:lpstr>
      <vt:lpstr>PowerPoint 프레젠테이션</vt:lpstr>
      <vt:lpstr>Fast Matrix Transpose</vt:lpstr>
      <vt:lpstr>Fast Matrix Transpose</vt:lpstr>
      <vt:lpstr>PowerPoint 프레젠테이션</vt:lpstr>
      <vt:lpstr>PowerPoint 프레젠테이션</vt:lpstr>
      <vt:lpstr>PowerPoint 프레젠테이션</vt:lpstr>
      <vt:lpstr>String ADT</vt:lpstr>
      <vt:lpstr>String ADTs</vt:lpstr>
      <vt:lpstr>String ADTs</vt:lpstr>
      <vt:lpstr>String ADTs</vt:lpstr>
      <vt:lpstr>String ADTs</vt:lpstr>
      <vt:lpstr>String operation</vt:lpstr>
      <vt:lpstr>Pattern Matching</vt:lpstr>
      <vt:lpstr>Simulation</vt:lpstr>
      <vt:lpstr>KMP Pattern Matching</vt:lpstr>
      <vt:lpstr>KMP Algo</vt:lpstr>
      <vt:lpstr>Failure Function</vt:lpstr>
      <vt:lpstr>Pattern matching Algo(1)</vt:lpstr>
      <vt:lpstr>Pattern matching Algo(2)</vt:lpstr>
      <vt:lpstr>Summary</vt:lpstr>
      <vt:lpstr>Thank You  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Structure</dc:title>
  <dc:creator>AJOU</dc:creator>
  <cp:lastModifiedBy>USER</cp:lastModifiedBy>
  <cp:revision>103</cp:revision>
  <dcterms:created xsi:type="dcterms:W3CDTF">2018-03-08T00:45:49Z</dcterms:created>
  <dcterms:modified xsi:type="dcterms:W3CDTF">2020-03-20T21:44:38Z</dcterms:modified>
</cp:coreProperties>
</file>